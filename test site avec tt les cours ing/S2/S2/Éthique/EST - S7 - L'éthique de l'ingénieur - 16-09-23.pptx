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sldIdLst>
    <p:sldId id="256" r:id="rId4"/>
    <p:sldId id="911" r:id="rId5"/>
    <p:sldId id="257" r:id="rId6"/>
    <p:sldId id="261" r:id="rId7"/>
    <p:sldId id="262" r:id="rId8"/>
    <p:sldId id="258" r:id="rId9"/>
    <p:sldId id="939" r:id="rId10"/>
    <p:sldId id="259" r:id="rId11"/>
    <p:sldId id="260" r:id="rId12"/>
    <p:sldId id="910" r:id="rId13"/>
    <p:sldId id="742" r:id="rId14"/>
    <p:sldId id="743" r:id="rId15"/>
    <p:sldId id="744" r:id="rId16"/>
    <p:sldId id="745" r:id="rId17"/>
    <p:sldId id="746" r:id="rId18"/>
    <p:sldId id="912" r:id="rId19"/>
    <p:sldId id="913" r:id="rId20"/>
    <p:sldId id="914" r:id="rId21"/>
    <p:sldId id="915" r:id="rId22"/>
    <p:sldId id="916" r:id="rId23"/>
    <p:sldId id="896" r:id="rId24"/>
    <p:sldId id="909" r:id="rId25"/>
    <p:sldId id="337" r:id="rId26"/>
    <p:sldId id="899" r:id="rId27"/>
    <p:sldId id="900" r:id="rId28"/>
    <p:sldId id="901" r:id="rId29"/>
    <p:sldId id="902" r:id="rId30"/>
    <p:sldId id="903" r:id="rId31"/>
    <p:sldId id="904" r:id="rId32"/>
    <p:sldId id="905" r:id="rId33"/>
    <p:sldId id="906" r:id="rId34"/>
    <p:sldId id="814" r:id="rId35"/>
    <p:sldId id="907" r:id="rId36"/>
    <p:sldId id="908" r:id="rId37"/>
    <p:sldId id="747" r:id="rId38"/>
    <p:sldId id="263" r:id="rId39"/>
    <p:sldId id="919" r:id="rId40"/>
    <p:sldId id="917" r:id="rId41"/>
    <p:sldId id="918" r:id="rId42"/>
    <p:sldId id="920" r:id="rId43"/>
    <p:sldId id="921" r:id="rId44"/>
    <p:sldId id="922" r:id="rId45"/>
    <p:sldId id="923" r:id="rId46"/>
    <p:sldId id="927" r:id="rId47"/>
    <p:sldId id="926" r:id="rId48"/>
    <p:sldId id="928" r:id="rId49"/>
    <p:sldId id="929" r:id="rId50"/>
    <p:sldId id="930" r:id="rId51"/>
    <p:sldId id="932" r:id="rId52"/>
    <p:sldId id="938" r:id="rId53"/>
    <p:sldId id="931" r:id="rId54"/>
    <p:sldId id="933" r:id="rId55"/>
    <p:sldId id="934" r:id="rId56"/>
    <p:sldId id="935" r:id="rId57"/>
    <p:sldId id="936" r:id="rId58"/>
    <p:sldId id="937" r:id="rId59"/>
    <p:sldId id="925" r:id="rId60"/>
    <p:sldId id="924" r:id="rId6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13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A84A1A-55B3-D5F5-6570-84A068AB839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EDFC152-5C2C-01B6-FC7C-EDFF0BE085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3F2557A-82D7-D792-2DE6-5E6EC140EFE2}"/>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5" name="Espace réservé du pied de page 4">
            <a:extLst>
              <a:ext uri="{FF2B5EF4-FFF2-40B4-BE49-F238E27FC236}">
                <a16:creationId xmlns:a16="http://schemas.microsoft.com/office/drawing/2014/main" id="{B1E7F8EF-0C02-C033-9304-610967E98C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967E7C6-E1F8-134D-9B8F-A1108109A93E}"/>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115390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4C8D98-4B7A-DFEB-A776-A78B5F96601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56AB13C-70A3-7ED3-242F-F29D08EB013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A02EE54-D4FD-7CAE-9A26-0C14FCDD7553}"/>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5" name="Espace réservé du pied de page 4">
            <a:extLst>
              <a:ext uri="{FF2B5EF4-FFF2-40B4-BE49-F238E27FC236}">
                <a16:creationId xmlns:a16="http://schemas.microsoft.com/office/drawing/2014/main" id="{AC305327-9848-B47D-396D-6FB49EF0945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A1ED42-088F-454D-70EC-A5A3B6D4D070}"/>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2316816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850669-37B9-182E-33F2-A6B641ECCAB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D13B01C-0B18-3530-31EC-31640CB22D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FBEDAA1-F95D-03E6-5E98-3D4B38358FA7}"/>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5" name="Espace réservé du pied de page 4">
            <a:extLst>
              <a:ext uri="{FF2B5EF4-FFF2-40B4-BE49-F238E27FC236}">
                <a16:creationId xmlns:a16="http://schemas.microsoft.com/office/drawing/2014/main" id="{00C5B5E9-C34E-BE7A-FD55-C59A1B6CE2D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DD1B62-A7BD-B07E-7547-83499FB6CE84}"/>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3560082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040BE1-A78C-08EE-599D-B4C7DC74D9D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F343E3D-8F01-FB7E-588F-9DF26F0572F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A0ADF80-59AB-81C7-536A-A94CF9F334F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5BDFC3-C352-BE85-B614-159D31E51C62}"/>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6" name="Espace réservé du pied de page 5">
            <a:extLst>
              <a:ext uri="{FF2B5EF4-FFF2-40B4-BE49-F238E27FC236}">
                <a16:creationId xmlns:a16="http://schemas.microsoft.com/office/drawing/2014/main" id="{68FFF158-EFA4-FA4D-405D-77E1E948789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6D3970F-C9F0-E68A-0EED-DCC54FF02A6E}"/>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919354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C33297-8C12-84B2-3CEC-DE49B3C0468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9954931-8DB9-2743-66CA-40B8575E53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B73B2E3-3284-6C13-520B-0EAF60559F6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1E90800-7229-F8DB-7C2B-0E74C3BCC9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05076D0-9773-D31F-5FC5-17396D2FA54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024F8C-E719-04D0-9EFF-9A12E548E58F}"/>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8" name="Espace réservé du pied de page 7">
            <a:extLst>
              <a:ext uri="{FF2B5EF4-FFF2-40B4-BE49-F238E27FC236}">
                <a16:creationId xmlns:a16="http://schemas.microsoft.com/office/drawing/2014/main" id="{273FB4DD-8E39-D2F5-21C5-CC19A8F551D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A9FD4CA-D493-D582-FC6B-06D73B317A92}"/>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4147737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E9FA7A-94EC-D273-9BF3-E746143EC0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A8B829F-D1AE-F1EE-8868-A9CA2C374668}"/>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4" name="Espace réservé du pied de page 3">
            <a:extLst>
              <a:ext uri="{FF2B5EF4-FFF2-40B4-BE49-F238E27FC236}">
                <a16:creationId xmlns:a16="http://schemas.microsoft.com/office/drawing/2014/main" id="{231E6BA4-18CA-F737-DB7F-5C731D88053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AE30DDF-03A3-AB47-3653-C899F60A07DB}"/>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4041467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FF142DB-9AEF-B2F2-565B-D9ED815AAD9F}"/>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3" name="Espace réservé du pied de page 2">
            <a:extLst>
              <a:ext uri="{FF2B5EF4-FFF2-40B4-BE49-F238E27FC236}">
                <a16:creationId xmlns:a16="http://schemas.microsoft.com/office/drawing/2014/main" id="{FD7F5CFC-26B6-B5B6-558C-7FBE506AF4C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CEE8B8E-DA24-2568-658C-BB62134C60E6}"/>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3269520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A03F99-43CD-DF5B-7016-DA5D240B1D6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C0E047D-44A0-CF0A-EFF0-0EAB9589A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D0D5E6E-EE09-D98C-FDEE-97DEBE922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3ACB6F1-C73D-79C0-4830-94F14C295A7E}"/>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6" name="Espace réservé du pied de page 5">
            <a:extLst>
              <a:ext uri="{FF2B5EF4-FFF2-40B4-BE49-F238E27FC236}">
                <a16:creationId xmlns:a16="http://schemas.microsoft.com/office/drawing/2014/main" id="{5C622949-594D-8549-EBD8-BCFDF858F96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3D20EB7-CA15-7980-8CD6-F4CD06DD82AF}"/>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2061279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D71875-D64A-E5E4-1AE6-4E5F76F0C50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163C79D-08F8-41C7-9124-F29F6A00D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2725E6A-0969-9A87-B5CE-05B261560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0B2CC84-975C-C8ED-8C61-0548116A1311}"/>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6" name="Espace réservé du pied de page 5">
            <a:extLst>
              <a:ext uri="{FF2B5EF4-FFF2-40B4-BE49-F238E27FC236}">
                <a16:creationId xmlns:a16="http://schemas.microsoft.com/office/drawing/2014/main" id="{246EF9C4-4AD3-CA66-701E-E2CF79B47D3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3D91BE1-8B6D-6F01-86A3-FE9395F47337}"/>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2693775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F279D-95A5-B84E-6C60-8325B1480EC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C3003B8-2A5B-DD58-CBD5-A0346376F07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F3046D3-F525-4300-39C0-A083DB26FCF0}"/>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5" name="Espace réservé du pied de page 4">
            <a:extLst>
              <a:ext uri="{FF2B5EF4-FFF2-40B4-BE49-F238E27FC236}">
                <a16:creationId xmlns:a16="http://schemas.microsoft.com/office/drawing/2014/main" id="{8B1B8B2A-6AF9-0B92-E8A5-29D2DF9173B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2CB21D-52E0-D65D-6471-03811FD63257}"/>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3746132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2AB5B7A-A179-8E43-3A93-54AD757B6D2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CBE6511-7CE0-1869-A901-11633F52F8D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0E36B2C-3D4C-B155-1B03-B1BC9B2EAA1C}"/>
              </a:ext>
            </a:extLst>
          </p:cNvPr>
          <p:cNvSpPr>
            <a:spLocks noGrp="1"/>
          </p:cNvSpPr>
          <p:nvPr>
            <p:ph type="dt" sz="half" idx="10"/>
          </p:nvPr>
        </p:nvSpPr>
        <p:spPr/>
        <p:txBody>
          <a:bodyPr/>
          <a:lstStyle/>
          <a:p>
            <a:fld id="{E99AB2DA-E4CC-48AC-8683-AB78074E984E}" type="datetimeFigureOut">
              <a:rPr lang="fr-FR" smtClean="0"/>
              <a:t>09/02/2024</a:t>
            </a:fld>
            <a:endParaRPr lang="fr-FR"/>
          </a:p>
        </p:txBody>
      </p:sp>
      <p:sp>
        <p:nvSpPr>
          <p:cNvPr id="5" name="Espace réservé du pied de page 4">
            <a:extLst>
              <a:ext uri="{FF2B5EF4-FFF2-40B4-BE49-F238E27FC236}">
                <a16:creationId xmlns:a16="http://schemas.microsoft.com/office/drawing/2014/main" id="{B817F5E5-ED7E-D7B9-E229-D92EF1906E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29E2AE0-E155-863C-7639-C07637E6F7AC}"/>
              </a:ext>
            </a:extLst>
          </p:cNvPr>
          <p:cNvSpPr>
            <a:spLocks noGrp="1"/>
          </p:cNvSpPr>
          <p:nvPr>
            <p:ph type="sldNum" sz="quarter" idx="12"/>
          </p:nvPr>
        </p:nvSpPr>
        <p:spPr/>
        <p:txBody>
          <a:bodyPr/>
          <a:lstStyle/>
          <a:p>
            <a:fld id="{DC9EE798-1B9D-49BC-B2C5-DE948990300F}" type="slidenum">
              <a:rPr lang="fr-FR" smtClean="0"/>
              <a:t>‹#›</a:t>
            </a:fld>
            <a:endParaRPr lang="fr-FR"/>
          </a:p>
        </p:txBody>
      </p:sp>
    </p:spTree>
    <p:extLst>
      <p:ext uri="{BB962C8B-B14F-4D97-AF65-F5344CB8AC3E}">
        <p14:creationId xmlns:p14="http://schemas.microsoft.com/office/powerpoint/2010/main" val="3850487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5BB50E0-FE9C-19F6-9968-2DB09CBA9B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718CDCF-3F12-9073-AA6F-5E1942F0C1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D42C52-1385-7613-D459-FDB0BE41F2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AB2DA-E4CC-48AC-8683-AB78074E984E}" type="datetimeFigureOut">
              <a:rPr lang="fr-FR" smtClean="0"/>
              <a:t>09/02/2024</a:t>
            </a:fld>
            <a:endParaRPr lang="fr-FR"/>
          </a:p>
        </p:txBody>
      </p:sp>
      <p:sp>
        <p:nvSpPr>
          <p:cNvPr id="5" name="Espace réservé du pied de page 4">
            <a:extLst>
              <a:ext uri="{FF2B5EF4-FFF2-40B4-BE49-F238E27FC236}">
                <a16:creationId xmlns:a16="http://schemas.microsoft.com/office/drawing/2014/main" id="{F61B30A5-FCCE-DA81-53EB-BF77B9E4D8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3B63D81-78D2-4CF1-D9A7-1B2473975C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9EE798-1B9D-49BC-B2C5-DE948990300F}" type="slidenum">
              <a:rPr lang="fr-FR" smtClean="0"/>
              <a:t>‹#›</a:t>
            </a:fld>
            <a:endParaRPr lang="fr-FR"/>
          </a:p>
        </p:txBody>
      </p:sp>
    </p:spTree>
    <p:extLst>
      <p:ext uri="{BB962C8B-B14F-4D97-AF65-F5344CB8AC3E}">
        <p14:creationId xmlns:p14="http://schemas.microsoft.com/office/powerpoint/2010/main" val="2279753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manifeste.pour-un-reveil-ecologique.org/f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fr.wikipedia.org/wiki/Aramis_(RATP)"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controverses.minesparis.psl.eu/"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88;p13">
            <a:extLst>
              <a:ext uri="{FF2B5EF4-FFF2-40B4-BE49-F238E27FC236}">
                <a16:creationId xmlns:a16="http://schemas.microsoft.com/office/drawing/2014/main" id="{508FD801-DEE1-338D-B9C0-D240E486C43E}"/>
              </a:ext>
            </a:extLst>
          </p:cNvPr>
          <p:cNvSpPr txBox="1">
            <a:spLocks noGrp="1"/>
          </p:cNvSpPr>
          <p:nvPr>
            <p:ph type="ctrTitle"/>
          </p:nvPr>
        </p:nvSpPr>
        <p:spPr>
          <a:xfrm>
            <a:off x="976013" y="387807"/>
            <a:ext cx="6125173" cy="268418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2E75B5"/>
              </a:buClr>
              <a:buSzPts val="6000"/>
              <a:buFont typeface="Montserrat Medium"/>
              <a:buNone/>
            </a:pPr>
            <a:r>
              <a:rPr lang="fr-FR" dirty="0">
                <a:solidFill>
                  <a:srgbClr val="2E75B5"/>
                </a:solidFill>
                <a:latin typeface="Montserrat Medium"/>
                <a:ea typeface="Montserrat Medium"/>
                <a:cs typeface="Montserrat Medium"/>
                <a:sym typeface="Montserrat Medium"/>
              </a:rPr>
              <a:t>Ethique, sciences &amp; techniques</a:t>
            </a:r>
            <a:endParaRPr dirty="0"/>
          </a:p>
        </p:txBody>
      </p:sp>
      <p:sp>
        <p:nvSpPr>
          <p:cNvPr id="7" name="Google Shape;89;p13">
            <a:extLst>
              <a:ext uri="{FF2B5EF4-FFF2-40B4-BE49-F238E27FC236}">
                <a16:creationId xmlns:a16="http://schemas.microsoft.com/office/drawing/2014/main" id="{C9C833C5-374A-8A4C-5448-BAA62DB524E3}"/>
              </a:ext>
            </a:extLst>
          </p:cNvPr>
          <p:cNvSpPr txBox="1">
            <a:spLocks noGrp="1"/>
          </p:cNvSpPr>
          <p:nvPr>
            <p:ph type="subTitle" idx="1"/>
          </p:nvPr>
        </p:nvSpPr>
        <p:spPr>
          <a:xfrm>
            <a:off x="510989" y="3245965"/>
            <a:ext cx="6977539" cy="268418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fr-FR" sz="3900" dirty="0"/>
              <a:t>Séance TD2</a:t>
            </a:r>
            <a:endParaRPr sz="3900" dirty="0"/>
          </a:p>
          <a:p>
            <a:pPr marL="0" lvl="0" indent="0" algn="ctr" rtl="0">
              <a:lnSpc>
                <a:spcPct val="90000"/>
              </a:lnSpc>
              <a:spcBef>
                <a:spcPts val="1000"/>
              </a:spcBef>
              <a:spcAft>
                <a:spcPts val="0"/>
              </a:spcAft>
              <a:buClr>
                <a:schemeClr val="dk1"/>
              </a:buClr>
              <a:buSzPts val="2800"/>
              <a:buNone/>
            </a:pPr>
            <a:r>
              <a:rPr lang="fr-FR" sz="3600" dirty="0"/>
              <a:t>L’éthique de l’ingénieur</a:t>
            </a:r>
          </a:p>
          <a:p>
            <a:pPr marL="0" lvl="0" indent="0" algn="ctr" rtl="0">
              <a:lnSpc>
                <a:spcPct val="90000"/>
              </a:lnSpc>
              <a:spcBef>
                <a:spcPts val="1000"/>
              </a:spcBef>
              <a:spcAft>
                <a:spcPts val="0"/>
              </a:spcAft>
              <a:buClr>
                <a:schemeClr val="dk1"/>
              </a:buClr>
              <a:buSzPts val="2800"/>
              <a:buNone/>
            </a:pPr>
            <a:endParaRPr lang="fr-FR" sz="2800" dirty="0"/>
          </a:p>
        </p:txBody>
      </p:sp>
      <p:pic>
        <p:nvPicPr>
          <p:cNvPr id="2" name="Image 1">
            <a:extLst>
              <a:ext uri="{FF2B5EF4-FFF2-40B4-BE49-F238E27FC236}">
                <a16:creationId xmlns:a16="http://schemas.microsoft.com/office/drawing/2014/main" id="{5B6E7618-67AB-EBB8-8948-94E1A3D09BA1}"/>
              </a:ext>
            </a:extLst>
          </p:cNvPr>
          <p:cNvPicPr>
            <a:picLocks noChangeAspect="1"/>
          </p:cNvPicPr>
          <p:nvPr/>
        </p:nvPicPr>
        <p:blipFill>
          <a:blip r:embed="rId2"/>
          <a:stretch>
            <a:fillRect/>
          </a:stretch>
        </p:blipFill>
        <p:spPr>
          <a:xfrm>
            <a:off x="7454881" y="344233"/>
            <a:ext cx="4226130" cy="6169533"/>
          </a:xfrm>
          <a:prstGeom prst="rect">
            <a:avLst/>
          </a:prstGeom>
        </p:spPr>
      </p:pic>
    </p:spTree>
    <p:extLst>
      <p:ext uri="{BB962C8B-B14F-4D97-AF65-F5344CB8AC3E}">
        <p14:creationId xmlns:p14="http://schemas.microsoft.com/office/powerpoint/2010/main" val="270521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C1EF9-DE45-430C-9FBC-1E90461A9F0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Contexte et enjeux de l’éthique de l’ingénieur</a:t>
            </a:r>
          </a:p>
        </p:txBody>
      </p:sp>
    </p:spTree>
    <p:extLst>
      <p:ext uri="{BB962C8B-B14F-4D97-AF65-F5344CB8AC3E}">
        <p14:creationId xmlns:p14="http://schemas.microsoft.com/office/powerpoint/2010/main" val="1163553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01DC93-4C54-5A1D-48CD-0A0172742304}"/>
              </a:ext>
            </a:extLst>
          </p:cNvPr>
          <p:cNvSpPr>
            <a:spLocks noGrp="1"/>
          </p:cNvSpPr>
          <p:nvPr>
            <p:ph type="title"/>
          </p:nvPr>
        </p:nvSpPr>
        <p:spPr/>
        <p:txBody>
          <a:bodyPr/>
          <a:lstStyle/>
          <a:p>
            <a:pPr algn="ctr"/>
            <a:r>
              <a:rPr lang="fr-FR" dirty="0"/>
              <a:t>L’éthique de l’ingénieur</a:t>
            </a:r>
            <a:br>
              <a:rPr lang="fr-FR" dirty="0"/>
            </a:br>
            <a:r>
              <a:rPr lang="fr-FR" dirty="0"/>
              <a:t>(ou </a:t>
            </a:r>
            <a:r>
              <a:rPr lang="fr-FR" i="1" dirty="0"/>
              <a:t>engineering </a:t>
            </a:r>
            <a:r>
              <a:rPr lang="fr-FR" i="1" dirty="0" err="1"/>
              <a:t>ethics</a:t>
            </a:r>
            <a:r>
              <a:rPr lang="fr-FR" dirty="0"/>
              <a:t>)…</a:t>
            </a:r>
          </a:p>
        </p:txBody>
      </p:sp>
      <p:sp>
        <p:nvSpPr>
          <p:cNvPr id="3" name="Espace réservé du contenu 2">
            <a:extLst>
              <a:ext uri="{FF2B5EF4-FFF2-40B4-BE49-F238E27FC236}">
                <a16:creationId xmlns:a16="http://schemas.microsoft.com/office/drawing/2014/main" id="{72449465-B940-7F17-DCB5-CB92AC402454}"/>
              </a:ext>
            </a:extLst>
          </p:cNvPr>
          <p:cNvSpPr>
            <a:spLocks noGrp="1"/>
          </p:cNvSpPr>
          <p:nvPr>
            <p:ph idx="1"/>
          </p:nvPr>
        </p:nvSpPr>
        <p:spPr>
          <a:xfrm>
            <a:off x="1403926" y="2853351"/>
            <a:ext cx="9802091" cy="1937670"/>
          </a:xfrm>
          <a:solidFill>
            <a:schemeClr val="accent1">
              <a:lumMod val="20000"/>
              <a:lumOff val="80000"/>
            </a:schemeClr>
          </a:solidFill>
        </p:spPr>
        <p:txBody>
          <a:bodyPr>
            <a:normAutofit/>
          </a:bodyPr>
          <a:lstStyle/>
          <a:p>
            <a:pPr marL="0" indent="0" algn="ctr">
              <a:buNone/>
            </a:pPr>
            <a:r>
              <a:rPr lang="fr-FR" sz="3200" dirty="0">
                <a:solidFill>
                  <a:srgbClr val="0070C0"/>
                </a:solidFill>
              </a:rPr>
              <a:t>… une discipline ayant un sens</a:t>
            </a:r>
          </a:p>
          <a:p>
            <a:pPr marL="0" indent="0" algn="ctr">
              <a:buNone/>
            </a:pPr>
            <a:r>
              <a:rPr lang="fr-FR" sz="3200" dirty="0">
                <a:solidFill>
                  <a:srgbClr val="0070C0"/>
                </a:solidFill>
              </a:rPr>
              <a:t>…ou pas ?</a:t>
            </a:r>
          </a:p>
          <a:p>
            <a:pPr marL="0" indent="0" algn="ctr">
              <a:buNone/>
            </a:pPr>
            <a:r>
              <a:rPr lang="fr-FR" sz="3200" dirty="0">
                <a:solidFill>
                  <a:srgbClr val="0070C0"/>
                </a:solidFill>
              </a:rPr>
              <a:t>Qu’en pensez-vous ? Pour quelles raisons ?</a:t>
            </a:r>
          </a:p>
        </p:txBody>
      </p:sp>
      <p:sp>
        <p:nvSpPr>
          <p:cNvPr id="4" name="Ellipse 3">
            <a:extLst>
              <a:ext uri="{FF2B5EF4-FFF2-40B4-BE49-F238E27FC236}">
                <a16:creationId xmlns:a16="http://schemas.microsoft.com/office/drawing/2014/main" id="{5EFF7B0C-19C1-F6A0-2683-00270AFB0F6D}"/>
              </a:ext>
            </a:extLst>
          </p:cNvPr>
          <p:cNvSpPr/>
          <p:nvPr/>
        </p:nvSpPr>
        <p:spPr>
          <a:xfrm>
            <a:off x="341746" y="3188512"/>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77837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AC74B25A-B50B-D3BF-BDF3-7268048C5CE8}"/>
              </a:ext>
            </a:extLst>
          </p:cNvPr>
          <p:cNvSpPr/>
          <p:nvPr/>
        </p:nvSpPr>
        <p:spPr>
          <a:xfrm>
            <a:off x="3110347" y="4316089"/>
            <a:ext cx="2484581" cy="8682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fr-FR" sz="2400" dirty="0"/>
              <a:t>L’ingénieur</a:t>
            </a:r>
          </a:p>
        </p:txBody>
      </p:sp>
      <p:sp>
        <p:nvSpPr>
          <p:cNvPr id="5" name="Ellipse 4">
            <a:extLst>
              <a:ext uri="{FF2B5EF4-FFF2-40B4-BE49-F238E27FC236}">
                <a16:creationId xmlns:a16="http://schemas.microsoft.com/office/drawing/2014/main" id="{744E74A3-84C7-8272-2085-17FAD7649570}"/>
              </a:ext>
            </a:extLst>
          </p:cNvPr>
          <p:cNvSpPr/>
          <p:nvPr/>
        </p:nvSpPr>
        <p:spPr>
          <a:xfrm>
            <a:off x="1191490" y="2817428"/>
            <a:ext cx="6428509" cy="2461491"/>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fr-FR" sz="2400"/>
          </a:p>
        </p:txBody>
      </p:sp>
      <p:sp>
        <p:nvSpPr>
          <p:cNvPr id="6" name="ZoneTexte 5">
            <a:extLst>
              <a:ext uri="{FF2B5EF4-FFF2-40B4-BE49-F238E27FC236}">
                <a16:creationId xmlns:a16="http://schemas.microsoft.com/office/drawing/2014/main" id="{32186AA3-51A6-9183-30AD-86536CEBB988}"/>
              </a:ext>
            </a:extLst>
          </p:cNvPr>
          <p:cNvSpPr txBox="1"/>
          <p:nvPr/>
        </p:nvSpPr>
        <p:spPr>
          <a:xfrm>
            <a:off x="1955220" y="3226560"/>
            <a:ext cx="4901046" cy="1089529"/>
          </a:xfrm>
          <a:prstGeom prst="rect">
            <a:avLst/>
          </a:prstGeom>
          <a:noFill/>
        </p:spPr>
        <p:txBody>
          <a:bodyPr wrap="square" rtlCol="0">
            <a:spAutoFit/>
          </a:bodyPr>
          <a:lstStyle/>
          <a:p>
            <a:pPr algn="ctr">
              <a:lnSpc>
                <a:spcPct val="90000"/>
              </a:lnSpc>
            </a:pPr>
            <a:r>
              <a:rPr lang="fr-FR" sz="2400" b="1" dirty="0"/>
              <a:t>Les parties prenantes </a:t>
            </a:r>
            <a:r>
              <a:rPr lang="fr-FR" sz="2400" dirty="0"/>
              <a:t>de l’entreprise : dirigeants, actionnaires, fournisseurs, clients, riverains</a:t>
            </a:r>
          </a:p>
        </p:txBody>
      </p:sp>
      <p:sp>
        <p:nvSpPr>
          <p:cNvPr id="7" name="Ellipse 6">
            <a:extLst>
              <a:ext uri="{FF2B5EF4-FFF2-40B4-BE49-F238E27FC236}">
                <a16:creationId xmlns:a16="http://schemas.microsoft.com/office/drawing/2014/main" id="{0AC0E05A-11A2-D0D7-A75B-D1D3D9FA41FA}"/>
              </a:ext>
            </a:extLst>
          </p:cNvPr>
          <p:cNvSpPr/>
          <p:nvPr/>
        </p:nvSpPr>
        <p:spPr>
          <a:xfrm>
            <a:off x="738910" y="1866085"/>
            <a:ext cx="7398328" cy="355138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fr-FR" sz="2400"/>
          </a:p>
        </p:txBody>
      </p:sp>
      <p:sp>
        <p:nvSpPr>
          <p:cNvPr id="8" name="ZoneTexte 7">
            <a:extLst>
              <a:ext uri="{FF2B5EF4-FFF2-40B4-BE49-F238E27FC236}">
                <a16:creationId xmlns:a16="http://schemas.microsoft.com/office/drawing/2014/main" id="{8D831AC8-D6DD-5768-690B-7F15BC9A3FD6}"/>
              </a:ext>
            </a:extLst>
          </p:cNvPr>
          <p:cNvSpPr txBox="1"/>
          <p:nvPr/>
        </p:nvSpPr>
        <p:spPr>
          <a:xfrm>
            <a:off x="2207499" y="2009498"/>
            <a:ext cx="4313381" cy="757130"/>
          </a:xfrm>
          <a:prstGeom prst="rect">
            <a:avLst/>
          </a:prstGeom>
          <a:noFill/>
        </p:spPr>
        <p:txBody>
          <a:bodyPr wrap="square" rtlCol="0">
            <a:spAutoFit/>
          </a:bodyPr>
          <a:lstStyle/>
          <a:p>
            <a:pPr algn="ctr">
              <a:lnSpc>
                <a:spcPct val="90000"/>
              </a:lnSpc>
            </a:pPr>
            <a:r>
              <a:rPr lang="fr-FR" sz="2400" dirty="0"/>
              <a:t>La </a:t>
            </a:r>
            <a:r>
              <a:rPr lang="fr-FR" sz="2400" b="1" dirty="0"/>
              <a:t>société</a:t>
            </a:r>
            <a:r>
              <a:rPr lang="fr-FR" sz="2400" dirty="0"/>
              <a:t>, le système sociotechnique</a:t>
            </a:r>
          </a:p>
        </p:txBody>
      </p:sp>
      <p:sp>
        <p:nvSpPr>
          <p:cNvPr id="9" name="Ellipse 8">
            <a:extLst>
              <a:ext uri="{FF2B5EF4-FFF2-40B4-BE49-F238E27FC236}">
                <a16:creationId xmlns:a16="http://schemas.microsoft.com/office/drawing/2014/main" id="{34D05AB1-B573-B9DD-E2ED-D8005C70A1B5}"/>
              </a:ext>
            </a:extLst>
          </p:cNvPr>
          <p:cNvSpPr/>
          <p:nvPr/>
        </p:nvSpPr>
        <p:spPr>
          <a:xfrm>
            <a:off x="369455" y="1011721"/>
            <a:ext cx="8146473" cy="4506528"/>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fr-FR" sz="2400"/>
          </a:p>
        </p:txBody>
      </p:sp>
      <p:sp>
        <p:nvSpPr>
          <p:cNvPr id="10" name="ZoneTexte 9">
            <a:extLst>
              <a:ext uri="{FF2B5EF4-FFF2-40B4-BE49-F238E27FC236}">
                <a16:creationId xmlns:a16="http://schemas.microsoft.com/office/drawing/2014/main" id="{F67D954D-E5D6-C4AD-7587-EEBA9B9C500C}"/>
              </a:ext>
            </a:extLst>
          </p:cNvPr>
          <p:cNvSpPr txBox="1"/>
          <p:nvPr/>
        </p:nvSpPr>
        <p:spPr>
          <a:xfrm>
            <a:off x="2249053" y="1339752"/>
            <a:ext cx="4313381" cy="424732"/>
          </a:xfrm>
          <a:prstGeom prst="rect">
            <a:avLst/>
          </a:prstGeom>
          <a:noFill/>
        </p:spPr>
        <p:txBody>
          <a:bodyPr wrap="square" rtlCol="0">
            <a:spAutoFit/>
          </a:bodyPr>
          <a:lstStyle/>
          <a:p>
            <a:pPr algn="ctr">
              <a:lnSpc>
                <a:spcPct val="90000"/>
              </a:lnSpc>
            </a:pPr>
            <a:r>
              <a:rPr lang="fr-FR" sz="2400" dirty="0"/>
              <a:t>La </a:t>
            </a:r>
            <a:r>
              <a:rPr lang="fr-FR" sz="2400" b="1" dirty="0"/>
              <a:t>nature</a:t>
            </a:r>
          </a:p>
        </p:txBody>
      </p:sp>
      <p:sp>
        <p:nvSpPr>
          <p:cNvPr id="11" name="Accolade fermante 10">
            <a:extLst>
              <a:ext uri="{FF2B5EF4-FFF2-40B4-BE49-F238E27FC236}">
                <a16:creationId xmlns:a16="http://schemas.microsoft.com/office/drawing/2014/main" id="{0F29CAE6-2F7B-2D48-6A63-D3A6563E610D}"/>
              </a:ext>
            </a:extLst>
          </p:cNvPr>
          <p:cNvSpPr/>
          <p:nvPr/>
        </p:nvSpPr>
        <p:spPr>
          <a:xfrm>
            <a:off x="8200738" y="878214"/>
            <a:ext cx="983669" cy="4595091"/>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2" name="ZoneTexte 11">
            <a:extLst>
              <a:ext uri="{FF2B5EF4-FFF2-40B4-BE49-F238E27FC236}">
                <a16:creationId xmlns:a16="http://schemas.microsoft.com/office/drawing/2014/main" id="{F5A1F0B5-1819-4B44-E732-08DBC658611D}"/>
              </a:ext>
            </a:extLst>
          </p:cNvPr>
          <p:cNvSpPr txBox="1"/>
          <p:nvPr/>
        </p:nvSpPr>
        <p:spPr>
          <a:xfrm>
            <a:off x="9184407" y="1652265"/>
            <a:ext cx="2768596" cy="3046988"/>
          </a:xfrm>
          <a:prstGeom prst="rect">
            <a:avLst/>
          </a:prstGeom>
          <a:solidFill>
            <a:srgbClr val="EBF6FF"/>
          </a:solidFill>
          <a:ln>
            <a:solidFill>
              <a:srgbClr val="0070C0"/>
            </a:solidFill>
          </a:ln>
        </p:spPr>
        <p:txBody>
          <a:bodyPr wrap="square" rtlCol="0">
            <a:spAutoFit/>
          </a:bodyPr>
          <a:lstStyle/>
          <a:p>
            <a:pPr algn="ctr"/>
            <a:r>
              <a:rPr lang="fr-FR" sz="2400" dirty="0"/>
              <a:t>A chaque échelle, des </a:t>
            </a:r>
            <a:r>
              <a:rPr lang="fr-FR" sz="2400" b="1" dirty="0"/>
              <a:t>conflits de valeurs </a:t>
            </a:r>
            <a:r>
              <a:rPr lang="fr-FR" sz="2400" dirty="0"/>
              <a:t>possibles :</a:t>
            </a:r>
          </a:p>
          <a:p>
            <a:pPr algn="ctr"/>
            <a:r>
              <a:rPr lang="fr-FR" sz="2400" dirty="0"/>
              <a:t>d’où l’intérêt de </a:t>
            </a:r>
            <a:r>
              <a:rPr lang="fr-FR" sz="2400" b="1" dirty="0"/>
              <a:t>l’éthique</a:t>
            </a:r>
            <a:r>
              <a:rPr lang="fr-FR" sz="2400" dirty="0"/>
              <a:t> comme savoir pratique, pour démêler et clarifier de tels conflits.</a:t>
            </a:r>
          </a:p>
        </p:txBody>
      </p:sp>
    </p:spTree>
    <p:extLst>
      <p:ext uri="{BB962C8B-B14F-4D97-AF65-F5344CB8AC3E}">
        <p14:creationId xmlns:p14="http://schemas.microsoft.com/office/powerpoint/2010/main" val="3750305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AB218-3F4D-3360-C5D5-9B3B553EFA0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69D00AA-524C-84E5-A338-B31225A6225F}"/>
              </a:ext>
            </a:extLst>
          </p:cNvPr>
          <p:cNvSpPr>
            <a:spLocks noGrp="1"/>
          </p:cNvSpPr>
          <p:nvPr>
            <p:ph idx="1"/>
          </p:nvPr>
        </p:nvSpPr>
        <p:spPr>
          <a:xfrm>
            <a:off x="838200" y="1884217"/>
            <a:ext cx="10515599" cy="4442692"/>
          </a:xfrm>
        </p:spPr>
        <p:txBody>
          <a:bodyPr/>
          <a:lstStyle/>
          <a:p>
            <a:pPr marL="0" indent="0" algn="just">
              <a:buNone/>
            </a:pPr>
            <a:r>
              <a:rPr lang="fr-FR" dirty="0">
                <a:solidFill>
                  <a:srgbClr val="0070C0"/>
                </a:solidFill>
              </a:rPr>
              <a:t>« En tant que groupe socioprofessionnel, les ingénieurs présentent donc cette spécificité remarquable de se situer au croisement d’une triple transformation – économique, technique et écologique – majeure pour les sociétés contemporaines et dont les implications éthiques sont considérables. C’est le paradoxe d’un groupe tout à la fois décisif pour cette mutation et peu engagé dans le questionnement éthique […] » (Flandrin, </a:t>
            </a:r>
            <a:r>
              <a:rPr lang="fr-FR" dirty="0" err="1">
                <a:solidFill>
                  <a:srgbClr val="0070C0"/>
                </a:solidFill>
              </a:rPr>
              <a:t>Verrax</a:t>
            </a:r>
            <a:r>
              <a:rPr lang="fr-FR" dirty="0">
                <a:solidFill>
                  <a:srgbClr val="0070C0"/>
                </a:solidFill>
              </a:rPr>
              <a:t>, p. 21)</a:t>
            </a:r>
          </a:p>
        </p:txBody>
      </p:sp>
    </p:spTree>
    <p:extLst>
      <p:ext uri="{BB962C8B-B14F-4D97-AF65-F5344CB8AC3E}">
        <p14:creationId xmlns:p14="http://schemas.microsoft.com/office/powerpoint/2010/main" val="2477107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E85530-4F0B-8741-EF6C-11AC95E08A68}"/>
              </a:ext>
            </a:extLst>
          </p:cNvPr>
          <p:cNvSpPr>
            <a:spLocks noGrp="1"/>
          </p:cNvSpPr>
          <p:nvPr>
            <p:ph type="title"/>
          </p:nvPr>
        </p:nvSpPr>
        <p:spPr/>
        <p:txBody>
          <a:bodyPr/>
          <a:lstStyle/>
          <a:p>
            <a:pPr algn="ctr"/>
            <a:r>
              <a:rPr lang="fr-FR" dirty="0"/>
              <a:t>Un cadre structurellement contraint</a:t>
            </a:r>
            <a:br>
              <a:rPr lang="fr-FR" dirty="0"/>
            </a:br>
            <a:r>
              <a:rPr lang="fr-FR" dirty="0"/>
              <a:t>mais des marges de manœuvre</a:t>
            </a:r>
          </a:p>
        </p:txBody>
      </p:sp>
      <p:sp>
        <p:nvSpPr>
          <p:cNvPr id="3" name="Espace réservé du contenu 2">
            <a:extLst>
              <a:ext uri="{FF2B5EF4-FFF2-40B4-BE49-F238E27FC236}">
                <a16:creationId xmlns:a16="http://schemas.microsoft.com/office/drawing/2014/main" id="{C8659A7D-D67E-7A65-A95A-D217860A7A18}"/>
              </a:ext>
            </a:extLst>
          </p:cNvPr>
          <p:cNvSpPr>
            <a:spLocks noGrp="1"/>
          </p:cNvSpPr>
          <p:nvPr>
            <p:ph idx="1"/>
          </p:nvPr>
        </p:nvSpPr>
        <p:spPr>
          <a:xfrm>
            <a:off x="350982" y="1825625"/>
            <a:ext cx="11002818" cy="4351338"/>
          </a:xfrm>
        </p:spPr>
        <p:txBody>
          <a:bodyPr>
            <a:normAutofit lnSpcReduction="10000"/>
          </a:bodyPr>
          <a:lstStyle/>
          <a:p>
            <a:pPr marL="0" indent="0">
              <a:buNone/>
            </a:pPr>
            <a:r>
              <a:rPr lang="fr-FR" dirty="0"/>
              <a:t>Quelles limites à une éthique de l’ingénieur ?</a:t>
            </a:r>
          </a:p>
          <a:p>
            <a:pPr>
              <a:buFontTx/>
              <a:buChar char="-"/>
            </a:pPr>
            <a:r>
              <a:rPr lang="fr-FR" dirty="0"/>
              <a:t>Statut de salarié </a:t>
            </a:r>
          </a:p>
          <a:p>
            <a:pPr>
              <a:buFontTx/>
              <a:buChar char="-"/>
            </a:pPr>
            <a:r>
              <a:rPr lang="fr-FR" dirty="0"/>
              <a:t>Contraintes organisationnelles et marchandes</a:t>
            </a:r>
          </a:p>
          <a:p>
            <a:pPr marL="0" indent="0">
              <a:buNone/>
            </a:pPr>
            <a:endParaRPr lang="fr-FR" dirty="0"/>
          </a:p>
          <a:p>
            <a:pPr marL="0" indent="0">
              <a:buNone/>
            </a:pPr>
            <a:r>
              <a:rPr lang="fr-FR" dirty="0"/>
              <a:t>Les marges individuelles</a:t>
            </a:r>
          </a:p>
          <a:p>
            <a:r>
              <a:rPr lang="fr-FR" dirty="0"/>
              <a:t>Le choix du secteur</a:t>
            </a:r>
          </a:p>
          <a:p>
            <a:pPr>
              <a:tabLst>
                <a:tab pos="2601913" algn="l"/>
              </a:tabLst>
            </a:pPr>
            <a:r>
              <a:rPr lang="fr-FR" dirty="0"/>
              <a:t>Le refus de prendre part à un projet pour des motifs personnels</a:t>
            </a:r>
          </a:p>
          <a:p>
            <a:pPr>
              <a:tabLst>
                <a:tab pos="2601913" algn="l"/>
              </a:tabLst>
            </a:pPr>
            <a:r>
              <a:rPr lang="fr-FR" dirty="0"/>
              <a:t>L’intervention dans le cahier des charges</a:t>
            </a:r>
          </a:p>
          <a:p>
            <a:pPr marL="0" indent="0">
              <a:buNone/>
              <a:tabLst>
                <a:tab pos="2601913" algn="l"/>
              </a:tabLst>
            </a:pPr>
            <a:r>
              <a:rPr lang="fr-FR" dirty="0"/>
              <a:t>Mais aussi : la constitution d’une </a:t>
            </a:r>
            <a:r>
              <a:rPr lang="fr-FR"/>
              <a:t>réflexion collective</a:t>
            </a:r>
            <a:endParaRPr lang="fr-FR" dirty="0"/>
          </a:p>
          <a:p>
            <a:pPr>
              <a:tabLst>
                <a:tab pos="2601913" algn="l"/>
              </a:tabLst>
            </a:pPr>
            <a:endParaRPr lang="fr-FR" dirty="0"/>
          </a:p>
        </p:txBody>
      </p:sp>
    </p:spTree>
    <p:extLst>
      <p:ext uri="{BB962C8B-B14F-4D97-AF65-F5344CB8AC3E}">
        <p14:creationId xmlns:p14="http://schemas.microsoft.com/office/powerpoint/2010/main" val="4206425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E85530-4F0B-8741-EF6C-11AC95E08A68}"/>
              </a:ext>
            </a:extLst>
          </p:cNvPr>
          <p:cNvSpPr>
            <a:spLocks noGrp="1"/>
          </p:cNvSpPr>
          <p:nvPr>
            <p:ph type="title"/>
          </p:nvPr>
        </p:nvSpPr>
        <p:spPr/>
        <p:txBody>
          <a:bodyPr/>
          <a:lstStyle/>
          <a:p>
            <a:pPr algn="ctr"/>
            <a:r>
              <a:rPr lang="fr-FR" dirty="0"/>
              <a:t>Un cadre structurellement contraint</a:t>
            </a:r>
            <a:br>
              <a:rPr lang="fr-FR" dirty="0"/>
            </a:br>
            <a:r>
              <a:rPr lang="fr-FR" dirty="0"/>
              <a:t>mais des marges de manœuvre</a:t>
            </a:r>
          </a:p>
        </p:txBody>
      </p:sp>
      <p:sp>
        <p:nvSpPr>
          <p:cNvPr id="3" name="Espace réservé du contenu 2">
            <a:extLst>
              <a:ext uri="{FF2B5EF4-FFF2-40B4-BE49-F238E27FC236}">
                <a16:creationId xmlns:a16="http://schemas.microsoft.com/office/drawing/2014/main" id="{C8659A7D-D67E-7A65-A95A-D217860A7A18}"/>
              </a:ext>
            </a:extLst>
          </p:cNvPr>
          <p:cNvSpPr>
            <a:spLocks noGrp="1"/>
          </p:cNvSpPr>
          <p:nvPr>
            <p:ph idx="1"/>
          </p:nvPr>
        </p:nvSpPr>
        <p:spPr>
          <a:xfrm>
            <a:off x="350982" y="1825625"/>
            <a:ext cx="11002818" cy="4351338"/>
          </a:xfrm>
        </p:spPr>
        <p:txBody>
          <a:bodyPr>
            <a:normAutofit/>
          </a:bodyPr>
          <a:lstStyle/>
          <a:p>
            <a:pPr marL="0" indent="0">
              <a:buNone/>
            </a:pPr>
            <a:r>
              <a:rPr lang="fr-FR" dirty="0"/>
              <a:t>Quelles limites à une éthique de l’ingénieur ?</a:t>
            </a:r>
          </a:p>
          <a:p>
            <a:pPr marL="0" indent="0">
              <a:buNone/>
            </a:pPr>
            <a:endParaRPr lang="fr-FR" dirty="0"/>
          </a:p>
          <a:p>
            <a:pPr marL="0" indent="0">
              <a:buNone/>
            </a:pPr>
            <a:r>
              <a:rPr lang="fr-FR" dirty="0"/>
              <a:t>Les marges individuelles ?</a:t>
            </a:r>
          </a:p>
          <a:p>
            <a:pPr>
              <a:tabLst>
                <a:tab pos="2601913" algn="l"/>
              </a:tabLst>
            </a:pPr>
            <a:endParaRPr lang="fr-FR" dirty="0"/>
          </a:p>
        </p:txBody>
      </p:sp>
    </p:spTree>
    <p:extLst>
      <p:ext uri="{BB962C8B-B14F-4D97-AF65-F5344CB8AC3E}">
        <p14:creationId xmlns:p14="http://schemas.microsoft.com/office/powerpoint/2010/main" val="1818189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659A7D-D67E-7A65-A95A-D217860A7A18}"/>
              </a:ext>
            </a:extLst>
          </p:cNvPr>
          <p:cNvSpPr>
            <a:spLocks noGrp="1"/>
          </p:cNvSpPr>
          <p:nvPr>
            <p:ph idx="1"/>
          </p:nvPr>
        </p:nvSpPr>
        <p:spPr>
          <a:xfrm>
            <a:off x="406399" y="1228437"/>
            <a:ext cx="11194473" cy="5292436"/>
          </a:xfrm>
        </p:spPr>
        <p:txBody>
          <a:bodyPr>
            <a:normAutofit/>
          </a:bodyPr>
          <a:lstStyle/>
          <a:p>
            <a:pPr>
              <a:tabLst>
                <a:tab pos="2601913" algn="l"/>
              </a:tabLst>
            </a:pPr>
            <a:r>
              <a:rPr lang="fr-FR" dirty="0"/>
              <a:t>Faible institutionnalisation des enjeux éthiques au niveau des ingénieurs en France, contrairement aux pays anglo-saxons où l’</a:t>
            </a:r>
            <a:r>
              <a:rPr lang="fr-FR" i="1" dirty="0"/>
              <a:t>engineering </a:t>
            </a:r>
            <a:r>
              <a:rPr lang="fr-FR" i="1" dirty="0" err="1"/>
              <a:t>ethics</a:t>
            </a:r>
            <a:r>
              <a:rPr lang="fr-FR" i="1" dirty="0"/>
              <a:t> </a:t>
            </a:r>
            <a:r>
              <a:rPr lang="fr-FR" dirty="0"/>
              <a:t>est répandue (voir la multiplicité des manuels qui portent ce titre).</a:t>
            </a:r>
          </a:p>
          <a:p>
            <a:pPr>
              <a:tabLst>
                <a:tab pos="2601913" algn="l"/>
              </a:tabLst>
            </a:pPr>
            <a:r>
              <a:rPr lang="fr-FR" dirty="0"/>
              <a:t>Des raisons liées à l’histoire du métier d’ingénieur en France, avec l’importance prise par les grands corps d’Etat.</a:t>
            </a:r>
          </a:p>
          <a:p>
            <a:pPr>
              <a:tabLst>
                <a:tab pos="2601913" algn="l"/>
              </a:tabLst>
            </a:pPr>
            <a:r>
              <a:rPr lang="fr-FR" dirty="0"/>
              <a:t>Des dirigeants d’entreprises souvent issus des grandes écoles d’ingénieurs, mais une faible visibilité des ingénieurs dans le débat public (</a:t>
            </a:r>
            <a:r>
              <a:rPr lang="fr-FR" i="1" dirty="0"/>
              <a:t>vs</a:t>
            </a:r>
            <a:r>
              <a:rPr lang="fr-FR" dirty="0"/>
              <a:t> l’Allemagne et la Chine où les dirigeants ont souvent des formations d’ingénieurs)</a:t>
            </a:r>
          </a:p>
          <a:p>
            <a:pPr marL="0" indent="0">
              <a:buNone/>
              <a:tabLst>
                <a:tab pos="2601913" algn="l"/>
              </a:tabLst>
            </a:pPr>
            <a:r>
              <a:rPr lang="fr-FR" i="1" dirty="0"/>
              <a:t>Sur cette question, voir l’ancienne séance de CM du cours « Introduction aux SHS » de Sophie Mano-Avril, mise en ligne dans la classe Teams.</a:t>
            </a:r>
          </a:p>
        </p:txBody>
      </p:sp>
      <p:sp>
        <p:nvSpPr>
          <p:cNvPr id="6" name="Titre 1">
            <a:extLst>
              <a:ext uri="{FF2B5EF4-FFF2-40B4-BE49-F238E27FC236}">
                <a16:creationId xmlns:a16="http://schemas.microsoft.com/office/drawing/2014/main" id="{3FF8A9D5-F278-99A7-AC3F-30E580B1F6E6}"/>
              </a:ext>
            </a:extLst>
          </p:cNvPr>
          <p:cNvSpPr>
            <a:spLocks noGrp="1"/>
          </p:cNvSpPr>
          <p:nvPr>
            <p:ph type="title"/>
          </p:nvPr>
        </p:nvSpPr>
        <p:spPr>
          <a:xfrm>
            <a:off x="838200" y="189635"/>
            <a:ext cx="10515600" cy="835602"/>
          </a:xfrm>
        </p:spPr>
        <p:txBody>
          <a:bodyPr/>
          <a:lstStyle/>
          <a:p>
            <a:pPr algn="ctr"/>
            <a:r>
              <a:rPr lang="fr-FR" dirty="0"/>
              <a:t>Une spécificité française</a:t>
            </a:r>
          </a:p>
        </p:txBody>
      </p:sp>
    </p:spTree>
    <p:extLst>
      <p:ext uri="{BB962C8B-B14F-4D97-AF65-F5344CB8AC3E}">
        <p14:creationId xmlns:p14="http://schemas.microsoft.com/office/powerpoint/2010/main" val="2177708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DE833D-BEFB-A8BF-E625-F74307E06394}"/>
              </a:ext>
            </a:extLst>
          </p:cNvPr>
          <p:cNvSpPr>
            <a:spLocks noGrp="1"/>
          </p:cNvSpPr>
          <p:nvPr>
            <p:ph type="title"/>
          </p:nvPr>
        </p:nvSpPr>
        <p:spPr>
          <a:xfrm>
            <a:off x="838200" y="365125"/>
            <a:ext cx="10515600" cy="1325563"/>
          </a:xfrm>
        </p:spPr>
        <p:txBody>
          <a:bodyPr/>
          <a:lstStyle/>
          <a:p>
            <a:pPr algn="ctr"/>
            <a:r>
              <a:rPr lang="fr-FR" dirty="0"/>
              <a:t>Une culture ingénieurs encore très</a:t>
            </a:r>
            <a:br>
              <a:rPr lang="fr-FR" dirty="0"/>
            </a:br>
            <a:r>
              <a:rPr lang="fr-FR" dirty="0"/>
              <a:t> « techno-solutionniste »</a:t>
            </a:r>
          </a:p>
        </p:txBody>
      </p:sp>
      <p:sp>
        <p:nvSpPr>
          <p:cNvPr id="3" name="Espace réservé du contenu 2">
            <a:extLst>
              <a:ext uri="{FF2B5EF4-FFF2-40B4-BE49-F238E27FC236}">
                <a16:creationId xmlns:a16="http://schemas.microsoft.com/office/drawing/2014/main" id="{69CEB391-BB38-D842-B42F-F42578669F6A}"/>
              </a:ext>
            </a:extLst>
          </p:cNvPr>
          <p:cNvSpPr>
            <a:spLocks noGrp="1"/>
          </p:cNvSpPr>
          <p:nvPr>
            <p:ph idx="1"/>
          </p:nvPr>
        </p:nvSpPr>
        <p:spPr>
          <a:xfrm>
            <a:off x="720435" y="1825625"/>
            <a:ext cx="10898909" cy="4351338"/>
          </a:xfrm>
        </p:spPr>
        <p:txBody>
          <a:bodyPr/>
          <a:lstStyle/>
          <a:p>
            <a:pPr marL="0" indent="0">
              <a:buNone/>
            </a:pPr>
            <a:r>
              <a:rPr lang="fr-FR" dirty="0">
                <a:solidFill>
                  <a:srgbClr val="0070C0"/>
                </a:solidFill>
              </a:rPr>
              <a:t>« Alors que le travail de l'éthique consiste moins à résoudre des problèmes qu'à en poser, l'ingénierie est majoritairement pensée comme une activité purement rationnelle de résolution de problèmes et de conception de solutions innovantes. Sur le plan philosophique, l'ingénierie se présente d'ailleurs comme une activité de moyens qui ne vise rien d'autre que l'efficacité de la décision et de la technique, et non pas comme une activité délibérative concernant les fins. Ce thème très ancien, dit de la "neutralité morale de la technique", limite drastiquement la possibilité de réfléchir aux valeurs et aux obligations morales de l'ingénieur et dépolitise le projet technique des sociétés. » (Flandrin, </a:t>
            </a:r>
            <a:r>
              <a:rPr lang="fr-FR" dirty="0" err="1">
                <a:solidFill>
                  <a:srgbClr val="0070C0"/>
                </a:solidFill>
              </a:rPr>
              <a:t>Verrax</a:t>
            </a:r>
            <a:r>
              <a:rPr lang="fr-FR" dirty="0">
                <a:solidFill>
                  <a:srgbClr val="0070C0"/>
                </a:solidFill>
              </a:rPr>
              <a:t>, 2019, p. 17)</a:t>
            </a:r>
          </a:p>
          <a:p>
            <a:pPr marL="0" indent="0">
              <a:buNone/>
            </a:pPr>
            <a:endParaRPr lang="fr-FR" dirty="0"/>
          </a:p>
        </p:txBody>
      </p:sp>
    </p:spTree>
    <p:extLst>
      <p:ext uri="{BB962C8B-B14F-4D97-AF65-F5344CB8AC3E}">
        <p14:creationId xmlns:p14="http://schemas.microsoft.com/office/powerpoint/2010/main" val="3245063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C1EF9-DE45-430C-9FBC-1E90461A9F0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Les possibles dilemmes de l’ingénieur</a:t>
            </a:r>
          </a:p>
        </p:txBody>
      </p:sp>
    </p:spTree>
    <p:extLst>
      <p:ext uri="{BB962C8B-B14F-4D97-AF65-F5344CB8AC3E}">
        <p14:creationId xmlns:p14="http://schemas.microsoft.com/office/powerpoint/2010/main" val="13515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3FA2291-D1FC-CC8A-C773-D0D1BB00F0F3}"/>
              </a:ext>
            </a:extLst>
          </p:cNvPr>
          <p:cNvSpPr>
            <a:spLocks noGrp="1"/>
          </p:cNvSpPr>
          <p:nvPr>
            <p:ph idx="1"/>
          </p:nvPr>
        </p:nvSpPr>
        <p:spPr>
          <a:xfrm>
            <a:off x="1699490" y="2726316"/>
            <a:ext cx="9654309" cy="889866"/>
          </a:xfrm>
          <a:solidFill>
            <a:srgbClr val="EBF6FF"/>
          </a:solidFill>
          <a:ln>
            <a:solidFill>
              <a:srgbClr val="0070C0"/>
            </a:solidFill>
          </a:ln>
        </p:spPr>
        <p:txBody>
          <a:bodyPr/>
          <a:lstStyle/>
          <a:p>
            <a:pPr marL="0" indent="0" algn="ctr">
              <a:buNone/>
            </a:pPr>
            <a:r>
              <a:rPr lang="fr-FR" dirty="0">
                <a:solidFill>
                  <a:srgbClr val="0070C0"/>
                </a:solidFill>
              </a:rPr>
              <a:t>Quels grands dilemmes éthiques un ingénieur peut-il être amené à rencontrer dans le cadre professionnel ?</a:t>
            </a:r>
          </a:p>
        </p:txBody>
      </p:sp>
      <p:sp>
        <p:nvSpPr>
          <p:cNvPr id="4" name="Ellipse 3">
            <a:extLst>
              <a:ext uri="{FF2B5EF4-FFF2-40B4-BE49-F238E27FC236}">
                <a16:creationId xmlns:a16="http://schemas.microsoft.com/office/drawing/2014/main" id="{834ADF4F-AB55-947D-2D18-F15FBE3C010B}"/>
              </a:ext>
            </a:extLst>
          </p:cNvPr>
          <p:cNvSpPr/>
          <p:nvPr/>
        </p:nvSpPr>
        <p:spPr>
          <a:xfrm>
            <a:off x="949036" y="2726315"/>
            <a:ext cx="861290" cy="8898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2336078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1429CD-CC16-4F33-5C2E-456C7C4A18CF}"/>
              </a:ext>
            </a:extLst>
          </p:cNvPr>
          <p:cNvSpPr>
            <a:spLocks noGrp="1"/>
          </p:cNvSpPr>
          <p:nvPr>
            <p:ph type="title"/>
          </p:nvPr>
        </p:nvSpPr>
        <p:spPr/>
        <p:txBody>
          <a:bodyPr/>
          <a:lstStyle/>
          <a:p>
            <a:pPr algn="ctr"/>
            <a:r>
              <a:rPr lang="fr-FR" dirty="0"/>
              <a:t>Dilemme quant au choix du secteur</a:t>
            </a:r>
          </a:p>
        </p:txBody>
      </p:sp>
      <p:sp>
        <p:nvSpPr>
          <p:cNvPr id="3" name="Espace réservé du contenu 2">
            <a:extLst>
              <a:ext uri="{FF2B5EF4-FFF2-40B4-BE49-F238E27FC236}">
                <a16:creationId xmlns:a16="http://schemas.microsoft.com/office/drawing/2014/main" id="{135E7610-FE9D-2D8F-939F-FD05A052B6D8}"/>
              </a:ext>
            </a:extLst>
          </p:cNvPr>
          <p:cNvSpPr>
            <a:spLocks noGrp="1"/>
          </p:cNvSpPr>
          <p:nvPr>
            <p:ph idx="1"/>
          </p:nvPr>
        </p:nvSpPr>
        <p:spPr>
          <a:xfrm>
            <a:off x="678873" y="2329872"/>
            <a:ext cx="10834254" cy="2408382"/>
          </a:xfrm>
        </p:spPr>
        <p:txBody>
          <a:bodyPr>
            <a:normAutofit/>
          </a:bodyPr>
          <a:lstStyle/>
          <a:p>
            <a:r>
              <a:rPr lang="fr-FR" dirty="0"/>
              <a:t>Dilemme (possible) portant sur le choix du secteur d’activité, avec une tension possible entre </a:t>
            </a:r>
            <a:r>
              <a:rPr lang="fr-FR" b="1" dirty="0"/>
              <a:t>utilité sociale perçue </a:t>
            </a:r>
            <a:r>
              <a:rPr lang="fr-FR" dirty="0"/>
              <a:t>et </a:t>
            </a:r>
            <a:r>
              <a:rPr lang="fr-FR" b="1" dirty="0"/>
              <a:t>rémunération</a:t>
            </a:r>
            <a:r>
              <a:rPr lang="fr-FR" dirty="0"/>
              <a:t> ?</a:t>
            </a:r>
          </a:p>
          <a:p>
            <a:endParaRPr lang="fr-FR" dirty="0"/>
          </a:p>
          <a:p>
            <a:pPr marL="0" indent="0" algn="ctr">
              <a:buNone/>
            </a:pPr>
            <a:r>
              <a:rPr lang="fr-FR" b="1" dirty="0">
                <a:sym typeface="Wingdings" panose="05000000000000000000" pitchFamily="2" charset="2"/>
              </a:rPr>
              <a:t> Prendre un poste bien rémunéré, mais dont on pense que les conséquences sociales sont potentiellement néfastes ?</a:t>
            </a:r>
            <a:endParaRPr lang="fr-FR" b="1" dirty="0"/>
          </a:p>
        </p:txBody>
      </p:sp>
    </p:spTree>
    <p:extLst>
      <p:ext uri="{BB962C8B-B14F-4D97-AF65-F5344CB8AC3E}">
        <p14:creationId xmlns:p14="http://schemas.microsoft.com/office/powerpoint/2010/main" val="3787987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E4CA0180-C4FE-9516-A195-6EF3F02E7194}"/>
              </a:ext>
            </a:extLst>
          </p:cNvPr>
          <p:cNvSpPr txBox="1">
            <a:spLocks/>
          </p:cNvSpPr>
          <p:nvPr/>
        </p:nvSpPr>
        <p:spPr>
          <a:xfrm>
            <a:off x="1699491" y="1996643"/>
            <a:ext cx="9654309" cy="2224376"/>
          </a:xfrm>
          <a:prstGeom prst="rect">
            <a:avLst/>
          </a:prstGeom>
          <a:solidFill>
            <a:srgbClr val="EBF6FF"/>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a:solidFill>
                  <a:srgbClr val="0070C0"/>
                </a:solidFill>
              </a:rPr>
              <a:t>Face à un tel dilemme, que dirait un tenant :</a:t>
            </a:r>
          </a:p>
          <a:p>
            <a:pPr algn="ctr">
              <a:buFontTx/>
              <a:buChar char="-"/>
            </a:pPr>
            <a:r>
              <a:rPr lang="fr-FR" dirty="0">
                <a:solidFill>
                  <a:srgbClr val="0070C0"/>
                </a:solidFill>
              </a:rPr>
              <a:t>de l’éthique des vertus ?</a:t>
            </a:r>
          </a:p>
          <a:p>
            <a:pPr algn="ctr">
              <a:buFontTx/>
              <a:buChar char="-"/>
            </a:pPr>
            <a:r>
              <a:rPr lang="fr-FR" dirty="0">
                <a:solidFill>
                  <a:srgbClr val="0070C0"/>
                </a:solidFill>
              </a:rPr>
              <a:t>du déontologisme ?</a:t>
            </a:r>
          </a:p>
          <a:p>
            <a:pPr algn="ctr">
              <a:buFontTx/>
              <a:buChar char="-"/>
            </a:pPr>
            <a:r>
              <a:rPr lang="fr-FR" dirty="0">
                <a:solidFill>
                  <a:srgbClr val="0070C0"/>
                </a:solidFill>
              </a:rPr>
              <a:t>de l’utilitarisme ?</a:t>
            </a:r>
          </a:p>
          <a:p>
            <a:pPr algn="ctr">
              <a:buFontTx/>
              <a:buChar char="-"/>
            </a:pPr>
            <a:endParaRPr lang="fr-FR" dirty="0">
              <a:solidFill>
                <a:srgbClr val="0070C0"/>
              </a:solidFill>
            </a:endParaRPr>
          </a:p>
          <a:p>
            <a:pPr algn="ctr">
              <a:buFontTx/>
              <a:buChar char="-"/>
            </a:pPr>
            <a:endParaRPr lang="fr-FR" dirty="0">
              <a:solidFill>
                <a:srgbClr val="0070C0"/>
              </a:solidFill>
            </a:endParaRPr>
          </a:p>
        </p:txBody>
      </p:sp>
      <p:sp>
        <p:nvSpPr>
          <p:cNvPr id="5" name="Ellipse 4">
            <a:extLst>
              <a:ext uri="{FF2B5EF4-FFF2-40B4-BE49-F238E27FC236}">
                <a16:creationId xmlns:a16="http://schemas.microsoft.com/office/drawing/2014/main" id="{F4A1BFC1-3174-B405-0251-381492761214}"/>
              </a:ext>
            </a:extLst>
          </p:cNvPr>
          <p:cNvSpPr/>
          <p:nvPr/>
        </p:nvSpPr>
        <p:spPr>
          <a:xfrm>
            <a:off x="1145308" y="2576945"/>
            <a:ext cx="665017" cy="12930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227210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8A84FD0-50CA-3F4C-D999-55CC09824127}"/>
              </a:ext>
            </a:extLst>
          </p:cNvPr>
          <p:cNvSpPr>
            <a:spLocks noGrp="1"/>
          </p:cNvSpPr>
          <p:nvPr>
            <p:ph idx="1"/>
          </p:nvPr>
        </p:nvSpPr>
        <p:spPr>
          <a:xfrm>
            <a:off x="838200" y="609600"/>
            <a:ext cx="10515600" cy="5567363"/>
          </a:xfrm>
        </p:spPr>
        <p:txBody>
          <a:bodyPr/>
          <a:lstStyle/>
          <a:p>
            <a:r>
              <a:rPr lang="fr-FR" dirty="0"/>
              <a:t>Selon </a:t>
            </a:r>
            <a:r>
              <a:rPr lang="fr-FR" b="1" dirty="0"/>
              <a:t>l’éthique des vertus</a:t>
            </a:r>
            <a:r>
              <a:rPr lang="fr-FR" dirty="0"/>
              <a:t>, pas de clivage entre le rôle professionnel et la personne, si celle-ci a des convictions, elles doivent être prises en compte dans sa décision.</a:t>
            </a:r>
          </a:p>
          <a:p>
            <a:pPr lvl="1"/>
            <a:r>
              <a:rPr lang="fr-FR" dirty="0"/>
              <a:t>Voir le </a:t>
            </a:r>
            <a:r>
              <a:rPr lang="fr-FR" i="1" dirty="0"/>
              <a:t>Manifeste pour un réveil écologique</a:t>
            </a:r>
            <a:r>
              <a:rPr lang="fr-FR" dirty="0"/>
              <a:t>, signé par des milliers d’étudiants : </a:t>
            </a:r>
            <a:r>
              <a:rPr lang="fr-FR" dirty="0">
                <a:hlinkClick r:id="rId2"/>
              </a:rPr>
              <a:t>https://manifeste.pour-un-reveil-ecologique.org/fr</a:t>
            </a:r>
            <a:r>
              <a:rPr lang="fr-FR" dirty="0"/>
              <a:t> </a:t>
            </a:r>
          </a:p>
          <a:p>
            <a:r>
              <a:rPr lang="fr-FR" dirty="0"/>
              <a:t>Il n’est pas certain que </a:t>
            </a:r>
            <a:r>
              <a:rPr lang="fr-FR" b="1" dirty="0"/>
              <a:t>l’éthique déontologique </a:t>
            </a:r>
            <a:r>
              <a:rPr lang="fr-FR" dirty="0"/>
              <a:t>permette de trancher ici.</a:t>
            </a:r>
          </a:p>
          <a:p>
            <a:r>
              <a:rPr lang="fr-FR" dirty="0"/>
              <a:t>Quant à </a:t>
            </a:r>
            <a:r>
              <a:rPr lang="fr-FR" b="1" dirty="0"/>
              <a:t>l’utilitarisme</a:t>
            </a:r>
            <a:r>
              <a:rPr lang="fr-FR" dirty="0"/>
              <a:t>, il pourrait pousser l’ingénieur à prendre une autre décision</a:t>
            </a:r>
          </a:p>
        </p:txBody>
      </p:sp>
    </p:spTree>
    <p:extLst>
      <p:ext uri="{BB962C8B-B14F-4D97-AF65-F5344CB8AC3E}">
        <p14:creationId xmlns:p14="http://schemas.microsoft.com/office/powerpoint/2010/main" val="644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07942A-AF47-4762-A403-F1F95E761B8B}"/>
              </a:ext>
            </a:extLst>
          </p:cNvPr>
          <p:cNvSpPr>
            <a:spLocks noGrp="1"/>
          </p:cNvSpPr>
          <p:nvPr>
            <p:ph type="title"/>
          </p:nvPr>
        </p:nvSpPr>
        <p:spPr/>
        <p:txBody>
          <a:bodyPr/>
          <a:lstStyle/>
          <a:p>
            <a:pPr algn="ctr"/>
            <a:r>
              <a:rPr lang="fr-FR" dirty="0"/>
              <a:t>Dilemme comme conflit de loyauté</a:t>
            </a:r>
          </a:p>
        </p:txBody>
      </p:sp>
      <p:sp>
        <p:nvSpPr>
          <p:cNvPr id="3" name="Espace réservé du contenu 2">
            <a:extLst>
              <a:ext uri="{FF2B5EF4-FFF2-40B4-BE49-F238E27FC236}">
                <a16:creationId xmlns:a16="http://schemas.microsoft.com/office/drawing/2014/main" id="{A95FDCDF-92A5-9937-D58E-33BBD452A43E}"/>
              </a:ext>
            </a:extLst>
          </p:cNvPr>
          <p:cNvSpPr>
            <a:spLocks noGrp="1"/>
          </p:cNvSpPr>
          <p:nvPr>
            <p:ph idx="1"/>
          </p:nvPr>
        </p:nvSpPr>
        <p:spPr/>
        <p:txBody>
          <a:bodyPr/>
          <a:lstStyle/>
          <a:p>
            <a:r>
              <a:rPr lang="fr-FR" dirty="0"/>
              <a:t>Être loyal à l’entreprise ou désobéir / lancer l’alerte pour servir ce qui est perçu comme l’intérêt général (voir TD1 « Introduction à l’éthique de la recherche »).</a:t>
            </a:r>
          </a:p>
          <a:p>
            <a:endParaRPr lang="fr-FR" dirty="0"/>
          </a:p>
          <a:p>
            <a:r>
              <a:rPr lang="fr-FR" dirty="0"/>
              <a:t>Sans même parler de lancer une alerte, quels conflits de valeurs fréquents peuvent survenir dans la vie professionnelle d’un ingénieur? Comment les aborder ?</a:t>
            </a:r>
          </a:p>
        </p:txBody>
      </p:sp>
    </p:spTree>
    <p:extLst>
      <p:ext uri="{BB962C8B-B14F-4D97-AF65-F5344CB8AC3E}">
        <p14:creationId xmlns:p14="http://schemas.microsoft.com/office/powerpoint/2010/main" val="3344718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703AD-76A8-8102-E1BA-BFC05C7EADE7}"/>
              </a:ext>
            </a:extLst>
          </p:cNvPr>
          <p:cNvSpPr>
            <a:spLocks noGrp="1"/>
          </p:cNvSpPr>
          <p:nvPr>
            <p:ph type="title"/>
          </p:nvPr>
        </p:nvSpPr>
        <p:spPr/>
        <p:txBody>
          <a:bodyPr/>
          <a:lstStyle/>
          <a:p>
            <a:r>
              <a:rPr lang="fr-FR" dirty="0"/>
              <a:t>Dilemme autour du mensonge professionnel</a:t>
            </a:r>
          </a:p>
        </p:txBody>
      </p:sp>
      <p:sp>
        <p:nvSpPr>
          <p:cNvPr id="3" name="Espace réservé du contenu 2">
            <a:extLst>
              <a:ext uri="{FF2B5EF4-FFF2-40B4-BE49-F238E27FC236}">
                <a16:creationId xmlns:a16="http://schemas.microsoft.com/office/drawing/2014/main" id="{B1C3683A-B23F-BC74-D83E-3A226C88C5C4}"/>
              </a:ext>
            </a:extLst>
          </p:cNvPr>
          <p:cNvSpPr>
            <a:spLocks noGrp="1"/>
          </p:cNvSpPr>
          <p:nvPr>
            <p:ph idx="1"/>
          </p:nvPr>
        </p:nvSpPr>
        <p:spPr/>
        <p:txBody>
          <a:bodyPr/>
          <a:lstStyle/>
          <a:p>
            <a:r>
              <a:rPr lang="fr-FR" dirty="0"/>
              <a:t>Exemple de l’industrie du tabac</a:t>
            </a:r>
          </a:p>
          <a:p>
            <a:r>
              <a:rPr lang="fr-FR" dirty="0"/>
              <a:t>Stratégie de « dilution de la </a:t>
            </a:r>
            <a:r>
              <a:rPr lang="fr-FR" b="1" dirty="0"/>
              <a:t>perception des risques </a:t>
            </a:r>
            <a:r>
              <a:rPr lang="fr-FR" dirty="0"/>
              <a:t>».</a:t>
            </a:r>
          </a:p>
        </p:txBody>
      </p:sp>
    </p:spTree>
    <p:extLst>
      <p:ext uri="{BB962C8B-B14F-4D97-AF65-F5344CB8AC3E}">
        <p14:creationId xmlns:p14="http://schemas.microsoft.com/office/powerpoint/2010/main" val="2351684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91F36EA-B1EA-AD9B-60AC-16CF64FD3CC9}"/>
              </a:ext>
            </a:extLst>
          </p:cNvPr>
          <p:cNvSpPr>
            <a:spLocks noGrp="1"/>
          </p:cNvSpPr>
          <p:nvPr>
            <p:ph idx="1"/>
          </p:nvPr>
        </p:nvSpPr>
        <p:spPr>
          <a:xfrm>
            <a:off x="655782" y="909781"/>
            <a:ext cx="11120581" cy="5038437"/>
          </a:xfrm>
        </p:spPr>
        <p:txBody>
          <a:bodyPr>
            <a:normAutofit/>
          </a:bodyPr>
          <a:lstStyle/>
          <a:p>
            <a:pPr marL="0" indent="0" algn="l">
              <a:buNone/>
            </a:pPr>
            <a:r>
              <a:rPr lang="fr-FR" b="0" i="0" dirty="0">
                <a:solidFill>
                  <a:srgbClr val="0070C0"/>
                </a:solidFill>
                <a:effectLst/>
              </a:rPr>
              <a:t>« Un premier exemple fameux, développé par l'historien des sciences Robert Proctor, concerne l'industrie du tabac. Dans les années 1950, les scientifiques découvrent que le goudron dans les poumons provoque des tumeurs. Contre la science, l'industrie se mobilise en vue d'une production sociopolitique de l'ignorance publique, ce que Robert Proctor nomme l’ « agnotologie</a:t>
            </a:r>
            <a:r>
              <a:rPr lang="fr-FR" dirty="0">
                <a:solidFill>
                  <a:srgbClr val="0070C0"/>
                </a:solidFill>
              </a:rPr>
              <a:t> »:</a:t>
            </a:r>
            <a:r>
              <a:rPr lang="fr-FR" b="0" i="0" dirty="0">
                <a:solidFill>
                  <a:srgbClr val="0070C0"/>
                </a:solidFill>
                <a:effectLst/>
              </a:rPr>
              <a:t> une recherche de causalité alternative, notamment, est systématiquement entreprise pour </a:t>
            </a:r>
            <a:r>
              <a:rPr lang="fr-FR" b="1" i="0" dirty="0">
                <a:solidFill>
                  <a:srgbClr val="0070C0"/>
                </a:solidFill>
                <a:effectLst/>
              </a:rPr>
              <a:t>diluer la perception des risques</a:t>
            </a:r>
            <a:r>
              <a:rPr lang="fr-FR" b="0" i="0" dirty="0">
                <a:solidFill>
                  <a:srgbClr val="0070C0"/>
                </a:solidFill>
                <a:effectLst/>
              </a:rPr>
              <a:t>. Ce type de pratique se retrouve dans tous les domaines privilégiés de l'agnotologie: pluies acides, trous de l'ozone, DDT (un insecticide puissant), etc.</a:t>
            </a:r>
            <a:br>
              <a:rPr lang="fr-FR" b="0" i="0" dirty="0">
                <a:solidFill>
                  <a:srgbClr val="0070C0"/>
                </a:solidFill>
                <a:effectLst/>
              </a:rPr>
            </a:br>
            <a:endParaRPr lang="fr-FR" b="0" i="0" dirty="0">
              <a:solidFill>
                <a:srgbClr val="0070C0"/>
              </a:solidFill>
              <a:effectLst/>
            </a:endParaRPr>
          </a:p>
        </p:txBody>
      </p:sp>
    </p:spTree>
    <p:extLst>
      <p:ext uri="{BB962C8B-B14F-4D97-AF65-F5344CB8AC3E}">
        <p14:creationId xmlns:p14="http://schemas.microsoft.com/office/powerpoint/2010/main" val="326714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91F36EA-B1EA-AD9B-60AC-16CF64FD3CC9}"/>
              </a:ext>
            </a:extLst>
          </p:cNvPr>
          <p:cNvSpPr>
            <a:spLocks noGrp="1"/>
          </p:cNvSpPr>
          <p:nvPr>
            <p:ph idx="1"/>
          </p:nvPr>
        </p:nvSpPr>
        <p:spPr>
          <a:xfrm>
            <a:off x="374072" y="801255"/>
            <a:ext cx="11443855" cy="5525654"/>
          </a:xfrm>
        </p:spPr>
        <p:txBody>
          <a:bodyPr>
            <a:normAutofit/>
          </a:bodyPr>
          <a:lstStyle/>
          <a:p>
            <a:pPr marL="0" indent="0" algn="l">
              <a:buNone/>
            </a:pPr>
            <a:r>
              <a:rPr lang="fr-FR" b="0" i="0" dirty="0">
                <a:solidFill>
                  <a:srgbClr val="0070C0"/>
                </a:solidFill>
                <a:effectLst/>
              </a:rPr>
              <a:t>Comparant les stratégies de mensonge industriel du secteur des hydrocarbures à celles de l'industrie du tabac après la Seconde Guerre mondiale, les historiens américains des sciences Naomi </a:t>
            </a:r>
            <a:r>
              <a:rPr lang="fr-FR" b="0" i="0" dirty="0" err="1">
                <a:solidFill>
                  <a:srgbClr val="0070C0"/>
                </a:solidFill>
                <a:effectLst/>
              </a:rPr>
              <a:t>Oreskes</a:t>
            </a:r>
            <a:r>
              <a:rPr lang="fr-FR" b="0" i="0" dirty="0">
                <a:solidFill>
                  <a:srgbClr val="0070C0"/>
                </a:solidFill>
                <a:effectLst/>
              </a:rPr>
              <a:t> et Erik Conway ont bien mis au jour, eux aussi, les pratiques des industriels </a:t>
            </a:r>
            <a:r>
              <a:rPr lang="fr-FR" b="1" i="0" dirty="0">
                <a:solidFill>
                  <a:srgbClr val="0070C0"/>
                </a:solidFill>
                <a:effectLst/>
              </a:rPr>
              <a:t>"marchands de doute"</a:t>
            </a:r>
            <a:r>
              <a:rPr lang="fr-FR" b="0" i="0" dirty="0">
                <a:solidFill>
                  <a:srgbClr val="0070C0"/>
                </a:solidFill>
                <a:effectLst/>
              </a:rPr>
              <a:t>. Dès 1977, onze années avant la création du Groupe d'experts intergouvernemental sur l'évolution du climat (GIEC), des chercheurs et des ingénieurs de l'industrie pétrolière produisent des rapports à destination de leur hiérarchie pour alarmer sur le réchauffement climatique. Des connaissances sont alors délibérément cachées au grand public, des résultats sont falsifiés, un lobbying est systématiquement orchestré pour obtenir une absence de réglementation contraignante et coûteuse (ExxonMobil est le principal financeur du mouvement climato-sceptique). » (Flandrin, </a:t>
            </a:r>
            <a:r>
              <a:rPr lang="fr-FR" b="0" i="0" dirty="0" err="1">
                <a:solidFill>
                  <a:srgbClr val="0070C0"/>
                </a:solidFill>
                <a:effectLst/>
              </a:rPr>
              <a:t>Verrax</a:t>
            </a:r>
            <a:r>
              <a:rPr lang="fr-FR" b="0" i="0" dirty="0">
                <a:solidFill>
                  <a:srgbClr val="0070C0"/>
                </a:solidFill>
                <a:effectLst/>
              </a:rPr>
              <a:t>, p. 71)</a:t>
            </a:r>
          </a:p>
        </p:txBody>
      </p:sp>
    </p:spTree>
    <p:extLst>
      <p:ext uri="{BB962C8B-B14F-4D97-AF65-F5344CB8AC3E}">
        <p14:creationId xmlns:p14="http://schemas.microsoft.com/office/powerpoint/2010/main" val="3205137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5AC5F8-956A-0C97-1C39-5DED31596EB2}"/>
              </a:ext>
            </a:extLst>
          </p:cNvPr>
          <p:cNvSpPr>
            <a:spLocks noGrp="1"/>
          </p:cNvSpPr>
          <p:nvPr>
            <p:ph type="title"/>
          </p:nvPr>
        </p:nvSpPr>
        <p:spPr/>
        <p:txBody>
          <a:bodyPr/>
          <a:lstStyle/>
          <a:p>
            <a:pPr algn="ctr"/>
            <a:r>
              <a:rPr lang="fr-FR" dirty="0"/>
              <a:t>Le scandale Volkswagen (2015).</a:t>
            </a:r>
            <a:br>
              <a:rPr lang="fr-FR" dirty="0"/>
            </a:br>
            <a:endParaRPr lang="fr-FR" dirty="0"/>
          </a:p>
        </p:txBody>
      </p:sp>
      <p:sp>
        <p:nvSpPr>
          <p:cNvPr id="3" name="Espace réservé du contenu 2">
            <a:extLst>
              <a:ext uri="{FF2B5EF4-FFF2-40B4-BE49-F238E27FC236}">
                <a16:creationId xmlns:a16="http://schemas.microsoft.com/office/drawing/2014/main" id="{5462A850-0FA5-D954-F409-2006F12ECFD2}"/>
              </a:ext>
            </a:extLst>
          </p:cNvPr>
          <p:cNvSpPr>
            <a:spLocks noGrp="1"/>
          </p:cNvSpPr>
          <p:nvPr>
            <p:ph idx="1"/>
          </p:nvPr>
        </p:nvSpPr>
        <p:spPr/>
        <p:txBody>
          <a:bodyPr/>
          <a:lstStyle/>
          <a:p>
            <a:r>
              <a:rPr lang="fr-FR" dirty="0"/>
              <a:t>Que s’est-il passé ?</a:t>
            </a:r>
          </a:p>
          <a:p>
            <a:endParaRPr lang="fr-FR" dirty="0"/>
          </a:p>
        </p:txBody>
      </p:sp>
      <p:sp>
        <p:nvSpPr>
          <p:cNvPr id="4" name="Espace réservé du contenu 2">
            <a:extLst>
              <a:ext uri="{FF2B5EF4-FFF2-40B4-BE49-F238E27FC236}">
                <a16:creationId xmlns:a16="http://schemas.microsoft.com/office/drawing/2014/main" id="{AA2FF3E8-D023-6203-7DD2-BB59537D97E2}"/>
              </a:ext>
            </a:extLst>
          </p:cNvPr>
          <p:cNvSpPr txBox="1">
            <a:spLocks/>
          </p:cNvSpPr>
          <p:nvPr/>
        </p:nvSpPr>
        <p:spPr>
          <a:xfrm>
            <a:off x="987714" y="2573119"/>
            <a:ext cx="10366086" cy="2054299"/>
          </a:xfrm>
          <a:prstGeom prst="rect">
            <a:avLst/>
          </a:prstGeom>
          <a:solidFill>
            <a:srgbClr val="EBF6FF"/>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0070C0"/>
                </a:solidFill>
              </a:rPr>
              <a:t>Que dit l’éthique déontologique de cette tromperie industrielle ? </a:t>
            </a:r>
          </a:p>
          <a:p>
            <a:r>
              <a:rPr lang="fr-FR" dirty="0">
                <a:solidFill>
                  <a:srgbClr val="0070C0"/>
                </a:solidFill>
              </a:rPr>
              <a:t>Et l’éthique utilitariste ?</a:t>
            </a:r>
          </a:p>
          <a:p>
            <a:r>
              <a:rPr lang="fr-FR" dirty="0">
                <a:solidFill>
                  <a:srgbClr val="0070C0"/>
                </a:solidFill>
              </a:rPr>
              <a:t>Derrière la question morale du mensonge, quels enjeux éthiques structurels plus graves ?</a:t>
            </a:r>
          </a:p>
          <a:p>
            <a:pPr algn="ctr">
              <a:buFontTx/>
              <a:buChar char="-"/>
            </a:pPr>
            <a:endParaRPr lang="fr-FR" dirty="0">
              <a:solidFill>
                <a:srgbClr val="0070C0"/>
              </a:solidFill>
            </a:endParaRPr>
          </a:p>
        </p:txBody>
      </p:sp>
      <p:sp>
        <p:nvSpPr>
          <p:cNvPr id="5" name="Ellipse 4">
            <a:extLst>
              <a:ext uri="{FF2B5EF4-FFF2-40B4-BE49-F238E27FC236}">
                <a16:creationId xmlns:a16="http://schemas.microsoft.com/office/drawing/2014/main" id="{CA3A334C-F0B0-6DAA-841D-9BE9780D6EBB}"/>
              </a:ext>
            </a:extLst>
          </p:cNvPr>
          <p:cNvSpPr/>
          <p:nvPr/>
        </p:nvSpPr>
        <p:spPr>
          <a:xfrm>
            <a:off x="322697" y="2872510"/>
            <a:ext cx="665017" cy="1487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1562661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30435D-5396-16F5-2AD0-E890D90CEA74}"/>
              </a:ext>
            </a:extLst>
          </p:cNvPr>
          <p:cNvSpPr>
            <a:spLocks noGrp="1"/>
          </p:cNvSpPr>
          <p:nvPr>
            <p:ph type="title"/>
          </p:nvPr>
        </p:nvSpPr>
        <p:spPr/>
        <p:txBody>
          <a:bodyPr/>
          <a:lstStyle/>
          <a:p>
            <a:pPr algn="ctr"/>
            <a:r>
              <a:rPr lang="fr-FR" dirty="0"/>
              <a:t>La catastrophe de Bhopal</a:t>
            </a:r>
          </a:p>
        </p:txBody>
      </p:sp>
      <p:sp>
        <p:nvSpPr>
          <p:cNvPr id="3" name="Espace réservé du contenu 2">
            <a:extLst>
              <a:ext uri="{FF2B5EF4-FFF2-40B4-BE49-F238E27FC236}">
                <a16:creationId xmlns:a16="http://schemas.microsoft.com/office/drawing/2014/main" id="{42BD8902-FCDC-A2CC-C255-A5ED1DBEAC47}"/>
              </a:ext>
            </a:extLst>
          </p:cNvPr>
          <p:cNvSpPr>
            <a:spLocks noGrp="1"/>
          </p:cNvSpPr>
          <p:nvPr>
            <p:ph idx="1"/>
          </p:nvPr>
        </p:nvSpPr>
        <p:spPr/>
        <p:txBody>
          <a:bodyPr/>
          <a:lstStyle/>
          <a:p>
            <a:r>
              <a:rPr lang="fr-FR" dirty="0"/>
              <a:t>Politique de l’impunité de l’entreprise</a:t>
            </a:r>
          </a:p>
          <a:p>
            <a:r>
              <a:rPr lang="fr-FR" dirty="0"/>
              <a:t>Crise profonde de la responsabilité de l’entreprise</a:t>
            </a:r>
          </a:p>
        </p:txBody>
      </p:sp>
    </p:spTree>
    <p:extLst>
      <p:ext uri="{BB962C8B-B14F-4D97-AF65-F5344CB8AC3E}">
        <p14:creationId xmlns:p14="http://schemas.microsoft.com/office/powerpoint/2010/main" val="2937879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C1EF9-DE45-430C-9FBC-1E90461A9F0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Analyse d’une « charte éthique »</a:t>
            </a:r>
            <a:br>
              <a:rPr lang="fr-FR" b="1" dirty="0">
                <a:solidFill>
                  <a:schemeClr val="bg1"/>
                </a:solidFill>
              </a:rPr>
            </a:br>
            <a:r>
              <a:rPr lang="fr-FR" b="1" dirty="0">
                <a:solidFill>
                  <a:schemeClr val="bg1"/>
                </a:solidFill>
              </a:rPr>
              <a:t>de l’ingénieur</a:t>
            </a:r>
          </a:p>
        </p:txBody>
      </p:sp>
    </p:spTree>
    <p:extLst>
      <p:ext uri="{BB962C8B-B14F-4D97-AF65-F5344CB8AC3E}">
        <p14:creationId xmlns:p14="http://schemas.microsoft.com/office/powerpoint/2010/main" val="2492803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E0ABA-4FAD-498D-AFEA-AF1BF47C0FAD}"/>
              </a:ext>
            </a:extLst>
          </p:cNvPr>
          <p:cNvSpPr>
            <a:spLocks noGrp="1"/>
          </p:cNvSpPr>
          <p:nvPr>
            <p:ph idx="1"/>
          </p:nvPr>
        </p:nvSpPr>
        <p:spPr>
          <a:xfrm>
            <a:off x="838200" y="2753279"/>
            <a:ext cx="10515600" cy="756540"/>
          </a:xfrm>
          <a:solidFill>
            <a:schemeClr val="bg1">
              <a:lumMod val="95000"/>
            </a:schemeClr>
          </a:solidFill>
          <a:effectLst>
            <a:outerShdw blurRad="63500" sx="102000" sy="102000" algn="ctr" rotWithShape="0">
              <a:prstClr val="black">
                <a:alpha val="40000"/>
              </a:prstClr>
            </a:outerShdw>
          </a:effectLst>
        </p:spPr>
        <p:txBody>
          <a:bodyPr vert="horz" lIns="91440" tIns="45720" rIns="91440" bIns="45720" rtlCol="0" anchor="t">
            <a:normAutofit/>
          </a:bodyPr>
          <a:lstStyle/>
          <a:p>
            <a:pPr>
              <a:buFont typeface="Wingdings" panose="05000000000000000000" pitchFamily="2" charset="2"/>
              <a:buChar char="à"/>
            </a:pPr>
            <a:r>
              <a:rPr lang="fr-FR" dirty="0"/>
              <a:t>Avez-vous entendu parler d’une charte éthique de l’ingénieur ?</a:t>
            </a:r>
          </a:p>
        </p:txBody>
      </p:sp>
    </p:spTree>
    <p:extLst>
      <p:ext uri="{BB962C8B-B14F-4D97-AF65-F5344CB8AC3E}">
        <p14:creationId xmlns:p14="http://schemas.microsoft.com/office/powerpoint/2010/main" val="319393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E541ECA-6CA6-484C-9FE9-788B0F657147}"/>
              </a:ext>
            </a:extLst>
          </p:cNvPr>
          <p:cNvSpPr>
            <a:spLocks noGrp="1"/>
          </p:cNvSpPr>
          <p:nvPr>
            <p:ph idx="1"/>
          </p:nvPr>
        </p:nvSpPr>
        <p:spPr>
          <a:xfrm>
            <a:off x="838200" y="572655"/>
            <a:ext cx="10515600" cy="5604308"/>
          </a:xfrm>
        </p:spPr>
        <p:txBody>
          <a:bodyPr vert="horz" lIns="91440" tIns="45720" rIns="91440" bIns="45720" rtlCol="0" anchor="t">
            <a:normAutofit/>
          </a:bodyPr>
          <a:lstStyle/>
          <a:p>
            <a:r>
              <a:rPr lang="fr-FR" dirty="0">
                <a:ea typeface="+mn-lt"/>
                <a:cs typeface="+mn-lt"/>
              </a:rPr>
              <a:t>"</a:t>
            </a:r>
            <a:r>
              <a:rPr lang="fr-FR" dirty="0"/>
              <a:t>En France, l'association IESF a publié en 2001 une </a:t>
            </a:r>
            <a:r>
              <a:rPr lang="fr-FR" b="1" dirty="0"/>
              <a:t>charte d'éthique de l'ingénieur</a:t>
            </a:r>
            <a:r>
              <a:rPr lang="fr-FR" dirty="0"/>
              <a:t>. Comme indiqué dans son préambule, cette charte doit être considérée comme la profession de foi de tous ceux qui figurent dans le répertoire français des ingénieurs créé par le CNISF. Mais il n'est pas évident que les ingénieurs aient connaissance de cette charte. En outre, </a:t>
            </a:r>
            <a:r>
              <a:rPr lang="fr-FR" b="1" dirty="0"/>
              <a:t>à la différence d'un code de déontologie, cette charte est seulement déclarative, et son non-respect ne peut donner lieu à des sanctions de la profession</a:t>
            </a:r>
            <a:r>
              <a:rPr lang="fr-FR" dirty="0"/>
              <a:t>." (Wikipédia)</a:t>
            </a:r>
          </a:p>
          <a:p>
            <a:endParaRPr lang="fr-FR" dirty="0"/>
          </a:p>
          <a:p>
            <a:r>
              <a:rPr lang="fr-FR" dirty="0">
                <a:cs typeface="Calibri"/>
              </a:rPr>
              <a:t>Au Québec, il existe en revanche un </a:t>
            </a:r>
            <a:r>
              <a:rPr lang="fr-FR" b="1" dirty="0">
                <a:cs typeface="Calibri"/>
              </a:rPr>
              <a:t>code de déontologie contraignant </a:t>
            </a:r>
            <a:r>
              <a:rPr lang="fr-FR" dirty="0">
                <a:cs typeface="Calibri"/>
              </a:rPr>
              <a:t>de la profession d'ingénieurs.</a:t>
            </a:r>
          </a:p>
        </p:txBody>
      </p:sp>
      <p:sp>
        <p:nvSpPr>
          <p:cNvPr id="5" name="Espace réservé du pied de page 4">
            <a:extLst>
              <a:ext uri="{FF2B5EF4-FFF2-40B4-BE49-F238E27FC236}">
                <a16:creationId xmlns:a16="http://schemas.microsoft.com/office/drawing/2014/main" id="{63CF88D3-4F61-4D70-BCA8-5ECBA7B8AD45}"/>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B5329E1F-E49E-427A-9A73-2DCC12C0243B}"/>
              </a:ext>
            </a:extLst>
          </p:cNvPr>
          <p:cNvSpPr>
            <a:spLocks noGrp="1"/>
          </p:cNvSpPr>
          <p:nvPr>
            <p:ph type="sldNum" sz="quarter" idx="12"/>
          </p:nvPr>
        </p:nvSpPr>
        <p:spPr/>
        <p:txBody>
          <a:bodyPr/>
          <a:lstStyle/>
          <a:p>
            <a:fld id="{8C283176-C17C-43E1-862E-26F06C6D0497}" type="slidenum">
              <a:rPr lang="fr-FR" smtClean="0"/>
              <a:t>23</a:t>
            </a:fld>
            <a:endParaRPr lang="fr-FR"/>
          </a:p>
        </p:txBody>
      </p:sp>
    </p:spTree>
    <p:extLst>
      <p:ext uri="{BB962C8B-B14F-4D97-AF65-F5344CB8AC3E}">
        <p14:creationId xmlns:p14="http://schemas.microsoft.com/office/powerpoint/2010/main" val="3744963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E0ABA-4FAD-498D-AFEA-AF1BF47C0FAD}"/>
              </a:ext>
            </a:extLst>
          </p:cNvPr>
          <p:cNvSpPr>
            <a:spLocks noGrp="1"/>
          </p:cNvSpPr>
          <p:nvPr>
            <p:ph idx="1"/>
          </p:nvPr>
        </p:nvSpPr>
        <p:spPr>
          <a:xfrm>
            <a:off x="838200" y="2753278"/>
            <a:ext cx="10515600" cy="2017505"/>
          </a:xfrm>
          <a:solidFill>
            <a:schemeClr val="bg1">
              <a:lumMod val="95000"/>
            </a:schemeClr>
          </a:solidFill>
          <a:effectLst>
            <a:outerShdw blurRad="63500" sx="102000" sy="102000" algn="ctr" rotWithShape="0">
              <a:prstClr val="black">
                <a:alpha val="40000"/>
              </a:prstClr>
            </a:outerShdw>
          </a:effectLst>
        </p:spPr>
        <p:txBody>
          <a:bodyPr vert="horz" lIns="91440" tIns="45720" rIns="91440" bIns="45720" rtlCol="0" anchor="t">
            <a:normAutofit/>
          </a:bodyPr>
          <a:lstStyle/>
          <a:p>
            <a:pPr>
              <a:buFont typeface="Wingdings" panose="05000000000000000000" pitchFamily="2" charset="2"/>
              <a:buChar char="à"/>
            </a:pPr>
            <a:r>
              <a:rPr lang="fr-FR" dirty="0"/>
              <a:t>Quelles valeurs sont portées par cette charte ?</a:t>
            </a:r>
          </a:p>
          <a:p>
            <a:pPr>
              <a:buFont typeface="Wingdings" panose="05000000000000000000" pitchFamily="2" charset="2"/>
              <a:buChar char="à"/>
            </a:pPr>
            <a:r>
              <a:rPr lang="fr-FR" dirty="0"/>
              <a:t>Y a-t-il des tensions ou contradictions au sein de cette charte, entre les différentes valeurs mises en avant ?</a:t>
            </a:r>
          </a:p>
        </p:txBody>
      </p:sp>
    </p:spTree>
    <p:extLst>
      <p:ext uri="{BB962C8B-B14F-4D97-AF65-F5344CB8AC3E}">
        <p14:creationId xmlns:p14="http://schemas.microsoft.com/office/powerpoint/2010/main" val="2710483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4513B0C-2F2D-44C9-8531-FE8CE6FE1F5A}"/>
              </a:ext>
            </a:extLst>
          </p:cNvPr>
          <p:cNvPicPr>
            <a:picLocks noChangeAspect="1"/>
          </p:cNvPicPr>
          <p:nvPr/>
        </p:nvPicPr>
        <p:blipFill rotWithShape="1">
          <a:blip r:embed="rId2"/>
          <a:srcRect l="4215" t="7468" r="3875" b="33453"/>
          <a:stretch/>
        </p:blipFill>
        <p:spPr>
          <a:xfrm>
            <a:off x="120944" y="270933"/>
            <a:ext cx="11950112" cy="5565422"/>
          </a:xfrm>
          <a:prstGeom prst="rect">
            <a:avLst/>
          </a:prstGeom>
        </p:spPr>
      </p:pic>
    </p:spTree>
    <p:extLst>
      <p:ext uri="{BB962C8B-B14F-4D97-AF65-F5344CB8AC3E}">
        <p14:creationId xmlns:p14="http://schemas.microsoft.com/office/powerpoint/2010/main" val="2925497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FAB0FE85-E3DD-4C32-833C-6D32DB05AC15}"/>
              </a:ext>
            </a:extLst>
          </p:cNvPr>
          <p:cNvPicPr>
            <a:picLocks noChangeAspect="1"/>
          </p:cNvPicPr>
          <p:nvPr/>
        </p:nvPicPr>
        <p:blipFill rotWithShape="1">
          <a:blip r:embed="rId2"/>
          <a:srcRect l="4646" t="63599"/>
          <a:stretch/>
        </p:blipFill>
        <p:spPr>
          <a:xfrm>
            <a:off x="0" y="1718804"/>
            <a:ext cx="12112638" cy="3193165"/>
          </a:xfrm>
          <a:prstGeom prst="rect">
            <a:avLst/>
          </a:prstGeom>
        </p:spPr>
      </p:pic>
    </p:spTree>
    <p:extLst>
      <p:ext uri="{BB962C8B-B14F-4D97-AF65-F5344CB8AC3E}">
        <p14:creationId xmlns:p14="http://schemas.microsoft.com/office/powerpoint/2010/main" val="2701432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9C24F33-AFBB-4F29-924C-EF709E88A18D}"/>
              </a:ext>
            </a:extLst>
          </p:cNvPr>
          <p:cNvPicPr>
            <a:picLocks noChangeAspect="1"/>
          </p:cNvPicPr>
          <p:nvPr/>
        </p:nvPicPr>
        <p:blipFill rotWithShape="1">
          <a:blip r:embed="rId2"/>
          <a:srcRect l="5891" r="6217"/>
          <a:stretch/>
        </p:blipFill>
        <p:spPr>
          <a:xfrm>
            <a:off x="44269" y="1488831"/>
            <a:ext cx="12112812" cy="3692769"/>
          </a:xfrm>
          <a:prstGeom prst="rect">
            <a:avLst/>
          </a:prstGeom>
        </p:spPr>
      </p:pic>
    </p:spTree>
    <p:extLst>
      <p:ext uri="{BB962C8B-B14F-4D97-AF65-F5344CB8AC3E}">
        <p14:creationId xmlns:p14="http://schemas.microsoft.com/office/powerpoint/2010/main" val="133857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B527CC7-AF83-4542-9154-362DF989D1E9}"/>
              </a:ext>
            </a:extLst>
          </p:cNvPr>
          <p:cNvPicPr>
            <a:picLocks noChangeAspect="1"/>
          </p:cNvPicPr>
          <p:nvPr/>
        </p:nvPicPr>
        <p:blipFill rotWithShape="1">
          <a:blip r:embed="rId2"/>
          <a:srcRect l="956"/>
          <a:stretch/>
        </p:blipFill>
        <p:spPr>
          <a:xfrm>
            <a:off x="0" y="375138"/>
            <a:ext cx="12145141" cy="5318091"/>
          </a:xfrm>
          <a:prstGeom prst="rect">
            <a:avLst/>
          </a:prstGeom>
        </p:spPr>
      </p:pic>
    </p:spTree>
    <p:extLst>
      <p:ext uri="{BB962C8B-B14F-4D97-AF65-F5344CB8AC3E}">
        <p14:creationId xmlns:p14="http://schemas.microsoft.com/office/powerpoint/2010/main" val="2683986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4478C4F-2F22-4DBD-91AB-0FA06F88EDAF}"/>
              </a:ext>
            </a:extLst>
          </p:cNvPr>
          <p:cNvPicPr>
            <a:picLocks noChangeAspect="1"/>
          </p:cNvPicPr>
          <p:nvPr/>
        </p:nvPicPr>
        <p:blipFill rotWithShape="1">
          <a:blip r:embed="rId2"/>
          <a:srcRect r="9713" b="60839"/>
          <a:stretch/>
        </p:blipFill>
        <p:spPr>
          <a:xfrm>
            <a:off x="5033" y="351692"/>
            <a:ext cx="12185700" cy="5416062"/>
          </a:xfrm>
          <a:prstGeom prst="rect">
            <a:avLst/>
          </a:prstGeom>
        </p:spPr>
      </p:pic>
    </p:spTree>
    <p:extLst>
      <p:ext uri="{BB962C8B-B14F-4D97-AF65-F5344CB8AC3E}">
        <p14:creationId xmlns:p14="http://schemas.microsoft.com/office/powerpoint/2010/main" val="3944009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4478C4F-2F22-4DBD-91AB-0FA06F88EDAF}"/>
              </a:ext>
            </a:extLst>
          </p:cNvPr>
          <p:cNvPicPr>
            <a:picLocks noChangeAspect="1"/>
          </p:cNvPicPr>
          <p:nvPr/>
        </p:nvPicPr>
        <p:blipFill rotWithShape="1">
          <a:blip r:embed="rId2"/>
          <a:srcRect t="41182" r="7267" b="25749"/>
          <a:stretch/>
        </p:blipFill>
        <p:spPr>
          <a:xfrm>
            <a:off x="-31137" y="1160585"/>
            <a:ext cx="12031944" cy="4396572"/>
          </a:xfrm>
          <a:prstGeom prst="rect">
            <a:avLst/>
          </a:prstGeom>
        </p:spPr>
      </p:pic>
    </p:spTree>
    <p:extLst>
      <p:ext uri="{BB962C8B-B14F-4D97-AF65-F5344CB8AC3E}">
        <p14:creationId xmlns:p14="http://schemas.microsoft.com/office/powerpoint/2010/main" val="2881279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4478C4F-2F22-4DBD-91AB-0FA06F88EDAF}"/>
              </a:ext>
            </a:extLst>
          </p:cNvPr>
          <p:cNvPicPr>
            <a:picLocks noChangeAspect="1"/>
          </p:cNvPicPr>
          <p:nvPr/>
        </p:nvPicPr>
        <p:blipFill rotWithShape="1">
          <a:blip r:embed="rId2"/>
          <a:srcRect l="1130" t="74800" r="6890" b="369"/>
          <a:stretch/>
        </p:blipFill>
        <p:spPr>
          <a:xfrm>
            <a:off x="339356" y="1836520"/>
            <a:ext cx="11513287" cy="3184959"/>
          </a:xfrm>
          <a:prstGeom prst="rect">
            <a:avLst/>
          </a:prstGeom>
        </p:spPr>
      </p:pic>
    </p:spTree>
    <p:extLst>
      <p:ext uri="{BB962C8B-B14F-4D97-AF65-F5344CB8AC3E}">
        <p14:creationId xmlns:p14="http://schemas.microsoft.com/office/powerpoint/2010/main" val="813474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E6C48C-88E8-46FB-82BF-C54790A59EB1}"/>
              </a:ext>
            </a:extLst>
          </p:cNvPr>
          <p:cNvSpPr>
            <a:spLocks noGrp="1"/>
          </p:cNvSpPr>
          <p:nvPr>
            <p:ph type="title"/>
          </p:nvPr>
        </p:nvSpPr>
        <p:spPr/>
        <p:txBody>
          <a:bodyPr/>
          <a:lstStyle/>
          <a:p>
            <a:pPr algn="ctr"/>
            <a:r>
              <a:rPr lang="fr-FR" dirty="0">
                <a:solidFill>
                  <a:srgbClr val="0070C0"/>
                </a:solidFill>
              </a:rPr>
              <a:t>Discussion en classe sur la charte éthique</a:t>
            </a:r>
          </a:p>
        </p:txBody>
      </p:sp>
      <p:sp>
        <p:nvSpPr>
          <p:cNvPr id="3" name="Espace réservé du contenu 2">
            <a:extLst>
              <a:ext uri="{FF2B5EF4-FFF2-40B4-BE49-F238E27FC236}">
                <a16:creationId xmlns:a16="http://schemas.microsoft.com/office/drawing/2014/main" id="{64762957-23DE-453B-A49E-5D819734E201}"/>
              </a:ext>
            </a:extLst>
          </p:cNvPr>
          <p:cNvSpPr>
            <a:spLocks noGrp="1"/>
          </p:cNvSpPr>
          <p:nvPr>
            <p:ph idx="1"/>
          </p:nvPr>
        </p:nvSpPr>
        <p:spPr>
          <a:xfrm>
            <a:off x="838200" y="2171873"/>
            <a:ext cx="10515600" cy="3080534"/>
          </a:xfrm>
          <a:solidFill>
            <a:schemeClr val="bg1">
              <a:lumMod val="95000"/>
            </a:schemeClr>
          </a:solidFill>
          <a:effectLst>
            <a:outerShdw blurRad="63500" sx="102000" sy="102000" algn="ctr" rotWithShape="0">
              <a:prstClr val="black">
                <a:alpha val="40000"/>
              </a:prstClr>
            </a:outerShdw>
          </a:effectLst>
        </p:spPr>
        <p:txBody>
          <a:bodyPr vert="horz" lIns="91440" tIns="45720" rIns="91440" bIns="45720" rtlCol="0" anchor="t">
            <a:normAutofit lnSpcReduction="10000"/>
          </a:bodyPr>
          <a:lstStyle/>
          <a:p>
            <a:pPr>
              <a:buFont typeface="Wingdings" panose="05000000000000000000" pitchFamily="2" charset="2"/>
              <a:buChar char="à"/>
            </a:pPr>
            <a:r>
              <a:rPr lang="fr-FR" dirty="0"/>
              <a:t>Quels sont les points que vous avez identifiés, dans cette charte éthique de l’ingénieur, qui peuvent justifier telle ou telle réaction ?</a:t>
            </a:r>
          </a:p>
          <a:p>
            <a:pPr>
              <a:buFont typeface="Wingdings" panose="05000000000000000000" pitchFamily="2" charset="2"/>
              <a:buChar char="à"/>
            </a:pPr>
            <a:r>
              <a:rPr lang="fr-FR" dirty="0"/>
              <a:t>Certains points peuvent-ils entrer en contradiction ? Si oui, en quoi ?</a:t>
            </a:r>
          </a:p>
          <a:p>
            <a:pPr>
              <a:buFont typeface="Wingdings" panose="05000000000000000000" pitchFamily="2" charset="2"/>
              <a:buChar char="à"/>
            </a:pPr>
            <a:r>
              <a:rPr lang="fr-FR" dirty="0"/>
              <a:t>Quels sont, à votre avis, les principes éthiques sous-jacents à chacun de ces points ?</a:t>
            </a:r>
          </a:p>
          <a:p>
            <a:pPr>
              <a:buFont typeface="Wingdings" panose="05000000000000000000" pitchFamily="2" charset="2"/>
              <a:buChar char="à"/>
            </a:pPr>
            <a:r>
              <a:rPr lang="fr-FR" dirty="0"/>
              <a:t>Lequel, à votre avis, doit l’emporter, s’il y en a un ? Pour quelles raisons ?</a:t>
            </a:r>
          </a:p>
        </p:txBody>
      </p:sp>
      <p:sp>
        <p:nvSpPr>
          <p:cNvPr id="4" name="Espace réservé du contenu 2">
            <a:extLst>
              <a:ext uri="{FF2B5EF4-FFF2-40B4-BE49-F238E27FC236}">
                <a16:creationId xmlns:a16="http://schemas.microsoft.com/office/drawing/2014/main" id="{C5290B9A-2EA4-4EBA-82B4-5687F0CAE8DE}"/>
              </a:ext>
            </a:extLst>
          </p:cNvPr>
          <p:cNvSpPr txBox="1">
            <a:spLocks/>
          </p:cNvSpPr>
          <p:nvPr/>
        </p:nvSpPr>
        <p:spPr>
          <a:xfrm>
            <a:off x="952500" y="1635352"/>
            <a:ext cx="10515600" cy="778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fr-FR" sz="3200" i="1" dirty="0">
              <a:solidFill>
                <a:srgbClr val="0070C0"/>
              </a:solidFill>
            </a:endParaRPr>
          </a:p>
        </p:txBody>
      </p:sp>
    </p:spTree>
    <p:extLst>
      <p:ext uri="{BB962C8B-B14F-4D97-AF65-F5344CB8AC3E}">
        <p14:creationId xmlns:p14="http://schemas.microsoft.com/office/powerpoint/2010/main" val="1345219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B70299-E566-4870-887A-681170E72C5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4CD9B77-7D78-495B-8C00-47C9CDAFCB54}"/>
              </a:ext>
            </a:extLst>
          </p:cNvPr>
          <p:cNvSpPr>
            <a:spLocks noGrp="1"/>
          </p:cNvSpPr>
          <p:nvPr>
            <p:ph idx="1"/>
          </p:nvPr>
        </p:nvSpPr>
        <p:spPr>
          <a:xfrm>
            <a:off x="838200" y="1825625"/>
            <a:ext cx="10515600" cy="4825696"/>
          </a:xfrm>
        </p:spPr>
        <p:txBody>
          <a:bodyPr/>
          <a:lstStyle/>
          <a:p>
            <a:pPr marL="0" indent="0">
              <a:buNone/>
            </a:pPr>
            <a:r>
              <a:rPr lang="fr-FR" dirty="0">
                <a:solidFill>
                  <a:srgbClr val="0070C0"/>
                </a:solidFill>
              </a:rPr>
              <a:t>« La déontologie professionnelle des ingénieurs est donc d’abord pensée comme loyauté envers le client ou l’employeur, mais il apparaît progressivement que l’ingénieur doit assurer le fonctionnement et la sécurité des systèmes techniques et/ou la santé du public et la préservation de l’environnement. A la frontière entre ces différents régimes de valeurs, l’ingénieur s’expose au dilemme moral de l’alerte éthique quand se présentent des situations conflictuelles où il lui faut assumer une hiérarchisation explicite de ces valeurs. » (Flandrin, </a:t>
            </a:r>
            <a:r>
              <a:rPr lang="fr-FR" dirty="0" err="1">
                <a:solidFill>
                  <a:srgbClr val="0070C0"/>
                </a:solidFill>
              </a:rPr>
              <a:t>Verrax</a:t>
            </a:r>
            <a:r>
              <a:rPr lang="fr-FR" dirty="0">
                <a:solidFill>
                  <a:srgbClr val="0070C0"/>
                </a:solidFill>
              </a:rPr>
              <a:t>, p. 54)</a:t>
            </a:r>
          </a:p>
        </p:txBody>
      </p:sp>
    </p:spTree>
    <p:extLst>
      <p:ext uri="{BB962C8B-B14F-4D97-AF65-F5344CB8AC3E}">
        <p14:creationId xmlns:p14="http://schemas.microsoft.com/office/powerpoint/2010/main" val="164608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Un triste cas d’école: l’explosion de la navette </a:t>
            </a:r>
            <a:r>
              <a:rPr lang="fr-FR" b="1" i="1" dirty="0">
                <a:solidFill>
                  <a:schemeClr val="bg1"/>
                </a:solidFill>
              </a:rPr>
              <a:t>Challenger</a:t>
            </a:r>
            <a:r>
              <a:rPr lang="fr-FR" b="1" dirty="0">
                <a:solidFill>
                  <a:schemeClr val="bg1"/>
                </a:solidFill>
              </a:rPr>
              <a:t> (1986)</a:t>
            </a:r>
          </a:p>
        </p:txBody>
      </p:sp>
    </p:spTree>
    <p:extLst>
      <p:ext uri="{BB962C8B-B14F-4D97-AF65-F5344CB8AC3E}">
        <p14:creationId xmlns:p14="http://schemas.microsoft.com/office/powerpoint/2010/main" val="109527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4FD91-2BA6-1C72-DCB0-C8BEC94F4BEC}"/>
              </a:ext>
            </a:extLst>
          </p:cNvPr>
          <p:cNvSpPr>
            <a:spLocks noGrp="1"/>
          </p:cNvSpPr>
          <p:nvPr>
            <p:ph type="title"/>
          </p:nvPr>
        </p:nvSpPr>
        <p:spPr/>
        <p:txBody>
          <a:bodyPr/>
          <a:lstStyle/>
          <a:p>
            <a:pPr algn="ctr"/>
            <a:r>
              <a:rPr lang="fr-FR" dirty="0"/>
              <a:t>L’explosion de la navette </a:t>
            </a:r>
            <a:r>
              <a:rPr lang="fr-FR" i="1" dirty="0"/>
              <a:t>Challenger</a:t>
            </a:r>
            <a:r>
              <a:rPr lang="fr-FR" dirty="0"/>
              <a:t> (1986),</a:t>
            </a:r>
            <a:br>
              <a:rPr lang="fr-FR" dirty="0"/>
            </a:br>
            <a:r>
              <a:rPr lang="fr-FR" dirty="0"/>
              <a:t>Un cas d’école en éthique de l’ingénieur</a:t>
            </a:r>
          </a:p>
        </p:txBody>
      </p:sp>
      <p:sp>
        <p:nvSpPr>
          <p:cNvPr id="4" name="Espace réservé du contenu 2">
            <a:extLst>
              <a:ext uri="{FF2B5EF4-FFF2-40B4-BE49-F238E27FC236}">
                <a16:creationId xmlns:a16="http://schemas.microsoft.com/office/drawing/2014/main" id="{E25CBAFB-5AFF-4F78-A507-C6D94F4EEDB6}"/>
              </a:ext>
            </a:extLst>
          </p:cNvPr>
          <p:cNvSpPr txBox="1">
            <a:spLocks/>
          </p:cNvSpPr>
          <p:nvPr/>
        </p:nvSpPr>
        <p:spPr>
          <a:xfrm>
            <a:off x="1503217" y="2757841"/>
            <a:ext cx="9654309" cy="1005175"/>
          </a:xfrm>
          <a:prstGeom prst="rect">
            <a:avLst/>
          </a:prstGeom>
          <a:solidFill>
            <a:srgbClr val="EBF6FF"/>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a:solidFill>
                  <a:srgbClr val="0070C0"/>
                </a:solidFill>
              </a:rPr>
              <a:t>Avez-vous entendu parler de cet accident ? De l’analyse de ses causes ?</a:t>
            </a:r>
          </a:p>
          <a:p>
            <a:pPr algn="ctr">
              <a:buFontTx/>
              <a:buChar char="-"/>
            </a:pPr>
            <a:endParaRPr lang="fr-FR" dirty="0">
              <a:solidFill>
                <a:srgbClr val="0070C0"/>
              </a:solidFill>
            </a:endParaRPr>
          </a:p>
          <a:p>
            <a:pPr algn="ctr">
              <a:buFontTx/>
              <a:buChar char="-"/>
            </a:pPr>
            <a:endParaRPr lang="fr-FR" dirty="0">
              <a:solidFill>
                <a:srgbClr val="0070C0"/>
              </a:solidFill>
            </a:endParaRPr>
          </a:p>
        </p:txBody>
      </p:sp>
      <p:sp>
        <p:nvSpPr>
          <p:cNvPr id="5" name="Ellipse 4">
            <a:extLst>
              <a:ext uri="{FF2B5EF4-FFF2-40B4-BE49-F238E27FC236}">
                <a16:creationId xmlns:a16="http://schemas.microsoft.com/office/drawing/2014/main" id="{255E0038-3EBD-4919-9FE9-5C1BA2FEAA0F}"/>
              </a:ext>
            </a:extLst>
          </p:cNvPr>
          <p:cNvSpPr/>
          <p:nvPr/>
        </p:nvSpPr>
        <p:spPr>
          <a:xfrm>
            <a:off x="838200" y="2613884"/>
            <a:ext cx="665017" cy="12930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3957096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5CBDF61-F1C2-3824-7D0D-29C1B7A458AC}"/>
              </a:ext>
            </a:extLst>
          </p:cNvPr>
          <p:cNvSpPr>
            <a:spLocks noGrp="1"/>
          </p:cNvSpPr>
          <p:nvPr>
            <p:ph idx="1"/>
          </p:nvPr>
        </p:nvSpPr>
        <p:spPr/>
        <p:txBody>
          <a:bodyPr/>
          <a:lstStyle/>
          <a:p>
            <a:r>
              <a:rPr lang="fr-FR" dirty="0"/>
              <a:t>Conflit entre une logique économique et une logique sécuritaire.</a:t>
            </a:r>
          </a:p>
          <a:p>
            <a:r>
              <a:rPr lang="fr-FR" dirty="0"/>
              <a:t>Défaut d’étanchéité d’un joint connu, mais surcoûts liés au retard du projet.</a:t>
            </a:r>
          </a:p>
          <a:p>
            <a:r>
              <a:rPr lang="fr-FR" dirty="0"/>
              <a:t>Sous-évaluation du risque d’accident, pourtant bien identifié.</a:t>
            </a:r>
          </a:p>
          <a:p>
            <a:r>
              <a:rPr lang="fr-FR" dirty="0"/>
              <a:t>Au niveau bureaucratique, mauvaise circulation de l’information.</a:t>
            </a:r>
          </a:p>
          <a:p>
            <a:r>
              <a:rPr lang="fr-FR" dirty="0"/>
              <a:t>Contexte politique de la Guerre Froide.</a:t>
            </a:r>
          </a:p>
        </p:txBody>
      </p:sp>
    </p:spTree>
    <p:extLst>
      <p:ext uri="{BB962C8B-B14F-4D97-AF65-F5344CB8AC3E}">
        <p14:creationId xmlns:p14="http://schemas.microsoft.com/office/powerpoint/2010/main" val="150063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La neutralité des techniques ?</a:t>
            </a:r>
          </a:p>
        </p:txBody>
      </p:sp>
    </p:spTree>
    <p:extLst>
      <p:ext uri="{BB962C8B-B14F-4D97-AF65-F5344CB8AC3E}">
        <p14:creationId xmlns:p14="http://schemas.microsoft.com/office/powerpoint/2010/main" val="2324131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1CE572A0-2C67-8BC7-2447-5FD79DFBFAD1}"/>
              </a:ext>
            </a:extLst>
          </p:cNvPr>
          <p:cNvSpPr txBox="1">
            <a:spLocks/>
          </p:cNvSpPr>
          <p:nvPr/>
        </p:nvSpPr>
        <p:spPr>
          <a:xfrm>
            <a:off x="1413162" y="2959568"/>
            <a:ext cx="9802091" cy="693413"/>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dirty="0">
                <a:solidFill>
                  <a:srgbClr val="0070C0"/>
                </a:solidFill>
              </a:rPr>
              <a:t>Les techniques sont-elles moralement neutres ?</a:t>
            </a:r>
          </a:p>
        </p:txBody>
      </p:sp>
      <p:sp>
        <p:nvSpPr>
          <p:cNvPr id="5" name="Ellipse 4">
            <a:extLst>
              <a:ext uri="{FF2B5EF4-FFF2-40B4-BE49-F238E27FC236}">
                <a16:creationId xmlns:a16="http://schemas.microsoft.com/office/drawing/2014/main" id="{F12D8D4E-2F42-CBCC-9A78-36527CBF5E92}"/>
              </a:ext>
            </a:extLst>
          </p:cNvPr>
          <p:cNvSpPr/>
          <p:nvPr/>
        </p:nvSpPr>
        <p:spPr>
          <a:xfrm>
            <a:off x="360219" y="2569675"/>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888469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F9B59E53-ABCF-0E64-C91F-6F7C0BF05E3B}"/>
              </a:ext>
            </a:extLst>
          </p:cNvPr>
          <p:cNvSpPr/>
          <p:nvPr/>
        </p:nvSpPr>
        <p:spPr>
          <a:xfrm>
            <a:off x="295564" y="2318327"/>
            <a:ext cx="4378036" cy="1874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dirty="0"/>
              <a:t>Thèse n°1</a:t>
            </a:r>
          </a:p>
          <a:p>
            <a:pPr algn="ctr"/>
            <a:r>
              <a:rPr lang="fr-FR" sz="2400" dirty="0"/>
              <a:t>Neutralité morale des techniques : l’éthique des techniques se réduirait à celle de leurs utilisateurs</a:t>
            </a:r>
          </a:p>
        </p:txBody>
      </p:sp>
      <p:sp>
        <p:nvSpPr>
          <p:cNvPr id="5" name="Rectangle : coins arrondis 4">
            <a:extLst>
              <a:ext uri="{FF2B5EF4-FFF2-40B4-BE49-F238E27FC236}">
                <a16:creationId xmlns:a16="http://schemas.microsoft.com/office/drawing/2014/main" id="{928FB03F-FE59-05EA-5A02-18B4C6287F0D}"/>
              </a:ext>
            </a:extLst>
          </p:cNvPr>
          <p:cNvSpPr/>
          <p:nvPr/>
        </p:nvSpPr>
        <p:spPr>
          <a:xfrm>
            <a:off x="6830291" y="2318327"/>
            <a:ext cx="4378036" cy="1874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dirty="0"/>
              <a:t>Thèse n°2</a:t>
            </a:r>
          </a:p>
          <a:p>
            <a:pPr algn="ctr"/>
            <a:r>
              <a:rPr lang="fr-FR" sz="2400" dirty="0"/>
              <a:t>Les objets techniques internalisent des choix de société et donc implicitement des valeurs</a:t>
            </a:r>
          </a:p>
        </p:txBody>
      </p:sp>
      <p:sp>
        <p:nvSpPr>
          <p:cNvPr id="6" name="Non égal 5">
            <a:extLst>
              <a:ext uri="{FF2B5EF4-FFF2-40B4-BE49-F238E27FC236}">
                <a16:creationId xmlns:a16="http://schemas.microsoft.com/office/drawing/2014/main" id="{FCAA32DA-E104-A637-513D-AFCC86CD4F8D}"/>
              </a:ext>
            </a:extLst>
          </p:cNvPr>
          <p:cNvSpPr/>
          <p:nvPr/>
        </p:nvSpPr>
        <p:spPr>
          <a:xfrm>
            <a:off x="4946073" y="2650837"/>
            <a:ext cx="1611745" cy="1209964"/>
          </a:xfrm>
          <a:prstGeom prst="mathNot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377317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723B49-F78B-64F9-2B12-5ACF42F1639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3F12C8D-F2BD-CB3F-B168-A83A5C755306}"/>
              </a:ext>
            </a:extLst>
          </p:cNvPr>
          <p:cNvSpPr>
            <a:spLocks noGrp="1"/>
          </p:cNvSpPr>
          <p:nvPr>
            <p:ph idx="1"/>
          </p:nvPr>
        </p:nvSpPr>
        <p:spPr/>
        <p:txBody>
          <a:bodyPr/>
          <a:lstStyle/>
          <a:p>
            <a:r>
              <a:rPr lang="fr-FR" dirty="0"/>
              <a:t>Quels « scripts d’action » et quelles valeurs implicites incarnent :</a:t>
            </a:r>
          </a:p>
          <a:p>
            <a:pPr lvl="1"/>
            <a:r>
              <a:rPr lang="fr-FR" sz="2800" dirty="0"/>
              <a:t>le gobelet en plastique jetable ?</a:t>
            </a:r>
          </a:p>
          <a:p>
            <a:pPr lvl="1"/>
            <a:r>
              <a:rPr lang="fr-FR" sz="2800" dirty="0"/>
              <a:t>le dos-d’âne ?</a:t>
            </a:r>
          </a:p>
          <a:p>
            <a:pPr lvl="1"/>
            <a:r>
              <a:rPr lang="fr-FR" sz="2800" dirty="0"/>
              <a:t>Quoi d’autre ?</a:t>
            </a:r>
          </a:p>
          <a:p>
            <a:pPr lvl="1"/>
            <a:endParaRPr lang="fr-FR" sz="2800" dirty="0"/>
          </a:p>
          <a:p>
            <a:r>
              <a:rPr lang="fr-FR" sz="3200" dirty="0"/>
              <a:t>Que peut-on en conclure ?</a:t>
            </a:r>
          </a:p>
        </p:txBody>
      </p:sp>
    </p:spTree>
    <p:extLst>
      <p:ext uri="{BB962C8B-B14F-4D97-AF65-F5344CB8AC3E}">
        <p14:creationId xmlns:p14="http://schemas.microsoft.com/office/powerpoint/2010/main" val="25280392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2E363-9D33-3612-32F2-87021EB422C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8D0E980-21AE-4913-8135-0F53F7BC0DEA}"/>
              </a:ext>
            </a:extLst>
          </p:cNvPr>
          <p:cNvSpPr>
            <a:spLocks noGrp="1"/>
          </p:cNvSpPr>
          <p:nvPr>
            <p:ph idx="1"/>
          </p:nvPr>
        </p:nvSpPr>
        <p:spPr/>
        <p:txBody>
          <a:bodyPr/>
          <a:lstStyle/>
          <a:p>
            <a:endParaRPr lang="fr-FR"/>
          </a:p>
        </p:txBody>
      </p:sp>
      <p:sp>
        <p:nvSpPr>
          <p:cNvPr id="4" name="Espace réservé du contenu 2">
            <a:extLst>
              <a:ext uri="{FF2B5EF4-FFF2-40B4-BE49-F238E27FC236}">
                <a16:creationId xmlns:a16="http://schemas.microsoft.com/office/drawing/2014/main" id="{1CE572A0-2C67-8BC7-2447-5FD79DFBFAD1}"/>
              </a:ext>
            </a:extLst>
          </p:cNvPr>
          <p:cNvSpPr txBox="1">
            <a:spLocks/>
          </p:cNvSpPr>
          <p:nvPr/>
        </p:nvSpPr>
        <p:spPr>
          <a:xfrm>
            <a:off x="1385453" y="3044644"/>
            <a:ext cx="9802091" cy="956650"/>
          </a:xfrm>
          <a:prstGeom prst="rect">
            <a:avLst/>
          </a:prstGeom>
          <a:solidFill>
            <a:schemeClr val="accent1">
              <a:lumMod val="20000"/>
              <a:lumOff val="8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dirty="0">
                <a:solidFill>
                  <a:srgbClr val="0070C0"/>
                </a:solidFill>
              </a:rPr>
              <a:t>Le développement technique échappe-t-il au contrôle des sociétés ?</a:t>
            </a:r>
          </a:p>
        </p:txBody>
      </p:sp>
      <p:sp>
        <p:nvSpPr>
          <p:cNvPr id="5" name="Ellipse 4">
            <a:extLst>
              <a:ext uri="{FF2B5EF4-FFF2-40B4-BE49-F238E27FC236}">
                <a16:creationId xmlns:a16="http://schemas.microsoft.com/office/drawing/2014/main" id="{F12D8D4E-2F42-CBCC-9A78-36527CBF5E92}"/>
              </a:ext>
            </a:extLst>
          </p:cNvPr>
          <p:cNvSpPr/>
          <p:nvPr/>
        </p:nvSpPr>
        <p:spPr>
          <a:xfrm>
            <a:off x="332510" y="2710187"/>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710607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2AA8A1-17E9-01B2-714E-28432ACE8740}"/>
              </a:ext>
            </a:extLst>
          </p:cNvPr>
          <p:cNvSpPr>
            <a:spLocks noGrp="1"/>
          </p:cNvSpPr>
          <p:nvPr>
            <p:ph type="title"/>
          </p:nvPr>
        </p:nvSpPr>
        <p:spPr/>
        <p:txBody>
          <a:bodyPr/>
          <a:lstStyle/>
          <a:p>
            <a:pPr algn="ctr"/>
            <a:r>
              <a:rPr lang="fr-FR" dirty="0"/>
              <a:t>Le cas du développement du nucléaire civil en France</a:t>
            </a:r>
          </a:p>
        </p:txBody>
      </p:sp>
      <p:sp>
        <p:nvSpPr>
          <p:cNvPr id="3" name="Espace réservé du contenu 2">
            <a:extLst>
              <a:ext uri="{FF2B5EF4-FFF2-40B4-BE49-F238E27FC236}">
                <a16:creationId xmlns:a16="http://schemas.microsoft.com/office/drawing/2014/main" id="{8AECBADA-F666-4C44-50A5-BF9CDF05170B}"/>
              </a:ext>
            </a:extLst>
          </p:cNvPr>
          <p:cNvSpPr>
            <a:spLocks noGrp="1"/>
          </p:cNvSpPr>
          <p:nvPr>
            <p:ph idx="1"/>
          </p:nvPr>
        </p:nvSpPr>
        <p:spPr/>
        <p:txBody>
          <a:bodyPr/>
          <a:lstStyle/>
          <a:p>
            <a:r>
              <a:rPr lang="fr-FR" dirty="0"/>
              <a:t>Qui a décidé du développement stratégique du nucléaire civil en France ?</a:t>
            </a:r>
          </a:p>
          <a:p>
            <a:r>
              <a:rPr lang="fr-FR" dirty="0"/>
              <a:t>Quel rôle ont joué les ingénieurs ?</a:t>
            </a:r>
          </a:p>
          <a:p>
            <a:r>
              <a:rPr lang="fr-FR" dirty="0"/>
              <a:t>L’opinion publique a-t-elle compté dans ce choix ?</a:t>
            </a:r>
          </a:p>
        </p:txBody>
      </p:sp>
    </p:spTree>
    <p:extLst>
      <p:ext uri="{BB962C8B-B14F-4D97-AF65-F5344CB8AC3E}">
        <p14:creationId xmlns:p14="http://schemas.microsoft.com/office/powerpoint/2010/main" val="84053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37A978-1835-0422-43FB-5F461F276DE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0B9F4AD-713D-A269-2B5B-72AA0C6B3C09}"/>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CB0743A3-8C22-0D06-ABF3-70245EA17BA2}"/>
              </a:ext>
            </a:extLst>
          </p:cNvPr>
          <p:cNvPicPr>
            <a:picLocks noChangeAspect="1"/>
          </p:cNvPicPr>
          <p:nvPr/>
        </p:nvPicPr>
        <p:blipFill>
          <a:blip r:embed="rId2"/>
          <a:stretch>
            <a:fillRect/>
          </a:stretch>
        </p:blipFill>
        <p:spPr>
          <a:xfrm>
            <a:off x="831649" y="286327"/>
            <a:ext cx="10299016" cy="614823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80490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2E363-9D33-3612-32F2-87021EB422C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8D0E980-21AE-4913-8135-0F53F7BC0DEA}"/>
              </a:ext>
            </a:extLst>
          </p:cNvPr>
          <p:cNvSpPr>
            <a:spLocks noGrp="1"/>
          </p:cNvSpPr>
          <p:nvPr>
            <p:ph idx="1"/>
          </p:nvPr>
        </p:nvSpPr>
        <p:spPr/>
        <p:txBody>
          <a:bodyPr/>
          <a:lstStyle/>
          <a:p>
            <a:endParaRPr lang="fr-FR"/>
          </a:p>
        </p:txBody>
      </p:sp>
      <p:sp>
        <p:nvSpPr>
          <p:cNvPr id="4" name="Espace réservé du contenu 2">
            <a:extLst>
              <a:ext uri="{FF2B5EF4-FFF2-40B4-BE49-F238E27FC236}">
                <a16:creationId xmlns:a16="http://schemas.microsoft.com/office/drawing/2014/main" id="{1CE572A0-2C67-8BC7-2447-5FD79DFBFAD1}"/>
              </a:ext>
            </a:extLst>
          </p:cNvPr>
          <p:cNvSpPr txBox="1">
            <a:spLocks/>
          </p:cNvSpPr>
          <p:nvPr/>
        </p:nvSpPr>
        <p:spPr>
          <a:xfrm>
            <a:off x="1514765" y="3044644"/>
            <a:ext cx="9672779" cy="956650"/>
          </a:xfrm>
          <a:prstGeom prst="rect">
            <a:avLst/>
          </a:prstGeom>
          <a:solidFill>
            <a:schemeClr val="accent1">
              <a:lumMod val="20000"/>
              <a:lumOff val="80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dirty="0">
                <a:solidFill>
                  <a:srgbClr val="0070C0"/>
                </a:solidFill>
              </a:rPr>
              <a:t>Qu’est-ce qui fait qu’une solution technique est adoptée ? Quels sont les acteurs en présence ? Comment interagissent-ils ?</a:t>
            </a:r>
          </a:p>
        </p:txBody>
      </p:sp>
      <p:sp>
        <p:nvSpPr>
          <p:cNvPr id="5" name="Ellipse 4">
            <a:extLst>
              <a:ext uri="{FF2B5EF4-FFF2-40B4-BE49-F238E27FC236}">
                <a16:creationId xmlns:a16="http://schemas.microsoft.com/office/drawing/2014/main" id="{F12D8D4E-2F42-CBCC-9A78-36527CBF5E92}"/>
              </a:ext>
            </a:extLst>
          </p:cNvPr>
          <p:cNvSpPr/>
          <p:nvPr/>
        </p:nvSpPr>
        <p:spPr>
          <a:xfrm>
            <a:off x="332510" y="2710187"/>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7562224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E6443-A1D6-A09A-1170-7D8D094F87CC}"/>
              </a:ext>
            </a:extLst>
          </p:cNvPr>
          <p:cNvSpPr>
            <a:spLocks noGrp="1"/>
          </p:cNvSpPr>
          <p:nvPr>
            <p:ph type="title"/>
          </p:nvPr>
        </p:nvSpPr>
        <p:spPr/>
        <p:txBody>
          <a:bodyPr/>
          <a:lstStyle/>
          <a:p>
            <a:pPr algn="ctr"/>
            <a:r>
              <a:rPr lang="fr-FR" dirty="0"/>
              <a:t>Le travail de l’ingénieur vu par les théoriciens de l’ « acteur-réseau »</a:t>
            </a:r>
          </a:p>
        </p:txBody>
      </p:sp>
      <p:sp>
        <p:nvSpPr>
          <p:cNvPr id="3" name="Espace réservé du contenu 2">
            <a:extLst>
              <a:ext uri="{FF2B5EF4-FFF2-40B4-BE49-F238E27FC236}">
                <a16:creationId xmlns:a16="http://schemas.microsoft.com/office/drawing/2014/main" id="{613CA8D6-D84B-B05B-C105-EAF07A9EEED0}"/>
              </a:ext>
            </a:extLst>
          </p:cNvPr>
          <p:cNvSpPr>
            <a:spLocks noGrp="1"/>
          </p:cNvSpPr>
          <p:nvPr>
            <p:ph idx="1"/>
          </p:nvPr>
        </p:nvSpPr>
        <p:spPr>
          <a:xfrm>
            <a:off x="838199" y="2161309"/>
            <a:ext cx="10928927" cy="4015654"/>
          </a:xfrm>
        </p:spPr>
        <p:txBody>
          <a:bodyPr/>
          <a:lstStyle/>
          <a:p>
            <a:r>
              <a:rPr lang="fr-FR" dirty="0"/>
              <a:t>Un projet d’ingénierie est pris dans un réseau complexe de relations sociales, dont les ingénieurs sont un des acteurs.</a:t>
            </a:r>
          </a:p>
          <a:p>
            <a:r>
              <a:rPr lang="fr-FR" dirty="0"/>
              <a:t>Les décisions se prennent en fonction de logiques qui ne sont pas strictement techniques.</a:t>
            </a:r>
          </a:p>
          <a:p>
            <a:pPr marL="0" indent="0">
              <a:buNone/>
            </a:pPr>
            <a:r>
              <a:rPr lang="fr-FR" dirty="0"/>
              <a:t>Voir le cas du projet Aramis, étudié par Bruno Latour : </a:t>
            </a:r>
            <a:r>
              <a:rPr lang="fr-FR" dirty="0">
                <a:hlinkClick r:id="rId2"/>
              </a:rPr>
              <a:t>https://fr.wikipedia.org/wiki/Aramis_(RATP)</a:t>
            </a:r>
            <a:r>
              <a:rPr lang="fr-FR" dirty="0"/>
              <a:t> </a:t>
            </a:r>
          </a:p>
        </p:txBody>
      </p:sp>
    </p:spTree>
    <p:extLst>
      <p:ext uri="{BB962C8B-B14F-4D97-AF65-F5344CB8AC3E}">
        <p14:creationId xmlns:p14="http://schemas.microsoft.com/office/powerpoint/2010/main" val="2084158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7EA524-1EA4-FA8D-16C2-E3D100D15212}"/>
              </a:ext>
            </a:extLst>
          </p:cNvPr>
          <p:cNvSpPr>
            <a:spLocks noGrp="1"/>
          </p:cNvSpPr>
          <p:nvPr>
            <p:ph type="title"/>
          </p:nvPr>
        </p:nvSpPr>
        <p:spPr/>
        <p:txBody>
          <a:bodyPr/>
          <a:lstStyle/>
          <a:p>
            <a:pPr algn="ctr"/>
            <a:r>
              <a:rPr lang="fr-FR" dirty="0"/>
              <a:t>Les périmètres de la responsabilité éthique de l’ingénieur </a:t>
            </a:r>
          </a:p>
        </p:txBody>
      </p:sp>
      <p:sp>
        <p:nvSpPr>
          <p:cNvPr id="3" name="Espace réservé du contenu 2">
            <a:extLst>
              <a:ext uri="{FF2B5EF4-FFF2-40B4-BE49-F238E27FC236}">
                <a16:creationId xmlns:a16="http://schemas.microsoft.com/office/drawing/2014/main" id="{D3E371B5-BBC8-8206-B816-8FEF4F91DA36}"/>
              </a:ext>
            </a:extLst>
          </p:cNvPr>
          <p:cNvSpPr>
            <a:spLocks noGrp="1"/>
          </p:cNvSpPr>
          <p:nvPr>
            <p:ph idx="1"/>
          </p:nvPr>
        </p:nvSpPr>
        <p:spPr/>
        <p:txBody>
          <a:bodyPr/>
          <a:lstStyle/>
          <a:p>
            <a:r>
              <a:rPr lang="fr-FR" dirty="0"/>
              <a:t>La </a:t>
            </a:r>
            <a:r>
              <a:rPr lang="fr-FR" b="1" dirty="0"/>
              <a:t>conception</a:t>
            </a:r>
            <a:r>
              <a:rPr lang="fr-FR" dirty="0"/>
              <a:t> : la chasse gardée des ingénieurs</a:t>
            </a:r>
          </a:p>
          <a:p>
            <a:pPr lvl="1">
              <a:buFont typeface="Wingdings" panose="05000000000000000000" pitchFamily="2" charset="2"/>
              <a:buChar char="à"/>
            </a:pPr>
            <a:r>
              <a:rPr lang="fr-FR" sz="2800" dirty="0"/>
              <a:t>Même si la décision leur échappe, il reste une marge de manœuvre à fort impact éthique et social au niveau de la conception.</a:t>
            </a:r>
          </a:p>
          <a:p>
            <a:r>
              <a:rPr lang="fr-FR" dirty="0"/>
              <a:t>La </a:t>
            </a:r>
            <a:r>
              <a:rPr lang="fr-FR" b="1" dirty="0"/>
              <a:t>gestion des risques </a:t>
            </a:r>
            <a:r>
              <a:rPr lang="fr-FR" dirty="0"/>
              <a:t>(voir ci-après)</a:t>
            </a:r>
          </a:p>
          <a:p>
            <a:r>
              <a:rPr lang="fr-FR" dirty="0"/>
              <a:t>La participation à la « </a:t>
            </a:r>
            <a:r>
              <a:rPr lang="fr-FR" b="1" dirty="0"/>
              <a:t>démocratie technique </a:t>
            </a:r>
            <a:r>
              <a:rPr lang="fr-FR" dirty="0"/>
              <a:t>»</a:t>
            </a:r>
          </a:p>
          <a:p>
            <a:pPr lvl="1">
              <a:buFont typeface="Calibri" panose="020F0502020204030204" pitchFamily="34" charset="0"/>
              <a:buChar char="-"/>
            </a:pPr>
            <a:r>
              <a:rPr lang="fr-FR" sz="2800" dirty="0"/>
              <a:t>Voir la formation des ingénieurs des Mines à la « controverse » : </a:t>
            </a:r>
            <a:r>
              <a:rPr lang="fr-FR" sz="2800" dirty="0">
                <a:hlinkClick r:id="rId2"/>
              </a:rPr>
              <a:t>https://controverses.minesparis.psl.eu/</a:t>
            </a:r>
            <a:r>
              <a:rPr lang="fr-FR" sz="2800" dirty="0"/>
              <a:t> </a:t>
            </a:r>
          </a:p>
        </p:txBody>
      </p:sp>
    </p:spTree>
    <p:extLst>
      <p:ext uri="{BB962C8B-B14F-4D97-AF65-F5344CB8AC3E}">
        <p14:creationId xmlns:p14="http://schemas.microsoft.com/office/powerpoint/2010/main" val="2206389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F22A7C-059F-8EBA-269E-733FFF2CCD56}"/>
              </a:ext>
            </a:extLst>
          </p:cNvPr>
          <p:cNvSpPr>
            <a:spLocks noGrp="1"/>
          </p:cNvSpPr>
          <p:nvPr>
            <p:ph type="title"/>
          </p:nvPr>
        </p:nvSpPr>
        <p:spPr>
          <a:xfrm>
            <a:off x="637309" y="365125"/>
            <a:ext cx="10880436" cy="1325563"/>
          </a:xfrm>
        </p:spPr>
        <p:txBody>
          <a:bodyPr/>
          <a:lstStyle/>
          <a:p>
            <a:pPr algn="ctr"/>
            <a:r>
              <a:rPr lang="fr-FR" dirty="0"/>
              <a:t>Les enjeux éthiques de la notion de « risque » : attention à sa possible instrumentalisation</a:t>
            </a:r>
          </a:p>
        </p:txBody>
      </p:sp>
      <p:sp>
        <p:nvSpPr>
          <p:cNvPr id="3" name="Espace réservé du contenu 2">
            <a:extLst>
              <a:ext uri="{FF2B5EF4-FFF2-40B4-BE49-F238E27FC236}">
                <a16:creationId xmlns:a16="http://schemas.microsoft.com/office/drawing/2014/main" id="{9420F92B-C95B-B6C7-31F3-23EAACE21006}"/>
              </a:ext>
            </a:extLst>
          </p:cNvPr>
          <p:cNvSpPr>
            <a:spLocks noGrp="1"/>
          </p:cNvSpPr>
          <p:nvPr>
            <p:ph idx="1"/>
          </p:nvPr>
        </p:nvSpPr>
        <p:spPr>
          <a:xfrm>
            <a:off x="637309" y="2105891"/>
            <a:ext cx="10880436" cy="4267200"/>
          </a:xfrm>
        </p:spPr>
        <p:txBody>
          <a:bodyPr/>
          <a:lstStyle/>
          <a:p>
            <a:r>
              <a:rPr lang="fr-FR" dirty="0"/>
              <a:t>Les risques sont devenus </a:t>
            </a:r>
            <a:r>
              <a:rPr lang="fr-FR" b="1" dirty="0"/>
              <a:t>endogènes au développement technique </a:t>
            </a:r>
            <a:r>
              <a:rPr lang="fr-FR" dirty="0"/>
              <a:t>(</a:t>
            </a:r>
            <a:r>
              <a:rPr lang="fr-FR" i="1" dirty="0"/>
              <a:t>vs</a:t>
            </a:r>
            <a:r>
              <a:rPr lang="fr-FR" dirty="0"/>
              <a:t> dangers extrinsèques)</a:t>
            </a:r>
          </a:p>
          <a:p>
            <a:r>
              <a:rPr lang="fr-FR" dirty="0"/>
              <a:t>La notion de « risque » peut parfois donner une </a:t>
            </a:r>
            <a:r>
              <a:rPr lang="fr-FR" b="1" dirty="0"/>
              <a:t>illusion de maîtrise</a:t>
            </a:r>
            <a:r>
              <a:rPr lang="fr-FR" dirty="0"/>
              <a:t>. </a:t>
            </a:r>
          </a:p>
          <a:p>
            <a:r>
              <a:rPr lang="fr-FR" dirty="0"/>
              <a:t>La notion de risques, à la différence de celle de « danger », </a:t>
            </a:r>
            <a:r>
              <a:rPr lang="fr-FR" b="1" dirty="0"/>
              <a:t>technicise les débats et exclut l’expérience commune</a:t>
            </a:r>
            <a:r>
              <a:rPr lang="fr-FR" dirty="0"/>
              <a:t>.</a:t>
            </a:r>
          </a:p>
          <a:p>
            <a:r>
              <a:rPr lang="fr-FR" dirty="0"/>
              <a:t>Une tendance à prolonger un </a:t>
            </a:r>
            <a:r>
              <a:rPr lang="fr-FR" i="1" dirty="0"/>
              <a:t>statu quo </a:t>
            </a:r>
            <a:r>
              <a:rPr lang="fr-FR" dirty="0"/>
              <a:t>plutôt que de renforcer les limites imposées par la société : </a:t>
            </a:r>
            <a:r>
              <a:rPr lang="fr-FR" b="1" dirty="0"/>
              <a:t>conservatisme industriel</a:t>
            </a:r>
          </a:p>
        </p:txBody>
      </p:sp>
    </p:spTree>
    <p:extLst>
      <p:ext uri="{BB962C8B-B14F-4D97-AF65-F5344CB8AC3E}">
        <p14:creationId xmlns:p14="http://schemas.microsoft.com/office/powerpoint/2010/main" val="2077307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3B1C60-9B18-D8BC-1F70-65427B631439}"/>
              </a:ext>
            </a:extLst>
          </p:cNvPr>
          <p:cNvSpPr>
            <a:spLocks noGrp="1"/>
          </p:cNvSpPr>
          <p:nvPr>
            <p:ph type="title"/>
          </p:nvPr>
        </p:nvSpPr>
        <p:spPr/>
        <p:txBody>
          <a:bodyPr/>
          <a:lstStyle/>
          <a:p>
            <a:pPr algn="ctr"/>
            <a:r>
              <a:rPr lang="fr-FR" dirty="0"/>
              <a:t>Exemple de Fukushima</a:t>
            </a:r>
          </a:p>
        </p:txBody>
      </p:sp>
      <p:sp>
        <p:nvSpPr>
          <p:cNvPr id="3" name="Espace réservé du contenu 2">
            <a:extLst>
              <a:ext uri="{FF2B5EF4-FFF2-40B4-BE49-F238E27FC236}">
                <a16:creationId xmlns:a16="http://schemas.microsoft.com/office/drawing/2014/main" id="{3A3B2BFA-4516-BAE3-333E-CD0536969C77}"/>
              </a:ext>
            </a:extLst>
          </p:cNvPr>
          <p:cNvSpPr>
            <a:spLocks noGrp="1"/>
          </p:cNvSpPr>
          <p:nvPr>
            <p:ph idx="1"/>
          </p:nvPr>
        </p:nvSpPr>
        <p:spPr/>
        <p:txBody>
          <a:bodyPr/>
          <a:lstStyle/>
          <a:p>
            <a:r>
              <a:rPr lang="fr-FR" dirty="0"/>
              <a:t>Catastrophe naturelle ?</a:t>
            </a:r>
          </a:p>
          <a:p>
            <a:r>
              <a:rPr lang="fr-FR" dirty="0"/>
              <a:t>Responsabilité humaine ?</a:t>
            </a:r>
          </a:p>
          <a:p>
            <a:endParaRPr lang="fr-FR" dirty="0"/>
          </a:p>
          <a:p>
            <a:endParaRPr lang="fr-FR" dirty="0"/>
          </a:p>
          <a:p>
            <a:endParaRPr lang="fr-FR" dirty="0"/>
          </a:p>
        </p:txBody>
      </p:sp>
    </p:spTree>
    <p:extLst>
      <p:ext uri="{BB962C8B-B14F-4D97-AF65-F5344CB8AC3E}">
        <p14:creationId xmlns:p14="http://schemas.microsoft.com/office/powerpoint/2010/main" val="30482169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A3B2BFA-4516-BAE3-333E-CD0536969C77}"/>
              </a:ext>
            </a:extLst>
          </p:cNvPr>
          <p:cNvSpPr>
            <a:spLocks noGrp="1"/>
          </p:cNvSpPr>
          <p:nvPr>
            <p:ph idx="1"/>
          </p:nvPr>
        </p:nvSpPr>
        <p:spPr>
          <a:xfrm>
            <a:off x="544945" y="424873"/>
            <a:ext cx="10808855" cy="5391872"/>
          </a:xfrm>
        </p:spPr>
        <p:txBody>
          <a:bodyPr/>
          <a:lstStyle/>
          <a:p>
            <a:r>
              <a:rPr lang="fr-FR" dirty="0"/>
              <a:t>Des nouvelles technologies qui introduisent des i</a:t>
            </a:r>
            <a:r>
              <a:rPr lang="fr-FR" b="1" dirty="0"/>
              <a:t>rréversibilités fortes</a:t>
            </a:r>
            <a:r>
              <a:rPr lang="fr-FR" dirty="0"/>
              <a:t>, du fait des </a:t>
            </a:r>
            <a:r>
              <a:rPr lang="fr-FR" b="1" dirty="0"/>
              <a:t>effets d’échelle</a:t>
            </a:r>
            <a:r>
              <a:rPr lang="fr-FR" dirty="0"/>
              <a:t>, avec des </a:t>
            </a:r>
            <a:r>
              <a:rPr lang="fr-FR" b="1" dirty="0"/>
              <a:t>temps de latence très importants</a:t>
            </a:r>
            <a:r>
              <a:rPr lang="fr-FR" dirty="0"/>
              <a:t>, ce</a:t>
            </a:r>
            <a:r>
              <a:rPr lang="fr-FR" b="1" dirty="0"/>
              <a:t> </a:t>
            </a:r>
            <a:r>
              <a:rPr lang="fr-FR" dirty="0"/>
              <a:t>qui rend difficile l’évaluation des risques.</a:t>
            </a:r>
          </a:p>
          <a:p>
            <a:r>
              <a:rPr lang="fr-FR" dirty="0"/>
              <a:t>Une logique d’évaluation du risque qui exige la multiplication des expertises, aux dépens du </a:t>
            </a:r>
            <a:r>
              <a:rPr lang="fr-FR" b="1" dirty="0"/>
              <a:t>principe de précaution.</a:t>
            </a:r>
          </a:p>
          <a:p>
            <a:r>
              <a:rPr lang="fr-FR" dirty="0"/>
              <a:t>Exemple :</a:t>
            </a:r>
          </a:p>
          <a:p>
            <a:pPr lvl="1">
              <a:buFont typeface="Calibri" panose="020F0502020204030204" pitchFamily="34" charset="0"/>
              <a:buChar char="-"/>
            </a:pPr>
            <a:r>
              <a:rPr lang="fr-FR" sz="2800" dirty="0"/>
              <a:t>Les CFC (Chlorofluorocarbures)</a:t>
            </a:r>
          </a:p>
          <a:p>
            <a:pPr lvl="1">
              <a:buFont typeface="Calibri" panose="020F0502020204030204" pitchFamily="34" charset="0"/>
              <a:buChar char="-"/>
            </a:pPr>
            <a:r>
              <a:rPr lang="fr-FR" sz="2800" dirty="0"/>
              <a:t>L’amiante</a:t>
            </a:r>
          </a:p>
          <a:p>
            <a:pPr marL="0" indent="0">
              <a:buNone/>
            </a:pPr>
            <a:endParaRPr lang="fr-FR" dirty="0"/>
          </a:p>
          <a:p>
            <a:pPr marL="0" indent="0">
              <a:buNone/>
            </a:pPr>
            <a:r>
              <a:rPr lang="fr-FR" dirty="0">
                <a:sym typeface="Wingdings" panose="05000000000000000000" pitchFamily="2" charset="2"/>
              </a:rPr>
              <a:t> </a:t>
            </a:r>
            <a:r>
              <a:rPr lang="fr-FR" b="1" dirty="0"/>
              <a:t>Principe responsabilité </a:t>
            </a:r>
            <a:r>
              <a:rPr lang="fr-FR" dirty="0"/>
              <a:t>de Hans Jonas : une « heuristique de la peur »</a:t>
            </a:r>
          </a:p>
        </p:txBody>
      </p:sp>
    </p:spTree>
    <p:extLst>
      <p:ext uri="{BB962C8B-B14F-4D97-AF65-F5344CB8AC3E}">
        <p14:creationId xmlns:p14="http://schemas.microsoft.com/office/powerpoint/2010/main" val="1222130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495598"/>
          </a:xfrm>
        </p:spPr>
        <p:txBody>
          <a:bodyPr>
            <a:normAutofit/>
          </a:bodyPr>
          <a:lstStyle/>
          <a:p>
            <a:pPr algn="ctr"/>
            <a:r>
              <a:rPr lang="fr-FR" b="1" dirty="0">
                <a:solidFill>
                  <a:schemeClr val="bg1"/>
                </a:solidFill>
              </a:rPr>
              <a:t>La place des ingénieurs dans</a:t>
            </a:r>
            <a:br>
              <a:rPr lang="fr-FR" b="1" dirty="0">
                <a:solidFill>
                  <a:schemeClr val="bg1"/>
                </a:solidFill>
              </a:rPr>
            </a:br>
            <a:r>
              <a:rPr lang="fr-FR" b="1" dirty="0">
                <a:solidFill>
                  <a:schemeClr val="bg1"/>
                </a:solidFill>
              </a:rPr>
              <a:t>la « démocratie technique »</a:t>
            </a:r>
          </a:p>
        </p:txBody>
      </p:sp>
    </p:spTree>
    <p:extLst>
      <p:ext uri="{BB962C8B-B14F-4D97-AF65-F5344CB8AC3E}">
        <p14:creationId xmlns:p14="http://schemas.microsoft.com/office/powerpoint/2010/main" val="3877858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8B494C-C6C9-0B06-7393-58D5619ECF67}"/>
              </a:ext>
            </a:extLst>
          </p:cNvPr>
          <p:cNvSpPr>
            <a:spLocks noGrp="1"/>
          </p:cNvSpPr>
          <p:nvPr>
            <p:ph type="title"/>
          </p:nvPr>
        </p:nvSpPr>
        <p:spPr>
          <a:xfrm>
            <a:off x="838200" y="18255"/>
            <a:ext cx="10515600" cy="1325563"/>
          </a:xfrm>
        </p:spPr>
        <p:txBody>
          <a:bodyPr/>
          <a:lstStyle/>
          <a:p>
            <a:pPr algn="ctr"/>
            <a:r>
              <a:rPr lang="fr-FR" dirty="0"/>
              <a:t>Les enjeux de la « démocratie technique »</a:t>
            </a:r>
          </a:p>
        </p:txBody>
      </p:sp>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399495" y="1343819"/>
            <a:ext cx="11375433" cy="5003716"/>
          </a:xfrm>
        </p:spPr>
        <p:txBody>
          <a:bodyPr/>
          <a:lstStyle/>
          <a:p>
            <a:r>
              <a:rPr lang="fr-FR" dirty="0"/>
              <a:t>Enjeux </a:t>
            </a:r>
            <a:r>
              <a:rPr lang="fr-FR" b="1" dirty="0"/>
              <a:t>éthico-socio-politiques de la technique </a:t>
            </a:r>
            <a:r>
              <a:rPr lang="fr-FR" dirty="0"/>
              <a:t>: emploi, aménagement du territoire, rapports de pouvoir, etc.</a:t>
            </a:r>
          </a:p>
          <a:p>
            <a:endParaRPr lang="fr-FR" dirty="0"/>
          </a:p>
          <a:p>
            <a:r>
              <a:rPr lang="fr-FR" dirty="0"/>
              <a:t>Exemple du </a:t>
            </a:r>
            <a:r>
              <a:rPr lang="fr-FR" b="1" dirty="0"/>
              <a:t>numérique</a:t>
            </a:r>
            <a:r>
              <a:rPr lang="fr-FR" dirty="0"/>
              <a:t> (voir la séance sur « l’éthique du numérique »).</a:t>
            </a:r>
          </a:p>
          <a:p>
            <a:pPr lvl="1">
              <a:buFont typeface="Calibri" panose="020F0502020204030204" pitchFamily="34" charset="0"/>
              <a:buChar char="-"/>
            </a:pPr>
            <a:r>
              <a:rPr lang="fr-FR" sz="2800" dirty="0"/>
              <a:t>Développement de l’informatique : rôle de l’armée  (années 1930-1940) </a:t>
            </a:r>
            <a:r>
              <a:rPr lang="fr-FR" sz="2800" i="1" dirty="0"/>
              <a:t>vs</a:t>
            </a:r>
            <a:r>
              <a:rPr lang="fr-FR" sz="2800" dirty="0"/>
              <a:t> idéologie libertaire (1960-1970).</a:t>
            </a:r>
          </a:p>
          <a:p>
            <a:pPr lvl="1">
              <a:buFont typeface="Calibri" panose="020F0502020204030204" pitchFamily="34" charset="0"/>
              <a:buChar char="-"/>
            </a:pPr>
            <a:r>
              <a:rPr lang="fr-FR" sz="2800" dirty="0"/>
              <a:t>Aujourd’hui, valeurs </a:t>
            </a:r>
            <a:r>
              <a:rPr lang="fr-FR" sz="2800" b="1" dirty="0"/>
              <a:t>libertariennes</a:t>
            </a:r>
            <a:r>
              <a:rPr lang="fr-FR" sz="2800" dirty="0"/>
              <a:t> et </a:t>
            </a:r>
            <a:r>
              <a:rPr lang="fr-FR" sz="2800" b="1" dirty="0"/>
              <a:t>transhumanistes</a:t>
            </a:r>
            <a:r>
              <a:rPr lang="fr-FR" sz="2800" dirty="0"/>
              <a:t> véhiculées par la Silicon Valley et effets socio-politiques des </a:t>
            </a:r>
            <a:r>
              <a:rPr lang="fr-FR" sz="2800" b="1" i="1" dirty="0"/>
              <a:t>big </a:t>
            </a:r>
            <a:r>
              <a:rPr lang="fr-FR" sz="2800" b="1" i="1"/>
              <a:t>data </a:t>
            </a:r>
            <a:r>
              <a:rPr lang="fr-FR" sz="2800"/>
              <a:t>(</a:t>
            </a:r>
            <a:r>
              <a:rPr lang="fr-FR" sz="2800" dirty="0"/>
              <a:t>voir les travaux de Fred Turner).</a:t>
            </a:r>
          </a:p>
          <a:p>
            <a:endParaRPr lang="fr-FR" dirty="0"/>
          </a:p>
        </p:txBody>
      </p:sp>
    </p:spTree>
    <p:extLst>
      <p:ext uri="{BB962C8B-B14F-4D97-AF65-F5344CB8AC3E}">
        <p14:creationId xmlns:p14="http://schemas.microsoft.com/office/powerpoint/2010/main" val="25786788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p>
          <a:p>
            <a:pPr marL="514350" indent="-514350">
              <a:buFont typeface="+mj-lt"/>
              <a:buAutoNum type="arabicPeriod"/>
            </a:pPr>
            <a:r>
              <a:rPr lang="fr-FR" b="1" dirty="0"/>
              <a:t>Diffusion de la connaissance technique</a:t>
            </a:r>
            <a:r>
              <a:rPr lang="fr-FR" dirty="0"/>
              <a:t>, pour contrer les effets de sa complexité et de son opacité.</a:t>
            </a:r>
          </a:p>
          <a:p>
            <a:endParaRPr lang="fr-FR" dirty="0"/>
          </a:p>
        </p:txBody>
      </p:sp>
    </p:spTree>
    <p:extLst>
      <p:ext uri="{BB962C8B-B14F-4D97-AF65-F5344CB8AC3E}">
        <p14:creationId xmlns:p14="http://schemas.microsoft.com/office/powerpoint/2010/main" val="1443019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p>
          <a:p>
            <a:pPr marL="514350" indent="-514350">
              <a:buFont typeface="+mj-lt"/>
              <a:buAutoNum type="arabicPeriod"/>
            </a:pPr>
            <a:r>
              <a:rPr lang="fr-FR" b="1" dirty="0">
                <a:solidFill>
                  <a:schemeClr val="bg1">
                    <a:lumMod val="75000"/>
                  </a:schemeClr>
                </a:solidFill>
              </a:rPr>
              <a:t>Diffusion la connaissance technique</a:t>
            </a:r>
            <a:r>
              <a:rPr lang="fr-FR" dirty="0">
                <a:solidFill>
                  <a:schemeClr val="bg1">
                    <a:lumMod val="75000"/>
                  </a:schemeClr>
                </a:solidFill>
              </a:rPr>
              <a:t>, pour contrer les effets de sa complexité et de son opacité.</a:t>
            </a:r>
          </a:p>
          <a:p>
            <a:pPr marL="514350" indent="-514350">
              <a:buFont typeface="+mj-lt"/>
              <a:buAutoNum type="arabicPeriod"/>
            </a:pPr>
            <a:r>
              <a:rPr lang="fr-FR" dirty="0"/>
              <a:t>Participation à la </a:t>
            </a:r>
            <a:r>
              <a:rPr lang="fr-FR" b="1" dirty="0"/>
              <a:t>délibération démocratique</a:t>
            </a:r>
            <a:r>
              <a:rPr lang="fr-FR" dirty="0"/>
              <a:t>, au sein d’une réelle « </a:t>
            </a:r>
            <a:r>
              <a:rPr lang="fr-FR" b="1" dirty="0"/>
              <a:t>diversité cognitive </a:t>
            </a:r>
            <a:r>
              <a:rPr lang="fr-FR" dirty="0"/>
              <a:t>» (</a:t>
            </a:r>
            <a:r>
              <a:rPr lang="fr-FR" i="1" dirty="0"/>
              <a:t>vs</a:t>
            </a:r>
            <a:r>
              <a:rPr lang="fr-FR" dirty="0"/>
              <a:t> les seuls experts) : ex., les « conférences citoyennes » (mais des limites à ce modèle).</a:t>
            </a:r>
          </a:p>
          <a:p>
            <a:endParaRPr lang="fr-FR" dirty="0"/>
          </a:p>
        </p:txBody>
      </p:sp>
      <p:sp>
        <p:nvSpPr>
          <p:cNvPr id="4" name="Flèche : bas 3">
            <a:extLst>
              <a:ext uri="{FF2B5EF4-FFF2-40B4-BE49-F238E27FC236}">
                <a16:creationId xmlns:a16="http://schemas.microsoft.com/office/drawing/2014/main" id="{222B7719-1C36-C183-C068-C2C306DCDED3}"/>
              </a:ext>
            </a:extLst>
          </p:cNvPr>
          <p:cNvSpPr/>
          <p:nvPr/>
        </p:nvSpPr>
        <p:spPr>
          <a:xfrm>
            <a:off x="0" y="381740"/>
            <a:ext cx="949911" cy="5743853"/>
          </a:xfrm>
          <a:prstGeom prst="downArrow">
            <a:avLst>
              <a:gd name="adj1" fmla="val 68079"/>
              <a:gd name="adj2" fmla="val 47175"/>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fr-FR" sz="3200" dirty="0"/>
              <a:t> -    Exigence démocratique   +</a:t>
            </a:r>
          </a:p>
        </p:txBody>
      </p:sp>
    </p:spTree>
    <p:extLst>
      <p:ext uri="{BB962C8B-B14F-4D97-AF65-F5344CB8AC3E}">
        <p14:creationId xmlns:p14="http://schemas.microsoft.com/office/powerpoint/2010/main" val="19051121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solidFill>
                <a:schemeClr val="bg1">
                  <a:lumMod val="75000"/>
                </a:schemeClr>
              </a:solidFill>
            </a:endParaRPr>
          </a:p>
          <a:p>
            <a:pPr marL="514350" indent="-514350">
              <a:buFont typeface="+mj-lt"/>
              <a:buAutoNum type="arabicPeriod"/>
            </a:pPr>
            <a:r>
              <a:rPr lang="fr-FR" b="1" dirty="0">
                <a:solidFill>
                  <a:schemeClr val="bg1">
                    <a:lumMod val="75000"/>
                  </a:schemeClr>
                </a:solidFill>
              </a:rPr>
              <a:t>Diffusion la connaissance technique</a:t>
            </a:r>
            <a:r>
              <a:rPr lang="fr-FR" dirty="0">
                <a:solidFill>
                  <a:schemeClr val="bg1">
                    <a:lumMod val="75000"/>
                  </a:schemeClr>
                </a:solidFill>
              </a:rPr>
              <a:t>, pour contrer les effets de sa complexité et de son opacité.</a:t>
            </a:r>
          </a:p>
          <a:p>
            <a:pPr marL="514350" indent="-514350">
              <a:buFont typeface="+mj-lt"/>
              <a:buAutoNum type="arabicPeriod"/>
            </a:pPr>
            <a:r>
              <a:rPr lang="fr-FR" dirty="0">
                <a:solidFill>
                  <a:schemeClr val="bg1">
                    <a:lumMod val="75000"/>
                  </a:schemeClr>
                </a:solidFill>
              </a:rPr>
              <a:t>Participation la </a:t>
            </a:r>
            <a:r>
              <a:rPr lang="fr-FR" b="1" dirty="0">
                <a:solidFill>
                  <a:schemeClr val="bg1">
                    <a:lumMod val="75000"/>
                  </a:schemeClr>
                </a:solidFill>
              </a:rPr>
              <a:t>délibération démocratique</a:t>
            </a:r>
            <a:r>
              <a:rPr lang="fr-FR" dirty="0">
                <a:solidFill>
                  <a:schemeClr val="bg1">
                    <a:lumMod val="75000"/>
                  </a:schemeClr>
                </a:solidFill>
              </a:rPr>
              <a:t>, au sein d’une réelle « </a:t>
            </a:r>
            <a:r>
              <a:rPr lang="fr-FR" b="1" dirty="0">
                <a:solidFill>
                  <a:schemeClr val="bg1">
                    <a:lumMod val="75000"/>
                  </a:schemeClr>
                </a:solidFill>
              </a:rPr>
              <a:t>diversité cognitive </a:t>
            </a:r>
            <a:r>
              <a:rPr lang="fr-FR" dirty="0">
                <a:solidFill>
                  <a:schemeClr val="bg1">
                    <a:lumMod val="75000"/>
                  </a:schemeClr>
                </a:solidFill>
              </a:rPr>
              <a:t>» (</a:t>
            </a:r>
            <a:r>
              <a:rPr lang="fr-FR" i="1" dirty="0">
                <a:solidFill>
                  <a:schemeClr val="bg1">
                    <a:lumMod val="75000"/>
                  </a:schemeClr>
                </a:solidFill>
              </a:rPr>
              <a:t>vs</a:t>
            </a:r>
            <a:r>
              <a:rPr lang="fr-FR" dirty="0">
                <a:solidFill>
                  <a:schemeClr val="bg1">
                    <a:lumMod val="75000"/>
                  </a:schemeClr>
                </a:solidFill>
              </a:rPr>
              <a:t> les seuls experts) : ex., les « conférences citoyennes » (mais des limites à ce modèle qui reste celui de la démocratie représentative).</a:t>
            </a:r>
          </a:p>
          <a:p>
            <a:pPr marL="514350" indent="-514350">
              <a:buFont typeface="+mj-lt"/>
              <a:buAutoNum type="arabicPeriod"/>
            </a:pPr>
            <a:r>
              <a:rPr lang="fr-FR" b="1" dirty="0"/>
              <a:t>Co-production des savoirs</a:t>
            </a:r>
            <a:r>
              <a:rPr lang="fr-FR" dirty="0"/>
              <a:t>, où les citoyens peuvent apporter des connaissances complémentaires sur les </a:t>
            </a:r>
            <a:r>
              <a:rPr lang="fr-FR" b="1" dirty="0"/>
              <a:t>conséquences des choix technologiques</a:t>
            </a:r>
            <a:r>
              <a:rPr lang="fr-FR" dirty="0"/>
              <a:t>.</a:t>
            </a:r>
          </a:p>
          <a:p>
            <a:endParaRPr lang="fr-FR" dirty="0"/>
          </a:p>
        </p:txBody>
      </p:sp>
      <p:sp>
        <p:nvSpPr>
          <p:cNvPr id="4" name="Flèche : bas 3">
            <a:extLst>
              <a:ext uri="{FF2B5EF4-FFF2-40B4-BE49-F238E27FC236}">
                <a16:creationId xmlns:a16="http://schemas.microsoft.com/office/drawing/2014/main" id="{222B7719-1C36-C183-C068-C2C306DCDED3}"/>
              </a:ext>
            </a:extLst>
          </p:cNvPr>
          <p:cNvSpPr/>
          <p:nvPr/>
        </p:nvSpPr>
        <p:spPr>
          <a:xfrm>
            <a:off x="0" y="381740"/>
            <a:ext cx="949911" cy="5743853"/>
          </a:xfrm>
          <a:prstGeom prst="downArrow">
            <a:avLst>
              <a:gd name="adj1" fmla="val 68079"/>
              <a:gd name="adj2" fmla="val 47175"/>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fr-FR" sz="3200" dirty="0"/>
              <a:t> -    Exigence démocratique   +</a:t>
            </a:r>
          </a:p>
        </p:txBody>
      </p:sp>
    </p:spTree>
    <p:extLst>
      <p:ext uri="{BB962C8B-B14F-4D97-AF65-F5344CB8AC3E}">
        <p14:creationId xmlns:p14="http://schemas.microsoft.com/office/powerpoint/2010/main" val="538528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solidFill>
                <a:schemeClr val="bg1">
                  <a:lumMod val="75000"/>
                </a:schemeClr>
              </a:solidFill>
            </a:endParaRPr>
          </a:p>
          <a:p>
            <a:pPr marL="514350" indent="-514350">
              <a:buFont typeface="+mj-lt"/>
              <a:buAutoNum type="arabicPeriod"/>
            </a:pPr>
            <a:r>
              <a:rPr lang="fr-FR" b="1" dirty="0">
                <a:solidFill>
                  <a:schemeClr val="bg1">
                    <a:lumMod val="75000"/>
                  </a:schemeClr>
                </a:solidFill>
              </a:rPr>
              <a:t>Diffusion la connaissance technique</a:t>
            </a:r>
            <a:r>
              <a:rPr lang="fr-FR" dirty="0">
                <a:solidFill>
                  <a:schemeClr val="bg1">
                    <a:lumMod val="75000"/>
                  </a:schemeClr>
                </a:solidFill>
              </a:rPr>
              <a:t>, pour contrer les effets de sa complexité et de son opacité.</a:t>
            </a:r>
          </a:p>
          <a:p>
            <a:pPr marL="514350" indent="-514350">
              <a:buFont typeface="+mj-lt"/>
              <a:buAutoNum type="arabicPeriod"/>
            </a:pPr>
            <a:r>
              <a:rPr lang="fr-FR" dirty="0">
                <a:solidFill>
                  <a:schemeClr val="bg1">
                    <a:lumMod val="75000"/>
                  </a:schemeClr>
                </a:solidFill>
              </a:rPr>
              <a:t>Participation la </a:t>
            </a:r>
            <a:r>
              <a:rPr lang="fr-FR" b="1" dirty="0">
                <a:solidFill>
                  <a:schemeClr val="bg1">
                    <a:lumMod val="75000"/>
                  </a:schemeClr>
                </a:solidFill>
              </a:rPr>
              <a:t>délibération démocratique</a:t>
            </a:r>
            <a:r>
              <a:rPr lang="fr-FR" dirty="0">
                <a:solidFill>
                  <a:schemeClr val="bg1">
                    <a:lumMod val="75000"/>
                  </a:schemeClr>
                </a:solidFill>
              </a:rPr>
              <a:t>, au sein d’une réelle « </a:t>
            </a:r>
            <a:r>
              <a:rPr lang="fr-FR" b="1" dirty="0">
                <a:solidFill>
                  <a:schemeClr val="bg1">
                    <a:lumMod val="75000"/>
                  </a:schemeClr>
                </a:solidFill>
              </a:rPr>
              <a:t>diversité cognitive </a:t>
            </a:r>
            <a:r>
              <a:rPr lang="fr-FR" dirty="0">
                <a:solidFill>
                  <a:schemeClr val="bg1">
                    <a:lumMod val="75000"/>
                  </a:schemeClr>
                </a:solidFill>
              </a:rPr>
              <a:t>» (</a:t>
            </a:r>
            <a:r>
              <a:rPr lang="fr-FR" i="1" dirty="0">
                <a:solidFill>
                  <a:schemeClr val="bg1">
                    <a:lumMod val="75000"/>
                  </a:schemeClr>
                </a:solidFill>
              </a:rPr>
              <a:t>vs</a:t>
            </a:r>
            <a:r>
              <a:rPr lang="fr-FR" dirty="0">
                <a:solidFill>
                  <a:schemeClr val="bg1">
                    <a:lumMod val="75000"/>
                  </a:schemeClr>
                </a:solidFill>
              </a:rPr>
              <a:t> les seuls experts) : ex., les « conférences citoyennes » (mais des limites à ce modèle).</a:t>
            </a:r>
          </a:p>
          <a:p>
            <a:pPr marL="514350" indent="-514350">
              <a:buFont typeface="+mj-lt"/>
              <a:buAutoNum type="arabicPeriod"/>
            </a:pPr>
            <a:r>
              <a:rPr lang="fr-FR" b="1" dirty="0"/>
              <a:t>Co-production des savoirs</a:t>
            </a:r>
            <a:r>
              <a:rPr lang="fr-FR" dirty="0"/>
              <a:t>, où les citoyens peuvent apporter des connaissances complémentaires sur les </a:t>
            </a:r>
            <a:r>
              <a:rPr lang="fr-FR" b="1" dirty="0"/>
              <a:t>conséquences des choix technologiques</a:t>
            </a:r>
            <a:r>
              <a:rPr lang="fr-FR" dirty="0"/>
              <a:t>.</a:t>
            </a:r>
          </a:p>
          <a:p>
            <a:endParaRPr lang="fr-FR" dirty="0"/>
          </a:p>
        </p:txBody>
      </p:sp>
      <p:sp>
        <p:nvSpPr>
          <p:cNvPr id="2" name="Rectangle 1">
            <a:extLst>
              <a:ext uri="{FF2B5EF4-FFF2-40B4-BE49-F238E27FC236}">
                <a16:creationId xmlns:a16="http://schemas.microsoft.com/office/drawing/2014/main" id="{C2C1A7DF-4CFE-B6A4-335F-5E55A4D5AE99}"/>
              </a:ext>
            </a:extLst>
          </p:cNvPr>
          <p:cNvSpPr/>
          <p:nvPr/>
        </p:nvSpPr>
        <p:spPr>
          <a:xfrm>
            <a:off x="872120" y="5202314"/>
            <a:ext cx="10723417" cy="1242873"/>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fr-FR" sz="2800" dirty="0">
                <a:solidFill>
                  <a:schemeClr val="tx1"/>
                </a:solidFill>
                <a:sym typeface="Wingdings" panose="05000000000000000000" pitchFamily="2" charset="2"/>
              </a:rPr>
              <a:t> Cadre particulièrement adapté à la « </a:t>
            </a:r>
            <a:r>
              <a:rPr lang="fr-FR" sz="2800" b="1" dirty="0">
                <a:solidFill>
                  <a:schemeClr val="tx1"/>
                </a:solidFill>
                <a:sym typeface="Wingdings" panose="05000000000000000000" pitchFamily="2" charset="2"/>
              </a:rPr>
              <a:t>science post-normale </a:t>
            </a:r>
            <a:r>
              <a:rPr lang="fr-FR" sz="2800" dirty="0">
                <a:solidFill>
                  <a:schemeClr val="tx1"/>
                </a:solidFill>
                <a:sym typeface="Wingdings" panose="05000000000000000000" pitchFamily="2" charset="2"/>
              </a:rPr>
              <a:t>», quand les </a:t>
            </a:r>
            <a:r>
              <a:rPr lang="fr-FR" sz="2800" b="1" dirty="0">
                <a:solidFill>
                  <a:schemeClr val="tx1"/>
                </a:solidFill>
                <a:sym typeface="Wingdings" panose="05000000000000000000" pitchFamily="2" charset="2"/>
              </a:rPr>
              <a:t>incertitudes scientifiques </a:t>
            </a:r>
            <a:r>
              <a:rPr lang="fr-FR" sz="2800" dirty="0">
                <a:solidFill>
                  <a:schemeClr val="tx1"/>
                </a:solidFill>
                <a:sym typeface="Wingdings" panose="05000000000000000000" pitchFamily="2" charset="2"/>
              </a:rPr>
              <a:t>et les </a:t>
            </a:r>
            <a:r>
              <a:rPr lang="fr-FR" sz="2800" b="1" dirty="0">
                <a:solidFill>
                  <a:schemeClr val="tx1"/>
                </a:solidFill>
                <a:sym typeface="Wingdings" panose="05000000000000000000" pitchFamily="2" charset="2"/>
              </a:rPr>
              <a:t>enjeux sociaux </a:t>
            </a:r>
            <a:r>
              <a:rPr lang="fr-FR" sz="2800" dirty="0">
                <a:solidFill>
                  <a:schemeClr val="tx1"/>
                </a:solidFill>
                <a:sym typeface="Wingdings" panose="05000000000000000000" pitchFamily="2" charset="2"/>
              </a:rPr>
              <a:t>sont importants et urgents.</a:t>
            </a:r>
            <a:endParaRPr lang="fr-FR" sz="2800" dirty="0">
              <a:solidFill>
                <a:schemeClr val="tx1"/>
              </a:solidFill>
            </a:endParaRPr>
          </a:p>
        </p:txBody>
      </p:sp>
      <p:sp>
        <p:nvSpPr>
          <p:cNvPr id="4" name="Flèche : bas 3">
            <a:extLst>
              <a:ext uri="{FF2B5EF4-FFF2-40B4-BE49-F238E27FC236}">
                <a16:creationId xmlns:a16="http://schemas.microsoft.com/office/drawing/2014/main" id="{222B7719-1C36-C183-C068-C2C306DCDED3}"/>
              </a:ext>
            </a:extLst>
          </p:cNvPr>
          <p:cNvSpPr/>
          <p:nvPr/>
        </p:nvSpPr>
        <p:spPr>
          <a:xfrm>
            <a:off x="0" y="381740"/>
            <a:ext cx="949911" cy="5743853"/>
          </a:xfrm>
          <a:prstGeom prst="downArrow">
            <a:avLst>
              <a:gd name="adj1" fmla="val 68079"/>
              <a:gd name="adj2" fmla="val 47175"/>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fr-FR" sz="3200" dirty="0"/>
              <a:t> -    Exigence démocratique   +</a:t>
            </a:r>
          </a:p>
        </p:txBody>
      </p:sp>
    </p:spTree>
    <p:extLst>
      <p:ext uri="{BB962C8B-B14F-4D97-AF65-F5344CB8AC3E}">
        <p14:creationId xmlns:p14="http://schemas.microsoft.com/office/powerpoint/2010/main" val="38068737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7CBA50E-CCED-C569-CF9A-F9CD78DC161B}"/>
              </a:ext>
            </a:extLst>
          </p:cNvPr>
          <p:cNvSpPr>
            <a:spLocks noGrp="1"/>
          </p:cNvSpPr>
          <p:nvPr>
            <p:ph idx="1"/>
          </p:nvPr>
        </p:nvSpPr>
        <p:spPr>
          <a:xfrm>
            <a:off x="838200" y="967665"/>
            <a:ext cx="10515600" cy="5291091"/>
          </a:xfrm>
        </p:spPr>
        <p:txBody>
          <a:bodyPr/>
          <a:lstStyle/>
          <a:p>
            <a:pPr marL="0" indent="0">
              <a:buNone/>
            </a:pPr>
            <a:r>
              <a:rPr lang="fr-FR" dirty="0"/>
              <a:t>Plusieurs exemples de la </a:t>
            </a:r>
            <a:r>
              <a:rPr lang="fr-FR" b="1" dirty="0"/>
              <a:t>co-production des savoirs </a:t>
            </a:r>
            <a:r>
              <a:rPr lang="fr-FR" dirty="0"/>
              <a:t>(3.) :</a:t>
            </a:r>
          </a:p>
          <a:p>
            <a:r>
              <a:rPr lang="fr-FR" dirty="0"/>
              <a:t>La CRIIAD obligeant l’IRSN à revoir ses mesures de radioactivité après Tchernobyl</a:t>
            </a:r>
          </a:p>
          <a:p>
            <a:r>
              <a:rPr lang="fr-FR" dirty="0"/>
              <a:t>Les associations de malades</a:t>
            </a:r>
          </a:p>
          <a:p>
            <a:r>
              <a:rPr lang="fr-FR" dirty="0"/>
              <a:t>Différentes associations d’ingénieurs et de scientifiques menant des actions participatives</a:t>
            </a:r>
          </a:p>
          <a:p>
            <a:pPr lvl="1"/>
            <a:r>
              <a:rPr lang="fr-FR" dirty="0"/>
              <a:t>« Ingénieurs sans frontières »</a:t>
            </a:r>
          </a:p>
          <a:p>
            <a:pPr lvl="1"/>
            <a:r>
              <a:rPr lang="fr-FR" dirty="0"/>
              <a:t>« </a:t>
            </a:r>
            <a:r>
              <a:rPr lang="fr-FR" dirty="0" err="1"/>
              <a:t>SystExt</a:t>
            </a:r>
            <a:r>
              <a:rPr lang="fr-FR" dirty="0"/>
              <a:t> »</a:t>
            </a:r>
          </a:p>
          <a:p>
            <a:pPr lvl="1"/>
            <a:r>
              <a:rPr lang="fr-FR" dirty="0"/>
              <a:t>« Sciences citoyennes »</a:t>
            </a:r>
          </a:p>
          <a:p>
            <a:pPr lvl="1"/>
            <a:r>
              <a:rPr lang="fr-FR" dirty="0"/>
              <a:t>Les « boutiques des sciences », comme Accès Savoirs au Québec</a:t>
            </a:r>
          </a:p>
        </p:txBody>
      </p:sp>
    </p:spTree>
    <p:extLst>
      <p:ext uri="{BB962C8B-B14F-4D97-AF65-F5344CB8AC3E}">
        <p14:creationId xmlns:p14="http://schemas.microsoft.com/office/powerpoint/2010/main" val="32746683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Indications bibliographiques</a:t>
            </a:r>
          </a:p>
        </p:txBody>
      </p:sp>
    </p:spTree>
    <p:extLst>
      <p:ext uri="{BB962C8B-B14F-4D97-AF65-F5344CB8AC3E}">
        <p14:creationId xmlns:p14="http://schemas.microsoft.com/office/powerpoint/2010/main" val="26323731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6EBEF0-E6ED-FB91-EAC1-BCC28C4F5FFF}"/>
              </a:ext>
            </a:extLst>
          </p:cNvPr>
          <p:cNvSpPr>
            <a:spLocks noGrp="1"/>
          </p:cNvSpPr>
          <p:nvPr>
            <p:ph idx="1"/>
          </p:nvPr>
        </p:nvSpPr>
        <p:spPr>
          <a:xfrm>
            <a:off x="838200" y="452761"/>
            <a:ext cx="10515600" cy="5724202"/>
          </a:xfrm>
        </p:spPr>
        <p:txBody>
          <a:bodyPr/>
          <a:lstStyle/>
          <a:p>
            <a:r>
              <a:rPr lang="fr-FR" dirty="0"/>
              <a:t>Laure Flandrin et Fanny </a:t>
            </a:r>
            <a:r>
              <a:rPr lang="fr-FR" dirty="0" err="1"/>
              <a:t>Verrax</a:t>
            </a:r>
            <a:r>
              <a:rPr lang="fr-FR" dirty="0"/>
              <a:t>, </a:t>
            </a:r>
            <a:r>
              <a:rPr lang="fr-FR" i="1" dirty="0"/>
              <a:t>Quelle éthique pour l’ingénieur ?</a:t>
            </a:r>
            <a:r>
              <a:rPr lang="fr-FR" dirty="0"/>
              <a:t>,</a:t>
            </a:r>
            <a:r>
              <a:rPr lang="fr-FR" i="1" dirty="0"/>
              <a:t> </a:t>
            </a:r>
            <a:r>
              <a:rPr lang="fr-FR" dirty="0"/>
              <a:t>Paris, éd. Charles Léopold Mayer, 2019 [le texte intégral de l’ouvrage en ligne dans la classe Teams, téléchargeable sur le site de l’éditeur. La présente séance s’est largement appuyée sur cet ouvrage de référence.]</a:t>
            </a:r>
          </a:p>
        </p:txBody>
      </p:sp>
    </p:spTree>
    <p:extLst>
      <p:ext uri="{BB962C8B-B14F-4D97-AF65-F5344CB8AC3E}">
        <p14:creationId xmlns:p14="http://schemas.microsoft.com/office/powerpoint/2010/main" val="295031917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13214E6F184D41A8652789AD14DD9B" ma:contentTypeVersion="4" ma:contentTypeDescription="Crée un document." ma:contentTypeScope="" ma:versionID="870e10cb2672b3f82cf7151c246327de">
  <xsd:schema xmlns:xsd="http://www.w3.org/2001/XMLSchema" xmlns:xs="http://www.w3.org/2001/XMLSchema" xmlns:p="http://schemas.microsoft.com/office/2006/metadata/properties" xmlns:ns2="1e57bae0-835b-4976-8400-56f87d0a820e" targetNamespace="http://schemas.microsoft.com/office/2006/metadata/properties" ma:root="true" ma:fieldsID="a6d3aa47800af2984ed0769e3cbe29e9" ns2:_="">
    <xsd:import namespace="1e57bae0-835b-4976-8400-56f87d0a820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57bae0-835b-4976-8400-56f87d0a8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774DF5-3704-4F49-9C74-B0B532D6ED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57bae0-835b-4976-8400-56f87d0a82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D205117-1E04-4478-80AE-6042AD8802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12172</TotalTime>
  <Words>2453</Words>
  <Application>Microsoft Office PowerPoint</Application>
  <PresentationFormat>Widescreen</PresentationFormat>
  <Paragraphs>180</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Thème Office</vt:lpstr>
      <vt:lpstr>Ethique, sciences &amp; techniques</vt:lpstr>
      <vt:lpstr>Contexte et enjeux de l’éthique de l’ingénieur</vt:lpstr>
      <vt:lpstr>L’éthique de l’ingénieur (ou engineering ethics)…</vt:lpstr>
      <vt:lpstr>PowerPoint Presentation</vt:lpstr>
      <vt:lpstr>PowerPoint Presentation</vt:lpstr>
      <vt:lpstr>Un cadre structurellement contraint mais des marges de manœuvre</vt:lpstr>
      <vt:lpstr>Un cadre structurellement contraint mais des marges de manœuvre</vt:lpstr>
      <vt:lpstr>Une spécificité française</vt:lpstr>
      <vt:lpstr>Une culture ingénieurs encore très  « techno-solutionniste »</vt:lpstr>
      <vt:lpstr>Les possibles dilemmes de l’ingénieur</vt:lpstr>
      <vt:lpstr>PowerPoint Presentation</vt:lpstr>
      <vt:lpstr>Dilemme quant au choix du secteur</vt:lpstr>
      <vt:lpstr>PowerPoint Presentation</vt:lpstr>
      <vt:lpstr>PowerPoint Presentation</vt:lpstr>
      <vt:lpstr>Dilemme comme conflit de loyauté</vt:lpstr>
      <vt:lpstr>Dilemme autour du mensonge professionnel</vt:lpstr>
      <vt:lpstr>PowerPoint Presentation</vt:lpstr>
      <vt:lpstr>PowerPoint Presentation</vt:lpstr>
      <vt:lpstr>Le scandale Volkswagen (2015). </vt:lpstr>
      <vt:lpstr>La catastrophe de Bhopal</vt:lpstr>
      <vt:lpstr>Analyse d’une « charte éthique » de l’ingénieur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 en classe sur la charte éthique</vt:lpstr>
      <vt:lpstr>PowerPoint Presentation</vt:lpstr>
      <vt:lpstr>Un triste cas d’école: l’explosion de la navette Challenger (1986)</vt:lpstr>
      <vt:lpstr>L’explosion de la navette Challenger (1986), Un cas d’école en éthique de l’ingénieur</vt:lpstr>
      <vt:lpstr>PowerPoint Presentation</vt:lpstr>
      <vt:lpstr>La neutralité des techniques ?</vt:lpstr>
      <vt:lpstr>PowerPoint Presentation</vt:lpstr>
      <vt:lpstr>PowerPoint Presentation</vt:lpstr>
      <vt:lpstr>PowerPoint Presentation</vt:lpstr>
      <vt:lpstr>PowerPoint Presentation</vt:lpstr>
      <vt:lpstr>Le cas du développement du nucléaire civil en France</vt:lpstr>
      <vt:lpstr>PowerPoint Presentation</vt:lpstr>
      <vt:lpstr>PowerPoint Presentation</vt:lpstr>
      <vt:lpstr>Le travail de l’ingénieur vu par les théoriciens de l’ « acteur-réseau »</vt:lpstr>
      <vt:lpstr>Les périmètres de la responsabilité éthique de l’ingénieur </vt:lpstr>
      <vt:lpstr>Les enjeux éthiques de la notion de « risque » : attention à sa possible instrumentalisation</vt:lpstr>
      <vt:lpstr>Exemple de Fukushima</vt:lpstr>
      <vt:lpstr>PowerPoint Presentation</vt:lpstr>
      <vt:lpstr>La place des ingénieurs dans la « démocratie technique »</vt:lpstr>
      <vt:lpstr>Les enjeux de la « démocratie technique »</vt:lpstr>
      <vt:lpstr>PowerPoint Presentation</vt:lpstr>
      <vt:lpstr>PowerPoint Presentation</vt:lpstr>
      <vt:lpstr>PowerPoint Presentation</vt:lpstr>
      <vt:lpstr>PowerPoint Presentation</vt:lpstr>
      <vt:lpstr>PowerPoint Presentation</vt:lpstr>
      <vt:lpstr>Indications bibliographiques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Alexis Weinberg</dc:creator>
  <cp:lastModifiedBy>Alexis Weinberg</cp:lastModifiedBy>
  <cp:revision>87</cp:revision>
  <dcterms:created xsi:type="dcterms:W3CDTF">2023-09-08T14:29:18Z</dcterms:created>
  <dcterms:modified xsi:type="dcterms:W3CDTF">2024-02-09T13:56:35Z</dcterms:modified>
</cp:coreProperties>
</file>