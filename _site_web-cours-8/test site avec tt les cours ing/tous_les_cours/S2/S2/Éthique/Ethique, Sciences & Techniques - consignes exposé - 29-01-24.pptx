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41"/>
  </p:notesMasterIdLst>
  <p:sldIdLst>
    <p:sldId id="649" r:id="rId4"/>
    <p:sldId id="841" r:id="rId5"/>
    <p:sldId id="836" r:id="rId6"/>
    <p:sldId id="832" r:id="rId7"/>
    <p:sldId id="816" r:id="rId8"/>
    <p:sldId id="819" r:id="rId9"/>
    <p:sldId id="829" r:id="rId10"/>
    <p:sldId id="843" r:id="rId11"/>
    <p:sldId id="842" r:id="rId12"/>
    <p:sldId id="321" r:id="rId13"/>
    <p:sldId id="322" r:id="rId14"/>
    <p:sldId id="299" r:id="rId15"/>
    <p:sldId id="309" r:id="rId16"/>
    <p:sldId id="311" r:id="rId17"/>
    <p:sldId id="300" r:id="rId18"/>
    <p:sldId id="838" r:id="rId19"/>
    <p:sldId id="310" r:id="rId20"/>
    <p:sldId id="312" r:id="rId21"/>
    <p:sldId id="303" r:id="rId22"/>
    <p:sldId id="313" r:id="rId23"/>
    <p:sldId id="304" r:id="rId24"/>
    <p:sldId id="314" r:id="rId25"/>
    <p:sldId id="306" r:id="rId26"/>
    <p:sldId id="315" r:id="rId27"/>
    <p:sldId id="323" r:id="rId28"/>
    <p:sldId id="821" r:id="rId29"/>
    <p:sldId id="256" r:id="rId30"/>
    <p:sldId id="823" r:id="rId31"/>
    <p:sldId id="265" r:id="rId32"/>
    <p:sldId id="824" r:id="rId33"/>
    <p:sldId id="839" r:id="rId34"/>
    <p:sldId id="827" r:id="rId35"/>
    <p:sldId id="263" r:id="rId36"/>
    <p:sldId id="826" r:id="rId37"/>
    <p:sldId id="825" r:id="rId38"/>
    <p:sldId id="261" r:id="rId39"/>
    <p:sldId id="327" r:id="rId4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E4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8DCA73-577A-88E7-FAF7-D72C868D527A}" v="2" dt="2024-04-08T14:55:36.296"/>
    <p1510:client id="{FE708D3F-6F1D-B8C4-E82A-81F39E7C3055}" v="1" dt="2024-04-07T09:43:41.5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78" autoAdjust="0"/>
    <p:restoredTop sz="82484" autoAdjust="0"/>
  </p:normalViewPr>
  <p:slideViewPr>
    <p:cSldViewPr snapToGrid="0">
      <p:cViewPr varScale="1">
        <p:scale>
          <a:sx n="68" d="100"/>
          <a:sy n="68" d="100"/>
        </p:scale>
        <p:origin x="96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microsoft.com/office/2015/10/relationships/revisionInfo" Target="revisionInfo.xml"/><Relationship Id="rId20" Type="http://schemas.openxmlformats.org/officeDocument/2006/relationships/slide" Target="slides/slide17.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53C5A-D14B-485B-B0BF-BD3B8922E1A4}" type="datetimeFigureOut">
              <a:rPr lang="fr-FR" smtClean="0"/>
              <a:t>21/04/2024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C3B918-CDF1-484E-8DA6-7F53233E636A}" type="slidenum">
              <a:rPr lang="fr-FR" smtClean="0"/>
              <a:t>‹#›</a:t>
            </a:fld>
            <a:endParaRPr lang="fr-FR"/>
          </a:p>
        </p:txBody>
      </p:sp>
    </p:spTree>
    <p:extLst>
      <p:ext uri="{BB962C8B-B14F-4D97-AF65-F5344CB8AC3E}">
        <p14:creationId xmlns:p14="http://schemas.microsoft.com/office/powerpoint/2010/main" val="103013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CEF semestre 2 pour les préING1</a:t>
            </a:r>
          </a:p>
        </p:txBody>
      </p:sp>
      <p:sp>
        <p:nvSpPr>
          <p:cNvPr id="4" name="Espace réservé du numéro de diapositive 3"/>
          <p:cNvSpPr>
            <a:spLocks noGrp="1"/>
          </p:cNvSpPr>
          <p:nvPr>
            <p:ph type="sldNum" sz="quarter" idx="5"/>
          </p:nvPr>
        </p:nvSpPr>
        <p:spPr/>
        <p:txBody>
          <a:bodyPr/>
          <a:lstStyle/>
          <a:p>
            <a:fld id="{05DC8D58-0C08-46BC-9541-BEF8FBBE314B}" type="slidenum">
              <a:rPr lang="fr-FR" smtClean="0"/>
              <a:t>2</a:t>
            </a:fld>
            <a:endParaRPr lang="fr-FR"/>
          </a:p>
        </p:txBody>
      </p:sp>
    </p:spTree>
    <p:extLst>
      <p:ext uri="{BB962C8B-B14F-4D97-AF65-F5344CB8AC3E}">
        <p14:creationId xmlns:p14="http://schemas.microsoft.com/office/powerpoint/2010/main" val="83011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CEF semestre 2 pour les préING1</a:t>
            </a:r>
          </a:p>
        </p:txBody>
      </p:sp>
      <p:sp>
        <p:nvSpPr>
          <p:cNvPr id="4" name="Espace réservé du numéro de diapositive 3"/>
          <p:cNvSpPr>
            <a:spLocks noGrp="1"/>
          </p:cNvSpPr>
          <p:nvPr>
            <p:ph type="sldNum" sz="quarter" idx="5"/>
          </p:nvPr>
        </p:nvSpPr>
        <p:spPr/>
        <p:txBody>
          <a:bodyPr/>
          <a:lstStyle/>
          <a:p>
            <a:fld id="{05DC8D58-0C08-46BC-9541-BEF8FBBE314B}" type="slidenum">
              <a:rPr lang="fr-FR" smtClean="0"/>
              <a:t>10</a:t>
            </a:fld>
            <a:endParaRPr lang="fr-FR"/>
          </a:p>
        </p:txBody>
      </p:sp>
    </p:spTree>
    <p:extLst>
      <p:ext uri="{BB962C8B-B14F-4D97-AF65-F5344CB8AC3E}">
        <p14:creationId xmlns:p14="http://schemas.microsoft.com/office/powerpoint/2010/main" val="1983096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CEF semestre 2 pour les préING1</a:t>
            </a:r>
          </a:p>
        </p:txBody>
      </p:sp>
      <p:sp>
        <p:nvSpPr>
          <p:cNvPr id="4" name="Espace réservé du numéro de diapositive 3"/>
          <p:cNvSpPr>
            <a:spLocks noGrp="1"/>
          </p:cNvSpPr>
          <p:nvPr>
            <p:ph type="sldNum" sz="quarter" idx="5"/>
          </p:nvPr>
        </p:nvSpPr>
        <p:spPr/>
        <p:txBody>
          <a:bodyPr/>
          <a:lstStyle/>
          <a:p>
            <a:fld id="{05DC8D58-0C08-46BC-9541-BEF8FBBE314B}" type="slidenum">
              <a:rPr lang="fr-FR" smtClean="0"/>
              <a:t>11</a:t>
            </a:fld>
            <a:endParaRPr lang="fr-FR"/>
          </a:p>
        </p:txBody>
      </p:sp>
    </p:spTree>
    <p:extLst>
      <p:ext uri="{BB962C8B-B14F-4D97-AF65-F5344CB8AC3E}">
        <p14:creationId xmlns:p14="http://schemas.microsoft.com/office/powerpoint/2010/main" val="781414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CEF semestre 2 pour les préING1</a:t>
            </a:r>
          </a:p>
        </p:txBody>
      </p:sp>
      <p:sp>
        <p:nvSpPr>
          <p:cNvPr id="4" name="Espace réservé du numéro de diapositive 3"/>
          <p:cNvSpPr>
            <a:spLocks noGrp="1"/>
          </p:cNvSpPr>
          <p:nvPr>
            <p:ph type="sldNum" sz="quarter" idx="5"/>
          </p:nvPr>
        </p:nvSpPr>
        <p:spPr/>
        <p:txBody>
          <a:bodyPr/>
          <a:lstStyle/>
          <a:p>
            <a:fld id="{05DC8D58-0C08-46BC-9541-BEF8FBBE314B}" type="slidenum">
              <a:rPr lang="fr-FR" smtClean="0"/>
              <a:t>25</a:t>
            </a:fld>
            <a:endParaRPr lang="fr-FR"/>
          </a:p>
        </p:txBody>
      </p:sp>
    </p:spTree>
    <p:extLst>
      <p:ext uri="{BB962C8B-B14F-4D97-AF65-F5344CB8AC3E}">
        <p14:creationId xmlns:p14="http://schemas.microsoft.com/office/powerpoint/2010/main" val="1529583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0C3B918-CDF1-484E-8DA6-7F53233E636A}" type="slidenum">
              <a:rPr lang="fr-FR" smtClean="0"/>
              <a:t>33</a:t>
            </a:fld>
            <a:endParaRPr lang="fr-FR"/>
          </a:p>
        </p:txBody>
      </p:sp>
    </p:spTree>
    <p:extLst>
      <p:ext uri="{BB962C8B-B14F-4D97-AF65-F5344CB8AC3E}">
        <p14:creationId xmlns:p14="http://schemas.microsoft.com/office/powerpoint/2010/main" val="673305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0C3B918-CDF1-484E-8DA6-7F53233E636A}" type="slidenum">
              <a:rPr lang="fr-FR" smtClean="0"/>
              <a:t>34</a:t>
            </a:fld>
            <a:endParaRPr lang="fr-FR"/>
          </a:p>
        </p:txBody>
      </p:sp>
    </p:spTree>
    <p:extLst>
      <p:ext uri="{BB962C8B-B14F-4D97-AF65-F5344CB8AC3E}">
        <p14:creationId xmlns:p14="http://schemas.microsoft.com/office/powerpoint/2010/main" val="3564113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0285EC-A02E-443A-AAE1-D942630A3A0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29D4583F-DD50-4867-9083-DE84C99C51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AF8B027-166A-4DD6-A3B3-C0C0A5629783}"/>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5" name="Espace réservé du pied de page 4">
            <a:extLst>
              <a:ext uri="{FF2B5EF4-FFF2-40B4-BE49-F238E27FC236}">
                <a16:creationId xmlns:a16="http://schemas.microsoft.com/office/drawing/2014/main" id="{0637D844-8138-4484-88B6-7FE2F26457F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9E0CF65-A237-4E35-B2C0-842E7C51FA45}"/>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161670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5FF957-3199-4378-A520-4194D402F0F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4219D27-45FD-4463-BB6A-5EC67F86B79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E7C4597-B13F-468E-90C2-D984EED05CF6}"/>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5" name="Espace réservé du pied de page 4">
            <a:extLst>
              <a:ext uri="{FF2B5EF4-FFF2-40B4-BE49-F238E27FC236}">
                <a16:creationId xmlns:a16="http://schemas.microsoft.com/office/drawing/2014/main" id="{F93F2366-C936-4232-B142-5BC0951E8E0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251C85C-45EE-4B6F-AE79-81B301E6FB83}"/>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3786126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E0A8E9-FB61-4BC8-9075-928033A3A48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29E7B52-B6FF-4A35-8084-37BAF99470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235564D-D6E8-4580-ADC7-9EF35E0649FC}"/>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5" name="Espace réservé du pied de page 4">
            <a:extLst>
              <a:ext uri="{FF2B5EF4-FFF2-40B4-BE49-F238E27FC236}">
                <a16:creationId xmlns:a16="http://schemas.microsoft.com/office/drawing/2014/main" id="{1893A5E0-4935-4804-903A-A6C7F15185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64D02B-E504-4E4E-BA84-4F98C653085A}"/>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2965170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581475-53CD-42B0-A2C2-51EAE9D1870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04B6BC6-5CB5-4D01-9C03-3716D977366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6DB3663-AEFE-4BA5-9C33-219E09279A0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3814BCC-B262-4C64-9F94-283170AAC526}"/>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6" name="Espace réservé du pied de page 5">
            <a:extLst>
              <a:ext uri="{FF2B5EF4-FFF2-40B4-BE49-F238E27FC236}">
                <a16:creationId xmlns:a16="http://schemas.microsoft.com/office/drawing/2014/main" id="{3132E59B-2704-4327-81AD-FD5D0CD90D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7394962-ADBF-4156-926D-ABEA33BE3484}"/>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1918173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627B81-7AF6-4D09-82AC-E0A3F9A1023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9EF7CB0-DAC9-45F6-B357-6730285CBE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DE94FEB-401F-49FD-85A9-A92D289B4C5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5ACE813-4AE2-4DDD-BAD6-E7C062BCC9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3B42692-5E9B-42BA-BAA1-FD093342056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5265777-E87A-4905-AFE3-8C16D105701A}"/>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8" name="Espace réservé du pied de page 7">
            <a:extLst>
              <a:ext uri="{FF2B5EF4-FFF2-40B4-BE49-F238E27FC236}">
                <a16:creationId xmlns:a16="http://schemas.microsoft.com/office/drawing/2014/main" id="{5E88F63A-2309-4718-ADEA-3BCED57BF329}"/>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028E20-1BAB-4CC6-ADA8-CCEDF909F66D}"/>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1471538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CDB629-D61F-4230-8B2C-85ABA5E3661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36494E5-F790-4D44-B142-574B24584D06}"/>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4" name="Espace réservé du pied de page 3">
            <a:extLst>
              <a:ext uri="{FF2B5EF4-FFF2-40B4-BE49-F238E27FC236}">
                <a16:creationId xmlns:a16="http://schemas.microsoft.com/office/drawing/2014/main" id="{244AC1C5-79BD-42B6-91C2-B3EE5D73E7A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C76123B-6D24-4C31-9BA0-E5D5BC516814}"/>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4112782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4879769-5B75-45B9-9761-628C318E9137}"/>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3" name="Espace réservé du pied de page 2">
            <a:extLst>
              <a:ext uri="{FF2B5EF4-FFF2-40B4-BE49-F238E27FC236}">
                <a16:creationId xmlns:a16="http://schemas.microsoft.com/office/drawing/2014/main" id="{CDBEA910-EB05-4FE2-B86B-107CAFE2EB2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11B1900D-577F-4832-ABFE-7EA5A7196764}"/>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82133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8F5FD6-1933-47F5-935B-C06F63D8892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D3DBA31-8D53-43EE-9325-F4906A51AA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44A3453-D35A-4955-83CC-C6561E2F8B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33D9A94-AB70-438C-96C9-08E4253BC71C}"/>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6" name="Espace réservé du pied de page 5">
            <a:extLst>
              <a:ext uri="{FF2B5EF4-FFF2-40B4-BE49-F238E27FC236}">
                <a16:creationId xmlns:a16="http://schemas.microsoft.com/office/drawing/2014/main" id="{A6271502-A1FF-4140-8876-D702634C6FE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78222AD-6494-400D-A448-F7612D622635}"/>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3094504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FF01C0-0D63-45FC-9854-11A5BD69620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B9B47B7-BB46-499D-9C7C-EA98546B01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49D9D4B-E4DB-488B-B14A-158A2E43E1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82296CC-83B1-4CE4-9DFC-ED2159215A90}"/>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6" name="Espace réservé du pied de page 5">
            <a:extLst>
              <a:ext uri="{FF2B5EF4-FFF2-40B4-BE49-F238E27FC236}">
                <a16:creationId xmlns:a16="http://schemas.microsoft.com/office/drawing/2014/main" id="{3BFFCF7B-CF77-4A3C-BE5B-5EA12E1F5DB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5128239-8D91-44DC-82AD-A8208E400D05}"/>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499495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1294E3-A38D-4284-94E1-4C0277B5E1B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D765FE-9B2C-4401-B279-CE20120C23B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BC570F4-63D4-4C91-9C57-CFEC1ABFE033}"/>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5" name="Espace réservé du pied de page 4">
            <a:extLst>
              <a:ext uri="{FF2B5EF4-FFF2-40B4-BE49-F238E27FC236}">
                <a16:creationId xmlns:a16="http://schemas.microsoft.com/office/drawing/2014/main" id="{26B952C1-2B00-4BDC-B24E-CBDB72A7D86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BD6A5B-06AC-4A5C-8303-819C50D5C12D}"/>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1658945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FBCB1D1-46D3-40F7-96EA-30233EF723DD}"/>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B0BB883-0DB0-477F-B138-51E24E3EAB8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EEC7B09-9829-4EFD-8AB0-672EE88D9992}"/>
              </a:ext>
            </a:extLst>
          </p:cNvPr>
          <p:cNvSpPr>
            <a:spLocks noGrp="1"/>
          </p:cNvSpPr>
          <p:nvPr>
            <p:ph type="dt" sz="half" idx="10"/>
          </p:nvPr>
        </p:nvSpPr>
        <p:spPr/>
        <p:txBody>
          <a:bodyPr/>
          <a:lstStyle/>
          <a:p>
            <a:fld id="{AD5F16F7-2E77-472E-AB10-3063E628605A}" type="datetimeFigureOut">
              <a:rPr lang="fr-FR" smtClean="0"/>
              <a:t>21/04/2024</a:t>
            </a:fld>
            <a:endParaRPr lang="fr-FR"/>
          </a:p>
        </p:txBody>
      </p:sp>
      <p:sp>
        <p:nvSpPr>
          <p:cNvPr id="5" name="Espace réservé du pied de page 4">
            <a:extLst>
              <a:ext uri="{FF2B5EF4-FFF2-40B4-BE49-F238E27FC236}">
                <a16:creationId xmlns:a16="http://schemas.microsoft.com/office/drawing/2014/main" id="{DFBCBB32-7022-4653-BC74-AA622F427D1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5939BBE-471E-461F-81F0-6FC05A088B0D}"/>
              </a:ext>
            </a:extLst>
          </p:cNvPr>
          <p:cNvSpPr>
            <a:spLocks noGrp="1"/>
          </p:cNvSpPr>
          <p:nvPr>
            <p:ph type="sldNum" sz="quarter" idx="12"/>
          </p:nvPr>
        </p:nvSpPr>
        <p:spPr/>
        <p:txBody>
          <a:bodyPr/>
          <a:lstStyle/>
          <a:p>
            <a:fld id="{5169E91E-B6E5-4636-8F0F-C755594AC60B}" type="slidenum">
              <a:rPr lang="fr-FR" smtClean="0"/>
              <a:t>‹#›</a:t>
            </a:fld>
            <a:endParaRPr lang="fr-FR"/>
          </a:p>
        </p:txBody>
      </p:sp>
    </p:spTree>
    <p:extLst>
      <p:ext uri="{BB962C8B-B14F-4D97-AF65-F5344CB8AC3E}">
        <p14:creationId xmlns:p14="http://schemas.microsoft.com/office/powerpoint/2010/main" val="3001509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1190AD3-5E61-4AB2-9961-E56368D1B9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3B1F17D-649F-4C6A-B195-94B7F74B9D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2C6DBD2-AD37-452A-AB21-8E85DED1E4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F16F7-2E77-472E-AB10-3063E628605A}" type="datetimeFigureOut">
              <a:rPr lang="fr-FR" smtClean="0"/>
              <a:t>21/04/2024</a:t>
            </a:fld>
            <a:endParaRPr lang="fr-FR"/>
          </a:p>
        </p:txBody>
      </p:sp>
      <p:sp>
        <p:nvSpPr>
          <p:cNvPr id="5" name="Espace réservé du pied de page 4">
            <a:extLst>
              <a:ext uri="{FF2B5EF4-FFF2-40B4-BE49-F238E27FC236}">
                <a16:creationId xmlns:a16="http://schemas.microsoft.com/office/drawing/2014/main" id="{AC706A75-05C2-4FC7-AFF0-D74B6A633C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A9A3507-0269-4B33-83BC-3D3544EB86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69E91E-B6E5-4636-8F0F-C755594AC60B}" type="slidenum">
              <a:rPr lang="fr-FR" smtClean="0"/>
              <a:t>‹#›</a:t>
            </a:fld>
            <a:endParaRPr lang="fr-FR"/>
          </a:p>
        </p:txBody>
      </p:sp>
    </p:spTree>
    <p:extLst>
      <p:ext uri="{BB962C8B-B14F-4D97-AF65-F5344CB8AC3E}">
        <p14:creationId xmlns:p14="http://schemas.microsoft.com/office/powerpoint/2010/main" val="392411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hyperlink" Target="https://laviedesidees.fr/" TargetMode="External"/><Relationship Id="rId2" Type="http://schemas.openxmlformats.org/officeDocument/2006/relationships/hyperlink" Target="https://www.nonfiction.fr/" TargetMode="External"/><Relationship Id="rId1" Type="http://schemas.openxmlformats.org/officeDocument/2006/relationships/slideLayout" Target="../slideLayouts/slideLayout2.xml"/><Relationship Id="rId4" Type="http://schemas.openxmlformats.org/officeDocument/2006/relationships/hyperlink" Target="https://www.scienceshumaines.co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openedition.org/catalogue-journals" TargetMode="External"/><Relationship Id="rId2" Type="http://schemas.openxmlformats.org/officeDocument/2006/relationships/hyperlink" Target="https://laviedesidees.fr/" TargetMode="External"/><Relationship Id="rId1" Type="http://schemas.openxmlformats.org/officeDocument/2006/relationships/slideLayout" Target="../slideLayouts/slideLayout2.xml"/><Relationship Id="rId6" Type="http://schemas.openxmlformats.org/officeDocument/2006/relationships/hyperlink" Target="https://www.jstor.org/" TargetMode="External"/><Relationship Id="rId5" Type="http://schemas.openxmlformats.org/officeDocument/2006/relationships/hyperlink" Target="https://www.persee.fr/" TargetMode="External"/><Relationship Id="rId4" Type="http://schemas.openxmlformats.org/officeDocument/2006/relationships/hyperlink" Target="https://www.erudit.org/fr/"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classiques.uqac.ca/" TargetMode="External"/><Relationship Id="rId2" Type="http://schemas.openxmlformats.org/officeDocument/2006/relationships/hyperlink" Target="https://books.openedition.org/" TargetMode="External"/><Relationship Id="rId1" Type="http://schemas.openxmlformats.org/officeDocument/2006/relationships/slideLayout" Target="../slideLayouts/slideLayout2.xml"/><Relationship Id="rId4" Type="http://schemas.openxmlformats.org/officeDocument/2006/relationships/hyperlink" Target="https://www.eclm.fr/nouveautes/"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fabula.org/" TargetMode="External"/><Relationship Id="rId7" Type="http://schemas.openxmlformats.org/officeDocument/2006/relationships/hyperlink" Target="https://www.implications-philosophiques.org/category/semaines-thematiques/philosophie-et-numerique/" TargetMode="External"/><Relationship Id="rId2" Type="http://schemas.openxmlformats.org/officeDocument/2006/relationships/hyperlink" Target="https://www.implications-philosophiques.org/" TargetMode="External"/><Relationship Id="rId1" Type="http://schemas.openxmlformats.org/officeDocument/2006/relationships/slideLayout" Target="../slideLayouts/slideLayout2.xml"/><Relationship Id="rId6" Type="http://schemas.openxmlformats.org/officeDocument/2006/relationships/hyperlink" Target="https://plato.stanford.edu/entries/" TargetMode="External"/><Relationship Id="rId5" Type="http://schemas.openxmlformats.org/officeDocument/2006/relationships/hyperlink" Target="https://philpapers.org/" TargetMode="External"/><Relationship Id="rId4" Type="http://schemas.openxmlformats.org/officeDocument/2006/relationships/hyperlink" Target="http://www.actu-philosophia.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college-de-france.fr/site/savoirs/" TargetMode="External"/><Relationship Id="rId2" Type="http://schemas.openxmlformats.org/officeDocument/2006/relationships/hyperlink" Target="https://savoirs.ens.fr/" TargetMode="External"/><Relationship Id="rId1" Type="http://schemas.openxmlformats.org/officeDocument/2006/relationships/slideLayout" Target="../slideLayouts/slideLayout2.xml"/><Relationship Id="rId5" Type="http://schemas.openxmlformats.org/officeDocument/2006/relationships/hyperlink" Target="https://www.bnf.fr/fr/mediatheque/toute-la-mediatheque?first_Rub=non" TargetMode="External"/><Relationship Id="rId4" Type="http://schemas.openxmlformats.org/officeDocument/2006/relationships/hyperlink" Target="https://www.canal-u.tv/"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youtube.com/c/MonsieurPhi/featured"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www.revuefranaiseanthropologiexyz.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DAB50B2-DFC9-41FB-A7A4-9A35AA9EAC6D}"/>
              </a:ext>
            </a:extLst>
          </p:cNvPr>
          <p:cNvSpPr>
            <a:spLocks noGrp="1"/>
          </p:cNvSpPr>
          <p:nvPr>
            <p:ph type="ctrTitle"/>
          </p:nvPr>
        </p:nvSpPr>
        <p:spPr>
          <a:xfrm>
            <a:off x="1524000" y="1041400"/>
            <a:ext cx="9144000" cy="2214562"/>
          </a:xfrm>
        </p:spPr>
        <p:txBody>
          <a:bodyPr>
            <a:normAutofit/>
          </a:bodyPr>
          <a:lstStyle/>
          <a:p>
            <a:r>
              <a:rPr lang="fr-FR" spc="-240" dirty="0">
                <a:solidFill>
                  <a:schemeClr val="accent5">
                    <a:lumMod val="75000"/>
                  </a:schemeClr>
                </a:solidFill>
                <a:latin typeface="Gotham Medium" pitchFamily="50" charset="0"/>
                <a:cs typeface="Gotham Medium" pitchFamily="50" charset="0"/>
              </a:rPr>
              <a:t>Ethique de la recherche</a:t>
            </a:r>
            <a:endParaRPr lang="fr-FR" dirty="0"/>
          </a:p>
        </p:txBody>
      </p:sp>
      <p:sp>
        <p:nvSpPr>
          <p:cNvPr id="8" name="Sous-titre 2">
            <a:extLst>
              <a:ext uri="{FF2B5EF4-FFF2-40B4-BE49-F238E27FC236}">
                <a16:creationId xmlns:a16="http://schemas.microsoft.com/office/drawing/2014/main" id="{B1CEED8E-5A6F-4ABC-8863-E75A95C06F64}"/>
              </a:ext>
            </a:extLst>
          </p:cNvPr>
          <p:cNvSpPr>
            <a:spLocks noGrp="1"/>
          </p:cNvSpPr>
          <p:nvPr>
            <p:ph type="subTitle" idx="1"/>
          </p:nvPr>
        </p:nvSpPr>
        <p:spPr>
          <a:xfrm>
            <a:off x="1524000" y="3602038"/>
            <a:ext cx="9144000" cy="1655762"/>
          </a:xfrm>
        </p:spPr>
        <p:txBody>
          <a:bodyPr/>
          <a:lstStyle/>
          <a:p>
            <a:r>
              <a:rPr lang="fr-FR" sz="2800" dirty="0"/>
              <a:t>Consignes pour l’évaluation</a:t>
            </a:r>
          </a:p>
        </p:txBody>
      </p:sp>
      <p:pic>
        <p:nvPicPr>
          <p:cNvPr id="9" name="Image 8">
            <a:extLst>
              <a:ext uri="{FF2B5EF4-FFF2-40B4-BE49-F238E27FC236}">
                <a16:creationId xmlns:a16="http://schemas.microsoft.com/office/drawing/2014/main" id="{B0AFCDD0-05EB-4182-BE54-A030B3F2B7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4" y="32090"/>
            <a:ext cx="1299102" cy="686750"/>
          </a:xfrm>
          <a:prstGeom prst="rect">
            <a:avLst/>
          </a:prstGeom>
        </p:spPr>
      </p:pic>
      <p:pic>
        <p:nvPicPr>
          <p:cNvPr id="10" name="Image 9">
            <a:extLst>
              <a:ext uri="{FF2B5EF4-FFF2-40B4-BE49-F238E27FC236}">
                <a16:creationId xmlns:a16="http://schemas.microsoft.com/office/drawing/2014/main" id="{A9E40873-4514-4D30-8561-2CBD5CF0E8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600" y="6123941"/>
            <a:ext cx="1938531" cy="640149"/>
          </a:xfrm>
          <a:prstGeom prst="rect">
            <a:avLst/>
          </a:prstGeom>
        </p:spPr>
      </p:pic>
    </p:spTree>
    <p:extLst>
      <p:ext uri="{BB962C8B-B14F-4D97-AF65-F5344CB8AC3E}">
        <p14:creationId xmlns:p14="http://schemas.microsoft.com/office/powerpoint/2010/main" val="1508630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8A02BE1-4BF4-418C-B0BE-4D71615179FE}"/>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p:cNvSpPr>
            <a:spLocks noGrp="1"/>
          </p:cNvSpPr>
          <p:nvPr>
            <p:ph type="ftr" sz="quarter" idx="11"/>
          </p:nvPr>
        </p:nvSpPr>
        <p:spPr/>
        <p:txBody>
          <a:bodyPr/>
          <a:lstStyle/>
          <a:p>
            <a:r>
              <a:rPr lang="fr-FR"/>
              <a:t>Pôle Humanités Design - Département des Relations Humaines</a:t>
            </a:r>
          </a:p>
        </p:txBody>
      </p:sp>
      <p:pic>
        <p:nvPicPr>
          <p:cNvPr id="7"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91469" y="5960786"/>
            <a:ext cx="2395732" cy="791128"/>
          </a:xfrm>
          <a:prstGeom prst="rect">
            <a:avLst/>
          </a:prstGeom>
        </p:spPr>
      </p:pic>
      <p:pic>
        <p:nvPicPr>
          <p:cNvPr id="8" name="Imag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584" y="224020"/>
            <a:ext cx="1602495" cy="847134"/>
          </a:xfrm>
          <a:prstGeom prst="rect">
            <a:avLst/>
          </a:prstGeom>
        </p:spPr>
      </p:pic>
      <p:sp>
        <p:nvSpPr>
          <p:cNvPr id="10" name="Espace réservé du numéro de diapositive 9">
            <a:extLst>
              <a:ext uri="{FF2B5EF4-FFF2-40B4-BE49-F238E27FC236}">
                <a16:creationId xmlns:a16="http://schemas.microsoft.com/office/drawing/2014/main" id="{DF56F930-5130-4A5B-B089-BD34CDFCA1A5}"/>
              </a:ext>
            </a:extLst>
          </p:cNvPr>
          <p:cNvSpPr>
            <a:spLocks noGrp="1"/>
          </p:cNvSpPr>
          <p:nvPr>
            <p:ph type="sldNum" sz="quarter" idx="12"/>
          </p:nvPr>
        </p:nvSpPr>
        <p:spPr/>
        <p:txBody>
          <a:bodyPr/>
          <a:lstStyle/>
          <a:p>
            <a:fld id="{12AF830D-26DC-493D-A836-497366E9E67C}" type="slidenum">
              <a:rPr lang="fr-FR" smtClean="0"/>
              <a:t>2</a:t>
            </a:fld>
            <a:endParaRPr lang="fr-FR"/>
          </a:p>
        </p:txBody>
      </p:sp>
      <p:sp>
        <p:nvSpPr>
          <p:cNvPr id="11" name="Titre 1">
            <a:extLst>
              <a:ext uri="{FF2B5EF4-FFF2-40B4-BE49-F238E27FC236}">
                <a16:creationId xmlns:a16="http://schemas.microsoft.com/office/drawing/2014/main" id="{40072596-66CF-4045-B4FC-062C325F9594}"/>
              </a:ext>
            </a:extLst>
          </p:cNvPr>
          <p:cNvSpPr txBox="1">
            <a:spLocks/>
          </p:cNvSpPr>
          <p:nvPr/>
        </p:nvSpPr>
        <p:spPr>
          <a:xfrm>
            <a:off x="2173705" y="2638466"/>
            <a:ext cx="7844590" cy="9590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000" b="1" dirty="0">
                <a:solidFill>
                  <a:schemeClr val="bg1"/>
                </a:solidFill>
                <a:latin typeface="Gotham Medium" pitchFamily="50" charset="0"/>
                <a:cs typeface="Gotham Medium" pitchFamily="50" charset="0"/>
              </a:rPr>
              <a:t>L’évaluation</a:t>
            </a:r>
          </a:p>
        </p:txBody>
      </p:sp>
    </p:spTree>
    <p:extLst>
      <p:ext uri="{BB962C8B-B14F-4D97-AF65-F5344CB8AC3E}">
        <p14:creationId xmlns:p14="http://schemas.microsoft.com/office/powerpoint/2010/main" val="2335917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DF5F2F8-AC5C-4D28-80C9-017979CA2301}"/>
              </a:ext>
            </a:extLst>
          </p:cNvPr>
          <p:cNvSpPr>
            <a:spLocks noGrp="1"/>
          </p:cNvSpPr>
          <p:nvPr>
            <p:ph idx="1"/>
          </p:nvPr>
        </p:nvSpPr>
        <p:spPr>
          <a:xfrm>
            <a:off x="1049868" y="1893367"/>
            <a:ext cx="10408356" cy="2533893"/>
          </a:xfrm>
        </p:spPr>
        <p:txBody>
          <a:bodyPr>
            <a:noAutofit/>
          </a:bodyPr>
          <a:lstStyle/>
          <a:p>
            <a:pPr marL="0" indent="0" algn="ctr">
              <a:buNone/>
            </a:pPr>
            <a:r>
              <a:rPr lang="fr-FR" u="sng" dirty="0"/>
              <a:t>Les modalités pratiques</a:t>
            </a:r>
          </a:p>
          <a:p>
            <a:pPr marL="0" indent="0" algn="ctr">
              <a:buNone/>
            </a:pPr>
            <a:endParaRPr lang="fr-FR" u="sng" dirty="0"/>
          </a:p>
          <a:p>
            <a:r>
              <a:rPr lang="fr-FR" dirty="0"/>
              <a:t>Vous réaliserez un exposé sur PowerPoint (ou équivalent), d’une quinzaine de minutes.</a:t>
            </a:r>
          </a:p>
          <a:p>
            <a:r>
              <a:rPr lang="fr-FR" dirty="0"/>
              <a:t>Vous le ferez en </a:t>
            </a:r>
            <a:r>
              <a:rPr lang="fr-FR" b="1" dirty="0"/>
              <a:t>binôme</a:t>
            </a:r>
            <a:r>
              <a:rPr lang="fr-FR" dirty="0"/>
              <a:t> ou </a:t>
            </a:r>
            <a:r>
              <a:rPr lang="fr-FR" b="1" dirty="0"/>
              <a:t>trinôme.</a:t>
            </a:r>
          </a:p>
          <a:p>
            <a:r>
              <a:rPr lang="fr-FR" sz="2800" dirty="0"/>
              <a:t>L’exposé sera suivi d’une dizaine de minutes de questions-réponses</a:t>
            </a:r>
          </a:p>
          <a:p>
            <a:pPr marL="457200" lvl="1" indent="0">
              <a:buNone/>
            </a:pPr>
            <a:endParaRPr lang="fr-FR" sz="2800" dirty="0"/>
          </a:p>
          <a:p>
            <a:pPr marL="0" indent="0">
              <a:buNone/>
            </a:pPr>
            <a:endParaRPr lang="fr-FR" dirty="0"/>
          </a:p>
          <a:p>
            <a:pPr lvl="1"/>
            <a:endParaRPr lang="fr-FR" sz="2800" dirty="0"/>
          </a:p>
        </p:txBody>
      </p:sp>
      <p:sp>
        <p:nvSpPr>
          <p:cNvPr id="10" name="ZoneTexte 9">
            <a:extLst>
              <a:ext uri="{FF2B5EF4-FFF2-40B4-BE49-F238E27FC236}">
                <a16:creationId xmlns:a16="http://schemas.microsoft.com/office/drawing/2014/main" id="{17BDC30D-6922-4B43-9EB2-A9D0D98BA731}"/>
              </a:ext>
            </a:extLst>
          </p:cNvPr>
          <p:cNvSpPr txBox="1"/>
          <p:nvPr/>
        </p:nvSpPr>
        <p:spPr>
          <a:xfrm>
            <a:off x="2223910" y="88795"/>
            <a:ext cx="7484533" cy="584775"/>
          </a:xfrm>
          <a:prstGeom prst="rect">
            <a:avLst/>
          </a:prstGeom>
          <a:noFill/>
        </p:spPr>
        <p:txBody>
          <a:bodyPr wrap="square">
            <a:spAutoFit/>
          </a:bodyPr>
          <a:lstStyle/>
          <a:p>
            <a:pPr marL="0" indent="0" algn="ctr">
              <a:buFont typeface="Arial" panose="020B0604020202020204" pitchFamily="34" charset="0"/>
              <a:buNone/>
            </a:pPr>
            <a:r>
              <a:rPr lang="fr-FR" sz="3200" b="1" u="sng" dirty="0"/>
              <a:t>Le cahier des charges du rendu final</a:t>
            </a:r>
          </a:p>
        </p:txBody>
      </p:sp>
    </p:spTree>
    <p:extLst>
      <p:ext uri="{BB962C8B-B14F-4D97-AF65-F5344CB8AC3E}">
        <p14:creationId xmlns:p14="http://schemas.microsoft.com/office/powerpoint/2010/main" val="2863768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DF5F2F8-AC5C-4D28-80C9-017979CA2301}"/>
              </a:ext>
            </a:extLst>
          </p:cNvPr>
          <p:cNvSpPr>
            <a:spLocks noGrp="1"/>
          </p:cNvSpPr>
          <p:nvPr>
            <p:ph idx="1"/>
          </p:nvPr>
        </p:nvSpPr>
        <p:spPr>
          <a:xfrm>
            <a:off x="282222" y="673570"/>
            <a:ext cx="11627555" cy="3872091"/>
          </a:xfrm>
        </p:spPr>
        <p:txBody>
          <a:bodyPr>
            <a:noAutofit/>
          </a:bodyPr>
          <a:lstStyle/>
          <a:p>
            <a:r>
              <a:rPr lang="fr-FR" dirty="0"/>
              <a:t>Vous le rendrez </a:t>
            </a:r>
            <a:r>
              <a:rPr lang="fr-FR" b="1" dirty="0">
                <a:solidFill>
                  <a:srgbClr val="FF0000"/>
                </a:solidFill>
              </a:rPr>
              <a:t>au plus tard 3 jours avant votre passage </a:t>
            </a:r>
            <a:r>
              <a:rPr lang="fr-FR" dirty="0"/>
              <a:t>en </a:t>
            </a:r>
            <a:r>
              <a:rPr lang="fr-FR" b="1" dirty="0"/>
              <a:t>format PowerPoint </a:t>
            </a:r>
            <a:r>
              <a:rPr lang="fr-FR" dirty="0"/>
              <a:t>en le déposant dans </a:t>
            </a:r>
            <a:r>
              <a:rPr lang="fr-FR" b="1" dirty="0"/>
              <a:t>l’espace Teams </a:t>
            </a:r>
            <a:r>
              <a:rPr lang="fr-FR" dirty="0"/>
              <a:t>(espace « devoir »)</a:t>
            </a:r>
          </a:p>
          <a:p>
            <a:pPr marL="914400" lvl="2" indent="0">
              <a:buNone/>
            </a:pPr>
            <a:r>
              <a:rPr lang="fr-FR" sz="2400" dirty="0"/>
              <a:t>Tout retard d’un jour vous fera perdre 1 points (4 jours de retard </a:t>
            </a:r>
            <a:r>
              <a:rPr lang="fr-FR" sz="2400" dirty="0">
                <a:sym typeface="Wingdings" panose="05000000000000000000" pitchFamily="2" charset="2"/>
              </a:rPr>
              <a:t> -4 points, 0/20 au-delà de 4 jours). Il n’y aura pas de rappel de ma part, document non rendu = 0/20 En cas de difficulté particulière justifiant un retard, me contacter </a:t>
            </a:r>
            <a:r>
              <a:rPr lang="fr-FR" sz="2400" u="sng" dirty="0">
                <a:sym typeface="Wingdings" panose="05000000000000000000" pitchFamily="2" charset="2"/>
              </a:rPr>
              <a:t>avant</a:t>
            </a:r>
            <a:r>
              <a:rPr lang="fr-FR" sz="2400" dirty="0">
                <a:sym typeface="Wingdings" panose="05000000000000000000" pitchFamily="2" charset="2"/>
              </a:rPr>
              <a:t> la date de rendu.</a:t>
            </a:r>
          </a:p>
          <a:p>
            <a:r>
              <a:rPr lang="fr-FR" dirty="0">
                <a:ea typeface="Times New Roman" panose="02020603050405020304" pitchFamily="18" charset="0"/>
                <a:cs typeface="Times New Roman" panose="02020603050405020304" pitchFamily="18" charset="0"/>
              </a:rPr>
              <a:t>Document à </a:t>
            </a:r>
            <a:r>
              <a:rPr lang="fr-FR" b="1" dirty="0">
                <a:ea typeface="Times New Roman" panose="02020603050405020304" pitchFamily="18" charset="0"/>
                <a:cs typeface="Times New Roman" panose="02020603050405020304" pitchFamily="18" charset="0"/>
              </a:rPr>
              <a:t>enregistrer de la manière suivante : NOM1-NOM2-NOM3_EST_exposé</a:t>
            </a:r>
          </a:p>
          <a:p>
            <a:r>
              <a:rPr lang="fr-FR" b="1" dirty="0">
                <a:effectLst/>
                <a:ea typeface="Times New Roman" panose="02020603050405020304" pitchFamily="18" charset="0"/>
                <a:cs typeface="Times New Roman" panose="02020603050405020304" pitchFamily="18" charset="0"/>
              </a:rPr>
              <a:t>Soigner la présentation, l’orthographe et la grammaire </a:t>
            </a:r>
            <a:r>
              <a:rPr lang="fr-FR" dirty="0">
                <a:effectLst/>
                <a:ea typeface="Times New Roman" panose="02020603050405020304" pitchFamily="18" charset="0"/>
                <a:cs typeface="Times New Roman" panose="02020603050405020304" pitchFamily="18" charset="0"/>
              </a:rPr>
              <a:t>:</a:t>
            </a:r>
          </a:p>
          <a:p>
            <a:pPr marL="914400" lvl="2" indent="0">
              <a:buNone/>
            </a:pPr>
            <a:r>
              <a:rPr lang="fr-FR" sz="2400" dirty="0">
                <a:ea typeface="Times New Roman" panose="02020603050405020304" pitchFamily="18" charset="0"/>
                <a:cs typeface="Times New Roman" panose="02020603050405020304" pitchFamily="18" charset="0"/>
              </a:rPr>
              <a:t>D</a:t>
            </a:r>
            <a:r>
              <a:rPr lang="fr-FR" sz="2400" dirty="0">
                <a:effectLst/>
                <a:ea typeface="Times New Roman" panose="02020603050405020304" pitchFamily="18" charset="0"/>
                <a:cs typeface="Times New Roman" panose="02020603050405020304" pitchFamily="18" charset="0"/>
              </a:rPr>
              <a:t>es points en moins en cas de document mal présenté et comportant trop de fautes</a:t>
            </a:r>
            <a:endParaRPr lang="fr-FR" sz="2400" dirty="0">
              <a:ea typeface="Times New Roman" panose="02020603050405020304" pitchFamily="18" charset="0"/>
              <a:cs typeface="Times New Roman" panose="02020603050405020304" pitchFamily="18" charset="0"/>
            </a:endParaRPr>
          </a:p>
          <a:p>
            <a:pPr marL="914400" lvl="2" indent="0">
              <a:buNone/>
            </a:pPr>
            <a:r>
              <a:rPr lang="fr-FR" sz="2400" dirty="0">
                <a:effectLst/>
                <a:ea typeface="Times New Roman" panose="02020603050405020304" pitchFamily="18" charset="0"/>
                <a:cs typeface="Times New Roman" panose="02020603050405020304" pitchFamily="18" charset="0"/>
              </a:rPr>
              <a:t>Ne pas oublier de donner un </a:t>
            </a:r>
            <a:r>
              <a:rPr lang="fr-FR" sz="2400" b="1" dirty="0">
                <a:effectLst/>
                <a:ea typeface="Times New Roman" panose="02020603050405020304" pitchFamily="18" charset="0"/>
                <a:cs typeface="Times New Roman" panose="02020603050405020304" pitchFamily="18" charset="0"/>
              </a:rPr>
              <a:t>titre à l’exposé </a:t>
            </a:r>
            <a:r>
              <a:rPr lang="fr-FR" sz="2400" dirty="0">
                <a:effectLst/>
                <a:ea typeface="Times New Roman" panose="02020603050405020304" pitchFamily="18" charset="0"/>
                <a:cs typeface="Times New Roman" panose="02020603050405020304" pitchFamily="18" charset="0"/>
              </a:rPr>
              <a:t>et de présenter toutes les </a:t>
            </a:r>
            <a:r>
              <a:rPr lang="fr-FR" sz="2400" b="1" dirty="0">
                <a:effectLst/>
                <a:ea typeface="Times New Roman" panose="02020603050405020304" pitchFamily="18" charset="0"/>
                <a:cs typeface="Times New Roman" panose="02020603050405020304" pitchFamily="18" charset="0"/>
              </a:rPr>
              <a:t>informations requises en page de garde </a:t>
            </a:r>
            <a:r>
              <a:rPr lang="fr-FR" sz="2400" dirty="0">
                <a:effectLst/>
                <a:ea typeface="Times New Roman" panose="02020603050405020304" pitchFamily="18" charset="0"/>
                <a:cs typeface="Times New Roman" panose="02020603050405020304" pitchFamily="18" charset="0"/>
              </a:rPr>
              <a:t>(noms et prénoms, classe, école/université + logo, module, titre, enseignant </a:t>
            </a:r>
            <a:r>
              <a:rPr lang="fr-FR" sz="2400" dirty="0">
                <a:cs typeface="Times New Roman" panose="02020603050405020304" pitchFamily="18" charset="0"/>
              </a:rPr>
              <a:t>référent, date)</a:t>
            </a:r>
          </a:p>
          <a:p>
            <a:pPr lvl="1"/>
            <a:endParaRPr lang="fr-FR" sz="2800" dirty="0"/>
          </a:p>
          <a:p>
            <a:pPr marL="457200" lvl="1" indent="0">
              <a:buNone/>
            </a:pPr>
            <a:endParaRPr lang="fr-FR" sz="2800" dirty="0"/>
          </a:p>
          <a:p>
            <a:pPr marL="0" indent="0">
              <a:buNone/>
            </a:pPr>
            <a:endParaRPr lang="fr-FR" dirty="0"/>
          </a:p>
          <a:p>
            <a:pPr lvl="1"/>
            <a:endParaRPr lang="fr-FR" sz="2800" dirty="0"/>
          </a:p>
        </p:txBody>
      </p:sp>
      <p:sp>
        <p:nvSpPr>
          <p:cNvPr id="10" name="ZoneTexte 9">
            <a:extLst>
              <a:ext uri="{FF2B5EF4-FFF2-40B4-BE49-F238E27FC236}">
                <a16:creationId xmlns:a16="http://schemas.microsoft.com/office/drawing/2014/main" id="{17BDC30D-6922-4B43-9EB2-A9D0D98BA731}"/>
              </a:ext>
            </a:extLst>
          </p:cNvPr>
          <p:cNvSpPr txBox="1"/>
          <p:nvPr/>
        </p:nvSpPr>
        <p:spPr>
          <a:xfrm>
            <a:off x="2223910" y="88795"/>
            <a:ext cx="7484533" cy="584775"/>
          </a:xfrm>
          <a:prstGeom prst="rect">
            <a:avLst/>
          </a:prstGeom>
          <a:noFill/>
        </p:spPr>
        <p:txBody>
          <a:bodyPr wrap="square">
            <a:spAutoFit/>
          </a:bodyPr>
          <a:lstStyle/>
          <a:p>
            <a:pPr marL="0" indent="0" algn="ctr">
              <a:buFont typeface="Arial" panose="020B0604020202020204" pitchFamily="34" charset="0"/>
              <a:buNone/>
            </a:pPr>
            <a:r>
              <a:rPr lang="fr-FR" sz="3200" b="1" u="sng" dirty="0"/>
              <a:t>Le cahier des charges du rendu</a:t>
            </a:r>
          </a:p>
        </p:txBody>
      </p:sp>
    </p:spTree>
    <p:extLst>
      <p:ext uri="{BB962C8B-B14F-4D97-AF65-F5344CB8AC3E}">
        <p14:creationId xmlns:p14="http://schemas.microsoft.com/office/powerpoint/2010/main" val="230896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DF5F2F8-AC5C-4D28-80C9-017979CA2301}"/>
              </a:ext>
            </a:extLst>
          </p:cNvPr>
          <p:cNvSpPr>
            <a:spLocks noGrp="1"/>
          </p:cNvSpPr>
          <p:nvPr>
            <p:ph idx="1"/>
          </p:nvPr>
        </p:nvSpPr>
        <p:spPr>
          <a:xfrm>
            <a:off x="282222" y="778932"/>
            <a:ext cx="11627555" cy="5847645"/>
          </a:xfrm>
        </p:spPr>
        <p:txBody>
          <a:bodyPr>
            <a:normAutofit fontScale="92500" lnSpcReduction="10000"/>
          </a:bodyPr>
          <a:lstStyle/>
          <a:p>
            <a:pPr marL="0" indent="0" algn="ctr">
              <a:buNone/>
            </a:pPr>
            <a:r>
              <a:rPr lang="fr-FR" sz="3000" u="sng" dirty="0"/>
              <a:t>Le fond</a:t>
            </a:r>
          </a:p>
          <a:p>
            <a:r>
              <a:rPr lang="fr-FR" sz="3000" dirty="0"/>
              <a:t>Vous présenterez un </a:t>
            </a:r>
            <a:r>
              <a:rPr lang="fr-FR" sz="3000" b="1" dirty="0"/>
              <a:t>enjeu éthique en le problématisant</a:t>
            </a:r>
            <a:r>
              <a:rPr lang="fr-FR" sz="3000" dirty="0"/>
              <a:t>, à l’intersection de l’éthique, des sciences et des techniques, par exemple :</a:t>
            </a:r>
          </a:p>
          <a:p>
            <a:pPr lvl="1">
              <a:buFont typeface="Wingdings" panose="05000000000000000000" pitchFamily="2" charset="2"/>
              <a:buChar char="ü"/>
            </a:pPr>
            <a:r>
              <a:rPr lang="fr-FR" sz="3000" dirty="0"/>
              <a:t>Recherche médicale : embryon, cellules souches (génétique), recherche médicale sur l’être humain</a:t>
            </a:r>
          </a:p>
          <a:p>
            <a:pPr lvl="1">
              <a:buFont typeface="Wingdings" panose="05000000000000000000" pitchFamily="2" charset="2"/>
              <a:buChar char="ü"/>
            </a:pPr>
            <a:r>
              <a:rPr lang="fr-FR" sz="3000" dirty="0"/>
              <a:t>Recherche sur les animaux, pour la médecine, pour l’industrie</a:t>
            </a:r>
          </a:p>
          <a:p>
            <a:pPr lvl="1">
              <a:buFont typeface="Wingdings" panose="05000000000000000000" pitchFamily="2" charset="2"/>
              <a:buChar char="ü"/>
            </a:pPr>
            <a:r>
              <a:rPr lang="fr-FR" sz="3000" dirty="0"/>
              <a:t>Intelligence artificielle (drones, applications civiles et militaires, etc.), numérique</a:t>
            </a:r>
          </a:p>
          <a:p>
            <a:pPr lvl="1">
              <a:buFont typeface="Wingdings" panose="05000000000000000000" pitchFamily="2" charset="2"/>
              <a:buChar char="ü"/>
            </a:pPr>
            <a:r>
              <a:rPr lang="fr-FR" sz="3000" dirty="0"/>
              <a:t>Recherche fondamentale et/ou appliquée de tout ordre, nanotechnologies, dans le domaine agricole (OGM, pesticides), etc.</a:t>
            </a:r>
          </a:p>
          <a:p>
            <a:pPr lvl="1">
              <a:buFont typeface="Wingdings" panose="05000000000000000000" pitchFamily="2" charset="2"/>
              <a:buChar char="ü"/>
            </a:pPr>
            <a:r>
              <a:rPr lang="fr-FR" sz="3000" dirty="0"/>
              <a:t>Scandales sanitaires passés : amiante, chlordécone, médiator, sang contaminé, méfaits du tabac, etc.</a:t>
            </a:r>
          </a:p>
          <a:p>
            <a:r>
              <a:rPr lang="fr-FR" sz="3000" dirty="0"/>
              <a:t>Pour ce faire, en plus d’une information de qualité, vous mobiliserez des </a:t>
            </a:r>
            <a:r>
              <a:rPr lang="fr-FR" sz="3000" b="1" dirty="0"/>
              <a:t>concepts et notions relevant de l’éthique et de l’éthique de la recherche</a:t>
            </a:r>
            <a:r>
              <a:rPr lang="fr-FR" sz="3000" dirty="0"/>
              <a:t>.</a:t>
            </a:r>
          </a:p>
          <a:p>
            <a:pPr marL="457200" lvl="1" indent="0">
              <a:buNone/>
            </a:pPr>
            <a:endParaRPr lang="fr-FR" sz="2800" dirty="0"/>
          </a:p>
          <a:p>
            <a:pPr marL="0" indent="0">
              <a:buNone/>
            </a:pPr>
            <a:endParaRPr lang="fr-FR" dirty="0"/>
          </a:p>
          <a:p>
            <a:pPr lvl="1"/>
            <a:endParaRPr lang="fr-FR" sz="2800" dirty="0"/>
          </a:p>
        </p:txBody>
      </p:sp>
      <p:sp>
        <p:nvSpPr>
          <p:cNvPr id="10" name="ZoneTexte 9">
            <a:extLst>
              <a:ext uri="{FF2B5EF4-FFF2-40B4-BE49-F238E27FC236}">
                <a16:creationId xmlns:a16="http://schemas.microsoft.com/office/drawing/2014/main" id="{17BDC30D-6922-4B43-9EB2-A9D0D98BA731}"/>
              </a:ext>
            </a:extLst>
          </p:cNvPr>
          <p:cNvSpPr txBox="1"/>
          <p:nvPr/>
        </p:nvSpPr>
        <p:spPr>
          <a:xfrm>
            <a:off x="2156177" y="118533"/>
            <a:ext cx="7484533" cy="584775"/>
          </a:xfrm>
          <a:prstGeom prst="rect">
            <a:avLst/>
          </a:prstGeom>
          <a:noFill/>
        </p:spPr>
        <p:txBody>
          <a:bodyPr wrap="square">
            <a:spAutoFit/>
          </a:bodyPr>
          <a:lstStyle/>
          <a:p>
            <a:pPr marL="0" indent="0" algn="ctr">
              <a:buFont typeface="Arial" panose="020B0604020202020204" pitchFamily="34" charset="0"/>
              <a:buNone/>
            </a:pPr>
            <a:r>
              <a:rPr lang="fr-FR" sz="3200" b="1" u="sng" dirty="0"/>
              <a:t>Le cahier des charges du rendu final</a:t>
            </a:r>
          </a:p>
        </p:txBody>
      </p:sp>
    </p:spTree>
    <p:extLst>
      <p:ext uri="{BB962C8B-B14F-4D97-AF65-F5344CB8AC3E}">
        <p14:creationId xmlns:p14="http://schemas.microsoft.com/office/powerpoint/2010/main" val="1134154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B10EE40B-412D-4E13-9FC8-8B94FDD4F3A6}"/>
              </a:ext>
            </a:extLst>
          </p:cNvPr>
          <p:cNvSpPr txBox="1">
            <a:spLocks/>
          </p:cNvSpPr>
          <p:nvPr/>
        </p:nvSpPr>
        <p:spPr>
          <a:xfrm>
            <a:off x="592667" y="273754"/>
            <a:ext cx="11240104" cy="636411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b="1" u="sng" dirty="0"/>
              <a:t>Le plan à suivre</a:t>
            </a:r>
          </a:p>
          <a:p>
            <a:pPr marL="0" indent="0" algn="ctr">
              <a:buFont typeface="Arial" panose="020B0604020202020204" pitchFamily="34" charset="0"/>
              <a:buNone/>
            </a:pPr>
            <a:endParaRPr lang="fr-FR" b="1" u="sng" dirty="0"/>
          </a:p>
          <a:p>
            <a:pPr marL="0" indent="0">
              <a:lnSpc>
                <a:spcPct val="80000"/>
              </a:lnSpc>
              <a:buFont typeface="Arial" panose="020B0604020202020204" pitchFamily="34" charset="0"/>
              <a:buNone/>
            </a:pPr>
            <a:r>
              <a:rPr lang="fr-FR" dirty="0"/>
              <a:t>Votre document comprendra les parties suivantes :</a:t>
            </a:r>
          </a:p>
          <a:p>
            <a:pPr marL="514350" indent="-514350">
              <a:lnSpc>
                <a:spcPct val="80000"/>
              </a:lnSpc>
              <a:buFont typeface="+mj-lt"/>
              <a:buAutoNum type="arabicPeriod"/>
            </a:pPr>
            <a:r>
              <a:rPr lang="fr-FR" b="1" dirty="0"/>
              <a:t>Une introduction</a:t>
            </a:r>
            <a:r>
              <a:rPr lang="fr-FR" dirty="0"/>
              <a:t> : brève </a:t>
            </a:r>
            <a:r>
              <a:rPr lang="fr-FR" b="1" dirty="0"/>
              <a:t>présentation du contexte </a:t>
            </a:r>
            <a:r>
              <a:rPr lang="fr-FR" dirty="0"/>
              <a:t>et </a:t>
            </a:r>
            <a:r>
              <a:rPr lang="fr-FR" b="1" dirty="0"/>
              <a:t>problématique</a:t>
            </a:r>
            <a:r>
              <a:rPr lang="fr-FR" dirty="0"/>
              <a:t>, sous forme d’une grande question faisant apparaître un conflit ou une tension éthique, entre normes / valeurs.</a:t>
            </a:r>
          </a:p>
          <a:p>
            <a:pPr marL="514350" indent="-514350">
              <a:lnSpc>
                <a:spcPct val="80000"/>
              </a:lnSpc>
              <a:buFont typeface="+mj-lt"/>
              <a:buAutoNum type="arabicPeriod"/>
            </a:pPr>
            <a:r>
              <a:rPr lang="fr-FR" b="1" dirty="0"/>
              <a:t>Un développement clairement structuré en parties, menant une analyse précise des enjeux éthiques</a:t>
            </a:r>
            <a:r>
              <a:rPr lang="fr-FR" dirty="0"/>
              <a:t>, des conflits de valeurs ou de normes, en lien avec les aspects économiques, sociaux, politiques, etc. Vous vous interrogerez sur les éventuels cas de conscience des acteurs concernés et sur l’état du débat démocratique sur le sujet.</a:t>
            </a:r>
          </a:p>
          <a:p>
            <a:pPr marL="514350" indent="-514350">
              <a:lnSpc>
                <a:spcPct val="80000"/>
              </a:lnSpc>
              <a:buFont typeface="+mj-lt"/>
              <a:buAutoNum type="arabicPeriod"/>
            </a:pPr>
            <a:r>
              <a:rPr lang="fr-FR" b="1" dirty="0"/>
              <a:t>Une conclusion</a:t>
            </a:r>
            <a:r>
              <a:rPr lang="fr-FR" dirty="0"/>
              <a:t> : </a:t>
            </a:r>
            <a:r>
              <a:rPr lang="fr-FR" b="1" dirty="0"/>
              <a:t>votre avis argumenté, éventuellement les discussions au sein de votre groupe </a:t>
            </a:r>
            <a:r>
              <a:rPr lang="fr-FR" dirty="0"/>
              <a:t>sur</a:t>
            </a:r>
            <a:r>
              <a:rPr lang="fr-FR" b="1" dirty="0"/>
              <a:t> </a:t>
            </a:r>
            <a:r>
              <a:rPr lang="fr-FR" dirty="0"/>
              <a:t>ce qu’il faudrait faire (explicitation de vos intuitions et raisonnements éthiques), et une projection du problème dans l’avenir (comment voyez-vous la situation évoluer).</a:t>
            </a:r>
            <a:r>
              <a:rPr lang="fr-FR" b="1" dirty="0"/>
              <a:t> </a:t>
            </a:r>
            <a:endParaRPr lang="fr-FR" dirty="0"/>
          </a:p>
          <a:p>
            <a:pPr marL="514350" indent="-514350">
              <a:lnSpc>
                <a:spcPct val="80000"/>
              </a:lnSpc>
              <a:buFont typeface="+mj-lt"/>
              <a:buAutoNum type="arabicPeriod"/>
            </a:pPr>
            <a:r>
              <a:rPr lang="fr-FR" b="1" dirty="0"/>
              <a:t>La bibliographie</a:t>
            </a:r>
            <a:r>
              <a:rPr lang="fr-FR" dirty="0"/>
              <a:t> établie selon les standards de présentation universitaire.</a:t>
            </a:r>
          </a:p>
          <a:p>
            <a:pPr marL="0" indent="0">
              <a:buFont typeface="Arial" panose="020B0604020202020204" pitchFamily="34" charset="0"/>
              <a:buNone/>
            </a:pPr>
            <a:endParaRPr lang="fr-FR" dirty="0"/>
          </a:p>
          <a:p>
            <a:pPr lvl="1"/>
            <a:endParaRPr lang="fr-FR" dirty="0"/>
          </a:p>
        </p:txBody>
      </p:sp>
    </p:spTree>
    <p:extLst>
      <p:ext uri="{BB962C8B-B14F-4D97-AF65-F5344CB8AC3E}">
        <p14:creationId xmlns:p14="http://schemas.microsoft.com/office/powerpoint/2010/main" val="1984358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B10EE40B-412D-4E13-9FC8-8B94FDD4F3A6}"/>
              </a:ext>
            </a:extLst>
          </p:cNvPr>
          <p:cNvSpPr txBox="1">
            <a:spLocks/>
          </p:cNvSpPr>
          <p:nvPr/>
        </p:nvSpPr>
        <p:spPr>
          <a:xfrm>
            <a:off x="333022" y="1001681"/>
            <a:ext cx="11525956" cy="20978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dirty="0"/>
              <a:t>Vos vous appuierez sur des </a:t>
            </a:r>
            <a:r>
              <a:rPr lang="fr-FR" b="1" dirty="0"/>
              <a:t>sources d’information </a:t>
            </a:r>
            <a:r>
              <a:rPr lang="fr-FR" b="1" u="sng" dirty="0"/>
              <a:t>de qualité </a:t>
            </a:r>
            <a:r>
              <a:rPr lang="fr-FR" b="1" dirty="0"/>
              <a:t>(3 à 5 sources)</a:t>
            </a:r>
            <a:r>
              <a:rPr lang="fr-FR" dirty="0"/>
              <a:t>, dont </a:t>
            </a:r>
            <a:r>
              <a:rPr lang="fr-FR" b="1" u="sng" dirty="0"/>
              <a:t>au minimum </a:t>
            </a:r>
            <a:r>
              <a:rPr lang="fr-FR" b="1" dirty="0"/>
              <a:t>un article universitaire</a:t>
            </a:r>
            <a:r>
              <a:rPr lang="fr-FR" dirty="0"/>
              <a:t> que vous trouverez sur les plateformes spécialisées, telles que : </a:t>
            </a:r>
            <a:r>
              <a:rPr lang="fr-FR" altLang="fr-FR" u="sng" dirty="0"/>
              <a:t>cairn.info</a:t>
            </a:r>
            <a:r>
              <a:rPr lang="fr-FR" altLang="fr-FR" dirty="0"/>
              <a:t>, </a:t>
            </a:r>
            <a:r>
              <a:rPr lang="fr-FR" altLang="fr-FR" u="sng" dirty="0"/>
              <a:t>journals.openedition.org</a:t>
            </a:r>
            <a:r>
              <a:rPr lang="fr-FR" altLang="fr-FR" dirty="0"/>
              <a:t>, </a:t>
            </a:r>
            <a:r>
              <a:rPr lang="fr-FR" altLang="fr-FR" u="sng" dirty="0"/>
              <a:t>persee.fr</a:t>
            </a:r>
            <a:r>
              <a:rPr lang="fr-FR" altLang="fr-FR" dirty="0"/>
              <a:t> ou </a:t>
            </a:r>
            <a:r>
              <a:rPr lang="fr-FR" altLang="fr-FR" u="sng" dirty="0"/>
              <a:t>erudit.org</a:t>
            </a:r>
            <a:r>
              <a:rPr lang="fr-FR" altLang="fr-FR" dirty="0"/>
              <a:t>.</a:t>
            </a:r>
            <a:endParaRPr lang="fr-FR" dirty="0"/>
          </a:p>
          <a:p>
            <a:pPr marL="0" indent="0">
              <a:buFont typeface="Arial" panose="020B0604020202020204" pitchFamily="34" charset="0"/>
              <a:buNone/>
            </a:pPr>
            <a:endParaRPr lang="fr-FR" dirty="0"/>
          </a:p>
          <a:p>
            <a:pPr marL="0" indent="0">
              <a:buFont typeface="Arial" panose="020B0604020202020204" pitchFamily="34" charset="0"/>
              <a:buNone/>
            </a:pPr>
            <a:endParaRPr lang="fr-FR" dirty="0"/>
          </a:p>
          <a:p>
            <a:pPr lvl="1"/>
            <a:endParaRPr lang="fr-FR" dirty="0"/>
          </a:p>
        </p:txBody>
      </p:sp>
      <p:sp>
        <p:nvSpPr>
          <p:cNvPr id="6" name="ZoneTexte 5">
            <a:extLst>
              <a:ext uri="{FF2B5EF4-FFF2-40B4-BE49-F238E27FC236}">
                <a16:creationId xmlns:a16="http://schemas.microsoft.com/office/drawing/2014/main" id="{E41B1837-35B5-4E5A-AD05-B90371775A0D}"/>
              </a:ext>
            </a:extLst>
          </p:cNvPr>
          <p:cNvSpPr txBox="1"/>
          <p:nvPr/>
        </p:nvSpPr>
        <p:spPr>
          <a:xfrm>
            <a:off x="333022" y="3093494"/>
            <a:ext cx="8963378" cy="3539430"/>
          </a:xfrm>
          <a:prstGeom prst="rect">
            <a:avLst/>
          </a:prstGeom>
          <a:solidFill>
            <a:srgbClr val="F0E4E4"/>
          </a:solidFill>
          <a:ln w="38100">
            <a:solidFill>
              <a:srgbClr val="FF0000"/>
            </a:solidFill>
          </a:ln>
          <a:effectLst>
            <a:outerShdw blurRad="63500" sx="102000" sy="102000" algn="ctr" rotWithShape="0">
              <a:prstClr val="black">
                <a:alpha val="40000"/>
              </a:prstClr>
            </a:outerShdw>
          </a:effectLst>
        </p:spPr>
        <p:txBody>
          <a:bodyPr wrap="square">
            <a:spAutoFit/>
          </a:bodyPr>
          <a:lstStyle/>
          <a:p>
            <a:pPr marL="0" indent="0" algn="ctr">
              <a:buNone/>
            </a:pPr>
            <a:r>
              <a:rPr lang="fr-FR" sz="2800" b="1" dirty="0">
                <a:solidFill>
                  <a:srgbClr val="FF0000"/>
                </a:solidFill>
              </a:rPr>
              <a:t>Attention au plagiat !!!</a:t>
            </a:r>
          </a:p>
          <a:p>
            <a:pPr marL="457200" indent="-457200">
              <a:buFontTx/>
              <a:buChar char="-"/>
            </a:pPr>
            <a:r>
              <a:rPr lang="fr-FR" sz="2800" b="1" dirty="0">
                <a:solidFill>
                  <a:srgbClr val="FF0000"/>
                </a:solidFill>
              </a:rPr>
              <a:t>Pas de recours à l’IA non signalé</a:t>
            </a:r>
          </a:p>
          <a:p>
            <a:pPr marL="457200" indent="-457200">
              <a:buFontTx/>
              <a:buChar char="-"/>
            </a:pPr>
            <a:r>
              <a:rPr lang="fr-FR" sz="2800" b="1" dirty="0">
                <a:solidFill>
                  <a:srgbClr val="FF0000"/>
                </a:solidFill>
              </a:rPr>
              <a:t>Si plagiat : 0/20 et signalement à l’administration</a:t>
            </a:r>
          </a:p>
          <a:p>
            <a:pPr marL="457200" indent="-457200">
              <a:buFontTx/>
              <a:buChar char="-"/>
            </a:pPr>
            <a:r>
              <a:rPr lang="fr-FR" sz="2800" b="1" dirty="0">
                <a:solidFill>
                  <a:srgbClr val="FF0000"/>
                </a:solidFill>
              </a:rPr>
              <a:t>Pour l’éviter : </a:t>
            </a:r>
          </a:p>
          <a:p>
            <a:pPr marL="914400" lvl="1" indent="-457200">
              <a:buFont typeface="Wingdings" panose="05000000000000000000" pitchFamily="2" charset="2"/>
              <a:buChar char="ü"/>
            </a:pPr>
            <a:r>
              <a:rPr lang="fr-FR" sz="2800" b="1" dirty="0">
                <a:solidFill>
                  <a:srgbClr val="FF0000"/>
                </a:solidFill>
              </a:rPr>
              <a:t>Des guillemets à chaque citation.</a:t>
            </a:r>
          </a:p>
          <a:p>
            <a:pPr marL="914400" lvl="1" indent="-457200">
              <a:buFont typeface="Wingdings" panose="05000000000000000000" pitchFamily="2" charset="2"/>
              <a:buChar char="ü"/>
            </a:pPr>
            <a:r>
              <a:rPr lang="fr-FR" sz="2800" b="1" dirty="0">
                <a:solidFill>
                  <a:srgbClr val="FF0000"/>
                </a:solidFill>
              </a:rPr>
              <a:t>Des appels de notes dans le corps du texte pour signaler toute référence.</a:t>
            </a:r>
          </a:p>
          <a:p>
            <a:pPr marL="914400" lvl="1" indent="-457200">
              <a:buFont typeface="Wingdings" panose="05000000000000000000" pitchFamily="2" charset="2"/>
              <a:buChar char="ü"/>
            </a:pPr>
            <a:r>
              <a:rPr lang="fr-FR" sz="2800" b="1" dirty="0">
                <a:solidFill>
                  <a:srgbClr val="FF0000"/>
                </a:solidFill>
              </a:rPr>
              <a:t>Les sources indiquées en bibliographie. </a:t>
            </a:r>
          </a:p>
        </p:txBody>
      </p:sp>
      <p:pic>
        <p:nvPicPr>
          <p:cNvPr id="10" name="Image 9">
            <a:extLst>
              <a:ext uri="{FF2B5EF4-FFF2-40B4-BE49-F238E27FC236}">
                <a16:creationId xmlns:a16="http://schemas.microsoft.com/office/drawing/2014/main" id="{474EBF53-D9D0-4552-BEDE-27E99C91ABAC}"/>
              </a:ext>
            </a:extLst>
          </p:cNvPr>
          <p:cNvPicPr>
            <a:picLocks noChangeAspect="1"/>
          </p:cNvPicPr>
          <p:nvPr/>
        </p:nvPicPr>
        <p:blipFill>
          <a:blip r:embed="rId2"/>
          <a:stretch>
            <a:fillRect/>
          </a:stretch>
        </p:blipFill>
        <p:spPr>
          <a:xfrm>
            <a:off x="9584266" y="3429000"/>
            <a:ext cx="2173112" cy="1912337"/>
          </a:xfrm>
          <a:prstGeom prst="rect">
            <a:avLst/>
          </a:prstGeom>
        </p:spPr>
      </p:pic>
      <p:sp>
        <p:nvSpPr>
          <p:cNvPr id="7" name="ZoneTexte 6">
            <a:extLst>
              <a:ext uri="{FF2B5EF4-FFF2-40B4-BE49-F238E27FC236}">
                <a16:creationId xmlns:a16="http://schemas.microsoft.com/office/drawing/2014/main" id="{BB8AD4C5-D84C-4ABA-A925-E32D8E7C0744}"/>
              </a:ext>
            </a:extLst>
          </p:cNvPr>
          <p:cNvSpPr txBox="1"/>
          <p:nvPr/>
        </p:nvSpPr>
        <p:spPr>
          <a:xfrm>
            <a:off x="2810934" y="0"/>
            <a:ext cx="6096000" cy="584775"/>
          </a:xfrm>
          <a:prstGeom prst="rect">
            <a:avLst/>
          </a:prstGeom>
          <a:noFill/>
        </p:spPr>
        <p:txBody>
          <a:bodyPr wrap="square">
            <a:spAutoFit/>
          </a:bodyPr>
          <a:lstStyle/>
          <a:p>
            <a:pPr marL="0" indent="0" algn="ctr">
              <a:buFont typeface="Arial" panose="020B0604020202020204" pitchFamily="34" charset="0"/>
              <a:buNone/>
            </a:pPr>
            <a:r>
              <a:rPr lang="fr-FR" sz="3200" b="1" u="sng" dirty="0"/>
              <a:t>Les sources</a:t>
            </a:r>
          </a:p>
        </p:txBody>
      </p:sp>
    </p:spTree>
    <p:extLst>
      <p:ext uri="{BB962C8B-B14F-4D97-AF65-F5344CB8AC3E}">
        <p14:creationId xmlns:p14="http://schemas.microsoft.com/office/powerpoint/2010/main" val="2334952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B10EE40B-412D-4E13-9FC8-8B94FDD4F3A6}"/>
              </a:ext>
            </a:extLst>
          </p:cNvPr>
          <p:cNvSpPr txBox="1">
            <a:spLocks/>
          </p:cNvSpPr>
          <p:nvPr/>
        </p:nvSpPr>
        <p:spPr>
          <a:xfrm>
            <a:off x="711200" y="685799"/>
            <a:ext cx="10972800" cy="600851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fr-FR" sz="3000" dirty="0"/>
              <a:t>Sur le fond, seront considérées dans l’évaluation (14 points) :</a:t>
            </a:r>
          </a:p>
          <a:p>
            <a:pPr marL="541338" indent="-541338">
              <a:buFont typeface="Wingdings" panose="05000000000000000000" pitchFamily="2" charset="2"/>
              <a:buChar char="q"/>
            </a:pPr>
            <a:r>
              <a:rPr lang="fr-FR" sz="3000" b="1" dirty="0"/>
              <a:t>La pertinence du sujet choisi </a:t>
            </a:r>
            <a:r>
              <a:rPr lang="fr-FR" sz="3000" dirty="0"/>
              <a:t>: sujet intéressant, recoupant un réel enjeu éthique ?</a:t>
            </a:r>
          </a:p>
          <a:p>
            <a:pPr marL="541338" indent="-541338">
              <a:buFont typeface="Wingdings" panose="05000000000000000000" pitchFamily="2" charset="2"/>
              <a:buChar char="q"/>
            </a:pPr>
            <a:r>
              <a:rPr lang="fr-FR" sz="3000" b="1" dirty="0"/>
              <a:t>La qualité du travail documentaire</a:t>
            </a:r>
            <a:r>
              <a:rPr lang="fr-FR" sz="3000" dirty="0"/>
              <a:t>, de l’information et des sources retenues : précision de l’information, compréhension de la situation, sources de référence ?</a:t>
            </a:r>
          </a:p>
          <a:p>
            <a:pPr marL="541338" indent="-541338">
              <a:buFont typeface="Wingdings" panose="05000000000000000000" pitchFamily="2" charset="2"/>
              <a:buChar char="q"/>
            </a:pPr>
            <a:r>
              <a:rPr lang="fr-FR" sz="3000" b="1" dirty="0"/>
              <a:t>La qualité de la problématisation </a:t>
            </a:r>
            <a:r>
              <a:rPr lang="fr-FR" sz="3000" dirty="0"/>
              <a:t>: repérage des véritables enjeux, réelle tension éthique identifiée ?</a:t>
            </a:r>
          </a:p>
          <a:p>
            <a:pPr marL="541338" indent="-541338">
              <a:buFont typeface="Wingdings" panose="05000000000000000000" pitchFamily="2" charset="2"/>
              <a:buChar char="q"/>
            </a:pPr>
            <a:r>
              <a:rPr lang="fr-FR" sz="3000" b="1" dirty="0"/>
              <a:t>La</a:t>
            </a:r>
            <a:r>
              <a:rPr lang="fr-FR" sz="3000" dirty="0"/>
              <a:t> </a:t>
            </a:r>
            <a:r>
              <a:rPr lang="fr-FR" sz="3000" b="1" dirty="0"/>
              <a:t>qualité de l’argumentation </a:t>
            </a:r>
            <a:r>
              <a:rPr lang="fr-FR" sz="3000" dirty="0"/>
              <a:t>:</a:t>
            </a:r>
          </a:p>
          <a:p>
            <a:pPr marL="998538" lvl="1" indent="-541338">
              <a:buFont typeface="Wingdings" panose="05000000000000000000" pitchFamily="2" charset="2"/>
              <a:buChar char="q"/>
            </a:pPr>
            <a:r>
              <a:rPr lang="fr-FR" sz="2600" dirty="0"/>
              <a:t>La capacité à s’appuyer précisément sur une situation concrète pour modéliser une problématique éthique, en développant une réflexion personnelle.</a:t>
            </a:r>
          </a:p>
          <a:p>
            <a:pPr marL="998538" lvl="1" indent="-541338">
              <a:buFont typeface="Wingdings" panose="05000000000000000000" pitchFamily="2" charset="2"/>
              <a:buChar char="q"/>
            </a:pPr>
            <a:r>
              <a:rPr lang="fr-FR" sz="2600" dirty="0"/>
              <a:t>La capacité à mobiliser de manière adéquate des concepts relevant du champ de l’éthique (déontologisme, utilitarisme, etc.), de l’éthique des sciences et de la technique (principe de précaution, etc.) et de l’éthique la recherche (intégrité scientifique, etc.).</a:t>
            </a:r>
          </a:p>
          <a:p>
            <a:pPr marL="541338" indent="-541338">
              <a:buFont typeface="Wingdings" panose="05000000000000000000" pitchFamily="2" charset="2"/>
              <a:buChar char="q"/>
            </a:pPr>
            <a:r>
              <a:rPr lang="fr-FR" sz="3000" dirty="0"/>
              <a:t>Ces critères seront également </a:t>
            </a:r>
            <a:r>
              <a:rPr lang="fr-FR" sz="3000" b="1" u="sng" dirty="0"/>
              <a:t>validés lors de la discussion libre </a:t>
            </a:r>
            <a:r>
              <a:rPr lang="fr-FR" sz="3000" dirty="0"/>
              <a:t>qui suivra l’exposé, qui montrera le degré d’appropriation des étudiants</a:t>
            </a:r>
          </a:p>
          <a:p>
            <a:pPr>
              <a:buFontTx/>
              <a:buChar char="-"/>
            </a:pPr>
            <a:endParaRPr lang="fr-FR" dirty="0"/>
          </a:p>
          <a:p>
            <a:pPr marL="0" indent="0">
              <a:buFont typeface="Arial" panose="020B0604020202020204" pitchFamily="34" charset="0"/>
              <a:buNone/>
            </a:pPr>
            <a:endParaRPr lang="fr-FR" dirty="0"/>
          </a:p>
          <a:p>
            <a:pPr marL="0" indent="0">
              <a:buFont typeface="Arial" panose="020B0604020202020204" pitchFamily="34" charset="0"/>
              <a:buNone/>
            </a:pPr>
            <a:endParaRPr lang="fr-FR" dirty="0"/>
          </a:p>
          <a:p>
            <a:pPr lvl="1"/>
            <a:endParaRPr lang="fr-FR" dirty="0"/>
          </a:p>
        </p:txBody>
      </p:sp>
      <p:sp>
        <p:nvSpPr>
          <p:cNvPr id="7" name="ZoneTexte 6">
            <a:extLst>
              <a:ext uri="{FF2B5EF4-FFF2-40B4-BE49-F238E27FC236}">
                <a16:creationId xmlns:a16="http://schemas.microsoft.com/office/drawing/2014/main" id="{BB8AD4C5-D84C-4ABA-A925-E32D8E7C0744}"/>
              </a:ext>
            </a:extLst>
          </p:cNvPr>
          <p:cNvSpPr txBox="1"/>
          <p:nvPr/>
        </p:nvSpPr>
        <p:spPr>
          <a:xfrm>
            <a:off x="2810934" y="0"/>
            <a:ext cx="6096000" cy="584775"/>
          </a:xfrm>
          <a:prstGeom prst="rect">
            <a:avLst/>
          </a:prstGeom>
          <a:noFill/>
        </p:spPr>
        <p:txBody>
          <a:bodyPr wrap="square">
            <a:spAutoFit/>
          </a:bodyPr>
          <a:lstStyle/>
          <a:p>
            <a:pPr marL="0" indent="0" algn="ctr">
              <a:buFont typeface="Arial" panose="020B0604020202020204" pitchFamily="34" charset="0"/>
              <a:buNone/>
            </a:pPr>
            <a:r>
              <a:rPr lang="fr-FR" sz="3200" b="1" u="sng" dirty="0"/>
              <a:t>Les critères d’évaluation</a:t>
            </a:r>
          </a:p>
        </p:txBody>
      </p:sp>
    </p:spTree>
    <p:extLst>
      <p:ext uri="{BB962C8B-B14F-4D97-AF65-F5344CB8AC3E}">
        <p14:creationId xmlns:p14="http://schemas.microsoft.com/office/powerpoint/2010/main" val="2670005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B10EE40B-412D-4E13-9FC8-8B94FDD4F3A6}"/>
              </a:ext>
            </a:extLst>
          </p:cNvPr>
          <p:cNvSpPr txBox="1">
            <a:spLocks/>
          </p:cNvSpPr>
          <p:nvPr/>
        </p:nvSpPr>
        <p:spPr>
          <a:xfrm>
            <a:off x="643467" y="685799"/>
            <a:ext cx="11040533" cy="54892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fr-FR" sz="3000" dirty="0"/>
              <a:t>Sur la forme, seront considérées dans l’évaluation (6 points) :</a:t>
            </a:r>
          </a:p>
          <a:p>
            <a:pPr marL="541338" indent="-541338">
              <a:buFont typeface="Wingdings" panose="05000000000000000000" pitchFamily="2" charset="2"/>
              <a:buChar char="q"/>
            </a:pPr>
            <a:r>
              <a:rPr lang="fr-FR" sz="3000" dirty="0"/>
              <a:t>La qualité de la </a:t>
            </a:r>
            <a:r>
              <a:rPr lang="fr-FR" sz="3000" b="1" dirty="0"/>
              <a:t>présentation</a:t>
            </a:r>
            <a:r>
              <a:rPr lang="fr-FR" sz="3000" dirty="0"/>
              <a:t> : un document PowerPoint propre, clair et didactique (présentant textes, schémas et illustration), et de la </a:t>
            </a:r>
            <a:r>
              <a:rPr lang="fr-FR" sz="3000" b="1" dirty="0"/>
              <a:t>rédaction</a:t>
            </a:r>
            <a:r>
              <a:rPr lang="fr-FR" sz="3000" dirty="0"/>
              <a:t> (orthographe, grammaire, syntaxe) (3 points)</a:t>
            </a:r>
          </a:p>
          <a:p>
            <a:pPr marL="541338" indent="-541338">
              <a:buFont typeface="Wingdings" panose="05000000000000000000" pitchFamily="2" charset="2"/>
              <a:buChar char="q"/>
            </a:pPr>
            <a:r>
              <a:rPr lang="fr-FR" sz="3000" dirty="0"/>
              <a:t>La qualité de la prestation orale : présentation fluide, au maximum sans notes, montrant une </a:t>
            </a:r>
            <a:r>
              <a:rPr lang="fr-FR" sz="3000" b="1" dirty="0"/>
              <a:t>réelle appropriation du sujet </a:t>
            </a:r>
            <a:r>
              <a:rPr lang="fr-FR" sz="3000" dirty="0"/>
              <a:t>(3 points) </a:t>
            </a:r>
          </a:p>
          <a:p>
            <a:pPr>
              <a:buFontTx/>
              <a:buChar char="-"/>
            </a:pPr>
            <a:endParaRPr lang="fr-FR" dirty="0"/>
          </a:p>
          <a:p>
            <a:pPr marL="0" indent="0">
              <a:buFont typeface="Arial" panose="020B0604020202020204" pitchFamily="34" charset="0"/>
              <a:buNone/>
            </a:pPr>
            <a:endParaRPr lang="fr-FR" dirty="0"/>
          </a:p>
          <a:p>
            <a:pPr marL="0" indent="0">
              <a:buFont typeface="Arial" panose="020B0604020202020204" pitchFamily="34" charset="0"/>
              <a:buNone/>
            </a:pPr>
            <a:endParaRPr lang="fr-FR" dirty="0"/>
          </a:p>
          <a:p>
            <a:pPr lvl="1"/>
            <a:endParaRPr lang="fr-FR" dirty="0"/>
          </a:p>
        </p:txBody>
      </p:sp>
      <p:sp>
        <p:nvSpPr>
          <p:cNvPr id="7" name="ZoneTexte 6">
            <a:extLst>
              <a:ext uri="{FF2B5EF4-FFF2-40B4-BE49-F238E27FC236}">
                <a16:creationId xmlns:a16="http://schemas.microsoft.com/office/drawing/2014/main" id="{BB8AD4C5-D84C-4ABA-A925-E32D8E7C0744}"/>
              </a:ext>
            </a:extLst>
          </p:cNvPr>
          <p:cNvSpPr txBox="1"/>
          <p:nvPr/>
        </p:nvSpPr>
        <p:spPr>
          <a:xfrm>
            <a:off x="2810934" y="0"/>
            <a:ext cx="6096000" cy="584775"/>
          </a:xfrm>
          <a:prstGeom prst="rect">
            <a:avLst/>
          </a:prstGeom>
          <a:noFill/>
        </p:spPr>
        <p:txBody>
          <a:bodyPr wrap="square">
            <a:spAutoFit/>
          </a:bodyPr>
          <a:lstStyle/>
          <a:p>
            <a:pPr marL="0" indent="0" algn="ctr">
              <a:buFont typeface="Arial" panose="020B0604020202020204" pitchFamily="34" charset="0"/>
              <a:buNone/>
            </a:pPr>
            <a:r>
              <a:rPr lang="fr-FR" sz="3200" b="1" u="sng" dirty="0"/>
              <a:t>Les critères d’évaluation</a:t>
            </a:r>
          </a:p>
        </p:txBody>
      </p:sp>
    </p:spTree>
    <p:extLst>
      <p:ext uri="{BB962C8B-B14F-4D97-AF65-F5344CB8AC3E}">
        <p14:creationId xmlns:p14="http://schemas.microsoft.com/office/powerpoint/2010/main" val="3150573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8A02BE1-4BF4-418C-B0BE-4D71615179FE}"/>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pied de page 4"/>
          <p:cNvSpPr>
            <a:spLocks noGrp="1"/>
          </p:cNvSpPr>
          <p:nvPr>
            <p:ph type="ftr" sz="quarter" idx="11"/>
          </p:nvPr>
        </p:nvSpPr>
        <p:spPr/>
        <p:txBody>
          <a:bodyPr/>
          <a:lstStyle/>
          <a:p>
            <a:r>
              <a:rPr lang="fr-FR"/>
              <a:t>Pôle Humanités Design - Département des Relations Humaines</a:t>
            </a:r>
          </a:p>
        </p:txBody>
      </p:sp>
      <p:pic>
        <p:nvPicPr>
          <p:cNvPr id="7"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91469" y="5960786"/>
            <a:ext cx="2395732" cy="791128"/>
          </a:xfrm>
          <a:prstGeom prst="rect">
            <a:avLst/>
          </a:prstGeom>
        </p:spPr>
      </p:pic>
      <p:pic>
        <p:nvPicPr>
          <p:cNvPr id="8" name="Imag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584" y="224020"/>
            <a:ext cx="1602495" cy="847134"/>
          </a:xfrm>
          <a:prstGeom prst="rect">
            <a:avLst/>
          </a:prstGeom>
        </p:spPr>
      </p:pic>
      <p:sp>
        <p:nvSpPr>
          <p:cNvPr id="10" name="Espace réservé du numéro de diapositive 9">
            <a:extLst>
              <a:ext uri="{FF2B5EF4-FFF2-40B4-BE49-F238E27FC236}">
                <a16:creationId xmlns:a16="http://schemas.microsoft.com/office/drawing/2014/main" id="{DF56F930-5130-4A5B-B089-BD34CDFCA1A5}"/>
              </a:ext>
            </a:extLst>
          </p:cNvPr>
          <p:cNvSpPr>
            <a:spLocks noGrp="1"/>
          </p:cNvSpPr>
          <p:nvPr>
            <p:ph type="sldNum" sz="quarter" idx="12"/>
          </p:nvPr>
        </p:nvSpPr>
        <p:spPr/>
        <p:txBody>
          <a:bodyPr/>
          <a:lstStyle/>
          <a:p>
            <a:fld id="{12AF830D-26DC-493D-A836-497366E9E67C}" type="slidenum">
              <a:rPr lang="fr-FR" smtClean="0"/>
              <a:t>10</a:t>
            </a:fld>
            <a:endParaRPr lang="fr-FR"/>
          </a:p>
        </p:txBody>
      </p:sp>
      <p:sp>
        <p:nvSpPr>
          <p:cNvPr id="11" name="Titre 1">
            <a:extLst>
              <a:ext uri="{FF2B5EF4-FFF2-40B4-BE49-F238E27FC236}">
                <a16:creationId xmlns:a16="http://schemas.microsoft.com/office/drawing/2014/main" id="{40072596-66CF-4045-B4FC-062C325F9594}"/>
              </a:ext>
            </a:extLst>
          </p:cNvPr>
          <p:cNvSpPr txBox="1">
            <a:spLocks/>
          </p:cNvSpPr>
          <p:nvPr/>
        </p:nvSpPr>
        <p:spPr>
          <a:xfrm>
            <a:off x="2173705" y="2638466"/>
            <a:ext cx="7844590" cy="9590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4000" b="1" dirty="0">
                <a:solidFill>
                  <a:schemeClr val="bg1"/>
                </a:solidFill>
                <a:latin typeface="Gotham Medium" pitchFamily="50" charset="0"/>
                <a:cs typeface="Gotham Medium" pitchFamily="50" charset="0"/>
              </a:rPr>
              <a:t>Conseils pour la recherche documentaire et la rédaction d’articles</a:t>
            </a:r>
          </a:p>
        </p:txBody>
      </p:sp>
    </p:spTree>
    <p:extLst>
      <p:ext uri="{BB962C8B-B14F-4D97-AF65-F5344CB8AC3E}">
        <p14:creationId xmlns:p14="http://schemas.microsoft.com/office/powerpoint/2010/main" val="897438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Pôle Humanités Design - Département des Relations Humaines</a:t>
            </a:r>
          </a:p>
        </p:txBody>
      </p:sp>
      <p:pic>
        <p:nvPicPr>
          <p:cNvPr id="7"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91469" y="5960786"/>
            <a:ext cx="2395732" cy="791128"/>
          </a:xfrm>
          <a:prstGeom prst="rect">
            <a:avLst/>
          </a:prstGeom>
        </p:spPr>
      </p:pic>
      <p:pic>
        <p:nvPicPr>
          <p:cNvPr id="8" name="Imag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584" y="224020"/>
            <a:ext cx="1602495" cy="847134"/>
          </a:xfrm>
          <a:prstGeom prst="rect">
            <a:avLst/>
          </a:prstGeom>
        </p:spPr>
      </p:pic>
      <p:sp>
        <p:nvSpPr>
          <p:cNvPr id="10" name="Espace réservé du numéro de diapositive 9">
            <a:extLst>
              <a:ext uri="{FF2B5EF4-FFF2-40B4-BE49-F238E27FC236}">
                <a16:creationId xmlns:a16="http://schemas.microsoft.com/office/drawing/2014/main" id="{DF56F930-5130-4A5B-B089-BD34CDFCA1A5}"/>
              </a:ext>
            </a:extLst>
          </p:cNvPr>
          <p:cNvSpPr>
            <a:spLocks noGrp="1"/>
          </p:cNvSpPr>
          <p:nvPr>
            <p:ph type="sldNum" sz="quarter" idx="12"/>
          </p:nvPr>
        </p:nvSpPr>
        <p:spPr/>
        <p:txBody>
          <a:bodyPr/>
          <a:lstStyle/>
          <a:p>
            <a:fld id="{12AF830D-26DC-493D-A836-497366E9E67C}" type="slidenum">
              <a:rPr lang="fr-FR" smtClean="0"/>
              <a:t>11</a:t>
            </a:fld>
            <a:endParaRPr lang="fr-FR"/>
          </a:p>
        </p:txBody>
      </p:sp>
      <p:sp>
        <p:nvSpPr>
          <p:cNvPr id="9" name="Sous-titre 2">
            <a:extLst>
              <a:ext uri="{FF2B5EF4-FFF2-40B4-BE49-F238E27FC236}">
                <a16:creationId xmlns:a16="http://schemas.microsoft.com/office/drawing/2014/main" id="{73DCD697-9C65-4A30-9AB8-BCF5E9C37FD5}"/>
              </a:ext>
            </a:extLst>
          </p:cNvPr>
          <p:cNvSpPr txBox="1">
            <a:spLocks/>
          </p:cNvSpPr>
          <p:nvPr/>
        </p:nvSpPr>
        <p:spPr>
          <a:xfrm>
            <a:off x="883023" y="2984545"/>
            <a:ext cx="10425953" cy="23513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sz="3200" dirty="0">
              <a:solidFill>
                <a:srgbClr val="0070C0"/>
              </a:solidFill>
              <a:latin typeface="Gotham Medium" pitchFamily="50" charset="0"/>
              <a:ea typeface="+mj-ea"/>
            </a:endParaRPr>
          </a:p>
          <a:p>
            <a:pPr marL="0" indent="0" algn="ctr">
              <a:buNone/>
            </a:pPr>
            <a:endParaRPr lang="fr-FR" sz="3200" dirty="0">
              <a:solidFill>
                <a:srgbClr val="0070C0"/>
              </a:solidFill>
              <a:latin typeface="Gotham Medium" pitchFamily="50" charset="0"/>
              <a:ea typeface="+mj-ea"/>
            </a:endParaRPr>
          </a:p>
        </p:txBody>
      </p:sp>
      <p:sp>
        <p:nvSpPr>
          <p:cNvPr id="13" name="ZoneTexte 12">
            <a:extLst>
              <a:ext uri="{FF2B5EF4-FFF2-40B4-BE49-F238E27FC236}">
                <a16:creationId xmlns:a16="http://schemas.microsoft.com/office/drawing/2014/main" id="{42C62244-8508-4800-B692-C430CCE4B97A}"/>
              </a:ext>
            </a:extLst>
          </p:cNvPr>
          <p:cNvSpPr txBox="1"/>
          <p:nvPr/>
        </p:nvSpPr>
        <p:spPr>
          <a:xfrm>
            <a:off x="2076558" y="2801495"/>
            <a:ext cx="8612777" cy="729105"/>
          </a:xfrm>
          <a:prstGeom prst="rect">
            <a:avLst/>
          </a:prstGeom>
          <a:solidFill>
            <a:srgbClr val="0070C0"/>
          </a:solidFill>
        </p:spPr>
        <p:txBody>
          <a:bodyPr vert="horz" lIns="91440" tIns="45720" rIns="91440" bIns="45720" rtlCol="0">
            <a:noAutofit/>
          </a:bodyPr>
          <a:lstStyle>
            <a:defPPr>
              <a:defRPr lang="fr-FR"/>
            </a:defPPr>
            <a:lvl1pPr indent="0" algn="ctr">
              <a:lnSpc>
                <a:spcPct val="90000"/>
              </a:lnSpc>
              <a:spcBef>
                <a:spcPts val="1000"/>
              </a:spcBef>
              <a:buFont typeface="Arial" panose="020B0604020202020204" pitchFamily="34" charset="0"/>
              <a:buNone/>
              <a:defRPr sz="3600" b="1">
                <a:solidFill>
                  <a:schemeClr val="bg1"/>
                </a:solidFill>
                <a:latin typeface="Gotham Medium" pitchFamily="50" charset="0"/>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I – Les ressources documentaires en ligne</a:t>
            </a:r>
          </a:p>
        </p:txBody>
      </p:sp>
    </p:spTree>
    <p:extLst>
      <p:ext uri="{BB962C8B-B14F-4D97-AF65-F5344CB8AC3E}">
        <p14:creationId xmlns:p14="http://schemas.microsoft.com/office/powerpoint/2010/main" val="1825798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AC86F1-B0AD-4232-A428-86069F1D7D2F}"/>
              </a:ext>
            </a:extLst>
          </p:cNvPr>
          <p:cNvSpPr>
            <a:spLocks noGrp="1"/>
          </p:cNvSpPr>
          <p:nvPr>
            <p:ph type="title"/>
          </p:nvPr>
        </p:nvSpPr>
        <p:spPr>
          <a:xfrm>
            <a:off x="609600" y="356806"/>
            <a:ext cx="10972800" cy="648462"/>
          </a:xfrm>
          <a:solidFill>
            <a:srgbClr val="0070C0"/>
          </a:solidFill>
        </p:spPr>
        <p:txBody>
          <a:bodyPr vert="horz" lIns="91440" tIns="45720" rIns="91440" bIns="45720" rtlCol="0" anchor="ctr">
            <a:normAutofit/>
          </a:bodyPr>
          <a:lstStyle/>
          <a:p>
            <a:pPr algn="ctr"/>
            <a:r>
              <a:rPr lang="fr-FR" sz="3600" b="1" dirty="0">
                <a:solidFill>
                  <a:schemeClr val="bg1"/>
                </a:solidFill>
              </a:rPr>
              <a:t>Exercer une veille en sciences humaines et sociales</a:t>
            </a:r>
          </a:p>
        </p:txBody>
      </p:sp>
      <p:sp>
        <p:nvSpPr>
          <p:cNvPr id="3" name="Espace réservé du contenu 2">
            <a:extLst>
              <a:ext uri="{FF2B5EF4-FFF2-40B4-BE49-F238E27FC236}">
                <a16:creationId xmlns:a16="http://schemas.microsoft.com/office/drawing/2014/main" id="{BF86C1A9-B56A-4AAB-AA81-C0B01AC85423}"/>
              </a:ext>
            </a:extLst>
          </p:cNvPr>
          <p:cNvSpPr>
            <a:spLocks noGrp="1"/>
          </p:cNvSpPr>
          <p:nvPr>
            <p:ph idx="1"/>
          </p:nvPr>
        </p:nvSpPr>
        <p:spPr>
          <a:xfrm>
            <a:off x="609600" y="1409346"/>
            <a:ext cx="10972799" cy="4351338"/>
          </a:xfrm>
          <a:solidFill>
            <a:schemeClr val="accent1">
              <a:lumMod val="20000"/>
              <a:lumOff val="80000"/>
            </a:schemeClr>
          </a:solidFill>
          <a:ln w="28575">
            <a:solidFill>
              <a:schemeClr val="accent1"/>
            </a:solidFill>
          </a:ln>
        </p:spPr>
        <p:txBody>
          <a:bodyPr wrap="square">
            <a:spAutoFit/>
          </a:bodyPr>
          <a:lstStyle/>
          <a:p>
            <a:pPr marL="0" indent="0" algn="ctr">
              <a:buNone/>
            </a:pPr>
            <a:r>
              <a:rPr lang="fr-FR" b="1" dirty="0"/>
              <a:t>Principalement deux sources généralistes en français</a:t>
            </a:r>
            <a:r>
              <a:rPr lang="fr-FR" dirty="0"/>
              <a:t>, pour se tenir au courant des publications dans le domaine des essais :</a:t>
            </a:r>
          </a:p>
          <a:p>
            <a:pPr lvl="1"/>
            <a:r>
              <a:rPr lang="fr-FR" sz="2000" dirty="0">
                <a:hlinkClick r:id="rId2"/>
              </a:rPr>
              <a:t>https://www.nonfiction.fr/</a:t>
            </a:r>
            <a:r>
              <a:rPr lang="fr-FR" sz="2000" dirty="0"/>
              <a:t> </a:t>
            </a:r>
          </a:p>
          <a:p>
            <a:pPr lvl="1"/>
            <a:r>
              <a:rPr lang="fr-FR" sz="2000" dirty="0">
                <a:hlinkClick r:id="rId3"/>
              </a:rPr>
              <a:t>https://laviedesidees.fr/</a:t>
            </a:r>
            <a:r>
              <a:rPr lang="fr-FR" sz="2000" dirty="0"/>
              <a:t> </a:t>
            </a:r>
          </a:p>
          <a:p>
            <a:pPr marL="714375" lvl="1" indent="-257175">
              <a:buFont typeface="Calibri" panose="020F0502020204030204" pitchFamily="34" charset="0"/>
              <a:buChar char="⁻"/>
            </a:pPr>
            <a:endParaRPr lang="fr-FR" sz="2000" dirty="0"/>
          </a:p>
          <a:p>
            <a:pPr marL="0" indent="0" algn="ctr">
              <a:buNone/>
            </a:pPr>
            <a:r>
              <a:rPr lang="fr-FR" b="1" dirty="0"/>
              <a:t>Voir aussi :</a:t>
            </a:r>
          </a:p>
          <a:p>
            <a:pPr lvl="1"/>
            <a:r>
              <a:rPr lang="fr-FR" sz="2000" dirty="0">
                <a:hlinkClick r:id="" action="ppaction://noaction"/>
              </a:rPr>
              <a:t>https://www.franceculture.fr/philosophie</a:t>
            </a:r>
          </a:p>
          <a:p>
            <a:pPr lvl="1"/>
            <a:r>
              <a:rPr lang="fr-FR" sz="2000" dirty="0">
                <a:hlinkClick r:id="" action="ppaction://noaction"/>
              </a:rPr>
              <a:t>https://www.philomag.com/</a:t>
            </a:r>
            <a:r>
              <a:rPr lang="fr-FR" sz="2000" dirty="0"/>
              <a:t> (abonnement payant, mais contenu gratuit)</a:t>
            </a:r>
          </a:p>
          <a:p>
            <a:pPr lvl="1"/>
            <a:r>
              <a:rPr lang="fr-FR" sz="2000" dirty="0">
                <a:hlinkClick r:id="rId4"/>
              </a:rPr>
              <a:t>https://www.scienceshumaines.com/</a:t>
            </a:r>
            <a:r>
              <a:rPr lang="fr-FR" sz="2000" dirty="0"/>
              <a:t> (abonnement payant, mais contenu gratuit)</a:t>
            </a:r>
          </a:p>
          <a:p>
            <a:pPr marL="714375" lvl="1" indent="-257175">
              <a:buFont typeface="Calibri" panose="020F0502020204030204" pitchFamily="34" charset="0"/>
              <a:buChar char="⁻"/>
            </a:pPr>
            <a:endParaRPr lang="fr-FR" sz="2000" dirty="0"/>
          </a:p>
          <a:p>
            <a:pPr marL="457200" indent="-457200" algn="ctr">
              <a:buAutoNum type="arabicParenR"/>
            </a:pPr>
            <a:endParaRPr lang="fr-FR" b="1" dirty="0"/>
          </a:p>
        </p:txBody>
      </p:sp>
      <p:sp>
        <p:nvSpPr>
          <p:cNvPr id="4" name="Espace réservé de la date 3">
            <a:extLst>
              <a:ext uri="{FF2B5EF4-FFF2-40B4-BE49-F238E27FC236}">
                <a16:creationId xmlns:a16="http://schemas.microsoft.com/office/drawing/2014/main" id="{A9318AA5-5E27-4B1F-A2E7-8B64B688CA15}"/>
              </a:ext>
            </a:extLst>
          </p:cNvPr>
          <p:cNvSpPr>
            <a:spLocks noGrp="1"/>
          </p:cNvSpPr>
          <p:nvPr>
            <p:ph type="dt" sz="half" idx="10"/>
          </p:nvPr>
        </p:nvSpPr>
        <p:spPr/>
        <p:txBody>
          <a:bodyPr/>
          <a:lstStyle/>
          <a:p>
            <a:pPr>
              <a:defRPr/>
            </a:pPr>
            <a:fld id="{2A1D47CD-A12E-4E4C-A106-1AC85F759697}" type="datetime1">
              <a:rPr lang="fr-FR" smtClean="0"/>
              <a:t>21/04/2024</a:t>
            </a:fld>
            <a:endParaRPr lang="fr-FR"/>
          </a:p>
        </p:txBody>
      </p:sp>
      <p:sp>
        <p:nvSpPr>
          <p:cNvPr id="5" name="Espace réservé du pied de page 4">
            <a:extLst>
              <a:ext uri="{FF2B5EF4-FFF2-40B4-BE49-F238E27FC236}">
                <a16:creationId xmlns:a16="http://schemas.microsoft.com/office/drawing/2014/main" id="{09B5B159-B135-445B-89E1-035BE45E7943}"/>
              </a:ext>
            </a:extLst>
          </p:cNvPr>
          <p:cNvSpPr>
            <a:spLocks noGrp="1"/>
          </p:cNvSpPr>
          <p:nvPr>
            <p:ph type="ftr" sz="quarter" idx="11"/>
          </p:nvPr>
        </p:nvSpPr>
        <p:spPr/>
        <p:txBody>
          <a:bodyPr/>
          <a:lstStyle/>
          <a:p>
            <a:pPr>
              <a:defRPr/>
            </a:pPr>
            <a:r>
              <a:rPr lang="fr-FR"/>
              <a:t>Département Relations Humaines CYTECH</a:t>
            </a:r>
          </a:p>
        </p:txBody>
      </p:sp>
      <p:sp>
        <p:nvSpPr>
          <p:cNvPr id="6" name="Espace réservé du numéro de diapositive 5">
            <a:extLst>
              <a:ext uri="{FF2B5EF4-FFF2-40B4-BE49-F238E27FC236}">
                <a16:creationId xmlns:a16="http://schemas.microsoft.com/office/drawing/2014/main" id="{43FF9EA7-2D5E-4F76-AE2A-991BEA62DAD1}"/>
              </a:ext>
            </a:extLst>
          </p:cNvPr>
          <p:cNvSpPr>
            <a:spLocks noGrp="1"/>
          </p:cNvSpPr>
          <p:nvPr>
            <p:ph type="sldNum" sz="quarter" idx="12"/>
          </p:nvPr>
        </p:nvSpPr>
        <p:spPr/>
        <p:txBody>
          <a:bodyPr/>
          <a:lstStyle/>
          <a:p>
            <a:pPr>
              <a:defRPr/>
            </a:pPr>
            <a:fld id="{5A11F858-6D07-4F8E-B22E-6439C9DB039E}" type="slidenum">
              <a:rPr lang="fr-FR" smtClean="0"/>
              <a:pPr>
                <a:defRPr/>
              </a:pPr>
              <a:t>12</a:t>
            </a:fld>
            <a:endParaRPr lang="fr-FR" dirty="0"/>
          </a:p>
        </p:txBody>
      </p:sp>
    </p:spTree>
    <p:extLst>
      <p:ext uri="{BB962C8B-B14F-4D97-AF65-F5344CB8AC3E}">
        <p14:creationId xmlns:p14="http://schemas.microsoft.com/office/powerpoint/2010/main" val="491420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0A071-4674-4C3F-A1E0-F67E6F9C382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002CC8CE-0955-4C0A-9510-461769833EA9}"/>
              </a:ext>
            </a:extLst>
          </p:cNvPr>
          <p:cNvPicPr>
            <a:picLocks noChangeAspect="1"/>
          </p:cNvPicPr>
          <p:nvPr/>
        </p:nvPicPr>
        <p:blipFill>
          <a:blip r:embed="rId2"/>
          <a:stretch>
            <a:fillRect/>
          </a:stretch>
        </p:blipFill>
        <p:spPr>
          <a:xfrm>
            <a:off x="3754735" y="392331"/>
            <a:ext cx="4682530" cy="6225737"/>
          </a:xfrm>
          <a:prstGeom prst="rect">
            <a:avLst/>
          </a:prstGeom>
        </p:spPr>
      </p:pic>
    </p:spTree>
    <p:extLst>
      <p:ext uri="{BB962C8B-B14F-4D97-AF65-F5344CB8AC3E}">
        <p14:creationId xmlns:p14="http://schemas.microsoft.com/office/powerpoint/2010/main" val="2181671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0A071-4674-4C3F-A1E0-F67E6F9C382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0C23F20E-2CF4-457A-8E34-B2A691F857D1}"/>
              </a:ext>
            </a:extLst>
          </p:cNvPr>
          <p:cNvPicPr>
            <a:picLocks noChangeAspect="1"/>
          </p:cNvPicPr>
          <p:nvPr/>
        </p:nvPicPr>
        <p:blipFill>
          <a:blip r:embed="rId2"/>
          <a:stretch>
            <a:fillRect/>
          </a:stretch>
        </p:blipFill>
        <p:spPr>
          <a:xfrm>
            <a:off x="2748355" y="347839"/>
            <a:ext cx="6923292" cy="6143849"/>
          </a:xfrm>
          <a:prstGeom prst="rect">
            <a:avLst/>
          </a:prstGeom>
        </p:spPr>
      </p:pic>
    </p:spTree>
    <p:extLst>
      <p:ext uri="{BB962C8B-B14F-4D97-AF65-F5344CB8AC3E}">
        <p14:creationId xmlns:p14="http://schemas.microsoft.com/office/powerpoint/2010/main" val="2640027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AC86F1-B0AD-4232-A428-86069F1D7D2F}"/>
              </a:ext>
            </a:extLst>
          </p:cNvPr>
          <p:cNvSpPr>
            <a:spLocks noGrp="1"/>
          </p:cNvSpPr>
          <p:nvPr>
            <p:ph type="title"/>
          </p:nvPr>
        </p:nvSpPr>
        <p:spPr>
          <a:xfrm>
            <a:off x="609600" y="297951"/>
            <a:ext cx="10972800" cy="888820"/>
          </a:xfrm>
          <a:solidFill>
            <a:srgbClr val="0070C0"/>
          </a:solidFill>
        </p:spPr>
        <p:txBody>
          <a:bodyPr vert="horz" lIns="91440" tIns="45720" rIns="91440" bIns="45720" rtlCol="0" anchor="ctr">
            <a:normAutofit fontScale="90000"/>
          </a:bodyPr>
          <a:lstStyle/>
          <a:p>
            <a:pPr algn="ctr"/>
            <a:r>
              <a:rPr lang="fr-FR" sz="3600" b="1" dirty="0">
                <a:solidFill>
                  <a:schemeClr val="bg1"/>
                </a:solidFill>
              </a:rPr>
              <a:t>Approfondir une problématique : les articles de recherche et ouvrages en ligne (1/3)</a:t>
            </a:r>
          </a:p>
        </p:txBody>
      </p:sp>
      <p:sp>
        <p:nvSpPr>
          <p:cNvPr id="3" name="Espace réservé du contenu 2">
            <a:extLst>
              <a:ext uri="{FF2B5EF4-FFF2-40B4-BE49-F238E27FC236}">
                <a16:creationId xmlns:a16="http://schemas.microsoft.com/office/drawing/2014/main" id="{BF86C1A9-B56A-4AAB-AA81-C0B01AC85423}"/>
              </a:ext>
            </a:extLst>
          </p:cNvPr>
          <p:cNvSpPr>
            <a:spLocks noGrp="1"/>
          </p:cNvSpPr>
          <p:nvPr>
            <p:ph idx="1"/>
          </p:nvPr>
        </p:nvSpPr>
        <p:spPr>
          <a:xfrm>
            <a:off x="670560" y="1494936"/>
            <a:ext cx="10911840" cy="4066241"/>
          </a:xfrm>
          <a:solidFill>
            <a:schemeClr val="accent1">
              <a:lumMod val="20000"/>
              <a:lumOff val="80000"/>
            </a:schemeClr>
          </a:solidFill>
          <a:ln w="28575">
            <a:solidFill>
              <a:schemeClr val="accent1"/>
            </a:solidFill>
          </a:ln>
        </p:spPr>
        <p:txBody>
          <a:bodyPr vert="horz" wrap="square" lIns="91440" tIns="45720" rIns="91440" bIns="45720" rtlCol="0">
            <a:spAutoFit/>
          </a:bodyPr>
          <a:lstStyle/>
          <a:p>
            <a:pPr marL="0" indent="0" algn="ctr">
              <a:buNone/>
            </a:pPr>
            <a:r>
              <a:rPr lang="fr-FR" b="1" dirty="0"/>
              <a:t>Les plateformes généralistes de revues dans différentes disciplines :</a:t>
            </a:r>
          </a:p>
          <a:p>
            <a:pPr marL="0" indent="0" algn="ctr">
              <a:buNone/>
            </a:pPr>
            <a:endParaRPr lang="fr-FR" b="1" dirty="0"/>
          </a:p>
          <a:p>
            <a:pPr lvl="1"/>
            <a:r>
              <a:rPr lang="fr-FR" sz="2000" dirty="0"/>
              <a:t>En français :</a:t>
            </a:r>
          </a:p>
          <a:p>
            <a:pPr lvl="2"/>
            <a:r>
              <a:rPr lang="fr-FR" dirty="0">
                <a:hlinkClick r:id="rId2"/>
              </a:rPr>
              <a:t>https://www.cairn.info/ </a:t>
            </a:r>
          </a:p>
          <a:p>
            <a:pPr lvl="2"/>
            <a:r>
              <a:rPr lang="fr-FR" dirty="0">
                <a:hlinkClick r:id="rId3"/>
              </a:rPr>
              <a:t>https://www.openedition.org/catalogue-journals</a:t>
            </a:r>
            <a:r>
              <a:rPr lang="fr-FR" dirty="0"/>
              <a:t> </a:t>
            </a:r>
          </a:p>
          <a:p>
            <a:pPr lvl="2"/>
            <a:r>
              <a:rPr lang="fr-FR" dirty="0">
                <a:hlinkClick r:id="rId4"/>
              </a:rPr>
              <a:t>https://www.erudit.org/fr/</a:t>
            </a:r>
            <a:r>
              <a:rPr lang="fr-FR" dirty="0"/>
              <a:t> </a:t>
            </a:r>
          </a:p>
          <a:p>
            <a:pPr lvl="2"/>
            <a:r>
              <a:rPr lang="fr-FR" dirty="0">
                <a:hlinkClick r:id="rId5"/>
              </a:rPr>
              <a:t>https://www.persee.fr/</a:t>
            </a:r>
            <a:r>
              <a:rPr lang="fr-FR" dirty="0"/>
              <a:t> </a:t>
            </a:r>
          </a:p>
          <a:p>
            <a:pPr marL="714375" lvl="1" indent="-257175">
              <a:buFont typeface="Calibri" panose="020F0502020204030204" pitchFamily="34" charset="0"/>
              <a:buChar char="⁻"/>
            </a:pPr>
            <a:endParaRPr lang="fr-FR" sz="2000" dirty="0"/>
          </a:p>
          <a:p>
            <a:pPr lvl="1"/>
            <a:r>
              <a:rPr lang="fr-FR" sz="2000" dirty="0"/>
              <a:t>En anglais : </a:t>
            </a:r>
            <a:r>
              <a:rPr lang="fr-FR" sz="2000" dirty="0">
                <a:hlinkClick r:id="rId6"/>
              </a:rPr>
              <a:t>https://www.jstor.org/</a:t>
            </a:r>
            <a:r>
              <a:rPr lang="fr-FR" sz="2000" dirty="0"/>
              <a:t> </a:t>
            </a:r>
          </a:p>
          <a:p>
            <a:pPr lvl="2"/>
            <a:endParaRPr lang="fr-FR" dirty="0"/>
          </a:p>
          <a:p>
            <a:pPr marL="714375" lvl="1" indent="-257175">
              <a:buFont typeface="Calibri" panose="020F0502020204030204" pitchFamily="34" charset="0"/>
              <a:buChar char="⁻"/>
            </a:pPr>
            <a:endParaRPr lang="fr-FR" sz="2000" dirty="0"/>
          </a:p>
        </p:txBody>
      </p:sp>
      <p:sp>
        <p:nvSpPr>
          <p:cNvPr id="4" name="Espace réservé de la date 3">
            <a:extLst>
              <a:ext uri="{FF2B5EF4-FFF2-40B4-BE49-F238E27FC236}">
                <a16:creationId xmlns:a16="http://schemas.microsoft.com/office/drawing/2014/main" id="{A9318AA5-5E27-4B1F-A2E7-8B64B688CA15}"/>
              </a:ext>
            </a:extLst>
          </p:cNvPr>
          <p:cNvSpPr>
            <a:spLocks noGrp="1"/>
          </p:cNvSpPr>
          <p:nvPr>
            <p:ph type="dt" sz="half" idx="10"/>
          </p:nvPr>
        </p:nvSpPr>
        <p:spPr/>
        <p:txBody>
          <a:bodyPr/>
          <a:lstStyle/>
          <a:p>
            <a:pPr>
              <a:defRPr/>
            </a:pPr>
            <a:fld id="{2A1D47CD-A12E-4E4C-A106-1AC85F759697}" type="datetime1">
              <a:rPr lang="fr-FR" smtClean="0"/>
              <a:t>21/04/2024</a:t>
            </a:fld>
            <a:endParaRPr lang="fr-FR"/>
          </a:p>
        </p:txBody>
      </p:sp>
      <p:sp>
        <p:nvSpPr>
          <p:cNvPr id="5" name="Espace réservé du pied de page 4">
            <a:extLst>
              <a:ext uri="{FF2B5EF4-FFF2-40B4-BE49-F238E27FC236}">
                <a16:creationId xmlns:a16="http://schemas.microsoft.com/office/drawing/2014/main" id="{09B5B159-B135-445B-89E1-035BE45E7943}"/>
              </a:ext>
            </a:extLst>
          </p:cNvPr>
          <p:cNvSpPr>
            <a:spLocks noGrp="1"/>
          </p:cNvSpPr>
          <p:nvPr>
            <p:ph type="ftr" sz="quarter" idx="11"/>
          </p:nvPr>
        </p:nvSpPr>
        <p:spPr/>
        <p:txBody>
          <a:bodyPr/>
          <a:lstStyle/>
          <a:p>
            <a:pPr>
              <a:defRPr/>
            </a:pPr>
            <a:r>
              <a:rPr lang="fr-FR"/>
              <a:t>Département Relations Humaines CYTECH</a:t>
            </a:r>
          </a:p>
        </p:txBody>
      </p:sp>
      <p:sp>
        <p:nvSpPr>
          <p:cNvPr id="6" name="Espace réservé du numéro de diapositive 5">
            <a:extLst>
              <a:ext uri="{FF2B5EF4-FFF2-40B4-BE49-F238E27FC236}">
                <a16:creationId xmlns:a16="http://schemas.microsoft.com/office/drawing/2014/main" id="{43FF9EA7-2D5E-4F76-AE2A-991BEA62DAD1}"/>
              </a:ext>
            </a:extLst>
          </p:cNvPr>
          <p:cNvSpPr>
            <a:spLocks noGrp="1"/>
          </p:cNvSpPr>
          <p:nvPr>
            <p:ph type="sldNum" sz="quarter" idx="12"/>
          </p:nvPr>
        </p:nvSpPr>
        <p:spPr/>
        <p:txBody>
          <a:bodyPr/>
          <a:lstStyle/>
          <a:p>
            <a:pPr>
              <a:defRPr/>
            </a:pPr>
            <a:fld id="{5A11F858-6D07-4F8E-B22E-6439C9DB039E}" type="slidenum">
              <a:rPr lang="fr-FR" smtClean="0"/>
              <a:pPr>
                <a:defRPr/>
              </a:pPr>
              <a:t>15</a:t>
            </a:fld>
            <a:endParaRPr lang="fr-FR" dirty="0"/>
          </a:p>
        </p:txBody>
      </p:sp>
    </p:spTree>
    <p:extLst>
      <p:ext uri="{BB962C8B-B14F-4D97-AF65-F5344CB8AC3E}">
        <p14:creationId xmlns:p14="http://schemas.microsoft.com/office/powerpoint/2010/main" val="172690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AC86F1-B0AD-4232-A428-86069F1D7D2F}"/>
              </a:ext>
            </a:extLst>
          </p:cNvPr>
          <p:cNvSpPr>
            <a:spLocks noGrp="1"/>
          </p:cNvSpPr>
          <p:nvPr>
            <p:ph type="title"/>
          </p:nvPr>
        </p:nvSpPr>
        <p:spPr>
          <a:xfrm>
            <a:off x="609600" y="297951"/>
            <a:ext cx="10972800" cy="888820"/>
          </a:xfrm>
          <a:solidFill>
            <a:srgbClr val="0070C0"/>
          </a:solidFill>
        </p:spPr>
        <p:txBody>
          <a:bodyPr vert="horz" lIns="91440" tIns="45720" rIns="91440" bIns="45720" rtlCol="0" anchor="ctr">
            <a:normAutofit fontScale="90000"/>
          </a:bodyPr>
          <a:lstStyle/>
          <a:p>
            <a:pPr algn="ctr"/>
            <a:r>
              <a:rPr lang="fr-FR" sz="3600" b="1" dirty="0">
                <a:solidFill>
                  <a:schemeClr val="bg1"/>
                </a:solidFill>
              </a:rPr>
              <a:t>Approfondir une problématique : les articles de recherche et ouvrages en ligne (2/3)</a:t>
            </a:r>
          </a:p>
        </p:txBody>
      </p:sp>
      <p:sp>
        <p:nvSpPr>
          <p:cNvPr id="3" name="Espace réservé du contenu 2">
            <a:extLst>
              <a:ext uri="{FF2B5EF4-FFF2-40B4-BE49-F238E27FC236}">
                <a16:creationId xmlns:a16="http://schemas.microsoft.com/office/drawing/2014/main" id="{BF86C1A9-B56A-4AAB-AA81-C0B01AC85423}"/>
              </a:ext>
            </a:extLst>
          </p:cNvPr>
          <p:cNvSpPr>
            <a:spLocks noGrp="1"/>
          </p:cNvSpPr>
          <p:nvPr>
            <p:ph idx="1"/>
          </p:nvPr>
        </p:nvSpPr>
        <p:spPr>
          <a:xfrm>
            <a:off x="670560" y="1494936"/>
            <a:ext cx="10911840" cy="3532762"/>
          </a:xfrm>
          <a:solidFill>
            <a:schemeClr val="accent1">
              <a:lumMod val="20000"/>
              <a:lumOff val="80000"/>
            </a:schemeClr>
          </a:solidFill>
          <a:ln w="28575">
            <a:solidFill>
              <a:schemeClr val="accent1"/>
            </a:solidFill>
          </a:ln>
        </p:spPr>
        <p:txBody>
          <a:bodyPr vert="horz" wrap="square" lIns="91440" tIns="45720" rIns="91440" bIns="45720" rtlCol="0">
            <a:spAutoFit/>
          </a:bodyPr>
          <a:lstStyle/>
          <a:p>
            <a:pPr marL="0" indent="0" algn="ctr">
              <a:buNone/>
            </a:pPr>
            <a:r>
              <a:rPr lang="fr-FR" b="1" dirty="0"/>
              <a:t>Les ouvrages libres d’accès</a:t>
            </a:r>
          </a:p>
          <a:p>
            <a:pPr marL="0" indent="0" algn="ctr">
              <a:buNone/>
            </a:pPr>
            <a:endParaRPr lang="fr-FR" b="1" dirty="0"/>
          </a:p>
          <a:p>
            <a:pPr lvl="1"/>
            <a:r>
              <a:rPr lang="fr-FR" dirty="0"/>
              <a:t>Des ouvrages universitaires en libre accès : </a:t>
            </a:r>
            <a:r>
              <a:rPr lang="fr-FR" dirty="0">
                <a:solidFill>
                  <a:srgbClr val="0563C1"/>
                </a:solidFill>
                <a:hlinkClick r:id="rId2">
                  <a:extLst>
                    <a:ext uri="{A12FA001-AC4F-418D-AE19-62706E023703}">
                      <ahyp:hlinkClr xmlns:ahyp="http://schemas.microsoft.com/office/drawing/2018/hyperlinkcolor" val="tx"/>
                    </a:ext>
                  </a:extLst>
                </a:hlinkClick>
              </a:rPr>
              <a:t>https://books.openedition.org/</a:t>
            </a:r>
            <a:r>
              <a:rPr lang="fr-FR" dirty="0"/>
              <a:t> </a:t>
            </a:r>
          </a:p>
          <a:p>
            <a:pPr lvl="1"/>
            <a:r>
              <a:rPr lang="fr-FR" dirty="0"/>
              <a:t>Des classiques des sciences sociales tombés dans le domaine public au Québec : </a:t>
            </a:r>
            <a:r>
              <a:rPr lang="fr-FR" dirty="0">
                <a:solidFill>
                  <a:srgbClr val="0563C1"/>
                </a:solidFill>
                <a:hlinkClick r:id="rId3">
                  <a:extLst>
                    <a:ext uri="{A12FA001-AC4F-418D-AE19-62706E023703}">
                      <ahyp:hlinkClr xmlns:ahyp="http://schemas.microsoft.com/office/drawing/2018/hyperlinkcolor" val="tx"/>
                    </a:ext>
                  </a:extLst>
                </a:hlinkClick>
              </a:rPr>
              <a:t>http://classiques.uqac.ca/</a:t>
            </a:r>
            <a:r>
              <a:rPr lang="fr-FR" dirty="0"/>
              <a:t> </a:t>
            </a:r>
          </a:p>
          <a:p>
            <a:pPr lvl="1"/>
            <a:r>
              <a:rPr lang="fr-FR" dirty="0"/>
              <a:t>Une maison d’édition en éthique et sciences sociales, dont certains ouvrages en ligne sont en libre accès : </a:t>
            </a:r>
            <a:r>
              <a:rPr lang="fr-FR" dirty="0">
                <a:solidFill>
                  <a:srgbClr val="0563C1"/>
                </a:solidFill>
                <a:hlinkClick r:id="rId4">
                  <a:extLst>
                    <a:ext uri="{A12FA001-AC4F-418D-AE19-62706E023703}">
                      <ahyp:hlinkClr xmlns:ahyp="http://schemas.microsoft.com/office/drawing/2018/hyperlinkcolor" val="tx"/>
                    </a:ext>
                  </a:extLst>
                </a:hlinkClick>
              </a:rPr>
              <a:t>https://www.eclm.fr/nouveautes/</a:t>
            </a:r>
            <a:r>
              <a:rPr lang="fr-FR" dirty="0"/>
              <a:t> </a:t>
            </a:r>
          </a:p>
          <a:p>
            <a:pPr lvl="2"/>
            <a:endParaRPr lang="fr-FR" dirty="0"/>
          </a:p>
          <a:p>
            <a:pPr marL="714375" lvl="1" indent="-257175">
              <a:buFont typeface="Calibri" panose="020F0502020204030204" pitchFamily="34" charset="0"/>
              <a:buChar char="⁻"/>
            </a:pPr>
            <a:endParaRPr lang="fr-FR" sz="2000" dirty="0"/>
          </a:p>
        </p:txBody>
      </p:sp>
      <p:sp>
        <p:nvSpPr>
          <p:cNvPr id="4" name="Espace réservé de la date 3">
            <a:extLst>
              <a:ext uri="{FF2B5EF4-FFF2-40B4-BE49-F238E27FC236}">
                <a16:creationId xmlns:a16="http://schemas.microsoft.com/office/drawing/2014/main" id="{A9318AA5-5E27-4B1F-A2E7-8B64B688CA15}"/>
              </a:ext>
            </a:extLst>
          </p:cNvPr>
          <p:cNvSpPr>
            <a:spLocks noGrp="1"/>
          </p:cNvSpPr>
          <p:nvPr>
            <p:ph type="dt" sz="half" idx="10"/>
          </p:nvPr>
        </p:nvSpPr>
        <p:spPr/>
        <p:txBody>
          <a:bodyPr/>
          <a:lstStyle/>
          <a:p>
            <a:pPr>
              <a:defRPr/>
            </a:pPr>
            <a:fld id="{2A1D47CD-A12E-4E4C-A106-1AC85F759697}" type="datetime1">
              <a:rPr lang="fr-FR" smtClean="0"/>
              <a:t>21/04/2024</a:t>
            </a:fld>
            <a:endParaRPr lang="fr-FR"/>
          </a:p>
        </p:txBody>
      </p:sp>
      <p:sp>
        <p:nvSpPr>
          <p:cNvPr id="5" name="Espace réservé du pied de page 4">
            <a:extLst>
              <a:ext uri="{FF2B5EF4-FFF2-40B4-BE49-F238E27FC236}">
                <a16:creationId xmlns:a16="http://schemas.microsoft.com/office/drawing/2014/main" id="{09B5B159-B135-445B-89E1-035BE45E7943}"/>
              </a:ext>
            </a:extLst>
          </p:cNvPr>
          <p:cNvSpPr>
            <a:spLocks noGrp="1"/>
          </p:cNvSpPr>
          <p:nvPr>
            <p:ph type="ftr" sz="quarter" idx="11"/>
          </p:nvPr>
        </p:nvSpPr>
        <p:spPr/>
        <p:txBody>
          <a:bodyPr/>
          <a:lstStyle/>
          <a:p>
            <a:pPr>
              <a:defRPr/>
            </a:pPr>
            <a:r>
              <a:rPr lang="fr-FR"/>
              <a:t>Département Relations Humaines CYTECH</a:t>
            </a:r>
          </a:p>
        </p:txBody>
      </p:sp>
      <p:sp>
        <p:nvSpPr>
          <p:cNvPr id="6" name="Espace réservé du numéro de diapositive 5">
            <a:extLst>
              <a:ext uri="{FF2B5EF4-FFF2-40B4-BE49-F238E27FC236}">
                <a16:creationId xmlns:a16="http://schemas.microsoft.com/office/drawing/2014/main" id="{43FF9EA7-2D5E-4F76-AE2A-991BEA62DAD1}"/>
              </a:ext>
            </a:extLst>
          </p:cNvPr>
          <p:cNvSpPr>
            <a:spLocks noGrp="1"/>
          </p:cNvSpPr>
          <p:nvPr>
            <p:ph type="sldNum" sz="quarter" idx="12"/>
          </p:nvPr>
        </p:nvSpPr>
        <p:spPr/>
        <p:txBody>
          <a:bodyPr/>
          <a:lstStyle/>
          <a:p>
            <a:pPr>
              <a:defRPr/>
            </a:pPr>
            <a:fld id="{5A11F858-6D07-4F8E-B22E-6439C9DB039E}" type="slidenum">
              <a:rPr lang="fr-FR" smtClean="0"/>
              <a:pPr>
                <a:defRPr/>
              </a:pPr>
              <a:t>16</a:t>
            </a:fld>
            <a:endParaRPr lang="fr-FR" dirty="0"/>
          </a:p>
        </p:txBody>
      </p:sp>
    </p:spTree>
    <p:extLst>
      <p:ext uri="{BB962C8B-B14F-4D97-AF65-F5344CB8AC3E}">
        <p14:creationId xmlns:p14="http://schemas.microsoft.com/office/powerpoint/2010/main" val="2951830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4BCEE2-DFE5-4AEE-9EDA-21207CB92B60}"/>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8A30C4A8-028C-4851-97AF-A88283DFC643}"/>
              </a:ext>
            </a:extLst>
          </p:cNvPr>
          <p:cNvPicPr>
            <a:picLocks noChangeAspect="1"/>
          </p:cNvPicPr>
          <p:nvPr/>
        </p:nvPicPr>
        <p:blipFill>
          <a:blip r:embed="rId2"/>
          <a:stretch>
            <a:fillRect/>
          </a:stretch>
        </p:blipFill>
        <p:spPr>
          <a:xfrm>
            <a:off x="2317757" y="518504"/>
            <a:ext cx="7556485" cy="5820992"/>
          </a:xfrm>
          <a:prstGeom prst="rect">
            <a:avLst/>
          </a:prstGeom>
        </p:spPr>
      </p:pic>
    </p:spTree>
    <p:extLst>
      <p:ext uri="{BB962C8B-B14F-4D97-AF65-F5344CB8AC3E}">
        <p14:creationId xmlns:p14="http://schemas.microsoft.com/office/powerpoint/2010/main" val="2480326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4BCEE2-DFE5-4AEE-9EDA-21207CB92B60}"/>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D67662A5-275B-494D-8198-6442E8D5E00F}"/>
              </a:ext>
            </a:extLst>
          </p:cNvPr>
          <p:cNvPicPr>
            <a:picLocks noChangeAspect="1"/>
          </p:cNvPicPr>
          <p:nvPr/>
        </p:nvPicPr>
        <p:blipFill>
          <a:blip r:embed="rId2"/>
          <a:stretch>
            <a:fillRect/>
          </a:stretch>
        </p:blipFill>
        <p:spPr>
          <a:xfrm>
            <a:off x="1310095" y="273917"/>
            <a:ext cx="9929892" cy="6310165"/>
          </a:xfrm>
          <a:prstGeom prst="rect">
            <a:avLst/>
          </a:prstGeom>
        </p:spPr>
      </p:pic>
    </p:spTree>
    <p:extLst>
      <p:ext uri="{BB962C8B-B14F-4D97-AF65-F5344CB8AC3E}">
        <p14:creationId xmlns:p14="http://schemas.microsoft.com/office/powerpoint/2010/main" val="4125095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E8B9DCE-5632-4D3A-AC14-EE1DC281F991}"/>
              </a:ext>
            </a:extLst>
          </p:cNvPr>
          <p:cNvSpPr>
            <a:spLocks noGrp="1"/>
          </p:cNvSpPr>
          <p:nvPr>
            <p:ph idx="1"/>
          </p:nvPr>
        </p:nvSpPr>
        <p:spPr>
          <a:xfrm>
            <a:off x="609600" y="1201093"/>
            <a:ext cx="10861964" cy="5155257"/>
          </a:xfrm>
          <a:solidFill>
            <a:schemeClr val="accent1">
              <a:lumMod val="20000"/>
              <a:lumOff val="80000"/>
            </a:schemeClr>
          </a:solidFill>
          <a:ln w="28575">
            <a:solidFill>
              <a:schemeClr val="accent1"/>
            </a:solidFill>
          </a:ln>
        </p:spPr>
        <p:txBody>
          <a:bodyPr vert="horz" wrap="square" lIns="91440" tIns="45720" rIns="91440" bIns="45720" rtlCol="0">
            <a:spAutoFit/>
          </a:bodyPr>
          <a:lstStyle/>
          <a:p>
            <a:pPr marL="0" indent="0" algn="ctr">
              <a:buNone/>
            </a:pPr>
            <a:r>
              <a:rPr lang="fr-FR" b="1" dirty="0"/>
              <a:t>Quelques ressources plus spécialisées :</a:t>
            </a:r>
          </a:p>
          <a:p>
            <a:pPr lvl="1"/>
            <a:endParaRPr lang="fr-FR" sz="2000" dirty="0"/>
          </a:p>
          <a:p>
            <a:pPr lvl="1"/>
            <a:r>
              <a:rPr lang="fr-FR" sz="2000" dirty="0"/>
              <a:t>En français :</a:t>
            </a:r>
          </a:p>
          <a:p>
            <a:pPr lvl="2"/>
            <a:r>
              <a:rPr lang="fr-FR" dirty="0">
                <a:hlinkClick r:id="rId2"/>
              </a:rPr>
              <a:t>https://www.implications-philosophiques.org/</a:t>
            </a:r>
            <a:r>
              <a:rPr lang="fr-FR" dirty="0"/>
              <a:t> [une plateforme importante en philosophie]</a:t>
            </a:r>
          </a:p>
          <a:p>
            <a:pPr lvl="2"/>
            <a:r>
              <a:rPr lang="fr-FR" dirty="0">
                <a:hlinkClick r:id="rId3"/>
              </a:rPr>
              <a:t>https://www.fabula.org/</a:t>
            </a:r>
            <a:r>
              <a:rPr lang="fr-FR" dirty="0"/>
              <a:t> [la plateforme de référence pour la recherche en littérature] </a:t>
            </a:r>
          </a:p>
          <a:p>
            <a:pPr lvl="2"/>
            <a:r>
              <a:rPr lang="fr-FR" dirty="0">
                <a:hlinkClick r:id="rId4"/>
              </a:rPr>
              <a:t>http://www.actu-philosophia.com/</a:t>
            </a:r>
            <a:r>
              <a:rPr lang="fr-FR" dirty="0"/>
              <a:t>  </a:t>
            </a:r>
          </a:p>
          <a:p>
            <a:pPr lvl="2"/>
            <a:endParaRPr lang="fr-FR" dirty="0"/>
          </a:p>
          <a:p>
            <a:pPr lvl="1"/>
            <a:r>
              <a:rPr lang="fr-FR" sz="2000" dirty="0"/>
              <a:t>Pour la philosophie, en anglais (plus technique)</a:t>
            </a:r>
          </a:p>
          <a:p>
            <a:pPr lvl="2"/>
            <a:r>
              <a:rPr lang="fr-FR" dirty="0">
                <a:hlinkClick r:id="rId5"/>
              </a:rPr>
              <a:t>https://philpapers.org/</a:t>
            </a:r>
            <a:r>
              <a:rPr lang="fr-FR" dirty="0"/>
              <a:t> </a:t>
            </a:r>
          </a:p>
          <a:p>
            <a:pPr lvl="2"/>
            <a:r>
              <a:rPr lang="fr-FR" dirty="0">
                <a:hlinkClick r:id="rId6"/>
              </a:rPr>
              <a:t>https://plato.stanford.edu/entries/</a:t>
            </a:r>
            <a:r>
              <a:rPr lang="fr-FR" dirty="0"/>
              <a:t> [une encyclopédie philosophique en ligne de référence]</a:t>
            </a:r>
          </a:p>
          <a:p>
            <a:pPr lvl="2"/>
            <a:endParaRPr lang="fr-FR" dirty="0"/>
          </a:p>
          <a:p>
            <a:pPr lvl="1"/>
            <a:r>
              <a:rPr lang="fr-FR" sz="2000" dirty="0"/>
              <a:t>Sur la question des nouvelles technologies : </a:t>
            </a:r>
            <a:r>
              <a:rPr lang="fr-FR" sz="2000" dirty="0">
                <a:hlinkClick r:id="rId7"/>
              </a:rPr>
              <a:t>https://www.implications-philosophiques.org/category/semaines-thematiques/philosophie-et-numerique/</a:t>
            </a:r>
            <a:r>
              <a:rPr lang="fr-FR" sz="2000" dirty="0"/>
              <a:t>  </a:t>
            </a:r>
            <a:r>
              <a:rPr lang="fr-FR" sz="1800" dirty="0"/>
              <a:t>[un dossier de qualité]</a:t>
            </a:r>
          </a:p>
          <a:p>
            <a:pPr lvl="1"/>
            <a:endParaRPr lang="fr-FR" b="1" dirty="0"/>
          </a:p>
        </p:txBody>
      </p:sp>
      <p:sp>
        <p:nvSpPr>
          <p:cNvPr id="4" name="Espace réservé de la date 3">
            <a:extLst>
              <a:ext uri="{FF2B5EF4-FFF2-40B4-BE49-F238E27FC236}">
                <a16:creationId xmlns:a16="http://schemas.microsoft.com/office/drawing/2014/main" id="{97B2C25D-A0CA-4A18-8AA5-1E70192CD313}"/>
              </a:ext>
            </a:extLst>
          </p:cNvPr>
          <p:cNvSpPr>
            <a:spLocks noGrp="1"/>
          </p:cNvSpPr>
          <p:nvPr>
            <p:ph type="dt" sz="half" idx="10"/>
          </p:nvPr>
        </p:nvSpPr>
        <p:spPr/>
        <p:txBody>
          <a:bodyPr/>
          <a:lstStyle/>
          <a:p>
            <a:fld id="{06B76CA5-E650-437B-8D1E-FE54F070B9DD}" type="datetime1">
              <a:rPr lang="fr-FR" smtClean="0"/>
              <a:t>21/04/2024</a:t>
            </a:fld>
            <a:endParaRPr lang="fr-FR"/>
          </a:p>
        </p:txBody>
      </p:sp>
      <p:sp>
        <p:nvSpPr>
          <p:cNvPr id="5" name="Espace réservé du pied de page 4">
            <a:extLst>
              <a:ext uri="{FF2B5EF4-FFF2-40B4-BE49-F238E27FC236}">
                <a16:creationId xmlns:a16="http://schemas.microsoft.com/office/drawing/2014/main" id="{B90CD339-26F6-4311-AF59-C8280EB582D5}"/>
              </a:ext>
            </a:extLst>
          </p:cNvPr>
          <p:cNvSpPr>
            <a:spLocks noGrp="1"/>
          </p:cNvSpPr>
          <p:nvPr>
            <p:ph type="ftr" sz="quarter" idx="11"/>
          </p:nvPr>
        </p:nvSpPr>
        <p:spPr/>
        <p:txBody>
          <a:bodyPr/>
          <a:lstStyle/>
          <a:p>
            <a:r>
              <a:rPr lang="fr-FR"/>
              <a:t>Département Relations Humaines CYTECH</a:t>
            </a:r>
          </a:p>
        </p:txBody>
      </p:sp>
      <p:sp>
        <p:nvSpPr>
          <p:cNvPr id="6" name="Espace réservé du numéro de diapositive 5">
            <a:extLst>
              <a:ext uri="{FF2B5EF4-FFF2-40B4-BE49-F238E27FC236}">
                <a16:creationId xmlns:a16="http://schemas.microsoft.com/office/drawing/2014/main" id="{7D0168C6-527F-4B01-B11A-6C3202E3D072}"/>
              </a:ext>
            </a:extLst>
          </p:cNvPr>
          <p:cNvSpPr>
            <a:spLocks noGrp="1"/>
          </p:cNvSpPr>
          <p:nvPr>
            <p:ph type="sldNum" sz="quarter" idx="12"/>
          </p:nvPr>
        </p:nvSpPr>
        <p:spPr/>
        <p:txBody>
          <a:bodyPr/>
          <a:lstStyle/>
          <a:p>
            <a:fld id="{7DAD7342-B3A3-4D81-9EE3-E1D136D788BD}" type="slidenum">
              <a:rPr lang="fr-FR" smtClean="0"/>
              <a:t>19</a:t>
            </a:fld>
            <a:endParaRPr lang="fr-FR"/>
          </a:p>
        </p:txBody>
      </p:sp>
      <p:sp>
        <p:nvSpPr>
          <p:cNvPr id="9" name="Titre 1">
            <a:extLst>
              <a:ext uri="{FF2B5EF4-FFF2-40B4-BE49-F238E27FC236}">
                <a16:creationId xmlns:a16="http://schemas.microsoft.com/office/drawing/2014/main" id="{ABD721DC-BC91-4B1E-B50C-09EA69CF228E}"/>
              </a:ext>
            </a:extLst>
          </p:cNvPr>
          <p:cNvSpPr>
            <a:spLocks noGrp="1"/>
          </p:cNvSpPr>
          <p:nvPr>
            <p:ph type="title"/>
          </p:nvPr>
        </p:nvSpPr>
        <p:spPr>
          <a:xfrm>
            <a:off x="609600" y="206706"/>
            <a:ext cx="10972800" cy="888820"/>
          </a:xfrm>
          <a:solidFill>
            <a:srgbClr val="0070C0"/>
          </a:solidFill>
        </p:spPr>
        <p:txBody>
          <a:bodyPr vert="horz" lIns="91440" tIns="45720" rIns="91440" bIns="45720" rtlCol="0" anchor="ctr">
            <a:normAutofit fontScale="90000"/>
          </a:bodyPr>
          <a:lstStyle/>
          <a:p>
            <a:pPr algn="ctr"/>
            <a:r>
              <a:rPr lang="fr-FR" sz="3600" b="1" dirty="0">
                <a:solidFill>
                  <a:schemeClr val="bg1"/>
                </a:solidFill>
              </a:rPr>
              <a:t>Approfondir une problématique : les articles de recherche et ouvrages en ligne (3/3)</a:t>
            </a:r>
          </a:p>
        </p:txBody>
      </p:sp>
    </p:spTree>
    <p:extLst>
      <p:ext uri="{BB962C8B-B14F-4D97-AF65-F5344CB8AC3E}">
        <p14:creationId xmlns:p14="http://schemas.microsoft.com/office/powerpoint/2010/main" val="1370435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B3AB1650-DA94-44EF-919A-74443E3BC5B0}"/>
              </a:ext>
            </a:extLst>
          </p:cNvPr>
          <p:cNvPicPr>
            <a:picLocks noChangeAspect="1"/>
          </p:cNvPicPr>
          <p:nvPr/>
        </p:nvPicPr>
        <p:blipFill>
          <a:blip r:embed="rId2"/>
          <a:stretch>
            <a:fillRect/>
          </a:stretch>
        </p:blipFill>
        <p:spPr>
          <a:xfrm>
            <a:off x="9465" y="0"/>
            <a:ext cx="12182535" cy="6858000"/>
          </a:xfrm>
          <a:prstGeom prst="rect">
            <a:avLst/>
          </a:prstGeom>
        </p:spPr>
      </p:pic>
      <p:pic>
        <p:nvPicPr>
          <p:cNvPr id="8" name="Image 7">
            <a:extLst>
              <a:ext uri="{FF2B5EF4-FFF2-40B4-BE49-F238E27FC236}">
                <a16:creationId xmlns:a16="http://schemas.microsoft.com/office/drawing/2014/main" id="{EAB6BA5B-91F4-44A3-B4BB-7495B2A2F3CC}"/>
              </a:ext>
            </a:extLst>
          </p:cNvPr>
          <p:cNvPicPr>
            <a:picLocks noChangeAspect="1"/>
          </p:cNvPicPr>
          <p:nvPr/>
        </p:nvPicPr>
        <p:blipFill>
          <a:blip r:embed="rId3"/>
          <a:stretch>
            <a:fillRect/>
          </a:stretch>
        </p:blipFill>
        <p:spPr>
          <a:xfrm>
            <a:off x="2359259" y="196968"/>
            <a:ext cx="7299310" cy="6342143"/>
          </a:xfrm>
          <a:prstGeom prst="rect">
            <a:avLst/>
          </a:prstGeom>
        </p:spPr>
      </p:pic>
    </p:spTree>
    <p:extLst>
      <p:ext uri="{BB962C8B-B14F-4D97-AF65-F5344CB8AC3E}">
        <p14:creationId xmlns:p14="http://schemas.microsoft.com/office/powerpoint/2010/main" val="1670204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613718-4419-4252-8FA6-56A1546A3F44}"/>
              </a:ext>
            </a:extLst>
          </p:cNvPr>
          <p:cNvSpPr>
            <a:spLocks noGrp="1"/>
          </p:cNvSpPr>
          <p:nvPr>
            <p:ph type="title"/>
          </p:nvPr>
        </p:nvSpPr>
        <p:spPr>
          <a:xfrm>
            <a:off x="838200" y="365126"/>
            <a:ext cx="10515600" cy="1176292"/>
          </a:xfrm>
          <a:solidFill>
            <a:srgbClr val="0070C0"/>
          </a:solidFill>
        </p:spPr>
        <p:txBody>
          <a:bodyPr vert="horz" lIns="91440" tIns="45720" rIns="91440" bIns="45720" rtlCol="0" anchor="ctr">
            <a:normAutofit/>
          </a:bodyPr>
          <a:lstStyle/>
          <a:p>
            <a:pPr algn="ctr"/>
            <a:r>
              <a:rPr lang="fr-FR" sz="3600" b="1" dirty="0">
                <a:solidFill>
                  <a:schemeClr val="bg1"/>
                </a:solidFill>
              </a:rPr>
              <a:t>Quelques autres ressources : partage des savoirs et vulgarisation</a:t>
            </a:r>
          </a:p>
        </p:txBody>
      </p:sp>
      <p:sp>
        <p:nvSpPr>
          <p:cNvPr id="3" name="Espace réservé du contenu 2">
            <a:extLst>
              <a:ext uri="{FF2B5EF4-FFF2-40B4-BE49-F238E27FC236}">
                <a16:creationId xmlns:a16="http://schemas.microsoft.com/office/drawing/2014/main" id="{572682CA-DC50-4938-90CD-606B5DBC3364}"/>
              </a:ext>
            </a:extLst>
          </p:cNvPr>
          <p:cNvSpPr>
            <a:spLocks noGrp="1"/>
          </p:cNvSpPr>
          <p:nvPr>
            <p:ph idx="1"/>
          </p:nvPr>
        </p:nvSpPr>
        <p:spPr>
          <a:xfrm>
            <a:off x="838200" y="1837509"/>
            <a:ext cx="10515600" cy="4663841"/>
          </a:xfrm>
          <a:solidFill>
            <a:schemeClr val="accent1">
              <a:lumMod val="20000"/>
              <a:lumOff val="80000"/>
            </a:schemeClr>
          </a:solidFill>
          <a:ln w="28575">
            <a:solidFill>
              <a:schemeClr val="accent1"/>
            </a:solidFill>
          </a:ln>
        </p:spPr>
        <p:txBody>
          <a:bodyPr vert="horz" wrap="square" lIns="91440" tIns="45720" rIns="91440" bIns="45720" rtlCol="0">
            <a:spAutoFit/>
          </a:bodyPr>
          <a:lstStyle/>
          <a:p>
            <a:pPr marL="0" indent="0" algn="ctr">
              <a:buNone/>
            </a:pPr>
            <a:r>
              <a:rPr lang="fr-FR" b="1" dirty="0"/>
              <a:t>Il existe également de nombreuses ressources de vulgarisation de qualité, sous la forme de conférences ou de cours en ligne :</a:t>
            </a:r>
          </a:p>
          <a:p>
            <a:pPr marL="0" indent="0" algn="ctr">
              <a:buNone/>
            </a:pPr>
            <a:endParaRPr lang="fr-FR" b="1" dirty="0"/>
          </a:p>
          <a:p>
            <a:pPr marL="0" indent="0">
              <a:buNone/>
            </a:pPr>
            <a:r>
              <a:rPr lang="fr-FR" b="1" u="sng" dirty="0"/>
              <a:t>Grandes institutions</a:t>
            </a:r>
          </a:p>
          <a:p>
            <a:pPr marL="0" indent="0">
              <a:buNone/>
            </a:pPr>
            <a:r>
              <a:rPr lang="fr-FR" sz="2400" dirty="0"/>
              <a:t>Deux institutions de référence, dont les plateformes de diffusion sont riches :</a:t>
            </a:r>
          </a:p>
          <a:p>
            <a:r>
              <a:rPr lang="fr-FR" sz="2400" dirty="0"/>
              <a:t>ENS : </a:t>
            </a:r>
            <a:r>
              <a:rPr lang="fr-FR" sz="2400" dirty="0">
                <a:hlinkClick r:id="rId2"/>
              </a:rPr>
              <a:t>https://savoirs.ens.fr/</a:t>
            </a:r>
            <a:r>
              <a:rPr lang="fr-FR" sz="2400" dirty="0"/>
              <a:t> </a:t>
            </a:r>
          </a:p>
          <a:p>
            <a:r>
              <a:rPr lang="fr-FR" sz="2400" dirty="0"/>
              <a:t>Collège de France : </a:t>
            </a:r>
            <a:r>
              <a:rPr lang="fr-FR" sz="2400" dirty="0">
                <a:hlinkClick r:id="rId3"/>
              </a:rPr>
              <a:t>https://www.college-de-france.fr/site/savoirs/</a:t>
            </a:r>
            <a:r>
              <a:rPr lang="fr-FR" sz="2400" dirty="0"/>
              <a:t> </a:t>
            </a:r>
          </a:p>
          <a:p>
            <a:r>
              <a:rPr lang="fr-FR" sz="2400" dirty="0"/>
              <a:t>Canal-U : </a:t>
            </a:r>
            <a:r>
              <a:rPr lang="fr-FR" sz="2400" dirty="0">
                <a:hlinkClick r:id="rId4"/>
              </a:rPr>
              <a:t>https://www.canal-u.tv/</a:t>
            </a:r>
            <a:r>
              <a:rPr lang="fr-FR" sz="2400" dirty="0"/>
              <a:t> </a:t>
            </a:r>
          </a:p>
          <a:p>
            <a:pPr marL="0" indent="0">
              <a:buNone/>
            </a:pPr>
            <a:r>
              <a:rPr lang="fr-FR" sz="2400" dirty="0"/>
              <a:t>Voir aussi :</a:t>
            </a:r>
          </a:p>
          <a:p>
            <a:pPr marL="0" indent="0">
              <a:buNone/>
            </a:pPr>
            <a:r>
              <a:rPr lang="fr-FR" sz="2400" dirty="0"/>
              <a:t>BNF : </a:t>
            </a:r>
            <a:r>
              <a:rPr lang="fr-FR" sz="2400" dirty="0">
                <a:hlinkClick r:id="rId5"/>
              </a:rPr>
              <a:t>https://www.bnf.fr/fr/mediatheque/toute-la-mediatheque?first_Rub=non</a:t>
            </a:r>
            <a:r>
              <a:rPr lang="fr-FR" sz="2400" dirty="0"/>
              <a:t> </a:t>
            </a:r>
          </a:p>
        </p:txBody>
      </p:sp>
    </p:spTree>
    <p:extLst>
      <p:ext uri="{BB962C8B-B14F-4D97-AF65-F5344CB8AC3E}">
        <p14:creationId xmlns:p14="http://schemas.microsoft.com/office/powerpoint/2010/main" val="815239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F96B2FAB-ACCF-4CAA-94DA-801CDDED6BA0}"/>
              </a:ext>
            </a:extLst>
          </p:cNvPr>
          <p:cNvPicPr>
            <a:picLocks noChangeAspect="1"/>
          </p:cNvPicPr>
          <p:nvPr/>
        </p:nvPicPr>
        <p:blipFill>
          <a:blip r:embed="rId2"/>
          <a:stretch>
            <a:fillRect/>
          </a:stretch>
        </p:blipFill>
        <p:spPr>
          <a:xfrm>
            <a:off x="6095" y="0"/>
            <a:ext cx="12179809" cy="6858000"/>
          </a:xfrm>
          <a:prstGeom prst="rect">
            <a:avLst/>
          </a:prstGeom>
        </p:spPr>
      </p:pic>
      <p:pic>
        <p:nvPicPr>
          <p:cNvPr id="5" name="Image 4">
            <a:extLst>
              <a:ext uri="{FF2B5EF4-FFF2-40B4-BE49-F238E27FC236}">
                <a16:creationId xmlns:a16="http://schemas.microsoft.com/office/drawing/2014/main" id="{64FB34A2-CDB4-4FBB-95AC-39DA7DF36CD9}"/>
              </a:ext>
            </a:extLst>
          </p:cNvPr>
          <p:cNvPicPr>
            <a:picLocks noChangeAspect="1"/>
          </p:cNvPicPr>
          <p:nvPr/>
        </p:nvPicPr>
        <p:blipFill>
          <a:blip r:embed="rId3"/>
          <a:stretch>
            <a:fillRect/>
          </a:stretch>
        </p:blipFill>
        <p:spPr>
          <a:xfrm>
            <a:off x="2432138" y="299968"/>
            <a:ext cx="7479811" cy="6258063"/>
          </a:xfrm>
          <a:prstGeom prst="rect">
            <a:avLst/>
          </a:prstGeom>
        </p:spPr>
      </p:pic>
    </p:spTree>
    <p:extLst>
      <p:ext uri="{BB962C8B-B14F-4D97-AF65-F5344CB8AC3E}">
        <p14:creationId xmlns:p14="http://schemas.microsoft.com/office/powerpoint/2010/main" val="2565958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613718-4419-4252-8FA6-56A1546A3F44}"/>
              </a:ext>
            </a:extLst>
          </p:cNvPr>
          <p:cNvSpPr>
            <a:spLocks noGrp="1"/>
          </p:cNvSpPr>
          <p:nvPr>
            <p:ph type="title"/>
          </p:nvPr>
        </p:nvSpPr>
        <p:spPr>
          <a:xfrm>
            <a:off x="0" y="0"/>
            <a:ext cx="12192000" cy="1176292"/>
          </a:xfrm>
          <a:solidFill>
            <a:srgbClr val="0070C0"/>
          </a:solidFill>
        </p:spPr>
        <p:txBody>
          <a:bodyPr vert="horz" lIns="91440" tIns="45720" rIns="91440" bIns="45720" rtlCol="0" anchor="ctr">
            <a:normAutofit/>
          </a:bodyPr>
          <a:lstStyle/>
          <a:p>
            <a:pPr algn="ctr"/>
            <a:r>
              <a:rPr lang="fr-FR" sz="3600" b="1" dirty="0">
                <a:solidFill>
                  <a:schemeClr val="bg1"/>
                </a:solidFill>
              </a:rPr>
              <a:t>Quelques autres ressources : partage des savoirs et vulgarisation</a:t>
            </a:r>
          </a:p>
        </p:txBody>
      </p:sp>
      <p:sp>
        <p:nvSpPr>
          <p:cNvPr id="3" name="Espace réservé du contenu 2">
            <a:extLst>
              <a:ext uri="{FF2B5EF4-FFF2-40B4-BE49-F238E27FC236}">
                <a16:creationId xmlns:a16="http://schemas.microsoft.com/office/drawing/2014/main" id="{572682CA-DC50-4938-90CD-606B5DBC3364}"/>
              </a:ext>
            </a:extLst>
          </p:cNvPr>
          <p:cNvSpPr>
            <a:spLocks noGrp="1"/>
          </p:cNvSpPr>
          <p:nvPr>
            <p:ph idx="1"/>
          </p:nvPr>
        </p:nvSpPr>
        <p:spPr>
          <a:xfrm>
            <a:off x="496453" y="1335343"/>
            <a:ext cx="11224491" cy="4553041"/>
          </a:xfrm>
          <a:solidFill>
            <a:schemeClr val="accent1">
              <a:lumMod val="20000"/>
              <a:lumOff val="80000"/>
            </a:schemeClr>
          </a:solidFill>
          <a:ln w="28575">
            <a:solidFill>
              <a:schemeClr val="accent1"/>
            </a:solidFill>
          </a:ln>
        </p:spPr>
        <p:txBody>
          <a:bodyPr vert="horz" wrap="square" lIns="91440" tIns="45720" rIns="91440" bIns="45720" rtlCol="0">
            <a:spAutoFit/>
          </a:bodyPr>
          <a:lstStyle/>
          <a:p>
            <a:pPr marL="0" indent="0">
              <a:buNone/>
            </a:pPr>
            <a:r>
              <a:rPr lang="fr-FR" sz="2400" b="1" u="sng" dirty="0"/>
              <a:t>Universités françaises</a:t>
            </a:r>
          </a:p>
          <a:p>
            <a:pPr marL="0" indent="0">
              <a:buNone/>
            </a:pPr>
            <a:r>
              <a:rPr lang="fr-FR" sz="2000" dirty="0"/>
              <a:t>Toutes les universités françaises ont une activité de « diffusion des savoirs ». Voir sur le site Internet, la rubrique consacrée.</a:t>
            </a:r>
          </a:p>
          <a:p>
            <a:pPr marL="0" indent="0">
              <a:buNone/>
            </a:pPr>
            <a:endParaRPr lang="fr-FR" sz="2400" b="1" dirty="0"/>
          </a:p>
          <a:p>
            <a:pPr marL="0" indent="0">
              <a:buNone/>
            </a:pPr>
            <a:r>
              <a:rPr lang="fr-FR" sz="2400" b="1" u="sng" dirty="0"/>
              <a:t>Universités américaines</a:t>
            </a:r>
          </a:p>
          <a:p>
            <a:pPr marL="0" indent="0">
              <a:buNone/>
            </a:pPr>
            <a:r>
              <a:rPr lang="fr-FR" sz="2000" dirty="0"/>
              <a:t>Toutes les grandes universités américaines ont une chaîne sur YouTube, avec des cours en ligne très intéressants, dans différentes disciplines (voir exemple en page suivante).</a:t>
            </a:r>
          </a:p>
          <a:p>
            <a:pPr marL="0" indent="0">
              <a:buNone/>
            </a:pPr>
            <a:endParaRPr lang="fr-FR" sz="2400" b="1" dirty="0"/>
          </a:p>
          <a:p>
            <a:pPr marL="0" indent="0">
              <a:buNone/>
            </a:pPr>
            <a:r>
              <a:rPr lang="fr-FR" sz="2400" b="1" u="sng" dirty="0"/>
              <a:t>Chaînes en ligne de vulgarisation </a:t>
            </a:r>
            <a:r>
              <a:rPr lang="fr-FR" sz="2400" dirty="0"/>
              <a:t>:</a:t>
            </a:r>
          </a:p>
          <a:p>
            <a:pPr marL="0" indent="0">
              <a:buNone/>
            </a:pPr>
            <a:r>
              <a:rPr lang="fr-FR" sz="2000" dirty="0"/>
              <a:t>Par exemple, pour la philosophie, « Monsieur Phi »</a:t>
            </a:r>
            <a:r>
              <a:rPr lang="fr-FR" sz="2000" b="1" dirty="0"/>
              <a:t> </a:t>
            </a:r>
            <a:r>
              <a:rPr lang="fr-FR" sz="2000" dirty="0"/>
              <a:t>(</a:t>
            </a:r>
            <a:r>
              <a:rPr lang="fr-FR" sz="2000" dirty="0">
                <a:hlinkClick r:id="rId2"/>
              </a:rPr>
              <a:t>https://www.youtube.com/c/MonsieurPhi/featured</a:t>
            </a:r>
            <a:r>
              <a:rPr lang="fr-FR" sz="2000" dirty="0"/>
              <a:t>) </a:t>
            </a:r>
          </a:p>
          <a:p>
            <a:pPr marL="0" indent="0" algn="ctr">
              <a:buNone/>
            </a:pPr>
            <a:endParaRPr lang="fr-FR" b="1" dirty="0"/>
          </a:p>
        </p:txBody>
      </p:sp>
    </p:spTree>
    <p:extLst>
      <p:ext uri="{BB962C8B-B14F-4D97-AF65-F5344CB8AC3E}">
        <p14:creationId xmlns:p14="http://schemas.microsoft.com/office/powerpoint/2010/main" val="166490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2E17C4A4-E5AB-4CA1-83F1-736B012FF9F1}"/>
              </a:ext>
            </a:extLst>
          </p:cNvPr>
          <p:cNvPicPr>
            <a:picLocks noChangeAspect="1"/>
          </p:cNvPicPr>
          <p:nvPr/>
        </p:nvPicPr>
        <p:blipFill>
          <a:blip r:embed="rId2"/>
          <a:stretch>
            <a:fillRect/>
          </a:stretch>
        </p:blipFill>
        <p:spPr>
          <a:xfrm>
            <a:off x="12191" y="0"/>
            <a:ext cx="12179809" cy="6858000"/>
          </a:xfrm>
          <a:prstGeom prst="rect">
            <a:avLst/>
          </a:prstGeom>
        </p:spPr>
      </p:pic>
      <p:pic>
        <p:nvPicPr>
          <p:cNvPr id="5" name="Image 4">
            <a:extLst>
              <a:ext uri="{FF2B5EF4-FFF2-40B4-BE49-F238E27FC236}">
                <a16:creationId xmlns:a16="http://schemas.microsoft.com/office/drawing/2014/main" id="{CC822329-5A77-4B41-AE1A-BA784D9EEF14}"/>
              </a:ext>
            </a:extLst>
          </p:cNvPr>
          <p:cNvPicPr>
            <a:picLocks noChangeAspect="1"/>
          </p:cNvPicPr>
          <p:nvPr/>
        </p:nvPicPr>
        <p:blipFill>
          <a:blip r:embed="rId3"/>
          <a:stretch>
            <a:fillRect/>
          </a:stretch>
        </p:blipFill>
        <p:spPr>
          <a:xfrm>
            <a:off x="1130831" y="327851"/>
            <a:ext cx="10261253" cy="6202298"/>
          </a:xfrm>
          <a:prstGeom prst="rect">
            <a:avLst/>
          </a:prstGeom>
        </p:spPr>
      </p:pic>
    </p:spTree>
    <p:extLst>
      <p:ext uri="{BB962C8B-B14F-4D97-AF65-F5344CB8AC3E}">
        <p14:creationId xmlns:p14="http://schemas.microsoft.com/office/powerpoint/2010/main" val="28234444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r>
              <a:rPr lang="fr-FR"/>
              <a:t>Pôle Humanités Design - Département des Relations Humaines</a:t>
            </a:r>
          </a:p>
        </p:txBody>
      </p:sp>
      <p:pic>
        <p:nvPicPr>
          <p:cNvPr id="7" name="Imag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91469" y="5960786"/>
            <a:ext cx="2395732" cy="791128"/>
          </a:xfrm>
          <a:prstGeom prst="rect">
            <a:avLst/>
          </a:prstGeom>
        </p:spPr>
      </p:pic>
      <p:pic>
        <p:nvPicPr>
          <p:cNvPr id="8" name="Imag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584" y="224020"/>
            <a:ext cx="1602495" cy="847134"/>
          </a:xfrm>
          <a:prstGeom prst="rect">
            <a:avLst/>
          </a:prstGeom>
        </p:spPr>
      </p:pic>
      <p:sp>
        <p:nvSpPr>
          <p:cNvPr id="10" name="Espace réservé du numéro de diapositive 9">
            <a:extLst>
              <a:ext uri="{FF2B5EF4-FFF2-40B4-BE49-F238E27FC236}">
                <a16:creationId xmlns:a16="http://schemas.microsoft.com/office/drawing/2014/main" id="{DF56F930-5130-4A5B-B089-BD34CDFCA1A5}"/>
              </a:ext>
            </a:extLst>
          </p:cNvPr>
          <p:cNvSpPr>
            <a:spLocks noGrp="1"/>
          </p:cNvSpPr>
          <p:nvPr>
            <p:ph type="sldNum" sz="quarter" idx="12"/>
          </p:nvPr>
        </p:nvSpPr>
        <p:spPr/>
        <p:txBody>
          <a:bodyPr/>
          <a:lstStyle/>
          <a:p>
            <a:fld id="{12AF830D-26DC-493D-A836-497366E9E67C}" type="slidenum">
              <a:rPr lang="fr-FR" smtClean="0"/>
              <a:t>25</a:t>
            </a:fld>
            <a:endParaRPr lang="fr-FR"/>
          </a:p>
        </p:txBody>
      </p:sp>
      <p:sp>
        <p:nvSpPr>
          <p:cNvPr id="9" name="Sous-titre 2">
            <a:extLst>
              <a:ext uri="{FF2B5EF4-FFF2-40B4-BE49-F238E27FC236}">
                <a16:creationId xmlns:a16="http://schemas.microsoft.com/office/drawing/2014/main" id="{73DCD697-9C65-4A30-9AB8-BCF5E9C37FD5}"/>
              </a:ext>
            </a:extLst>
          </p:cNvPr>
          <p:cNvSpPr txBox="1">
            <a:spLocks/>
          </p:cNvSpPr>
          <p:nvPr/>
        </p:nvSpPr>
        <p:spPr>
          <a:xfrm>
            <a:off x="883023" y="2984545"/>
            <a:ext cx="10425953" cy="23513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fr-FR" sz="3200" dirty="0">
              <a:solidFill>
                <a:srgbClr val="0070C0"/>
              </a:solidFill>
              <a:latin typeface="Gotham Medium" pitchFamily="50" charset="0"/>
              <a:ea typeface="+mj-ea"/>
            </a:endParaRPr>
          </a:p>
          <a:p>
            <a:pPr marL="0" indent="0" algn="ctr">
              <a:buNone/>
            </a:pPr>
            <a:endParaRPr lang="fr-FR" sz="3200" dirty="0">
              <a:solidFill>
                <a:srgbClr val="0070C0"/>
              </a:solidFill>
              <a:latin typeface="Gotham Medium" pitchFamily="50" charset="0"/>
              <a:ea typeface="+mj-ea"/>
            </a:endParaRPr>
          </a:p>
        </p:txBody>
      </p:sp>
      <p:sp>
        <p:nvSpPr>
          <p:cNvPr id="13" name="ZoneTexte 12">
            <a:extLst>
              <a:ext uri="{FF2B5EF4-FFF2-40B4-BE49-F238E27FC236}">
                <a16:creationId xmlns:a16="http://schemas.microsoft.com/office/drawing/2014/main" id="{42C62244-8508-4800-B692-C430CCE4B97A}"/>
              </a:ext>
            </a:extLst>
          </p:cNvPr>
          <p:cNvSpPr txBox="1"/>
          <p:nvPr/>
        </p:nvSpPr>
        <p:spPr>
          <a:xfrm>
            <a:off x="2133602" y="2699896"/>
            <a:ext cx="8351518" cy="729104"/>
          </a:xfrm>
          <a:prstGeom prst="rect">
            <a:avLst/>
          </a:prstGeom>
          <a:solidFill>
            <a:srgbClr val="0070C0"/>
          </a:solidFill>
        </p:spPr>
        <p:txBody>
          <a:bodyPr vert="horz" lIns="91440" tIns="45720" rIns="91440" bIns="45720" rtlCol="0">
            <a:noAutofit/>
          </a:bodyPr>
          <a:lstStyle>
            <a:defPPr>
              <a:defRPr lang="fr-FR"/>
            </a:defPPr>
            <a:lvl1pPr indent="0" algn="ctr">
              <a:lnSpc>
                <a:spcPct val="90000"/>
              </a:lnSpc>
              <a:spcBef>
                <a:spcPts val="1000"/>
              </a:spcBef>
              <a:buFont typeface="Arial" panose="020B0604020202020204" pitchFamily="34" charset="0"/>
              <a:buNone/>
              <a:defRPr sz="3200">
                <a:solidFill>
                  <a:srgbClr val="0070C0"/>
                </a:solidFill>
                <a:latin typeface="Gotham Medium" pitchFamily="50" charset="0"/>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sz="3600" b="1" dirty="0">
                <a:solidFill>
                  <a:schemeClr val="bg1"/>
                </a:solidFill>
              </a:rPr>
              <a:t>II – Recommandations de rédaction</a:t>
            </a:r>
          </a:p>
        </p:txBody>
      </p:sp>
    </p:spTree>
    <p:extLst>
      <p:ext uri="{BB962C8B-B14F-4D97-AF65-F5344CB8AC3E}">
        <p14:creationId xmlns:p14="http://schemas.microsoft.com/office/powerpoint/2010/main" val="4015304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E3929E1-7ACA-4220-AC1E-C7F221B6AF09}"/>
              </a:ext>
            </a:extLst>
          </p:cNvPr>
          <p:cNvSpPr/>
          <p:nvPr/>
        </p:nvSpPr>
        <p:spPr>
          <a:xfrm>
            <a:off x="616526" y="1253331"/>
            <a:ext cx="11012056" cy="4351338"/>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contenu 4">
            <a:extLst>
              <a:ext uri="{FF2B5EF4-FFF2-40B4-BE49-F238E27FC236}">
                <a16:creationId xmlns:a16="http://schemas.microsoft.com/office/drawing/2014/main" id="{E6031CE5-C46F-4C2F-BA2F-3488E2004696}"/>
              </a:ext>
            </a:extLst>
          </p:cNvPr>
          <p:cNvSpPr>
            <a:spLocks noGrp="1"/>
          </p:cNvSpPr>
          <p:nvPr>
            <p:ph idx="1"/>
          </p:nvPr>
        </p:nvSpPr>
        <p:spPr>
          <a:xfrm>
            <a:off x="810491" y="1361282"/>
            <a:ext cx="10642600" cy="4143591"/>
          </a:xfrm>
        </p:spPr>
        <p:txBody>
          <a:bodyPr>
            <a:normAutofit lnSpcReduction="10000"/>
          </a:bodyPr>
          <a:lstStyle/>
          <a:p>
            <a:pPr marL="514350" indent="-514350" algn="just">
              <a:buFont typeface="+mj-lt"/>
              <a:buAutoNum type="arabicPeriod"/>
            </a:pPr>
            <a:r>
              <a:rPr lang="fr-FR" b="1" dirty="0"/>
              <a:t>Le propose doit être problématisé</a:t>
            </a:r>
            <a:r>
              <a:rPr lang="fr-FR" dirty="0"/>
              <a:t>. Une problématique est toujours l’explicitation d’une difficulté intellectuelle, qui justifie l’effort d’élaboration d’une réponse.</a:t>
            </a:r>
          </a:p>
          <a:p>
            <a:pPr marL="514350" indent="-514350" algn="just">
              <a:buFont typeface="+mj-lt"/>
              <a:buAutoNum type="arabicPeriod"/>
            </a:pPr>
            <a:r>
              <a:rPr lang="fr-FR" b="1" dirty="0"/>
              <a:t>Développer son propos clairement</a:t>
            </a:r>
            <a:r>
              <a:rPr lang="fr-FR" dirty="0"/>
              <a:t>. Elaborer un plan clair et le développer en l’illustrant : un paragraphe = une idée + une illustration.</a:t>
            </a:r>
          </a:p>
          <a:p>
            <a:pPr marL="514350" indent="-514350" algn="just">
              <a:buFont typeface="+mj-lt"/>
              <a:buAutoNum type="arabicPeriod"/>
            </a:pPr>
            <a:r>
              <a:rPr lang="fr-FR" b="1" dirty="0"/>
              <a:t>Rédigez de manière précise et fluide</a:t>
            </a:r>
            <a:r>
              <a:rPr lang="fr-FR" dirty="0"/>
              <a:t>. </a:t>
            </a:r>
            <a:r>
              <a:rPr lang="fr-FR" altLang="fr-FR" dirty="0"/>
              <a:t>Ne multipliez pas inutilement les citations. Si quelques citations sont permises, privilégiez la reformulation du propos. Les citations doivent être mises au service de votre argumentation et vous aider à démontrer votre propos.</a:t>
            </a:r>
          </a:p>
          <a:p>
            <a:pPr marL="0" indent="0" algn="ctr">
              <a:buNone/>
            </a:pPr>
            <a:endParaRPr lang="fr-FR" dirty="0"/>
          </a:p>
          <a:p>
            <a:pPr marL="0" indent="0" algn="ctr">
              <a:buNone/>
            </a:pPr>
            <a:endParaRPr lang="fr-FR" dirty="0"/>
          </a:p>
        </p:txBody>
      </p:sp>
    </p:spTree>
    <p:extLst>
      <p:ext uri="{BB962C8B-B14F-4D97-AF65-F5344CB8AC3E}">
        <p14:creationId xmlns:p14="http://schemas.microsoft.com/office/powerpoint/2010/main" val="3883691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720436" y="2770909"/>
            <a:ext cx="10353964" cy="658091"/>
          </a:xfrm>
          <a:solidFill>
            <a:srgbClr val="0070C0"/>
          </a:solidFill>
        </p:spPr>
        <p:txBody>
          <a:bodyPr vert="horz" lIns="91440" tIns="45720" rIns="91440" bIns="45720" rtlCol="0">
            <a:noAutofit/>
          </a:bodyPr>
          <a:lstStyle/>
          <a:p>
            <a:pPr>
              <a:spcBef>
                <a:spcPts val="1000"/>
              </a:spcBef>
              <a:buFont typeface="Arial" panose="020B0604020202020204" pitchFamily="34" charset="0"/>
            </a:pPr>
            <a:r>
              <a:rPr lang="fr-FR" altLang="fr-FR" sz="3600" b="1" dirty="0">
                <a:solidFill>
                  <a:schemeClr val="bg1"/>
                </a:solidFill>
                <a:latin typeface="Gotham Medium" pitchFamily="50" charset="0"/>
                <a:cs typeface="+mn-cs"/>
              </a:rPr>
              <a:t>III - Recommandations pour l’usage des sources</a:t>
            </a:r>
          </a:p>
        </p:txBody>
      </p:sp>
    </p:spTree>
    <p:extLst>
      <p:ext uri="{BB962C8B-B14F-4D97-AF65-F5344CB8AC3E}">
        <p14:creationId xmlns:p14="http://schemas.microsoft.com/office/powerpoint/2010/main" val="2545360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93B06B-C2FF-49C7-9699-D4554BA01E78}"/>
              </a:ext>
            </a:extLst>
          </p:cNvPr>
          <p:cNvSpPr/>
          <p:nvPr/>
        </p:nvSpPr>
        <p:spPr>
          <a:xfrm>
            <a:off x="397164" y="905164"/>
            <a:ext cx="11453091" cy="5301672"/>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0" y="8309"/>
            <a:ext cx="12192000" cy="797241"/>
          </a:xfrm>
          <a:solidFill>
            <a:srgbClr val="0070C0"/>
          </a:solidFill>
        </p:spPr>
        <p:txBody>
          <a:bodyPr vert="horz" lIns="91440" tIns="45720" rIns="91440" bIns="45720" rtlCol="0" anchor="ctr">
            <a:normAutofit/>
          </a:bodyPr>
          <a:lstStyle/>
          <a:p>
            <a:pPr algn="ctr"/>
            <a:r>
              <a:rPr lang="fr-FR" altLang="fr-FR" sz="3600" b="1" dirty="0">
                <a:solidFill>
                  <a:schemeClr val="bg1"/>
                </a:solidFill>
              </a:rPr>
              <a:t>1) Le choix des sources</a:t>
            </a:r>
          </a:p>
        </p:txBody>
      </p:sp>
      <p:sp>
        <p:nvSpPr>
          <p:cNvPr id="3" name="Espace réservé du contenu 2"/>
          <p:cNvSpPr>
            <a:spLocks noGrp="1"/>
          </p:cNvSpPr>
          <p:nvPr>
            <p:ph idx="1"/>
          </p:nvPr>
        </p:nvSpPr>
        <p:spPr>
          <a:xfrm>
            <a:off x="581891" y="994300"/>
            <a:ext cx="10861963" cy="4815373"/>
          </a:xfrm>
        </p:spPr>
        <p:txBody>
          <a:bodyPr numCol="1">
            <a:normAutofit/>
          </a:bodyPr>
          <a:lstStyle/>
          <a:p>
            <a:r>
              <a:rPr lang="fr-FR" altLang="fr-FR" dirty="0"/>
              <a:t>Attention à la </a:t>
            </a:r>
            <a:r>
              <a:rPr lang="fr-FR" altLang="fr-FR" b="1" dirty="0"/>
              <a:t>qualité</a:t>
            </a:r>
            <a:r>
              <a:rPr lang="fr-FR" altLang="fr-FR" dirty="0"/>
              <a:t> </a:t>
            </a:r>
            <a:r>
              <a:rPr lang="fr-FR" altLang="fr-FR" b="1" dirty="0"/>
              <a:t>des sources </a:t>
            </a:r>
            <a:r>
              <a:rPr lang="fr-FR" altLang="fr-FR" dirty="0"/>
              <a:t>:</a:t>
            </a:r>
          </a:p>
          <a:p>
            <a:pPr lvl="1">
              <a:buFont typeface="Calibri" panose="020F0502020204030204" pitchFamily="34" charset="0"/>
              <a:buChar char="­"/>
            </a:pPr>
            <a:r>
              <a:rPr lang="fr-FR" altLang="fr-FR" dirty="0"/>
              <a:t>Evitez les blogs si l’auteur n’est pas un spécialiste reconnu du sujet.</a:t>
            </a:r>
          </a:p>
          <a:p>
            <a:pPr lvl="1">
              <a:buFont typeface="Calibri" panose="020F0502020204030204" pitchFamily="34" charset="0"/>
              <a:buChar char="­"/>
            </a:pPr>
            <a:r>
              <a:rPr lang="en-US" dirty="0" err="1"/>
              <a:t>Soyez</a:t>
            </a:r>
            <a:r>
              <a:rPr lang="en-US" dirty="0"/>
              <a:t> vigilant avec</a:t>
            </a:r>
            <a:r>
              <a:rPr lang="fr-FR" altLang="fr-FR" dirty="0"/>
              <a:t> les informations émises par des acteurs qui ont des intérêts partisans sur un sujet : par exemple, un énergéticien sur une question environnementale, etc.</a:t>
            </a:r>
          </a:p>
          <a:p>
            <a:pPr lvl="1">
              <a:buFont typeface="Calibri" panose="020F0502020204030204" pitchFamily="34" charset="0"/>
              <a:buChar char="­"/>
            </a:pPr>
            <a:r>
              <a:rPr lang="fr-FR" altLang="fr-FR" dirty="0"/>
              <a:t>Pour des sujets complexes, utilisez des sources suffisamment précises. Par exemple, des sources universitaires, en allant sur les plateformes: </a:t>
            </a:r>
            <a:r>
              <a:rPr lang="fr-FR" altLang="fr-FR" u="sng" dirty="0"/>
              <a:t>cairn.info</a:t>
            </a:r>
            <a:r>
              <a:rPr lang="fr-FR" altLang="fr-FR" dirty="0"/>
              <a:t>, </a:t>
            </a:r>
            <a:r>
              <a:rPr lang="fr-FR" altLang="fr-FR" u="sng" dirty="0"/>
              <a:t>journals.openedition.org</a:t>
            </a:r>
            <a:r>
              <a:rPr lang="fr-FR" altLang="fr-FR" dirty="0"/>
              <a:t>, </a:t>
            </a:r>
            <a:r>
              <a:rPr lang="fr-FR" altLang="fr-FR" u="sng" dirty="0"/>
              <a:t>persee.fr</a:t>
            </a:r>
            <a:r>
              <a:rPr lang="fr-FR" altLang="fr-FR" dirty="0"/>
              <a:t> ou </a:t>
            </a:r>
            <a:r>
              <a:rPr lang="fr-FR" altLang="fr-FR" u="sng" dirty="0"/>
              <a:t>erudit.org</a:t>
            </a:r>
            <a:r>
              <a:rPr lang="fr-FR" altLang="fr-FR" dirty="0"/>
              <a:t>.</a:t>
            </a:r>
          </a:p>
        </p:txBody>
      </p:sp>
    </p:spTree>
    <p:extLst>
      <p:ext uri="{BB962C8B-B14F-4D97-AF65-F5344CB8AC3E}">
        <p14:creationId xmlns:p14="http://schemas.microsoft.com/office/powerpoint/2010/main" val="3208128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1C2065F-B6B1-4470-8E23-76F048F68305}"/>
              </a:ext>
            </a:extLst>
          </p:cNvPr>
          <p:cNvSpPr/>
          <p:nvPr/>
        </p:nvSpPr>
        <p:spPr>
          <a:xfrm>
            <a:off x="369454" y="360219"/>
            <a:ext cx="11453091" cy="5301672"/>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692727" y="639192"/>
            <a:ext cx="10806546" cy="4708663"/>
          </a:xfrm>
        </p:spPr>
        <p:txBody>
          <a:bodyPr numCol="1">
            <a:normAutofit/>
          </a:bodyPr>
          <a:lstStyle/>
          <a:p>
            <a:r>
              <a:rPr lang="fr-FR" altLang="fr-FR" dirty="0"/>
              <a:t>Attention à la </a:t>
            </a:r>
            <a:r>
              <a:rPr lang="fr-FR" altLang="fr-FR" b="1" dirty="0"/>
              <a:t>variété des sources</a:t>
            </a:r>
            <a:r>
              <a:rPr lang="fr-FR" altLang="fr-FR" dirty="0"/>
              <a:t>.</a:t>
            </a:r>
          </a:p>
          <a:p>
            <a:pPr lvl="1"/>
            <a:r>
              <a:rPr lang="fr-FR" altLang="fr-FR" dirty="0"/>
              <a:t>N’utilisez pas des sources redondantes (par exemple, plusieurs fois le même journal).</a:t>
            </a:r>
          </a:p>
          <a:p>
            <a:pPr lvl="1"/>
            <a:r>
              <a:rPr lang="fr-FR" altLang="fr-FR" dirty="0"/>
              <a:t>N’hésitez pas à recourir à des sources de tonalité politique différente, par exemple : </a:t>
            </a:r>
            <a:r>
              <a:rPr lang="fr-FR" altLang="fr-FR" i="1" dirty="0"/>
              <a:t>L’humanité</a:t>
            </a:r>
            <a:r>
              <a:rPr lang="fr-FR" altLang="fr-FR" dirty="0"/>
              <a:t> et </a:t>
            </a:r>
            <a:r>
              <a:rPr lang="fr-FR" altLang="fr-FR" i="1" dirty="0"/>
              <a:t>Le Figaro</a:t>
            </a:r>
            <a:r>
              <a:rPr lang="fr-FR" altLang="fr-FR" dirty="0"/>
              <a:t>, pour mettre en lumière les différents points de vue.</a:t>
            </a:r>
          </a:p>
        </p:txBody>
      </p:sp>
    </p:spTree>
    <p:extLst>
      <p:ext uri="{BB962C8B-B14F-4D97-AF65-F5344CB8AC3E}">
        <p14:creationId xmlns:p14="http://schemas.microsoft.com/office/powerpoint/2010/main" val="229904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372E4E-4672-4FE0-8E72-8132EC87F083}"/>
              </a:ext>
            </a:extLst>
          </p:cNvPr>
          <p:cNvSpPr/>
          <p:nvPr/>
        </p:nvSpPr>
        <p:spPr>
          <a:xfrm>
            <a:off x="286328" y="1331650"/>
            <a:ext cx="11702472" cy="5301672"/>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p:cNvSpPr>
            <a:spLocks noGrp="1"/>
          </p:cNvSpPr>
          <p:nvPr>
            <p:ph type="title"/>
          </p:nvPr>
        </p:nvSpPr>
        <p:spPr>
          <a:xfrm>
            <a:off x="0" y="0"/>
            <a:ext cx="12192000" cy="1145309"/>
          </a:xfrm>
          <a:solidFill>
            <a:srgbClr val="0070C0"/>
          </a:solidFill>
        </p:spPr>
        <p:txBody>
          <a:bodyPr vert="horz" lIns="91440" tIns="45720" rIns="91440" bIns="45720" rtlCol="0" anchor="ctr">
            <a:normAutofit/>
          </a:bodyPr>
          <a:lstStyle/>
          <a:p>
            <a:pPr algn="ctr"/>
            <a:r>
              <a:rPr lang="fr-FR" altLang="fr-FR" sz="3600" b="1" dirty="0">
                <a:solidFill>
                  <a:schemeClr val="bg1"/>
                </a:solidFill>
              </a:rPr>
              <a:t>2) Le mise en valeur des sources dans le corps du document</a:t>
            </a:r>
          </a:p>
        </p:txBody>
      </p:sp>
      <p:sp>
        <p:nvSpPr>
          <p:cNvPr id="3" name="Espace réservé du contenu 2"/>
          <p:cNvSpPr>
            <a:spLocks noGrp="1"/>
          </p:cNvSpPr>
          <p:nvPr>
            <p:ph idx="1"/>
          </p:nvPr>
        </p:nvSpPr>
        <p:spPr>
          <a:xfrm>
            <a:off x="498764" y="1331650"/>
            <a:ext cx="11240654" cy="5340488"/>
          </a:xfrm>
        </p:spPr>
        <p:txBody>
          <a:bodyPr numCol="1">
            <a:normAutofit/>
          </a:bodyPr>
          <a:lstStyle/>
          <a:p>
            <a:r>
              <a:rPr lang="fr-FR" altLang="fr-FR" dirty="0"/>
              <a:t>Indiquez bien vos sources </a:t>
            </a:r>
            <a:r>
              <a:rPr lang="fr-FR" altLang="fr-FR" b="1" dirty="0"/>
              <a:t>dans le corps de votre document</a:t>
            </a:r>
            <a:r>
              <a:rPr lang="fr-FR" altLang="fr-FR" dirty="0"/>
              <a:t>.</a:t>
            </a:r>
          </a:p>
          <a:p>
            <a:r>
              <a:rPr lang="fr-FR" altLang="fr-FR" dirty="0"/>
              <a:t>Dans le corps du document (exposé, article, synthèse), indiquez la source de la manière suivante : après l’information concernée, écrivez ainsi entre parenthèses (nom de l’auteur ou des auteurs, date), ou bien utilisez un appel de note de bas de page (voir page suivante)</a:t>
            </a:r>
          </a:p>
          <a:p>
            <a:r>
              <a:rPr lang="fr-FR" altLang="fr-FR" dirty="0"/>
              <a:t>Exemple (fictif) de référence sans citation : </a:t>
            </a:r>
            <a:r>
              <a:rPr lang="fr-FR" altLang="fr-FR" dirty="0">
                <a:solidFill>
                  <a:srgbClr val="0070C0"/>
                </a:solidFill>
              </a:rPr>
              <a:t>L’apprentissage profond permet aujourd’hui de créer des œuvres picturales qui inventent leur propre style (Dupont, 2018)</a:t>
            </a:r>
          </a:p>
          <a:p>
            <a:r>
              <a:rPr lang="fr-FR" altLang="fr-FR" dirty="0"/>
              <a:t>Exemple fictif (fictif) de référence avec citation : </a:t>
            </a:r>
            <a:r>
              <a:rPr lang="fr-FR" altLang="fr-FR" dirty="0">
                <a:solidFill>
                  <a:srgbClr val="0070C0"/>
                </a:solidFill>
              </a:rPr>
              <a:t>« Les œuvres picturales élaborées à l’aide de l’intelligence manifestent des qualités troublantes de créativité » (Dupont, 2018, p. 34)</a:t>
            </a:r>
          </a:p>
        </p:txBody>
      </p:sp>
    </p:spTree>
    <p:extLst>
      <p:ext uri="{BB962C8B-B14F-4D97-AF65-F5344CB8AC3E}">
        <p14:creationId xmlns:p14="http://schemas.microsoft.com/office/powerpoint/2010/main" val="3368558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8F2246-9227-45F2-9155-1A4922E26705}"/>
              </a:ext>
            </a:extLst>
          </p:cNvPr>
          <p:cNvSpPr/>
          <p:nvPr/>
        </p:nvSpPr>
        <p:spPr>
          <a:xfrm>
            <a:off x="286328" y="485422"/>
            <a:ext cx="11702472" cy="6147900"/>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12DFD57E-BAEC-4E1B-AA96-42CFE6F1FBFD}"/>
              </a:ext>
            </a:extLst>
          </p:cNvPr>
          <p:cNvPicPr>
            <a:picLocks noChangeAspect="1"/>
          </p:cNvPicPr>
          <p:nvPr/>
        </p:nvPicPr>
        <p:blipFill>
          <a:blip r:embed="rId2"/>
          <a:stretch>
            <a:fillRect/>
          </a:stretch>
        </p:blipFill>
        <p:spPr>
          <a:xfrm>
            <a:off x="1271192" y="2088445"/>
            <a:ext cx="7428350" cy="3313994"/>
          </a:xfrm>
          <a:prstGeom prst="rect">
            <a:avLst/>
          </a:prstGeom>
          <a:effectLst>
            <a:outerShdw blurRad="63500" sx="102000" sy="102000" algn="ctr" rotWithShape="0">
              <a:prstClr val="black">
                <a:alpha val="40000"/>
              </a:prstClr>
            </a:outerShdw>
          </a:effectLst>
        </p:spPr>
      </p:pic>
      <p:sp>
        <p:nvSpPr>
          <p:cNvPr id="6" name="Ellipse 5">
            <a:extLst>
              <a:ext uri="{FF2B5EF4-FFF2-40B4-BE49-F238E27FC236}">
                <a16:creationId xmlns:a16="http://schemas.microsoft.com/office/drawing/2014/main" id="{2F46B196-2105-4ABC-8B2C-F9AEC8322F75}"/>
              </a:ext>
            </a:extLst>
          </p:cNvPr>
          <p:cNvSpPr/>
          <p:nvPr/>
        </p:nvSpPr>
        <p:spPr>
          <a:xfrm>
            <a:off x="2359379" y="3745442"/>
            <a:ext cx="2190044" cy="48789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5CF314D5-C2DA-4743-A20A-0B6C3E08CD3D}"/>
              </a:ext>
            </a:extLst>
          </p:cNvPr>
          <p:cNvSpPr/>
          <p:nvPr/>
        </p:nvSpPr>
        <p:spPr>
          <a:xfrm>
            <a:off x="1271192" y="4937126"/>
            <a:ext cx="2190045" cy="48789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CBBBC893-80C4-442D-BA1A-70EE85372D93}"/>
              </a:ext>
            </a:extLst>
          </p:cNvPr>
          <p:cNvSpPr/>
          <p:nvPr/>
        </p:nvSpPr>
        <p:spPr>
          <a:xfrm>
            <a:off x="9832621" y="2438400"/>
            <a:ext cx="1749779" cy="17949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dirty="0"/>
              <a:t>Ou bien</a:t>
            </a:r>
          </a:p>
        </p:txBody>
      </p:sp>
      <p:sp>
        <p:nvSpPr>
          <p:cNvPr id="10" name="Flèche : droite 9">
            <a:extLst>
              <a:ext uri="{FF2B5EF4-FFF2-40B4-BE49-F238E27FC236}">
                <a16:creationId xmlns:a16="http://schemas.microsoft.com/office/drawing/2014/main" id="{26EA1B6D-5F97-463D-8CA1-C17EB482168D}"/>
              </a:ext>
            </a:extLst>
          </p:cNvPr>
          <p:cNvSpPr/>
          <p:nvPr/>
        </p:nvSpPr>
        <p:spPr>
          <a:xfrm>
            <a:off x="11413067" y="2833511"/>
            <a:ext cx="778933" cy="11627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A7B0C26E-0ED4-4D10-84AD-74DACAE08804}"/>
              </a:ext>
            </a:extLst>
          </p:cNvPr>
          <p:cNvSpPr txBox="1"/>
          <p:nvPr/>
        </p:nvSpPr>
        <p:spPr>
          <a:xfrm>
            <a:off x="2174565" y="5756270"/>
            <a:ext cx="6524977" cy="523220"/>
          </a:xfrm>
          <a:prstGeom prst="rect">
            <a:avLst/>
          </a:prstGeom>
          <a:noFill/>
        </p:spPr>
        <p:txBody>
          <a:bodyPr wrap="square" rtlCol="0">
            <a:spAutoFit/>
          </a:bodyPr>
          <a:lstStyle/>
          <a:p>
            <a:pPr algn="ctr"/>
            <a:r>
              <a:rPr lang="fr-FR" sz="2800" dirty="0">
                <a:solidFill>
                  <a:srgbClr val="FF0000"/>
                </a:solidFill>
              </a:rPr>
              <a:t>Puis explicitées dans la bibliographie.</a:t>
            </a:r>
          </a:p>
        </p:txBody>
      </p:sp>
      <p:sp>
        <p:nvSpPr>
          <p:cNvPr id="12" name="ZoneTexte 11">
            <a:extLst>
              <a:ext uri="{FF2B5EF4-FFF2-40B4-BE49-F238E27FC236}">
                <a16:creationId xmlns:a16="http://schemas.microsoft.com/office/drawing/2014/main" id="{AEA37D31-F4C0-4753-9070-D7A8622F67FA}"/>
              </a:ext>
            </a:extLst>
          </p:cNvPr>
          <p:cNvSpPr txBox="1"/>
          <p:nvPr/>
        </p:nvSpPr>
        <p:spPr>
          <a:xfrm>
            <a:off x="1271192" y="1123042"/>
            <a:ext cx="7428350" cy="523220"/>
          </a:xfrm>
          <a:prstGeom prst="rect">
            <a:avLst/>
          </a:prstGeom>
          <a:noFill/>
        </p:spPr>
        <p:txBody>
          <a:bodyPr wrap="square" rtlCol="0">
            <a:spAutoFit/>
          </a:bodyPr>
          <a:lstStyle/>
          <a:p>
            <a:pPr algn="ctr"/>
            <a:r>
              <a:rPr lang="fr-FR" sz="2800" dirty="0">
                <a:solidFill>
                  <a:srgbClr val="FF0000"/>
                </a:solidFill>
              </a:rPr>
              <a:t>Références abrégées dans le corps de texte</a:t>
            </a:r>
          </a:p>
        </p:txBody>
      </p:sp>
    </p:spTree>
    <p:extLst>
      <p:ext uri="{BB962C8B-B14F-4D97-AF65-F5344CB8AC3E}">
        <p14:creationId xmlns:p14="http://schemas.microsoft.com/office/powerpoint/2010/main" val="7025465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372E4E-4672-4FE0-8E72-8132EC87F083}"/>
              </a:ext>
            </a:extLst>
          </p:cNvPr>
          <p:cNvSpPr/>
          <p:nvPr/>
        </p:nvSpPr>
        <p:spPr>
          <a:xfrm>
            <a:off x="286328" y="485422"/>
            <a:ext cx="11702472" cy="6147900"/>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D6FA4BCE-2BAC-45D2-B25C-9285E75E069F}"/>
              </a:ext>
            </a:extLst>
          </p:cNvPr>
          <p:cNvPicPr>
            <a:picLocks noChangeAspect="1"/>
          </p:cNvPicPr>
          <p:nvPr/>
        </p:nvPicPr>
        <p:blipFill rotWithShape="1">
          <a:blip r:embed="rId2"/>
          <a:srcRect l="10949" t="6144"/>
          <a:stretch/>
        </p:blipFill>
        <p:spPr>
          <a:xfrm>
            <a:off x="722489" y="224678"/>
            <a:ext cx="4794186" cy="6173943"/>
          </a:xfrm>
          <a:prstGeom prst="rect">
            <a:avLst/>
          </a:prstGeom>
          <a:effectLst>
            <a:outerShdw blurRad="63500" sx="102000" sy="102000" algn="ctr" rotWithShape="0">
              <a:prstClr val="black">
                <a:alpha val="40000"/>
              </a:prstClr>
            </a:outerShdw>
          </a:effectLst>
        </p:spPr>
      </p:pic>
      <p:sp>
        <p:nvSpPr>
          <p:cNvPr id="9" name="Ellipse 8">
            <a:extLst>
              <a:ext uri="{FF2B5EF4-FFF2-40B4-BE49-F238E27FC236}">
                <a16:creationId xmlns:a16="http://schemas.microsoft.com/office/drawing/2014/main" id="{5DE36087-CDD9-4219-B421-1CAB65DEDB02}"/>
              </a:ext>
            </a:extLst>
          </p:cNvPr>
          <p:cNvSpPr/>
          <p:nvPr/>
        </p:nvSpPr>
        <p:spPr>
          <a:xfrm>
            <a:off x="1106311" y="5508978"/>
            <a:ext cx="3307645" cy="69991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1C23D178-62AD-4385-A750-7EA77337F585}"/>
              </a:ext>
            </a:extLst>
          </p:cNvPr>
          <p:cNvPicPr>
            <a:picLocks noChangeAspect="1"/>
          </p:cNvPicPr>
          <p:nvPr/>
        </p:nvPicPr>
        <p:blipFill>
          <a:blip r:embed="rId3"/>
          <a:stretch>
            <a:fillRect/>
          </a:stretch>
        </p:blipFill>
        <p:spPr>
          <a:xfrm>
            <a:off x="5507795" y="3011032"/>
            <a:ext cx="6228799" cy="2235756"/>
          </a:xfrm>
          <a:prstGeom prst="rect">
            <a:avLst/>
          </a:prstGeom>
          <a:effectLst>
            <a:outerShdw blurRad="63500" sx="102000" sy="102000" algn="ctr" rotWithShape="0">
              <a:prstClr val="black">
                <a:alpha val="40000"/>
              </a:prstClr>
            </a:outerShdw>
          </a:effectLst>
        </p:spPr>
      </p:pic>
      <p:cxnSp>
        <p:nvCxnSpPr>
          <p:cNvPr id="13" name="Connecteur droit avec flèche 12">
            <a:extLst>
              <a:ext uri="{FF2B5EF4-FFF2-40B4-BE49-F238E27FC236}">
                <a16:creationId xmlns:a16="http://schemas.microsoft.com/office/drawing/2014/main" id="{E95DE46F-57B9-43AD-B204-65F3DED8F38D}"/>
              </a:ext>
            </a:extLst>
          </p:cNvPr>
          <p:cNvCxnSpPr>
            <a:cxnSpLocks/>
            <a:stCxn id="9" idx="6"/>
          </p:cNvCxnSpPr>
          <p:nvPr/>
        </p:nvCxnSpPr>
        <p:spPr>
          <a:xfrm flipV="1">
            <a:off x="4413956" y="4718756"/>
            <a:ext cx="1486541" cy="11401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Ellipse 13">
            <a:extLst>
              <a:ext uri="{FF2B5EF4-FFF2-40B4-BE49-F238E27FC236}">
                <a16:creationId xmlns:a16="http://schemas.microsoft.com/office/drawing/2014/main" id="{1D1344A5-6B51-4E57-B177-691E3B78F0C3}"/>
              </a:ext>
            </a:extLst>
          </p:cNvPr>
          <p:cNvSpPr/>
          <p:nvPr/>
        </p:nvSpPr>
        <p:spPr>
          <a:xfrm>
            <a:off x="6231463" y="3329402"/>
            <a:ext cx="270934" cy="26692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77031379-FDBC-4139-B2B8-2BCEC9FC2791}"/>
              </a:ext>
            </a:extLst>
          </p:cNvPr>
          <p:cNvSpPr/>
          <p:nvPr/>
        </p:nvSpPr>
        <p:spPr>
          <a:xfrm>
            <a:off x="10889931" y="3861981"/>
            <a:ext cx="270934" cy="26692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0DA44791-7756-4BBE-BB31-EC2AA92FEE85}"/>
              </a:ext>
            </a:extLst>
          </p:cNvPr>
          <p:cNvSpPr txBox="1"/>
          <p:nvPr/>
        </p:nvSpPr>
        <p:spPr>
          <a:xfrm>
            <a:off x="5712178" y="925689"/>
            <a:ext cx="6024415" cy="954107"/>
          </a:xfrm>
          <a:prstGeom prst="rect">
            <a:avLst/>
          </a:prstGeom>
          <a:noFill/>
        </p:spPr>
        <p:txBody>
          <a:bodyPr wrap="square" rtlCol="0">
            <a:spAutoFit/>
          </a:bodyPr>
          <a:lstStyle/>
          <a:p>
            <a:pPr algn="ctr"/>
            <a:r>
              <a:rPr lang="fr-FR" sz="2800" dirty="0">
                <a:solidFill>
                  <a:srgbClr val="FF0000"/>
                </a:solidFill>
              </a:rPr>
              <a:t>Références en notes de bas de page, puis reprises dans la bibliographie</a:t>
            </a:r>
          </a:p>
        </p:txBody>
      </p:sp>
    </p:spTree>
    <p:extLst>
      <p:ext uri="{BB962C8B-B14F-4D97-AF65-F5344CB8AC3E}">
        <p14:creationId xmlns:p14="http://schemas.microsoft.com/office/powerpoint/2010/main" val="4177891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A46CEB-65CB-4C70-85F7-32E66A2D522E}"/>
              </a:ext>
            </a:extLst>
          </p:cNvPr>
          <p:cNvSpPr/>
          <p:nvPr/>
        </p:nvSpPr>
        <p:spPr>
          <a:xfrm>
            <a:off x="369454" y="1200728"/>
            <a:ext cx="11453091" cy="5301672"/>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98764" y="1495285"/>
            <a:ext cx="10834254" cy="3697604"/>
          </a:xfrm>
        </p:spPr>
        <p:txBody>
          <a:bodyPr numCol="1">
            <a:normAutofit/>
          </a:bodyPr>
          <a:lstStyle/>
          <a:p>
            <a:r>
              <a:rPr lang="fr-FR" altLang="fr-FR" dirty="0"/>
              <a:t>La bibliographie doit figurer à la fin du document.</a:t>
            </a:r>
          </a:p>
          <a:p>
            <a:r>
              <a:rPr lang="fr-FR" altLang="fr-FR" dirty="0"/>
              <a:t>Elle doit être construite ainsi, pour chaque référence :</a:t>
            </a:r>
          </a:p>
          <a:p>
            <a:pPr lvl="1"/>
            <a:r>
              <a:rPr lang="fr-FR" altLang="fr-FR" dirty="0"/>
              <a:t>Pour un article : Nom et prénom de l’auteur ou des auteurs, « titre de l’article », </a:t>
            </a:r>
            <a:r>
              <a:rPr lang="fr-FR" altLang="fr-FR" i="1" dirty="0"/>
              <a:t>Nom du</a:t>
            </a:r>
            <a:r>
              <a:rPr lang="fr-FR" altLang="fr-FR" dirty="0"/>
              <a:t> </a:t>
            </a:r>
            <a:r>
              <a:rPr lang="fr-FR" altLang="fr-FR" i="1" dirty="0"/>
              <a:t>journal ou de la revue</a:t>
            </a:r>
            <a:r>
              <a:rPr lang="fr-FR" altLang="fr-FR" dirty="0"/>
              <a:t>, date – et si le source est en ligne, indication de l’URL suivie de la date de votre consultation. Exemple (fictif) : </a:t>
            </a:r>
            <a:r>
              <a:rPr lang="fr-FR" altLang="fr-FR" dirty="0">
                <a:solidFill>
                  <a:srgbClr val="0070C0"/>
                </a:solidFill>
              </a:rPr>
              <a:t>DUPONT, Jean, « L’intelligence artificielle appliquée à l’art », </a:t>
            </a:r>
            <a:r>
              <a:rPr lang="fr-FR" altLang="fr-FR" i="1" dirty="0">
                <a:solidFill>
                  <a:srgbClr val="0070C0"/>
                </a:solidFill>
              </a:rPr>
              <a:t>Revue française d’esthétique</a:t>
            </a:r>
            <a:r>
              <a:rPr lang="fr-FR" altLang="fr-FR" dirty="0">
                <a:solidFill>
                  <a:srgbClr val="0070C0"/>
                </a:solidFill>
              </a:rPr>
              <a:t>, janvier 2018, n°123, URL : </a:t>
            </a:r>
            <a:r>
              <a:rPr lang="fr-FR" altLang="fr-FR" dirty="0">
                <a:solidFill>
                  <a:srgbClr val="0070C0"/>
                </a:solidFill>
                <a:hlinkClick r:id="rId3">
                  <a:extLst>
                    <a:ext uri="{A12FA001-AC4F-418D-AE19-62706E023703}">
                      <ahyp:hlinkClr xmlns:ahyp="http://schemas.microsoft.com/office/drawing/2018/hyperlinkcolor" val="tx"/>
                    </a:ext>
                  </a:extLst>
                </a:hlinkClick>
              </a:rPr>
              <a:t>www.revuefranaisedesthetiquexyz.com</a:t>
            </a:r>
            <a:r>
              <a:rPr lang="fr-FR" altLang="fr-FR" dirty="0">
                <a:solidFill>
                  <a:srgbClr val="0070C0"/>
                </a:solidFill>
              </a:rPr>
              <a:t> [dernière consultation : le 3 mars 2020]</a:t>
            </a:r>
          </a:p>
        </p:txBody>
      </p:sp>
      <p:sp>
        <p:nvSpPr>
          <p:cNvPr id="6" name="Titre 1">
            <a:extLst>
              <a:ext uri="{FF2B5EF4-FFF2-40B4-BE49-F238E27FC236}">
                <a16:creationId xmlns:a16="http://schemas.microsoft.com/office/drawing/2014/main" id="{4E2E36EE-14BF-4738-A160-EEA9BFD06CB2}"/>
              </a:ext>
            </a:extLst>
          </p:cNvPr>
          <p:cNvSpPr>
            <a:spLocks noGrp="1"/>
          </p:cNvSpPr>
          <p:nvPr>
            <p:ph type="title"/>
          </p:nvPr>
        </p:nvSpPr>
        <p:spPr>
          <a:xfrm>
            <a:off x="0" y="0"/>
            <a:ext cx="12192000" cy="941359"/>
          </a:xfrm>
          <a:solidFill>
            <a:srgbClr val="0070C0"/>
          </a:solidFill>
        </p:spPr>
        <p:txBody>
          <a:bodyPr vert="horz" lIns="91440" tIns="45720" rIns="91440" bIns="45720" rtlCol="0" anchor="ctr">
            <a:normAutofit/>
          </a:bodyPr>
          <a:lstStyle/>
          <a:p>
            <a:pPr algn="ctr"/>
            <a:r>
              <a:rPr lang="fr-FR" altLang="fr-FR" sz="3600" b="1" dirty="0">
                <a:solidFill>
                  <a:schemeClr val="bg1"/>
                </a:solidFill>
              </a:rPr>
              <a:t>3) La bibliographie</a:t>
            </a:r>
          </a:p>
        </p:txBody>
      </p:sp>
    </p:spTree>
    <p:extLst>
      <p:ext uri="{BB962C8B-B14F-4D97-AF65-F5344CB8AC3E}">
        <p14:creationId xmlns:p14="http://schemas.microsoft.com/office/powerpoint/2010/main" val="37052922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A46CEB-65CB-4C70-85F7-32E66A2D522E}"/>
              </a:ext>
            </a:extLst>
          </p:cNvPr>
          <p:cNvSpPr/>
          <p:nvPr/>
        </p:nvSpPr>
        <p:spPr>
          <a:xfrm>
            <a:off x="369454" y="824089"/>
            <a:ext cx="11453091" cy="5328355"/>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791762" y="943252"/>
            <a:ext cx="10834254" cy="585627"/>
          </a:xfrm>
        </p:spPr>
        <p:txBody>
          <a:bodyPr numCol="1">
            <a:normAutofit/>
          </a:bodyPr>
          <a:lstStyle/>
          <a:p>
            <a:r>
              <a:rPr lang="fr-FR" altLang="fr-FR" dirty="0"/>
              <a:t>Utiliser la référence indiquée dans la revue en ligne :</a:t>
            </a:r>
          </a:p>
        </p:txBody>
      </p:sp>
      <p:pic>
        <p:nvPicPr>
          <p:cNvPr id="5" name="Image 4">
            <a:extLst>
              <a:ext uri="{FF2B5EF4-FFF2-40B4-BE49-F238E27FC236}">
                <a16:creationId xmlns:a16="http://schemas.microsoft.com/office/drawing/2014/main" id="{69BAFF4B-93CD-4F2F-8329-C1DC56C7D5C8}"/>
              </a:ext>
            </a:extLst>
          </p:cNvPr>
          <p:cNvPicPr>
            <a:picLocks noChangeAspect="1"/>
          </p:cNvPicPr>
          <p:nvPr/>
        </p:nvPicPr>
        <p:blipFill>
          <a:blip r:embed="rId3"/>
          <a:stretch>
            <a:fillRect/>
          </a:stretch>
        </p:blipFill>
        <p:spPr>
          <a:xfrm>
            <a:off x="146756" y="2109212"/>
            <a:ext cx="5439694" cy="3219909"/>
          </a:xfrm>
          <a:prstGeom prst="rect">
            <a:avLst/>
          </a:prstGeom>
        </p:spPr>
      </p:pic>
      <p:sp>
        <p:nvSpPr>
          <p:cNvPr id="7" name="Ellipse 6">
            <a:extLst>
              <a:ext uri="{FF2B5EF4-FFF2-40B4-BE49-F238E27FC236}">
                <a16:creationId xmlns:a16="http://schemas.microsoft.com/office/drawing/2014/main" id="{A458C28F-3237-40F4-A390-2182BEFB1942}"/>
              </a:ext>
            </a:extLst>
          </p:cNvPr>
          <p:cNvSpPr/>
          <p:nvPr/>
        </p:nvSpPr>
        <p:spPr>
          <a:xfrm>
            <a:off x="3714044" y="2852583"/>
            <a:ext cx="1490134" cy="18237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62143D20-24BA-45F8-976C-B75446394107}"/>
              </a:ext>
            </a:extLst>
          </p:cNvPr>
          <p:cNvPicPr>
            <a:picLocks noChangeAspect="1"/>
          </p:cNvPicPr>
          <p:nvPr/>
        </p:nvPicPr>
        <p:blipFill>
          <a:blip r:embed="rId4"/>
          <a:stretch>
            <a:fillRect/>
          </a:stretch>
        </p:blipFill>
        <p:spPr>
          <a:xfrm>
            <a:off x="6095999" y="2109212"/>
            <a:ext cx="5994216" cy="3316140"/>
          </a:xfrm>
          <a:prstGeom prst="rect">
            <a:avLst/>
          </a:prstGeom>
        </p:spPr>
      </p:pic>
      <p:cxnSp>
        <p:nvCxnSpPr>
          <p:cNvPr id="9" name="Connecteur droit avec flèche 8">
            <a:extLst>
              <a:ext uri="{FF2B5EF4-FFF2-40B4-BE49-F238E27FC236}">
                <a16:creationId xmlns:a16="http://schemas.microsoft.com/office/drawing/2014/main" id="{E17E66B2-7F27-449D-8A47-4F38EC96D369}"/>
              </a:ext>
            </a:extLst>
          </p:cNvPr>
          <p:cNvCxnSpPr>
            <a:cxnSpLocks/>
          </p:cNvCxnSpPr>
          <p:nvPr/>
        </p:nvCxnSpPr>
        <p:spPr>
          <a:xfrm>
            <a:off x="5204178" y="2943770"/>
            <a:ext cx="2009422"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3301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86D111-71AF-40F5-8623-FEC0059B177D}"/>
              </a:ext>
            </a:extLst>
          </p:cNvPr>
          <p:cNvSpPr/>
          <p:nvPr/>
        </p:nvSpPr>
        <p:spPr>
          <a:xfrm>
            <a:off x="461819" y="1073727"/>
            <a:ext cx="11453091" cy="4710545"/>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840509" y="1347185"/>
            <a:ext cx="10871200" cy="4163628"/>
          </a:xfrm>
        </p:spPr>
        <p:txBody>
          <a:bodyPr numCol="1">
            <a:normAutofit/>
          </a:bodyPr>
          <a:lstStyle/>
          <a:p>
            <a:pPr lvl="1"/>
            <a:r>
              <a:rPr lang="fr-FR" altLang="fr-FR" dirty="0"/>
              <a:t>Pour un livre : Nom et prénom de l’auteur ou des auteurs, </a:t>
            </a:r>
            <a:r>
              <a:rPr lang="fr-FR" altLang="fr-FR" i="1" dirty="0"/>
              <a:t>titre du livre</a:t>
            </a:r>
            <a:r>
              <a:rPr lang="fr-FR" altLang="fr-FR" dirty="0"/>
              <a:t>, lieu, nom de l’éditeur, année de publication. Exemple (fictif) : </a:t>
            </a:r>
            <a:r>
              <a:rPr lang="fr-FR" altLang="fr-FR" dirty="0">
                <a:solidFill>
                  <a:srgbClr val="0070C0"/>
                </a:solidFill>
              </a:rPr>
              <a:t>DUPONT, Jean, </a:t>
            </a:r>
            <a:r>
              <a:rPr lang="fr-FR" altLang="fr-FR" i="1" dirty="0">
                <a:solidFill>
                  <a:srgbClr val="0070C0"/>
                </a:solidFill>
              </a:rPr>
              <a:t>L’intelligence artificielle en question </a:t>
            </a:r>
            <a:r>
              <a:rPr lang="fr-FR" altLang="fr-FR" dirty="0">
                <a:solidFill>
                  <a:srgbClr val="0070C0"/>
                </a:solidFill>
              </a:rPr>
              <a:t>(1989), Paris, Presses Universitaires de France, 2019.</a:t>
            </a:r>
            <a:endParaRPr lang="fr-FR" altLang="fr-FR" i="1" dirty="0">
              <a:solidFill>
                <a:srgbClr val="0070C0"/>
              </a:solidFill>
            </a:endParaRPr>
          </a:p>
          <a:p>
            <a:r>
              <a:rPr lang="fr-FR" altLang="fr-FR" dirty="0"/>
              <a:t>Les entrées de la bibliographie sont organisées thématiquement, alphabétiquement ou chronologiquement.</a:t>
            </a:r>
          </a:p>
        </p:txBody>
      </p:sp>
    </p:spTree>
    <p:extLst>
      <p:ext uri="{BB962C8B-B14F-4D97-AF65-F5344CB8AC3E}">
        <p14:creationId xmlns:p14="http://schemas.microsoft.com/office/powerpoint/2010/main" val="2741965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73201" y="2179782"/>
            <a:ext cx="8686800" cy="655782"/>
          </a:xfrm>
          <a:solidFill>
            <a:srgbClr val="0070C0"/>
          </a:solidFill>
        </p:spPr>
        <p:txBody>
          <a:bodyPr vert="horz" lIns="91440" tIns="45720" rIns="91440" bIns="45720" rtlCol="0" anchor="b">
            <a:noAutofit/>
          </a:bodyPr>
          <a:lstStyle/>
          <a:p>
            <a:pPr algn="ctr">
              <a:spcBef>
                <a:spcPts val="1000"/>
              </a:spcBef>
              <a:buFont typeface="Arial" panose="020B0604020202020204" pitchFamily="34" charset="0"/>
            </a:pPr>
            <a:r>
              <a:rPr lang="fr-FR" altLang="fr-FR" sz="3600" b="1" dirty="0">
                <a:solidFill>
                  <a:schemeClr val="bg1"/>
                </a:solidFill>
                <a:latin typeface="Gotham Medium" pitchFamily="50" charset="0"/>
                <a:cs typeface="+mn-cs"/>
              </a:rPr>
              <a:t>IV - Dangers du plagiat ! Comment l’éviter ?</a:t>
            </a:r>
          </a:p>
        </p:txBody>
      </p:sp>
      <p:sp>
        <p:nvSpPr>
          <p:cNvPr id="5" name="ZoneTexte 4">
            <a:extLst>
              <a:ext uri="{FF2B5EF4-FFF2-40B4-BE49-F238E27FC236}">
                <a16:creationId xmlns:a16="http://schemas.microsoft.com/office/drawing/2014/main" id="{53DCCDF1-7C79-4B9E-8529-B60F58B8EA5F}"/>
              </a:ext>
            </a:extLst>
          </p:cNvPr>
          <p:cNvSpPr txBox="1"/>
          <p:nvPr/>
        </p:nvSpPr>
        <p:spPr>
          <a:xfrm>
            <a:off x="1473201" y="4963041"/>
            <a:ext cx="8686800" cy="954107"/>
          </a:xfrm>
          <a:prstGeom prst="rect">
            <a:avLst/>
          </a:prstGeom>
          <a:solidFill>
            <a:srgbClr val="FF0000"/>
          </a:solidFill>
          <a:ln>
            <a:solidFill>
              <a:srgbClr val="FF0000"/>
            </a:solidFill>
          </a:ln>
        </p:spPr>
        <p:txBody>
          <a:bodyPr wrap="square">
            <a:spAutoFit/>
          </a:bodyPr>
          <a:lstStyle/>
          <a:p>
            <a:pPr algn="ctr"/>
            <a:r>
              <a:rPr lang="fr-FR" altLang="fr-FR" sz="2800" b="1" u="sng" dirty="0">
                <a:solidFill>
                  <a:schemeClr val="bg1"/>
                </a:solidFill>
                <a:highlight>
                  <a:srgbClr val="FF0000"/>
                </a:highlight>
              </a:rPr>
              <a:t>Tout plagiat entraînera systématiquement zéro et un signalement à l’administration</a:t>
            </a:r>
          </a:p>
        </p:txBody>
      </p:sp>
      <p:pic>
        <p:nvPicPr>
          <p:cNvPr id="7" name="Image 6">
            <a:extLst>
              <a:ext uri="{FF2B5EF4-FFF2-40B4-BE49-F238E27FC236}">
                <a16:creationId xmlns:a16="http://schemas.microsoft.com/office/drawing/2014/main" id="{0A3AB55A-8020-4ABE-99EF-0535596D7C6F}"/>
              </a:ext>
            </a:extLst>
          </p:cNvPr>
          <p:cNvPicPr>
            <a:picLocks noChangeAspect="1"/>
          </p:cNvPicPr>
          <p:nvPr/>
        </p:nvPicPr>
        <p:blipFill>
          <a:blip r:embed="rId2"/>
          <a:stretch>
            <a:fillRect/>
          </a:stretch>
        </p:blipFill>
        <p:spPr>
          <a:xfrm>
            <a:off x="4845756" y="3044959"/>
            <a:ext cx="1941690" cy="1708686"/>
          </a:xfrm>
          <a:prstGeom prst="rect">
            <a:avLst/>
          </a:prstGeom>
        </p:spPr>
      </p:pic>
    </p:spTree>
    <p:extLst>
      <p:ext uri="{BB962C8B-B14F-4D97-AF65-F5344CB8AC3E}">
        <p14:creationId xmlns:p14="http://schemas.microsoft.com/office/powerpoint/2010/main" val="31135558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1066A1-1AE0-4B4C-9371-02A1754AE699}"/>
              </a:ext>
            </a:extLst>
          </p:cNvPr>
          <p:cNvSpPr/>
          <p:nvPr/>
        </p:nvSpPr>
        <p:spPr>
          <a:xfrm>
            <a:off x="471055" y="766617"/>
            <a:ext cx="11259127" cy="4424219"/>
          </a:xfrm>
          <a:prstGeom prst="rect">
            <a:avLst/>
          </a:prstGeom>
          <a:solidFill>
            <a:schemeClr val="accent1">
              <a:lumMod val="20000"/>
              <a:lumOff val="80000"/>
            </a:schemeClr>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974436" y="1083423"/>
            <a:ext cx="10446327" cy="3966099"/>
          </a:xfrm>
        </p:spPr>
        <p:txBody>
          <a:bodyPr numCol="1">
            <a:normAutofit/>
          </a:bodyPr>
          <a:lstStyle/>
          <a:p>
            <a:r>
              <a:rPr lang="fr-FR" altLang="fr-FR" dirty="0"/>
              <a:t>Le plagiat n’est ni plus ni moins que du vol intellectuel.</a:t>
            </a:r>
          </a:p>
          <a:p>
            <a:r>
              <a:rPr lang="fr-FR" altLang="fr-FR" dirty="0"/>
              <a:t>Pour éviter le plagiat il faut :</a:t>
            </a:r>
          </a:p>
          <a:p>
            <a:pPr lvl="1"/>
            <a:r>
              <a:rPr lang="fr-FR" altLang="fr-FR" b="1" u="sng" dirty="0"/>
              <a:t>indiquer toutes les références utilisées</a:t>
            </a:r>
            <a:r>
              <a:rPr lang="fr-FR" altLang="fr-FR" dirty="0"/>
              <a:t>, à la suite de chaque argument ou information, dans le corps du document ainsi qu’en bibliographie.</a:t>
            </a:r>
          </a:p>
          <a:p>
            <a:pPr lvl="1"/>
            <a:r>
              <a:rPr lang="fr-FR" altLang="fr-FR" b="1" u="sng" dirty="0"/>
              <a:t>ne pas citer, </a:t>
            </a:r>
            <a:r>
              <a:rPr lang="fr-FR" altLang="fr-FR" dirty="0"/>
              <a:t>c’est-à-dire copier-coller un passage venant d’une source, </a:t>
            </a:r>
            <a:r>
              <a:rPr lang="fr-FR" altLang="fr-FR" b="1" u="sng" dirty="0"/>
              <a:t>sans utiliser des guillemets.</a:t>
            </a:r>
            <a:endParaRPr lang="fr-FR" altLang="fr-FR" dirty="0"/>
          </a:p>
          <a:p>
            <a:pPr lvl="1"/>
            <a:endParaRPr lang="fr-FR" altLang="fr-FR" dirty="0"/>
          </a:p>
          <a:p>
            <a:endParaRPr lang="fr-FR" altLang="fr-FR" dirty="0"/>
          </a:p>
        </p:txBody>
      </p:sp>
    </p:spTree>
    <p:extLst>
      <p:ext uri="{BB962C8B-B14F-4D97-AF65-F5344CB8AC3E}">
        <p14:creationId xmlns:p14="http://schemas.microsoft.com/office/powerpoint/2010/main" val="380848185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13214E6F184D41A8652789AD14DD9B" ma:contentTypeVersion="4" ma:contentTypeDescription="Crée un document." ma:contentTypeScope="" ma:versionID="870e10cb2672b3f82cf7151c246327de">
  <xsd:schema xmlns:xsd="http://www.w3.org/2001/XMLSchema" xmlns:xs="http://www.w3.org/2001/XMLSchema" xmlns:p="http://schemas.microsoft.com/office/2006/metadata/properties" xmlns:ns2="1e57bae0-835b-4976-8400-56f87d0a820e" targetNamespace="http://schemas.microsoft.com/office/2006/metadata/properties" ma:root="true" ma:fieldsID="a6d3aa47800af2984ed0769e3cbe29e9" ns2:_="">
    <xsd:import namespace="1e57bae0-835b-4976-8400-56f87d0a820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57bae0-835b-4976-8400-56f87d0a82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E0E4C9-5D46-4225-8339-51AD2C87D0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57bae0-835b-4976-8400-56f87d0a82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F1F228-66A7-497E-A299-8907C26F16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8754</TotalTime>
  <Words>2244</Words>
  <Application>Microsoft Office PowerPoint</Application>
  <PresentationFormat>Widescreen</PresentationFormat>
  <Paragraphs>187</Paragraphs>
  <Slides>37</Slides>
  <Notes>6</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Thème Office</vt:lpstr>
      <vt:lpstr>Ethique de la recherche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Exercer une veille en sciences humaines et sociales</vt:lpstr>
      <vt:lpstr>PowerPoint Presentation</vt:lpstr>
      <vt:lpstr>PowerPoint Presentation</vt:lpstr>
      <vt:lpstr>Approfondir une problématique : les articles de recherche et ouvrages en ligne (1/3)</vt:lpstr>
      <vt:lpstr>Approfondir une problématique : les articles de recherche et ouvrages en ligne (2/3)</vt:lpstr>
      <vt:lpstr>PowerPoint Presentation</vt:lpstr>
      <vt:lpstr>PowerPoint Presentation</vt:lpstr>
      <vt:lpstr>Approfondir une problématique : les articles de recherche et ouvrages en ligne (3/3)</vt:lpstr>
      <vt:lpstr>PowerPoint Presentation</vt:lpstr>
      <vt:lpstr>Quelques autres ressources : partage des savoirs et vulgarisation</vt:lpstr>
      <vt:lpstr>PowerPoint Presentation</vt:lpstr>
      <vt:lpstr>Quelques autres ressources : partage des savoirs et vulgarisation</vt:lpstr>
      <vt:lpstr>PowerPoint Presentation</vt:lpstr>
      <vt:lpstr>PowerPoint Presentation</vt:lpstr>
      <vt:lpstr>PowerPoint Presentation</vt:lpstr>
      <vt:lpstr>III - Recommandations pour l’usage des sources</vt:lpstr>
      <vt:lpstr>1) Le choix des sources</vt:lpstr>
      <vt:lpstr>PowerPoint Presentation</vt:lpstr>
      <vt:lpstr>2) Le mise en valeur des sources dans le corps du document</vt:lpstr>
      <vt:lpstr>PowerPoint Presentation</vt:lpstr>
      <vt:lpstr>PowerPoint Presentation</vt:lpstr>
      <vt:lpstr>3) La bibliographie</vt:lpstr>
      <vt:lpstr>PowerPoint Presentation</vt:lpstr>
      <vt:lpstr>PowerPoint Presentation</vt:lpstr>
      <vt:lpstr>IV - Dangers du plagiat ! Comment l’éviter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Alexis Weinberg</dc:creator>
  <cp:lastModifiedBy>Alexis Weinberg</cp:lastModifiedBy>
  <cp:revision>138</cp:revision>
  <dcterms:created xsi:type="dcterms:W3CDTF">2021-09-17T09:55:40Z</dcterms:created>
  <dcterms:modified xsi:type="dcterms:W3CDTF">2024-04-21T14:49:05Z</dcterms:modified>
</cp:coreProperties>
</file>