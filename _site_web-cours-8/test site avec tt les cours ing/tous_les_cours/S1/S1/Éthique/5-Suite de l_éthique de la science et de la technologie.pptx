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4.xml" ContentType="application/vnd.openxmlformats-officedocument.presentationml.slide+xml"/>
  <Override PartName="/ppt/slides/slide8.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93" r:id="rId2"/>
    <p:sldId id="284" r:id="rId3"/>
    <p:sldId id="279" r:id="rId4"/>
    <p:sldId id="261" r:id="rId5"/>
    <p:sldId id="295" r:id="rId6"/>
    <p:sldId id="283" r:id="rId7"/>
    <p:sldId id="294" r:id="rId8"/>
    <p:sldId id="285" r:id="rId9"/>
    <p:sldId id="287" r:id="rId10"/>
    <p:sldId id="288" r:id="rId11"/>
    <p:sldId id="291" r:id="rId12"/>
    <p:sldId id="297"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6"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9F17F1-3650-4755-A110-ED671CF1C61C}" type="datetimeFigureOut">
              <a:rPr lang="fr-FR" smtClean="0"/>
              <a:t>22/10/2024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A453C-60F1-4D68-A4D0-0E59F409845F}" type="slidenum">
              <a:rPr lang="fr-FR" smtClean="0"/>
              <a:t>‹N°›</a:t>
            </a:fld>
            <a:endParaRPr lang="fr-FR"/>
          </a:p>
        </p:txBody>
      </p:sp>
    </p:spTree>
    <p:extLst>
      <p:ext uri="{BB962C8B-B14F-4D97-AF65-F5344CB8AC3E}">
        <p14:creationId xmlns:p14="http://schemas.microsoft.com/office/powerpoint/2010/main" val="450533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2A9DEC3-20C1-4A4C-80E0-623637F00CFA}" type="slidenum">
              <a:rPr lang="fr-FR" smtClean="0"/>
              <a:t>1</a:t>
            </a:fld>
            <a:endParaRPr lang="fr-FR"/>
          </a:p>
        </p:txBody>
      </p:sp>
    </p:spTree>
    <p:extLst>
      <p:ext uri="{BB962C8B-B14F-4D97-AF65-F5344CB8AC3E}">
        <p14:creationId xmlns:p14="http://schemas.microsoft.com/office/powerpoint/2010/main" val="12860023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2A9DEC3-20C1-4A4C-80E0-623637F00CFA}" type="slidenum">
              <a:rPr lang="fr-FR" smtClean="0"/>
              <a:t>2</a:t>
            </a:fld>
            <a:endParaRPr lang="fr-FR"/>
          </a:p>
        </p:txBody>
      </p:sp>
    </p:spTree>
    <p:extLst>
      <p:ext uri="{BB962C8B-B14F-4D97-AF65-F5344CB8AC3E}">
        <p14:creationId xmlns:p14="http://schemas.microsoft.com/office/powerpoint/2010/main" val="38544114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i="1"/>
              <a:t>Loi bioéthique 2021 :</a:t>
            </a:r>
          </a:p>
          <a:p>
            <a:r>
              <a:rPr lang="fr-FR" b="1" i="1" dirty="0"/>
              <a:t>L’un des points les plus débattus a été celui du « bébé-médicament »…</a:t>
            </a:r>
            <a:endParaRPr lang="fr-FR" dirty="0"/>
          </a:p>
          <a:p>
            <a:r>
              <a:rPr lang="fr-FR" dirty="0"/>
              <a:t>Oui, cette disposition devait être supprimée, </a:t>
            </a:r>
            <a:r>
              <a:rPr lang="fr-FR" b="1" dirty="0"/>
              <a:t>mais elle a été réintroduite par le Sénat</a:t>
            </a:r>
            <a:r>
              <a:rPr lang="fr-FR" dirty="0"/>
              <a:t>. Aussi appelée « bébé du double espoir », cette technique permet à des parents dont un enfant est atteint d’une maladie incurable de recourir à un diagnostic préimplantatoire (DPI-HLA) pour </a:t>
            </a:r>
            <a:r>
              <a:rPr lang="fr-FR" b="1" dirty="0"/>
              <a:t>sélectionner un embryon indemne de cette maladie en vue de réaliser une greffe de sang du cordon ombilical pour l’aîné</a:t>
            </a:r>
            <a:r>
              <a:rPr lang="fr-FR" dirty="0"/>
              <a:t>.</a:t>
            </a:r>
          </a:p>
          <a:p>
            <a:r>
              <a:rPr lang="fr-FR" dirty="0"/>
              <a:t>Si le diagnostic préimplantatoire est déjà autorisé en France – 256 enfants nés en 2018 –, seulement dans les cas d’éventuels déficits génétiques (la sélection de l’embryon pour d’autres raisons, comme le sexe, reste strictement interdite, à la différence d’autres pays comme les États-Unis ou Israël), le problème éthique soulevé est celui d’expliquer à l’enfant les « raisons » de sa venue au monde…</a:t>
            </a:r>
          </a:p>
          <a:p>
            <a:r>
              <a:rPr lang="fr-FR" dirty="0"/>
              <a:t>En pratique, on peut nuancer : ces couples doivent vouloir (déjà) un autre bébé, indépendamment de la possibilité de soigner leur aîné, et la sélection de l’embryon est ensuite possible. Mais, outre que cette volonté est déclarative, donc invérifiable, il est difficile de dire que les couples dans cette situation veulent un enfant </a:t>
            </a:r>
            <a:r>
              <a:rPr lang="fr-FR" i="1" dirty="0"/>
              <a:t>exclusivement</a:t>
            </a:r>
            <a:r>
              <a:rPr lang="fr-FR" dirty="0"/>
              <a:t> dans ce but thérapeutique.</a:t>
            </a:r>
          </a:p>
          <a:p>
            <a:r>
              <a:rPr lang="fr-FR" b="1" dirty="0"/>
              <a:t>La question éthique est ensuite : que lui expliquera-t-on ? Qu’il est né </a:t>
            </a:r>
            <a:r>
              <a:rPr lang="fr-FR" b="1" i="1" dirty="0"/>
              <a:t>pour</a:t>
            </a:r>
            <a:r>
              <a:rPr lang="fr-FR" b="1" dirty="0"/>
              <a:t> soigner son aîné ? Ou bien que celui-ci a été soigné </a:t>
            </a:r>
            <a:r>
              <a:rPr lang="fr-FR" b="1" i="1" dirty="0"/>
              <a:t>à l’occasion</a:t>
            </a:r>
            <a:r>
              <a:rPr lang="fr-FR" b="1" dirty="0"/>
              <a:t> de sa naissance ?</a:t>
            </a:r>
            <a:r>
              <a:rPr lang="fr-FR" dirty="0"/>
              <a:t> Vis-à-vis de l’aîné, aussi, des questions se posent, en particulier au sujet de la dette, dont ont parlé de nombreux psychanalystes.</a:t>
            </a:r>
          </a:p>
          <a:p>
            <a:endParaRPr lang="fr-FR" dirty="0"/>
          </a:p>
          <a:p>
            <a:r>
              <a:rPr lang="fr-FR" dirty="0"/>
              <a:t>Source : la revue du praticien. </a:t>
            </a:r>
          </a:p>
          <a:p>
            <a:endParaRPr lang="fr-FR" dirty="0"/>
          </a:p>
        </p:txBody>
      </p:sp>
      <p:sp>
        <p:nvSpPr>
          <p:cNvPr id="4" name="Espace réservé du numéro de diapositive 3"/>
          <p:cNvSpPr>
            <a:spLocks noGrp="1"/>
          </p:cNvSpPr>
          <p:nvPr>
            <p:ph type="sldNum" sz="quarter" idx="5"/>
          </p:nvPr>
        </p:nvSpPr>
        <p:spPr/>
        <p:txBody>
          <a:bodyPr/>
          <a:lstStyle/>
          <a:p>
            <a:fld id="{C2A9DEC3-20C1-4A4C-80E0-623637F00CFA}" type="slidenum">
              <a:rPr lang="fr-FR" smtClean="0"/>
              <a:t>3</a:t>
            </a:fld>
            <a:endParaRPr lang="fr-FR"/>
          </a:p>
        </p:txBody>
      </p:sp>
    </p:spTree>
    <p:extLst>
      <p:ext uri="{BB962C8B-B14F-4D97-AF65-F5344CB8AC3E}">
        <p14:creationId xmlns:p14="http://schemas.microsoft.com/office/powerpoint/2010/main" val="2272559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1953A3D-4DBF-7449-814C-6E0694E39CD3}" type="slidenum">
              <a:rPr lang="fr-FR" smtClean="0"/>
              <a:t>6</a:t>
            </a:fld>
            <a:endParaRPr lang="fr-FR"/>
          </a:p>
        </p:txBody>
      </p:sp>
    </p:spTree>
    <p:extLst>
      <p:ext uri="{BB962C8B-B14F-4D97-AF65-F5344CB8AC3E}">
        <p14:creationId xmlns:p14="http://schemas.microsoft.com/office/powerpoint/2010/main" val="2112022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2A9DEC3-20C1-4A4C-80E0-623637F00CFA}" type="slidenum">
              <a:rPr lang="fr-FR" smtClean="0"/>
              <a:t>7</a:t>
            </a:fld>
            <a:endParaRPr lang="fr-FR"/>
          </a:p>
        </p:txBody>
      </p:sp>
    </p:spTree>
    <p:extLst>
      <p:ext uri="{BB962C8B-B14F-4D97-AF65-F5344CB8AC3E}">
        <p14:creationId xmlns:p14="http://schemas.microsoft.com/office/powerpoint/2010/main" val="3854411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2DD566-28AF-4732-8E93-D1C763DA4138}"/>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F373DBFB-0185-4A5C-862C-40BE71F285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F8E21F51-042B-4488-AB5E-B35601509C81}"/>
              </a:ext>
            </a:extLst>
          </p:cNvPr>
          <p:cNvSpPr>
            <a:spLocks noGrp="1"/>
          </p:cNvSpPr>
          <p:nvPr>
            <p:ph type="dt" sz="half" idx="10"/>
          </p:nvPr>
        </p:nvSpPr>
        <p:spPr/>
        <p:txBody>
          <a:bodyPr/>
          <a:lstStyle/>
          <a:p>
            <a:fld id="{75979A63-E737-4825-B2E8-12C8BD1C96DB}" type="datetimeFigureOut">
              <a:rPr lang="fr-FR" smtClean="0"/>
              <a:t>22/10/2024</a:t>
            </a:fld>
            <a:endParaRPr lang="fr-FR"/>
          </a:p>
        </p:txBody>
      </p:sp>
      <p:sp>
        <p:nvSpPr>
          <p:cNvPr id="5" name="Espace réservé du pied de page 4">
            <a:extLst>
              <a:ext uri="{FF2B5EF4-FFF2-40B4-BE49-F238E27FC236}">
                <a16:creationId xmlns:a16="http://schemas.microsoft.com/office/drawing/2014/main" id="{F5ABCC30-E9EB-437D-8FC4-3425D47E6F2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38ACD36-C0BA-4D0D-8B0E-DD79B85E5931}"/>
              </a:ext>
            </a:extLst>
          </p:cNvPr>
          <p:cNvSpPr>
            <a:spLocks noGrp="1"/>
          </p:cNvSpPr>
          <p:nvPr>
            <p:ph type="sldNum" sz="quarter" idx="12"/>
          </p:nvPr>
        </p:nvSpPr>
        <p:spPr/>
        <p:txBody>
          <a:bodyPr/>
          <a:lstStyle/>
          <a:p>
            <a:fld id="{2AA41E56-799A-43F0-87AB-DA628598BE29}" type="slidenum">
              <a:rPr lang="fr-FR" smtClean="0"/>
              <a:t>‹N°›</a:t>
            </a:fld>
            <a:endParaRPr lang="fr-FR"/>
          </a:p>
        </p:txBody>
      </p:sp>
    </p:spTree>
    <p:extLst>
      <p:ext uri="{BB962C8B-B14F-4D97-AF65-F5344CB8AC3E}">
        <p14:creationId xmlns:p14="http://schemas.microsoft.com/office/powerpoint/2010/main" val="842128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612C88-5A46-465B-B52E-6A91DB82FD4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32242B3-E17B-44D3-A982-CDE0073964A4}"/>
              </a:ext>
            </a:extLst>
          </p:cNvPr>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B8268BB-5C3C-4315-B006-73D089ACC8C5}"/>
              </a:ext>
            </a:extLst>
          </p:cNvPr>
          <p:cNvSpPr>
            <a:spLocks noGrp="1"/>
          </p:cNvSpPr>
          <p:nvPr>
            <p:ph type="dt" sz="half" idx="10"/>
          </p:nvPr>
        </p:nvSpPr>
        <p:spPr/>
        <p:txBody>
          <a:bodyPr/>
          <a:lstStyle/>
          <a:p>
            <a:fld id="{75979A63-E737-4825-B2E8-12C8BD1C96DB}" type="datetimeFigureOut">
              <a:rPr lang="fr-FR" smtClean="0"/>
              <a:t>22/10/2024</a:t>
            </a:fld>
            <a:endParaRPr lang="fr-FR"/>
          </a:p>
        </p:txBody>
      </p:sp>
      <p:sp>
        <p:nvSpPr>
          <p:cNvPr id="5" name="Espace réservé du pied de page 4">
            <a:extLst>
              <a:ext uri="{FF2B5EF4-FFF2-40B4-BE49-F238E27FC236}">
                <a16:creationId xmlns:a16="http://schemas.microsoft.com/office/drawing/2014/main" id="{E544EB77-A433-4E52-83C0-E08ABE31BA1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52553A4-BD1D-480C-B141-5FC78DDCD654}"/>
              </a:ext>
            </a:extLst>
          </p:cNvPr>
          <p:cNvSpPr>
            <a:spLocks noGrp="1"/>
          </p:cNvSpPr>
          <p:nvPr>
            <p:ph type="sldNum" sz="quarter" idx="12"/>
          </p:nvPr>
        </p:nvSpPr>
        <p:spPr/>
        <p:txBody>
          <a:bodyPr/>
          <a:lstStyle/>
          <a:p>
            <a:fld id="{2AA41E56-799A-43F0-87AB-DA628598BE29}" type="slidenum">
              <a:rPr lang="fr-FR" smtClean="0"/>
              <a:t>‹N°›</a:t>
            </a:fld>
            <a:endParaRPr lang="fr-FR"/>
          </a:p>
        </p:txBody>
      </p:sp>
    </p:spTree>
    <p:extLst>
      <p:ext uri="{BB962C8B-B14F-4D97-AF65-F5344CB8AC3E}">
        <p14:creationId xmlns:p14="http://schemas.microsoft.com/office/powerpoint/2010/main" val="3915002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3870B4-5724-4F73-A5F7-4E2AE516B684}"/>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B0524BDF-9421-41D4-AE6F-9669558CF8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a:extLst>
              <a:ext uri="{FF2B5EF4-FFF2-40B4-BE49-F238E27FC236}">
                <a16:creationId xmlns:a16="http://schemas.microsoft.com/office/drawing/2014/main" id="{5E560D94-1038-4CFF-9CFB-94A03B325DC9}"/>
              </a:ext>
            </a:extLst>
          </p:cNvPr>
          <p:cNvSpPr>
            <a:spLocks noGrp="1"/>
          </p:cNvSpPr>
          <p:nvPr>
            <p:ph type="dt" sz="half" idx="10"/>
          </p:nvPr>
        </p:nvSpPr>
        <p:spPr/>
        <p:txBody>
          <a:bodyPr/>
          <a:lstStyle/>
          <a:p>
            <a:fld id="{75979A63-E737-4825-B2E8-12C8BD1C96DB}" type="datetimeFigureOut">
              <a:rPr lang="fr-FR" smtClean="0"/>
              <a:t>22/10/2024</a:t>
            </a:fld>
            <a:endParaRPr lang="fr-FR"/>
          </a:p>
        </p:txBody>
      </p:sp>
      <p:sp>
        <p:nvSpPr>
          <p:cNvPr id="5" name="Espace réservé du pied de page 4">
            <a:extLst>
              <a:ext uri="{FF2B5EF4-FFF2-40B4-BE49-F238E27FC236}">
                <a16:creationId xmlns:a16="http://schemas.microsoft.com/office/drawing/2014/main" id="{C5435D4C-3226-4DC1-8922-22EC3D0FA0C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3456AE6-809F-4700-B680-08EF4936B375}"/>
              </a:ext>
            </a:extLst>
          </p:cNvPr>
          <p:cNvSpPr>
            <a:spLocks noGrp="1"/>
          </p:cNvSpPr>
          <p:nvPr>
            <p:ph type="sldNum" sz="quarter" idx="12"/>
          </p:nvPr>
        </p:nvSpPr>
        <p:spPr/>
        <p:txBody>
          <a:bodyPr/>
          <a:lstStyle/>
          <a:p>
            <a:fld id="{2AA41E56-799A-43F0-87AB-DA628598BE29}" type="slidenum">
              <a:rPr lang="fr-FR" smtClean="0"/>
              <a:t>‹N°›</a:t>
            </a:fld>
            <a:endParaRPr lang="fr-FR"/>
          </a:p>
        </p:txBody>
      </p:sp>
    </p:spTree>
    <p:extLst>
      <p:ext uri="{BB962C8B-B14F-4D97-AF65-F5344CB8AC3E}">
        <p14:creationId xmlns:p14="http://schemas.microsoft.com/office/powerpoint/2010/main" val="3704233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7D569B-903B-4D1C-84B1-C6847A0B887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4FE359F-9BE0-461B-89A5-819F0F997AEC}"/>
              </a:ext>
            </a:extLst>
          </p:cNvPr>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4EE1ED7A-3FFF-4C3C-9DF7-8D8BBC0CEA4A}"/>
              </a:ext>
            </a:extLst>
          </p:cNvPr>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B8AA0A3-0E44-479F-981D-D14417AD8B59}"/>
              </a:ext>
            </a:extLst>
          </p:cNvPr>
          <p:cNvSpPr>
            <a:spLocks noGrp="1"/>
          </p:cNvSpPr>
          <p:nvPr>
            <p:ph type="dt" sz="half" idx="10"/>
          </p:nvPr>
        </p:nvSpPr>
        <p:spPr/>
        <p:txBody>
          <a:bodyPr/>
          <a:lstStyle/>
          <a:p>
            <a:fld id="{75979A63-E737-4825-B2E8-12C8BD1C96DB}" type="datetimeFigureOut">
              <a:rPr lang="fr-FR" smtClean="0"/>
              <a:t>22/10/2024</a:t>
            </a:fld>
            <a:endParaRPr lang="fr-FR"/>
          </a:p>
        </p:txBody>
      </p:sp>
      <p:sp>
        <p:nvSpPr>
          <p:cNvPr id="6" name="Espace réservé du pied de page 5">
            <a:extLst>
              <a:ext uri="{FF2B5EF4-FFF2-40B4-BE49-F238E27FC236}">
                <a16:creationId xmlns:a16="http://schemas.microsoft.com/office/drawing/2014/main" id="{A0332887-5FC8-47B6-997D-2B9195B116E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611AE24-877B-4EEF-852B-D5AD8A899C58}"/>
              </a:ext>
            </a:extLst>
          </p:cNvPr>
          <p:cNvSpPr>
            <a:spLocks noGrp="1"/>
          </p:cNvSpPr>
          <p:nvPr>
            <p:ph type="sldNum" sz="quarter" idx="12"/>
          </p:nvPr>
        </p:nvSpPr>
        <p:spPr/>
        <p:txBody>
          <a:bodyPr/>
          <a:lstStyle/>
          <a:p>
            <a:fld id="{2AA41E56-799A-43F0-87AB-DA628598BE29}" type="slidenum">
              <a:rPr lang="fr-FR" smtClean="0"/>
              <a:t>‹N°›</a:t>
            </a:fld>
            <a:endParaRPr lang="fr-FR"/>
          </a:p>
        </p:txBody>
      </p:sp>
    </p:spTree>
    <p:extLst>
      <p:ext uri="{BB962C8B-B14F-4D97-AF65-F5344CB8AC3E}">
        <p14:creationId xmlns:p14="http://schemas.microsoft.com/office/powerpoint/2010/main" val="3520586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0FF8A9-F4CA-4E3F-B52D-DE6FBC5B8E2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49E36B3-A87D-4C67-9ACE-5972EEC46A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a:extLst>
              <a:ext uri="{FF2B5EF4-FFF2-40B4-BE49-F238E27FC236}">
                <a16:creationId xmlns:a16="http://schemas.microsoft.com/office/drawing/2014/main" id="{7E7E58B7-217D-4FDE-B24C-545E950E48A2}"/>
              </a:ext>
            </a:extLst>
          </p:cNvPr>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75B9685-EF00-4927-8D11-ABCB623AF4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a:extLst>
              <a:ext uri="{FF2B5EF4-FFF2-40B4-BE49-F238E27FC236}">
                <a16:creationId xmlns:a16="http://schemas.microsoft.com/office/drawing/2014/main" id="{055189F1-1ECF-4418-A77F-2635C724AA80}"/>
              </a:ext>
            </a:extLst>
          </p:cNvPr>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2EC6A90-A805-40CA-A83D-7FA4F1D03F49}"/>
              </a:ext>
            </a:extLst>
          </p:cNvPr>
          <p:cNvSpPr>
            <a:spLocks noGrp="1"/>
          </p:cNvSpPr>
          <p:nvPr>
            <p:ph type="dt" sz="half" idx="10"/>
          </p:nvPr>
        </p:nvSpPr>
        <p:spPr/>
        <p:txBody>
          <a:bodyPr/>
          <a:lstStyle/>
          <a:p>
            <a:fld id="{75979A63-E737-4825-B2E8-12C8BD1C96DB}" type="datetimeFigureOut">
              <a:rPr lang="fr-FR" smtClean="0"/>
              <a:t>22/10/2024</a:t>
            </a:fld>
            <a:endParaRPr lang="fr-FR"/>
          </a:p>
        </p:txBody>
      </p:sp>
      <p:sp>
        <p:nvSpPr>
          <p:cNvPr id="8" name="Espace réservé du pied de page 7">
            <a:extLst>
              <a:ext uri="{FF2B5EF4-FFF2-40B4-BE49-F238E27FC236}">
                <a16:creationId xmlns:a16="http://schemas.microsoft.com/office/drawing/2014/main" id="{D854A174-DF1A-4C96-A006-DA7CDB3B306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8D5D1876-12CE-4F11-AD94-FBFD40919D9C}"/>
              </a:ext>
            </a:extLst>
          </p:cNvPr>
          <p:cNvSpPr>
            <a:spLocks noGrp="1"/>
          </p:cNvSpPr>
          <p:nvPr>
            <p:ph type="sldNum" sz="quarter" idx="12"/>
          </p:nvPr>
        </p:nvSpPr>
        <p:spPr/>
        <p:txBody>
          <a:bodyPr/>
          <a:lstStyle/>
          <a:p>
            <a:fld id="{2AA41E56-799A-43F0-87AB-DA628598BE29}" type="slidenum">
              <a:rPr lang="fr-FR" smtClean="0"/>
              <a:t>‹N°›</a:t>
            </a:fld>
            <a:endParaRPr lang="fr-FR"/>
          </a:p>
        </p:txBody>
      </p:sp>
    </p:spTree>
    <p:extLst>
      <p:ext uri="{BB962C8B-B14F-4D97-AF65-F5344CB8AC3E}">
        <p14:creationId xmlns:p14="http://schemas.microsoft.com/office/powerpoint/2010/main" val="3745617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5D906F-6BDF-4B5D-91D5-F75226894DC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214127D-4A73-4EE2-B037-333B9914C846}"/>
              </a:ext>
            </a:extLst>
          </p:cNvPr>
          <p:cNvSpPr>
            <a:spLocks noGrp="1"/>
          </p:cNvSpPr>
          <p:nvPr>
            <p:ph type="dt" sz="half" idx="10"/>
          </p:nvPr>
        </p:nvSpPr>
        <p:spPr/>
        <p:txBody>
          <a:bodyPr/>
          <a:lstStyle/>
          <a:p>
            <a:fld id="{75979A63-E737-4825-B2E8-12C8BD1C96DB}" type="datetimeFigureOut">
              <a:rPr lang="fr-FR" smtClean="0"/>
              <a:t>22/10/2024</a:t>
            </a:fld>
            <a:endParaRPr lang="fr-FR"/>
          </a:p>
        </p:txBody>
      </p:sp>
      <p:sp>
        <p:nvSpPr>
          <p:cNvPr id="4" name="Espace réservé du pied de page 3">
            <a:extLst>
              <a:ext uri="{FF2B5EF4-FFF2-40B4-BE49-F238E27FC236}">
                <a16:creationId xmlns:a16="http://schemas.microsoft.com/office/drawing/2014/main" id="{D645A705-DE18-4F14-B760-4A9B9DF62FC5}"/>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723F3631-DD83-4464-A2D2-6A7F71C6D4D9}"/>
              </a:ext>
            </a:extLst>
          </p:cNvPr>
          <p:cNvSpPr>
            <a:spLocks noGrp="1"/>
          </p:cNvSpPr>
          <p:nvPr>
            <p:ph type="sldNum" sz="quarter" idx="12"/>
          </p:nvPr>
        </p:nvSpPr>
        <p:spPr/>
        <p:txBody>
          <a:bodyPr/>
          <a:lstStyle/>
          <a:p>
            <a:fld id="{2AA41E56-799A-43F0-87AB-DA628598BE29}" type="slidenum">
              <a:rPr lang="fr-FR" smtClean="0"/>
              <a:t>‹N°›</a:t>
            </a:fld>
            <a:endParaRPr lang="fr-FR"/>
          </a:p>
        </p:txBody>
      </p:sp>
    </p:spTree>
    <p:extLst>
      <p:ext uri="{BB962C8B-B14F-4D97-AF65-F5344CB8AC3E}">
        <p14:creationId xmlns:p14="http://schemas.microsoft.com/office/powerpoint/2010/main" val="4134625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3700E39-9722-43C5-8800-118A19A7CFCA}"/>
              </a:ext>
            </a:extLst>
          </p:cNvPr>
          <p:cNvSpPr>
            <a:spLocks noGrp="1"/>
          </p:cNvSpPr>
          <p:nvPr>
            <p:ph type="dt" sz="half" idx="10"/>
          </p:nvPr>
        </p:nvSpPr>
        <p:spPr/>
        <p:txBody>
          <a:bodyPr/>
          <a:lstStyle/>
          <a:p>
            <a:fld id="{75979A63-E737-4825-B2E8-12C8BD1C96DB}" type="datetimeFigureOut">
              <a:rPr lang="fr-FR" smtClean="0"/>
              <a:t>22/10/2024</a:t>
            </a:fld>
            <a:endParaRPr lang="fr-FR"/>
          </a:p>
        </p:txBody>
      </p:sp>
      <p:sp>
        <p:nvSpPr>
          <p:cNvPr id="3" name="Espace réservé du pied de page 2">
            <a:extLst>
              <a:ext uri="{FF2B5EF4-FFF2-40B4-BE49-F238E27FC236}">
                <a16:creationId xmlns:a16="http://schemas.microsoft.com/office/drawing/2014/main" id="{DAAA3F79-9B61-4139-A018-D6267AF5A6C4}"/>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9857C32C-E542-43C6-918D-A10A4B5517ED}"/>
              </a:ext>
            </a:extLst>
          </p:cNvPr>
          <p:cNvSpPr>
            <a:spLocks noGrp="1"/>
          </p:cNvSpPr>
          <p:nvPr>
            <p:ph type="sldNum" sz="quarter" idx="12"/>
          </p:nvPr>
        </p:nvSpPr>
        <p:spPr/>
        <p:txBody>
          <a:bodyPr/>
          <a:lstStyle/>
          <a:p>
            <a:fld id="{2AA41E56-799A-43F0-87AB-DA628598BE29}" type="slidenum">
              <a:rPr lang="fr-FR" smtClean="0"/>
              <a:t>‹N°›</a:t>
            </a:fld>
            <a:endParaRPr lang="fr-FR"/>
          </a:p>
        </p:txBody>
      </p:sp>
    </p:spTree>
    <p:extLst>
      <p:ext uri="{BB962C8B-B14F-4D97-AF65-F5344CB8AC3E}">
        <p14:creationId xmlns:p14="http://schemas.microsoft.com/office/powerpoint/2010/main" val="928141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3ED1D5-3FA5-4ECD-8778-D6716540D10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2816443-1997-4FC2-AAE9-F3A60FECF5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2AD5B6E-2A8D-4BD4-8149-91A8918646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D8387942-80CD-4411-9F9C-66B5640A0FEB}"/>
              </a:ext>
            </a:extLst>
          </p:cNvPr>
          <p:cNvSpPr>
            <a:spLocks noGrp="1"/>
          </p:cNvSpPr>
          <p:nvPr>
            <p:ph type="dt" sz="half" idx="10"/>
          </p:nvPr>
        </p:nvSpPr>
        <p:spPr/>
        <p:txBody>
          <a:bodyPr/>
          <a:lstStyle/>
          <a:p>
            <a:fld id="{75979A63-E737-4825-B2E8-12C8BD1C96DB}" type="datetimeFigureOut">
              <a:rPr lang="fr-FR" smtClean="0"/>
              <a:t>22/10/2024</a:t>
            </a:fld>
            <a:endParaRPr lang="fr-FR"/>
          </a:p>
        </p:txBody>
      </p:sp>
      <p:sp>
        <p:nvSpPr>
          <p:cNvPr id="6" name="Espace réservé du pied de page 5">
            <a:extLst>
              <a:ext uri="{FF2B5EF4-FFF2-40B4-BE49-F238E27FC236}">
                <a16:creationId xmlns:a16="http://schemas.microsoft.com/office/drawing/2014/main" id="{3A31F356-FE1F-4A15-9447-B165380B302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6CD07B8-F461-4566-A407-42704652C18E}"/>
              </a:ext>
            </a:extLst>
          </p:cNvPr>
          <p:cNvSpPr>
            <a:spLocks noGrp="1"/>
          </p:cNvSpPr>
          <p:nvPr>
            <p:ph type="sldNum" sz="quarter" idx="12"/>
          </p:nvPr>
        </p:nvSpPr>
        <p:spPr/>
        <p:txBody>
          <a:bodyPr/>
          <a:lstStyle/>
          <a:p>
            <a:fld id="{2AA41E56-799A-43F0-87AB-DA628598BE29}" type="slidenum">
              <a:rPr lang="fr-FR" smtClean="0"/>
              <a:t>‹N°›</a:t>
            </a:fld>
            <a:endParaRPr lang="fr-FR"/>
          </a:p>
        </p:txBody>
      </p:sp>
    </p:spTree>
    <p:extLst>
      <p:ext uri="{BB962C8B-B14F-4D97-AF65-F5344CB8AC3E}">
        <p14:creationId xmlns:p14="http://schemas.microsoft.com/office/powerpoint/2010/main" val="2005485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07D2AB-9D2E-42DD-9049-A09A70083CE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1E9CF1F-30B4-44FD-BA49-22955C843B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CDD6505F-D5A4-42EF-AEE5-9CA827044D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FD833C9B-39FB-42C5-AEE4-DDB35791F629}"/>
              </a:ext>
            </a:extLst>
          </p:cNvPr>
          <p:cNvSpPr>
            <a:spLocks noGrp="1"/>
          </p:cNvSpPr>
          <p:nvPr>
            <p:ph type="dt" sz="half" idx="10"/>
          </p:nvPr>
        </p:nvSpPr>
        <p:spPr/>
        <p:txBody>
          <a:bodyPr/>
          <a:lstStyle/>
          <a:p>
            <a:fld id="{75979A63-E737-4825-B2E8-12C8BD1C96DB}" type="datetimeFigureOut">
              <a:rPr lang="fr-FR" smtClean="0"/>
              <a:t>22/10/2024</a:t>
            </a:fld>
            <a:endParaRPr lang="fr-FR"/>
          </a:p>
        </p:txBody>
      </p:sp>
      <p:sp>
        <p:nvSpPr>
          <p:cNvPr id="6" name="Espace réservé du pied de page 5">
            <a:extLst>
              <a:ext uri="{FF2B5EF4-FFF2-40B4-BE49-F238E27FC236}">
                <a16:creationId xmlns:a16="http://schemas.microsoft.com/office/drawing/2014/main" id="{7218C53C-22BE-439E-93E2-1EC93A877C0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86C2A98-9EEB-4830-A9AE-72512B15A57F}"/>
              </a:ext>
            </a:extLst>
          </p:cNvPr>
          <p:cNvSpPr>
            <a:spLocks noGrp="1"/>
          </p:cNvSpPr>
          <p:nvPr>
            <p:ph type="sldNum" sz="quarter" idx="12"/>
          </p:nvPr>
        </p:nvSpPr>
        <p:spPr/>
        <p:txBody>
          <a:bodyPr/>
          <a:lstStyle/>
          <a:p>
            <a:fld id="{2AA41E56-799A-43F0-87AB-DA628598BE29}" type="slidenum">
              <a:rPr lang="fr-FR" smtClean="0"/>
              <a:t>‹N°›</a:t>
            </a:fld>
            <a:endParaRPr lang="fr-FR"/>
          </a:p>
        </p:txBody>
      </p:sp>
    </p:spTree>
    <p:extLst>
      <p:ext uri="{BB962C8B-B14F-4D97-AF65-F5344CB8AC3E}">
        <p14:creationId xmlns:p14="http://schemas.microsoft.com/office/powerpoint/2010/main" val="2615651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C085B7-6963-4A70-93D5-D2BE33A7E29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2E6AE4D8-63BA-4D68-9DBA-FB4C3DAC1BD8}"/>
              </a:ext>
            </a:extLst>
          </p:cNvPr>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A54F777-69D8-4F1A-B7F8-9BFCF1F3EDF3}"/>
              </a:ext>
            </a:extLst>
          </p:cNvPr>
          <p:cNvSpPr>
            <a:spLocks noGrp="1"/>
          </p:cNvSpPr>
          <p:nvPr>
            <p:ph type="dt" sz="half" idx="10"/>
          </p:nvPr>
        </p:nvSpPr>
        <p:spPr/>
        <p:txBody>
          <a:bodyPr/>
          <a:lstStyle/>
          <a:p>
            <a:fld id="{75979A63-E737-4825-B2E8-12C8BD1C96DB}" type="datetimeFigureOut">
              <a:rPr lang="fr-FR" smtClean="0"/>
              <a:t>22/10/2024</a:t>
            </a:fld>
            <a:endParaRPr lang="fr-FR"/>
          </a:p>
        </p:txBody>
      </p:sp>
      <p:sp>
        <p:nvSpPr>
          <p:cNvPr id="5" name="Espace réservé du pied de page 4">
            <a:extLst>
              <a:ext uri="{FF2B5EF4-FFF2-40B4-BE49-F238E27FC236}">
                <a16:creationId xmlns:a16="http://schemas.microsoft.com/office/drawing/2014/main" id="{27D62C06-4AD1-4C3A-BE5A-4E278DB661E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AF6121B-EEA1-452C-9C62-20459C0CF71A}"/>
              </a:ext>
            </a:extLst>
          </p:cNvPr>
          <p:cNvSpPr>
            <a:spLocks noGrp="1"/>
          </p:cNvSpPr>
          <p:nvPr>
            <p:ph type="sldNum" sz="quarter" idx="12"/>
          </p:nvPr>
        </p:nvSpPr>
        <p:spPr/>
        <p:txBody>
          <a:bodyPr/>
          <a:lstStyle/>
          <a:p>
            <a:fld id="{2AA41E56-799A-43F0-87AB-DA628598BE29}" type="slidenum">
              <a:rPr lang="fr-FR" smtClean="0"/>
              <a:t>‹N°›</a:t>
            </a:fld>
            <a:endParaRPr lang="fr-FR"/>
          </a:p>
        </p:txBody>
      </p:sp>
    </p:spTree>
    <p:extLst>
      <p:ext uri="{BB962C8B-B14F-4D97-AF65-F5344CB8AC3E}">
        <p14:creationId xmlns:p14="http://schemas.microsoft.com/office/powerpoint/2010/main" val="3041015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E97E793-BF75-49A0-B5D0-8BEFEF3A8383}"/>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06E047C4-1338-4DCE-95A7-BDD580D0076C}"/>
              </a:ext>
            </a:extLst>
          </p:cNvPr>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AB7374D-7EDD-4290-A45C-06175E64D0EF}"/>
              </a:ext>
            </a:extLst>
          </p:cNvPr>
          <p:cNvSpPr>
            <a:spLocks noGrp="1"/>
          </p:cNvSpPr>
          <p:nvPr>
            <p:ph type="dt" sz="half" idx="10"/>
          </p:nvPr>
        </p:nvSpPr>
        <p:spPr/>
        <p:txBody>
          <a:bodyPr/>
          <a:lstStyle/>
          <a:p>
            <a:fld id="{75979A63-E737-4825-B2E8-12C8BD1C96DB}" type="datetimeFigureOut">
              <a:rPr lang="fr-FR" smtClean="0"/>
              <a:t>22/10/2024</a:t>
            </a:fld>
            <a:endParaRPr lang="fr-FR"/>
          </a:p>
        </p:txBody>
      </p:sp>
      <p:sp>
        <p:nvSpPr>
          <p:cNvPr id="5" name="Espace réservé du pied de page 4">
            <a:extLst>
              <a:ext uri="{FF2B5EF4-FFF2-40B4-BE49-F238E27FC236}">
                <a16:creationId xmlns:a16="http://schemas.microsoft.com/office/drawing/2014/main" id="{6E7E809B-60B2-42DF-BAC2-9315519A7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B1C2750-62F0-4131-838E-25882411763E}"/>
              </a:ext>
            </a:extLst>
          </p:cNvPr>
          <p:cNvSpPr>
            <a:spLocks noGrp="1"/>
          </p:cNvSpPr>
          <p:nvPr>
            <p:ph type="sldNum" sz="quarter" idx="12"/>
          </p:nvPr>
        </p:nvSpPr>
        <p:spPr/>
        <p:txBody>
          <a:bodyPr/>
          <a:lstStyle/>
          <a:p>
            <a:fld id="{2AA41E56-799A-43F0-87AB-DA628598BE29}" type="slidenum">
              <a:rPr lang="fr-FR" smtClean="0"/>
              <a:t>‹N°›</a:t>
            </a:fld>
            <a:endParaRPr lang="fr-FR"/>
          </a:p>
        </p:txBody>
      </p:sp>
    </p:spTree>
    <p:extLst>
      <p:ext uri="{BB962C8B-B14F-4D97-AF65-F5344CB8AC3E}">
        <p14:creationId xmlns:p14="http://schemas.microsoft.com/office/powerpoint/2010/main" val="1113364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C27D564-0255-497C-A5A0-11F0F8FB36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B04BECBB-D819-4BE8-A3C8-DD9108B0DC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6EA34A7-8545-41C1-822D-18B168816B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979A63-E737-4825-B2E8-12C8BD1C96DB}" type="datetimeFigureOut">
              <a:rPr lang="fr-FR" smtClean="0"/>
              <a:t>22/10/2024</a:t>
            </a:fld>
            <a:endParaRPr lang="fr-FR"/>
          </a:p>
        </p:txBody>
      </p:sp>
      <p:sp>
        <p:nvSpPr>
          <p:cNvPr id="5" name="Espace réservé du pied de page 4">
            <a:extLst>
              <a:ext uri="{FF2B5EF4-FFF2-40B4-BE49-F238E27FC236}">
                <a16:creationId xmlns:a16="http://schemas.microsoft.com/office/drawing/2014/main" id="{CB16CAE1-D354-4B2C-AEFF-8CA849E387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E375FC96-FE2B-421F-B340-727462DF5F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A41E56-799A-43F0-87AB-DA628598BE29}" type="slidenum">
              <a:rPr lang="fr-FR" smtClean="0"/>
              <a:t>‹N°›</a:t>
            </a:fld>
            <a:endParaRPr lang="fr-FR"/>
          </a:p>
        </p:txBody>
      </p:sp>
    </p:spTree>
    <p:extLst>
      <p:ext uri="{BB962C8B-B14F-4D97-AF65-F5344CB8AC3E}">
        <p14:creationId xmlns:p14="http://schemas.microsoft.com/office/powerpoint/2010/main" val="31578508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7D4567-8DBB-46A3-9C97-3D96ED401555}"/>
              </a:ext>
            </a:extLst>
          </p:cNvPr>
          <p:cNvSpPr>
            <a:spLocks noGrp="1"/>
          </p:cNvSpPr>
          <p:nvPr>
            <p:ph type="ctrTitle"/>
          </p:nvPr>
        </p:nvSpPr>
        <p:spPr>
          <a:xfrm>
            <a:off x="1523998" y="1780673"/>
            <a:ext cx="9144000" cy="1328237"/>
          </a:xfrm>
        </p:spPr>
        <p:txBody>
          <a:bodyPr>
            <a:normAutofit/>
          </a:bodyPr>
          <a:lstStyle/>
          <a:p>
            <a:r>
              <a:rPr lang="fr-FR" spc="-240" dirty="0">
                <a:solidFill>
                  <a:schemeClr val="accent5">
                    <a:lumMod val="75000"/>
                  </a:schemeClr>
                </a:solidFill>
                <a:latin typeface="Gotham Medium" pitchFamily="50" charset="0"/>
                <a:cs typeface="Gotham Medium" pitchFamily="50" charset="0"/>
              </a:rPr>
              <a:t>Ethique et Science</a:t>
            </a:r>
            <a:endParaRPr lang="fr-FR" dirty="0"/>
          </a:p>
        </p:txBody>
      </p:sp>
      <p:pic>
        <p:nvPicPr>
          <p:cNvPr id="6" name="Image 5">
            <a:extLst>
              <a:ext uri="{FF2B5EF4-FFF2-40B4-BE49-F238E27FC236}">
                <a16:creationId xmlns:a16="http://schemas.microsoft.com/office/drawing/2014/main" id="{1AE8901F-1C30-4BD4-99BE-A97180C497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144" y="32090"/>
            <a:ext cx="1299102" cy="686750"/>
          </a:xfrm>
          <a:prstGeom prst="rect">
            <a:avLst/>
          </a:prstGeom>
        </p:spPr>
      </p:pic>
      <p:sp>
        <p:nvSpPr>
          <p:cNvPr id="9" name="Sous-titre 2">
            <a:extLst>
              <a:ext uri="{FF2B5EF4-FFF2-40B4-BE49-F238E27FC236}">
                <a16:creationId xmlns:a16="http://schemas.microsoft.com/office/drawing/2014/main" id="{DBA5A874-694F-4AD9-BD71-3529EA63D534}"/>
              </a:ext>
            </a:extLst>
          </p:cNvPr>
          <p:cNvSpPr txBox="1">
            <a:spLocks/>
          </p:cNvSpPr>
          <p:nvPr/>
        </p:nvSpPr>
        <p:spPr>
          <a:xfrm>
            <a:off x="2637778" y="3130511"/>
            <a:ext cx="6426011" cy="61858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3200" dirty="0">
                <a:solidFill>
                  <a:schemeClr val="tx1">
                    <a:lumMod val="85000"/>
                    <a:lumOff val="15000"/>
                  </a:schemeClr>
                </a:solidFill>
                <a:latin typeface="Cambria" panose="02040503050406030204" pitchFamily="18" charset="0"/>
                <a:cs typeface="Times New Roman" panose="02020603050405020304" pitchFamily="18" charset="0"/>
              </a:rPr>
              <a:t>Séance 5 </a:t>
            </a:r>
          </a:p>
          <a:p>
            <a:r>
              <a:rPr lang="fr-FR" sz="3200" b="1" dirty="0">
                <a:solidFill>
                  <a:schemeClr val="tx1">
                    <a:lumMod val="85000"/>
                    <a:lumOff val="15000"/>
                  </a:schemeClr>
                </a:solidFill>
                <a:latin typeface="Cambria" panose="02040503050406030204" pitchFamily="18" charset="0"/>
                <a:cs typeface="Times New Roman" panose="02020603050405020304" pitchFamily="18" charset="0"/>
              </a:rPr>
              <a:t>L’éthique de la science et de la technologie - Suite</a:t>
            </a:r>
          </a:p>
        </p:txBody>
      </p:sp>
      <p:sp>
        <p:nvSpPr>
          <p:cNvPr id="4" name="Espace réservé du numéro de diapositive 3">
            <a:extLst>
              <a:ext uri="{FF2B5EF4-FFF2-40B4-BE49-F238E27FC236}">
                <a16:creationId xmlns:a16="http://schemas.microsoft.com/office/drawing/2014/main" id="{7E50C749-411D-4C58-BECE-F6F98F8E6BD4}"/>
              </a:ext>
            </a:extLst>
          </p:cNvPr>
          <p:cNvSpPr>
            <a:spLocks noGrp="1"/>
          </p:cNvSpPr>
          <p:nvPr>
            <p:ph type="sldNum" sz="quarter" idx="12"/>
          </p:nvPr>
        </p:nvSpPr>
        <p:spPr>
          <a:xfrm>
            <a:off x="9448800" y="6494508"/>
            <a:ext cx="2743200" cy="365125"/>
          </a:xfrm>
        </p:spPr>
        <p:txBody>
          <a:bodyPr/>
          <a:lstStyle/>
          <a:p>
            <a:fld id="{8451C2F9-D2F6-4AB4-97F8-CBD41F7E86B7}" type="slidenum">
              <a:rPr lang="fr-FR" smtClean="0"/>
              <a:t>1</a:t>
            </a:fld>
            <a:endParaRPr lang="fr-FR"/>
          </a:p>
        </p:txBody>
      </p:sp>
      <p:sp>
        <p:nvSpPr>
          <p:cNvPr id="3" name="ZoneTexte 2">
            <a:extLst>
              <a:ext uri="{FF2B5EF4-FFF2-40B4-BE49-F238E27FC236}">
                <a16:creationId xmlns:a16="http://schemas.microsoft.com/office/drawing/2014/main" id="{B29D0200-D9B6-48E6-BC5A-8FC843719574}"/>
              </a:ext>
            </a:extLst>
          </p:cNvPr>
          <p:cNvSpPr txBox="1"/>
          <p:nvPr/>
        </p:nvSpPr>
        <p:spPr>
          <a:xfrm>
            <a:off x="240632" y="6115294"/>
            <a:ext cx="3657600" cy="369332"/>
          </a:xfrm>
          <a:prstGeom prst="rect">
            <a:avLst/>
          </a:prstGeom>
          <a:noFill/>
        </p:spPr>
        <p:txBody>
          <a:bodyPr wrap="square" lIns="91440" tIns="45720" rIns="91440" bIns="45720" rtlCol="0" anchor="t">
            <a:spAutoFit/>
          </a:bodyPr>
          <a:lstStyle/>
          <a:p>
            <a:r>
              <a:rPr lang="fr-FR" u="sng" dirty="0" err="1">
                <a:solidFill>
                  <a:schemeClr val="accent1"/>
                </a:solidFill>
              </a:rPr>
              <a:t>pierre.plancoulaine@cyu.fr</a:t>
            </a:r>
            <a:endParaRPr lang="fr-FR" u="sng" dirty="0">
              <a:solidFill>
                <a:schemeClr val="accent1"/>
              </a:solidFill>
            </a:endParaRPr>
          </a:p>
        </p:txBody>
      </p:sp>
    </p:spTree>
    <p:extLst>
      <p:ext uri="{BB962C8B-B14F-4D97-AF65-F5344CB8AC3E}">
        <p14:creationId xmlns:p14="http://schemas.microsoft.com/office/powerpoint/2010/main" val="99788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5C59D4-3F78-1448-BB24-D7D44981CD9E}"/>
              </a:ext>
            </a:extLst>
          </p:cNvPr>
          <p:cNvSpPr>
            <a:spLocks noGrp="1"/>
          </p:cNvSpPr>
          <p:nvPr>
            <p:ph type="title"/>
          </p:nvPr>
        </p:nvSpPr>
        <p:spPr/>
        <p:txBody>
          <a:bodyPr>
            <a:normAutofit/>
          </a:bodyPr>
          <a:lstStyle/>
          <a:p>
            <a:r>
              <a:rPr lang="fr-FR" sz="2800" b="1" dirty="0">
                <a:latin typeface="Cambria" panose="02040503050406030204" pitchFamily="18" charset="0"/>
              </a:rPr>
              <a:t>5 - La technoscience</a:t>
            </a:r>
            <a:endParaRPr lang="fr-FR" sz="2800" dirty="0"/>
          </a:p>
        </p:txBody>
      </p:sp>
      <p:sp>
        <p:nvSpPr>
          <p:cNvPr id="3" name="Espace réservé du contenu 2">
            <a:extLst>
              <a:ext uri="{FF2B5EF4-FFF2-40B4-BE49-F238E27FC236}">
                <a16:creationId xmlns:a16="http://schemas.microsoft.com/office/drawing/2014/main" id="{85B2DE6C-39B1-F545-98CD-564FE87B703F}"/>
              </a:ext>
            </a:extLst>
          </p:cNvPr>
          <p:cNvSpPr>
            <a:spLocks noGrp="1"/>
          </p:cNvSpPr>
          <p:nvPr>
            <p:ph idx="1"/>
          </p:nvPr>
        </p:nvSpPr>
        <p:spPr>
          <a:xfrm>
            <a:off x="838200" y="1493134"/>
            <a:ext cx="10308220" cy="4683829"/>
          </a:xfrm>
        </p:spPr>
        <p:txBody>
          <a:bodyPr>
            <a:normAutofit/>
          </a:bodyPr>
          <a:lstStyle/>
          <a:p>
            <a:r>
              <a:rPr lang="fr-FR" sz="2400" dirty="0">
                <a:latin typeface="Cambria" panose="02040503050406030204" pitchFamily="18" charset="0"/>
              </a:rPr>
              <a:t>La technoscience comme fin en soi : l’impératif technicien.</a:t>
            </a:r>
          </a:p>
          <a:p>
            <a:pPr marL="0" indent="0">
              <a:buNone/>
            </a:pPr>
            <a:r>
              <a:rPr lang="fr-FR" sz="2400" dirty="0">
                <a:latin typeface="Cambria" panose="02040503050406030204" pitchFamily="18" charset="0"/>
              </a:rPr>
              <a:t>La technologie n’est ni bonne ni mauvaise. Mais les fins pour lesquelles on l’utilise devraient faire l’objet d’une appréciation morale. Or, le développement de la technoscience n’est-il pas en train de nous échapper ? </a:t>
            </a:r>
          </a:p>
          <a:p>
            <a:r>
              <a:rPr lang="fr-FR" sz="2400" dirty="0">
                <a:latin typeface="Cambria" panose="02040503050406030204" pitchFamily="18" charset="0"/>
              </a:rPr>
              <a:t>Le principe de précaution</a:t>
            </a:r>
          </a:p>
          <a:p>
            <a:pPr marL="0" indent="0">
              <a:buNone/>
            </a:pPr>
            <a:r>
              <a:rPr lang="fr-FR" sz="2400" dirty="0">
                <a:latin typeface="Cambria" panose="02040503050406030204" pitchFamily="18" charset="0"/>
              </a:rPr>
              <a:t>Si elle risque de causer de dommages, l’innovation technologique ne devrait pas être déployée</a:t>
            </a:r>
          </a:p>
          <a:p>
            <a:pPr marL="0" indent="0">
              <a:buNone/>
            </a:pPr>
            <a:r>
              <a:rPr lang="fr-FR" sz="2400" dirty="0">
                <a:latin typeface="Cambria" panose="02040503050406030204" pitchFamily="18" charset="0"/>
              </a:rPr>
              <a:t>Ce principe paralyse-t-il le développement technologique ? </a:t>
            </a:r>
          </a:p>
        </p:txBody>
      </p:sp>
      <p:sp>
        <p:nvSpPr>
          <p:cNvPr id="4" name="Espace réservé du numéro de diapositive 3">
            <a:extLst>
              <a:ext uri="{FF2B5EF4-FFF2-40B4-BE49-F238E27FC236}">
                <a16:creationId xmlns:a16="http://schemas.microsoft.com/office/drawing/2014/main" id="{01AA6C01-4B97-0A40-A6F3-11CD8E22591B}"/>
              </a:ext>
            </a:extLst>
          </p:cNvPr>
          <p:cNvSpPr>
            <a:spLocks noGrp="1"/>
          </p:cNvSpPr>
          <p:nvPr>
            <p:ph type="sldNum" sz="quarter" idx="12"/>
          </p:nvPr>
        </p:nvSpPr>
        <p:spPr/>
        <p:txBody>
          <a:bodyPr/>
          <a:lstStyle/>
          <a:p>
            <a:fld id="{8451C2F9-D2F6-4AB4-97F8-CBD41F7E86B7}" type="slidenum">
              <a:rPr lang="fr-FR" smtClean="0"/>
              <a:t>2</a:t>
            </a:fld>
            <a:endParaRPr lang="fr-FR"/>
          </a:p>
        </p:txBody>
      </p:sp>
    </p:spTree>
    <p:extLst>
      <p:ext uri="{BB962C8B-B14F-4D97-AF65-F5344CB8AC3E}">
        <p14:creationId xmlns:p14="http://schemas.microsoft.com/office/powerpoint/2010/main" val="2870561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28F874-7696-F54D-A84F-432D8EE0BDB3}"/>
              </a:ext>
            </a:extLst>
          </p:cNvPr>
          <p:cNvSpPr>
            <a:spLocks noGrp="1"/>
          </p:cNvSpPr>
          <p:nvPr>
            <p:ph type="title"/>
          </p:nvPr>
        </p:nvSpPr>
        <p:spPr/>
        <p:txBody>
          <a:bodyPr>
            <a:normAutofit/>
          </a:bodyPr>
          <a:lstStyle/>
          <a:p>
            <a:r>
              <a:rPr lang="fr-FR" sz="3200" b="1" dirty="0">
                <a:latin typeface="Cambria" panose="02040503050406030204" pitchFamily="18" charset="0"/>
              </a:rPr>
              <a:t>6 - Découverte de la biologie moléculaire et de la génétique</a:t>
            </a:r>
            <a:endParaRPr lang="fr-FR" sz="3200" dirty="0"/>
          </a:p>
        </p:txBody>
      </p:sp>
      <p:sp>
        <p:nvSpPr>
          <p:cNvPr id="3" name="Espace réservé du contenu 2">
            <a:extLst>
              <a:ext uri="{FF2B5EF4-FFF2-40B4-BE49-F238E27FC236}">
                <a16:creationId xmlns:a16="http://schemas.microsoft.com/office/drawing/2014/main" id="{7BBDACE3-B3B5-2D46-B6BD-04E4E25CB801}"/>
              </a:ext>
            </a:extLst>
          </p:cNvPr>
          <p:cNvSpPr>
            <a:spLocks noGrp="1"/>
          </p:cNvSpPr>
          <p:nvPr>
            <p:ph idx="1"/>
          </p:nvPr>
        </p:nvSpPr>
        <p:spPr>
          <a:xfrm>
            <a:off x="838200" y="2170545"/>
            <a:ext cx="5338864" cy="4185805"/>
          </a:xfrm>
        </p:spPr>
        <p:txBody>
          <a:bodyPr>
            <a:normAutofit fontScale="70000" lnSpcReduction="20000"/>
          </a:bodyPr>
          <a:lstStyle/>
          <a:p>
            <a:r>
              <a:rPr lang="fr-FR" sz="3600" dirty="0">
                <a:latin typeface="Cambria" panose="02040503050406030204" pitchFamily="18" charset="0"/>
              </a:rPr>
              <a:t>Naissance du génie génétique</a:t>
            </a:r>
          </a:p>
          <a:p>
            <a:r>
              <a:rPr lang="fr-FR" sz="3600" dirty="0">
                <a:latin typeface="Cambria" panose="02040503050406030204" pitchFamily="18" charset="0"/>
              </a:rPr>
              <a:t>Manipulations de l’embryon</a:t>
            </a:r>
          </a:p>
          <a:p>
            <a:r>
              <a:rPr lang="fr-FR" sz="3600" dirty="0">
                <a:latin typeface="Cambria" panose="02040503050406030204" pitchFamily="18" charset="0"/>
              </a:rPr>
              <a:t>Ouverture d’un débat sur l’embryon</a:t>
            </a:r>
          </a:p>
          <a:p>
            <a:r>
              <a:rPr lang="fr-FR" sz="3600" dirty="0">
                <a:latin typeface="Cambria" panose="02040503050406030204" pitchFamily="18" charset="0"/>
              </a:rPr>
              <a:t>Les instances religieuses et les mouvements pour ou contre l’avortement</a:t>
            </a:r>
          </a:p>
          <a:p>
            <a:r>
              <a:rPr lang="fr-FR" sz="3600" dirty="0">
                <a:latin typeface="Cambria" panose="02040503050406030204" pitchFamily="18" charset="0"/>
              </a:rPr>
              <a:t>Le statut de l’embryon, entre personne et chose</a:t>
            </a:r>
          </a:p>
          <a:p>
            <a:r>
              <a:rPr lang="fr-FR" sz="3600" dirty="0">
                <a:latin typeface="Cambria" panose="02040503050406030204" pitchFamily="18" charset="0"/>
              </a:rPr>
              <a:t>Pratiques controversées : les « bébés médicaments » et le clonage</a:t>
            </a:r>
          </a:p>
          <a:p>
            <a:endParaRPr lang="fr-FR" dirty="0">
              <a:latin typeface="Cambria" panose="02040503050406030204" pitchFamily="18" charset="0"/>
            </a:endParaRPr>
          </a:p>
          <a:p>
            <a:pPr marL="0" indent="0">
              <a:buNone/>
            </a:pPr>
            <a:r>
              <a:rPr lang="fr-FR" dirty="0">
                <a:latin typeface="Cambria" panose="02040503050406030204" pitchFamily="18" charset="0"/>
              </a:rPr>
              <a:t>	</a:t>
            </a:r>
            <a:endParaRPr lang="fr-FR" sz="2300" dirty="0">
              <a:latin typeface="Cambria" panose="02040503050406030204" pitchFamily="18" charset="0"/>
            </a:endParaRPr>
          </a:p>
          <a:p>
            <a:endParaRPr lang="fr-FR" dirty="0"/>
          </a:p>
        </p:txBody>
      </p:sp>
      <p:sp>
        <p:nvSpPr>
          <p:cNvPr id="4" name="Espace réservé du numéro de diapositive 3">
            <a:extLst>
              <a:ext uri="{FF2B5EF4-FFF2-40B4-BE49-F238E27FC236}">
                <a16:creationId xmlns:a16="http://schemas.microsoft.com/office/drawing/2014/main" id="{DA6FB56E-F059-894F-8BC6-570C5B3AC120}"/>
              </a:ext>
            </a:extLst>
          </p:cNvPr>
          <p:cNvSpPr>
            <a:spLocks noGrp="1"/>
          </p:cNvSpPr>
          <p:nvPr>
            <p:ph type="sldNum" sz="quarter" idx="12"/>
          </p:nvPr>
        </p:nvSpPr>
        <p:spPr/>
        <p:txBody>
          <a:bodyPr/>
          <a:lstStyle/>
          <a:p>
            <a:fld id="{8451C2F9-D2F6-4AB4-97F8-CBD41F7E86B7}" type="slidenum">
              <a:rPr lang="fr-FR" smtClean="0"/>
              <a:t>3</a:t>
            </a:fld>
            <a:endParaRPr lang="fr-FR"/>
          </a:p>
        </p:txBody>
      </p:sp>
      <p:pic>
        <p:nvPicPr>
          <p:cNvPr id="6" name="Image 5">
            <a:extLst>
              <a:ext uri="{FF2B5EF4-FFF2-40B4-BE49-F238E27FC236}">
                <a16:creationId xmlns:a16="http://schemas.microsoft.com/office/drawing/2014/main" id="{9B4CFC6E-A914-A54A-82C3-64FA2E7F97D6}"/>
              </a:ext>
            </a:extLst>
          </p:cNvPr>
          <p:cNvPicPr>
            <a:picLocks noChangeAspect="1"/>
          </p:cNvPicPr>
          <p:nvPr/>
        </p:nvPicPr>
        <p:blipFill>
          <a:blip r:embed="rId3"/>
          <a:stretch>
            <a:fillRect/>
          </a:stretch>
        </p:blipFill>
        <p:spPr>
          <a:xfrm>
            <a:off x="6292721" y="1958543"/>
            <a:ext cx="5402623" cy="3601748"/>
          </a:xfrm>
          <a:prstGeom prst="rect">
            <a:avLst/>
          </a:prstGeom>
        </p:spPr>
      </p:pic>
    </p:spTree>
    <p:extLst>
      <p:ext uri="{BB962C8B-B14F-4D97-AF65-F5344CB8AC3E}">
        <p14:creationId xmlns:p14="http://schemas.microsoft.com/office/powerpoint/2010/main" val="1155106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0872D4-F18B-DF46-BBF1-F8F74BB51DF8}"/>
              </a:ext>
            </a:extLst>
          </p:cNvPr>
          <p:cNvSpPr>
            <a:spLocks noGrp="1"/>
          </p:cNvSpPr>
          <p:nvPr>
            <p:ph type="title"/>
          </p:nvPr>
        </p:nvSpPr>
        <p:spPr/>
        <p:txBody>
          <a:bodyPr>
            <a:normAutofit/>
          </a:bodyPr>
          <a:lstStyle/>
          <a:p>
            <a:r>
              <a:rPr lang="fr-FR" sz="3600" b="1" dirty="0">
                <a:latin typeface="Cambria" panose="02040503050406030204" pitchFamily="18" charset="0"/>
                <a:ea typeface="Cambria" panose="02040503050406030204" pitchFamily="18" charset="0"/>
              </a:rPr>
              <a:t>Des doutes chez les biologistes</a:t>
            </a:r>
          </a:p>
        </p:txBody>
      </p:sp>
      <p:sp>
        <p:nvSpPr>
          <p:cNvPr id="3" name="Espace réservé du contenu 2">
            <a:extLst>
              <a:ext uri="{FF2B5EF4-FFF2-40B4-BE49-F238E27FC236}">
                <a16:creationId xmlns:a16="http://schemas.microsoft.com/office/drawing/2014/main" id="{641F2750-523F-7849-88CB-ACF85C531A46}"/>
              </a:ext>
            </a:extLst>
          </p:cNvPr>
          <p:cNvSpPr>
            <a:spLocks noGrp="1"/>
          </p:cNvSpPr>
          <p:nvPr>
            <p:ph idx="1"/>
          </p:nvPr>
        </p:nvSpPr>
        <p:spPr/>
        <p:txBody>
          <a:bodyPr/>
          <a:lstStyle/>
          <a:p>
            <a:r>
              <a:rPr lang="fr-FR" dirty="0">
                <a:latin typeface="Cambria" panose="02040503050406030204" pitchFamily="18" charset="0"/>
              </a:rPr>
              <a:t>Le renoncement de Jacques </a:t>
            </a:r>
            <a:r>
              <a:rPr lang="fr-FR" dirty="0" err="1">
                <a:latin typeface="Cambria" panose="02040503050406030204" pitchFamily="18" charset="0"/>
              </a:rPr>
              <a:t>Testart</a:t>
            </a:r>
            <a:endParaRPr lang="fr-FR" dirty="0">
              <a:latin typeface="Cambria" panose="02040503050406030204" pitchFamily="18" charset="0"/>
            </a:endParaRPr>
          </a:p>
          <a:p>
            <a:r>
              <a:rPr lang="fr-FR" dirty="0">
                <a:latin typeface="Cambria" panose="02040503050406030204" pitchFamily="18" charset="0"/>
              </a:rPr>
              <a:t>La logique de la « non-découverte »</a:t>
            </a:r>
          </a:p>
          <a:p>
            <a:pPr marL="0" indent="0">
              <a:buNone/>
            </a:pPr>
            <a:r>
              <a:rPr lang="fr-FR" i="1" dirty="0">
                <a:latin typeface="Cambria" panose="02040503050406030204" pitchFamily="18" charset="0"/>
              </a:rPr>
              <a:t>« Je crois que le moment est venu de faire une pause, c’est le moment d’</a:t>
            </a:r>
            <a:r>
              <a:rPr lang="fr-FR" i="1" dirty="0" err="1">
                <a:latin typeface="Cambria" panose="02040503050406030204" pitchFamily="18" charset="0"/>
              </a:rPr>
              <a:t>auto-limitation</a:t>
            </a:r>
            <a:r>
              <a:rPr lang="fr-FR" i="1" dirty="0">
                <a:latin typeface="Cambria" panose="02040503050406030204" pitchFamily="18" charset="0"/>
              </a:rPr>
              <a:t> du chercheur (…) Moi, “ chercheur en procréation assistée ”, j’ai décidé d’arrêter (…). Je revendique aussi une logique de la non-découverte, une éthique de la non-recherche. » </a:t>
            </a:r>
          </a:p>
          <a:p>
            <a:pPr marL="0" indent="0">
              <a:buNone/>
            </a:pPr>
            <a:r>
              <a:rPr lang="fr-FR" dirty="0">
                <a:latin typeface="Cambria" panose="02040503050406030204" pitchFamily="18" charset="0"/>
              </a:rPr>
              <a:t>				Jacques </a:t>
            </a:r>
            <a:r>
              <a:rPr lang="fr-FR" dirty="0" err="1">
                <a:latin typeface="Cambria" panose="02040503050406030204" pitchFamily="18" charset="0"/>
              </a:rPr>
              <a:t>Testart</a:t>
            </a:r>
            <a:r>
              <a:rPr lang="fr-FR" dirty="0">
                <a:latin typeface="Cambria" panose="02040503050406030204" pitchFamily="18" charset="0"/>
              </a:rPr>
              <a:t>, </a:t>
            </a:r>
            <a:r>
              <a:rPr lang="fr-FR" i="1" dirty="0">
                <a:latin typeface="Cambria" panose="02040503050406030204" pitchFamily="18" charset="0"/>
              </a:rPr>
              <a:t>L’Œuf transparent</a:t>
            </a:r>
            <a:r>
              <a:rPr lang="fr-FR" dirty="0">
                <a:latin typeface="Cambria" panose="02040503050406030204" pitchFamily="18" charset="0"/>
              </a:rPr>
              <a:t>, 1986. </a:t>
            </a:r>
          </a:p>
          <a:p>
            <a:pPr marL="0" indent="0">
              <a:buNone/>
            </a:pPr>
            <a:endParaRPr lang="fr-FR" dirty="0">
              <a:latin typeface="Cambria" panose="02040503050406030204" pitchFamily="18" charset="0"/>
            </a:endParaRPr>
          </a:p>
          <a:p>
            <a:pPr marL="0" indent="0">
              <a:buNone/>
            </a:pPr>
            <a:endParaRPr lang="fr-FR" dirty="0"/>
          </a:p>
        </p:txBody>
      </p:sp>
      <p:sp>
        <p:nvSpPr>
          <p:cNvPr id="4" name="Espace réservé du numéro de diapositive 3">
            <a:extLst>
              <a:ext uri="{FF2B5EF4-FFF2-40B4-BE49-F238E27FC236}">
                <a16:creationId xmlns:a16="http://schemas.microsoft.com/office/drawing/2014/main" id="{45ED5A12-997C-7746-A4DA-22FE7EF5A511}"/>
              </a:ext>
            </a:extLst>
          </p:cNvPr>
          <p:cNvSpPr>
            <a:spLocks noGrp="1"/>
          </p:cNvSpPr>
          <p:nvPr>
            <p:ph type="sldNum" sz="quarter" idx="12"/>
          </p:nvPr>
        </p:nvSpPr>
        <p:spPr/>
        <p:txBody>
          <a:bodyPr/>
          <a:lstStyle/>
          <a:p>
            <a:fld id="{8451C2F9-D2F6-4AB4-97F8-CBD41F7E86B7}" type="slidenum">
              <a:rPr lang="fr-FR" smtClean="0"/>
              <a:t>4</a:t>
            </a:fld>
            <a:endParaRPr lang="fr-FR"/>
          </a:p>
        </p:txBody>
      </p:sp>
    </p:spTree>
    <p:extLst>
      <p:ext uri="{BB962C8B-B14F-4D97-AF65-F5344CB8AC3E}">
        <p14:creationId xmlns:p14="http://schemas.microsoft.com/office/powerpoint/2010/main" val="3975884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60B8A1-5988-4B99-ADCC-477B6F069508}"/>
              </a:ext>
            </a:extLst>
          </p:cNvPr>
          <p:cNvSpPr>
            <a:spLocks noGrp="1"/>
          </p:cNvSpPr>
          <p:nvPr>
            <p:ph type="title"/>
          </p:nvPr>
        </p:nvSpPr>
        <p:spPr/>
        <p:txBody>
          <a:bodyPr/>
          <a:lstStyle/>
          <a:p>
            <a:r>
              <a:rPr lang="fr-FR" b="1" dirty="0">
                <a:latin typeface="Cambria" panose="02040503050406030204" pitchFamily="18" charset="0"/>
                <a:ea typeface="Cambria" panose="02040503050406030204" pitchFamily="18" charset="0"/>
              </a:rPr>
              <a:t>Le Diagnostic pré-implantatoire</a:t>
            </a:r>
          </a:p>
        </p:txBody>
      </p:sp>
      <p:sp>
        <p:nvSpPr>
          <p:cNvPr id="3" name="Espace réservé du contenu 2">
            <a:extLst>
              <a:ext uri="{FF2B5EF4-FFF2-40B4-BE49-F238E27FC236}">
                <a16:creationId xmlns:a16="http://schemas.microsoft.com/office/drawing/2014/main" id="{18C3C86A-3622-4458-BBA7-9F8D8FD46A36}"/>
              </a:ext>
            </a:extLst>
          </p:cNvPr>
          <p:cNvSpPr>
            <a:spLocks noGrp="1"/>
          </p:cNvSpPr>
          <p:nvPr>
            <p:ph idx="1"/>
          </p:nvPr>
        </p:nvSpPr>
        <p:spPr/>
        <p:txBody>
          <a:bodyPr/>
          <a:lstStyle/>
          <a:p>
            <a:r>
              <a:rPr lang="fr-FR" dirty="0">
                <a:latin typeface="Cambria" panose="02040503050406030204" pitchFamily="18" charset="0"/>
                <a:ea typeface="Cambria" panose="02040503050406030204" pitchFamily="18" charset="0"/>
              </a:rPr>
              <a:t>Le DPI permet à un couple d’avoir un enfant qui ne sera pas atteint par une maladie génétique.</a:t>
            </a:r>
          </a:p>
          <a:p>
            <a:r>
              <a:rPr lang="fr-FR" dirty="0">
                <a:latin typeface="Cambria" panose="02040503050406030204" pitchFamily="18" charset="0"/>
                <a:ea typeface="Cambria" panose="02040503050406030204" pitchFamily="18" charset="0"/>
              </a:rPr>
              <a:t>Le DPI est réalisé au cours d’une fécondation </a:t>
            </a:r>
            <a:r>
              <a:rPr lang="fr-FR" i="1" dirty="0">
                <a:latin typeface="Cambria" panose="02040503050406030204" pitchFamily="18" charset="0"/>
                <a:ea typeface="Cambria" panose="02040503050406030204" pitchFamily="18" charset="0"/>
              </a:rPr>
              <a:t>in vitro</a:t>
            </a:r>
            <a:r>
              <a:rPr lang="fr-FR" dirty="0">
                <a:latin typeface="Cambria" panose="02040503050406030204" pitchFamily="18" charset="0"/>
                <a:ea typeface="Cambria" panose="02040503050406030204" pitchFamily="18" charset="0"/>
              </a:rPr>
              <a:t>. </a:t>
            </a:r>
          </a:p>
        </p:txBody>
      </p:sp>
      <p:pic>
        <p:nvPicPr>
          <p:cNvPr id="5" name="Image 4">
            <a:extLst>
              <a:ext uri="{FF2B5EF4-FFF2-40B4-BE49-F238E27FC236}">
                <a16:creationId xmlns:a16="http://schemas.microsoft.com/office/drawing/2014/main" id="{A2172220-A5EF-4A70-88E0-1F4FC1B72D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2146" y="3221096"/>
            <a:ext cx="7786255" cy="3309158"/>
          </a:xfrm>
          <a:prstGeom prst="rect">
            <a:avLst/>
          </a:prstGeom>
        </p:spPr>
      </p:pic>
    </p:spTree>
    <p:extLst>
      <p:ext uri="{BB962C8B-B14F-4D97-AF65-F5344CB8AC3E}">
        <p14:creationId xmlns:p14="http://schemas.microsoft.com/office/powerpoint/2010/main" val="922271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AF50B1-595B-0646-ADEB-8611C43A47A9}"/>
              </a:ext>
            </a:extLst>
          </p:cNvPr>
          <p:cNvSpPr>
            <a:spLocks noGrp="1"/>
          </p:cNvSpPr>
          <p:nvPr>
            <p:ph type="title"/>
          </p:nvPr>
        </p:nvSpPr>
        <p:spPr/>
        <p:txBody>
          <a:bodyPr>
            <a:normAutofit/>
          </a:bodyPr>
          <a:lstStyle/>
          <a:p>
            <a:r>
              <a:rPr lang="fr-FR" b="1" dirty="0">
                <a:latin typeface="Cambria" panose="02040503050406030204" pitchFamily="18" charset="0"/>
                <a:ea typeface="Cambria" panose="02040503050406030204" pitchFamily="18" charset="0"/>
              </a:rPr>
              <a:t>Xénogreffes : quelles implications éthiques ?</a:t>
            </a:r>
            <a:endParaRPr lang="fr-FR" dirty="0">
              <a:latin typeface="Cambria" panose="02040503050406030204" pitchFamily="18" charset="0"/>
              <a:ea typeface="Cambria" panose="02040503050406030204" pitchFamily="18" charset="0"/>
            </a:endParaRPr>
          </a:p>
        </p:txBody>
      </p:sp>
      <p:sp>
        <p:nvSpPr>
          <p:cNvPr id="3" name="Espace réservé du contenu 2">
            <a:extLst>
              <a:ext uri="{FF2B5EF4-FFF2-40B4-BE49-F238E27FC236}">
                <a16:creationId xmlns:a16="http://schemas.microsoft.com/office/drawing/2014/main" id="{F16B67B2-5FB4-674E-91CC-8FF9A5A136D8}"/>
              </a:ext>
            </a:extLst>
          </p:cNvPr>
          <p:cNvSpPr>
            <a:spLocks noGrp="1"/>
          </p:cNvSpPr>
          <p:nvPr>
            <p:ph idx="1"/>
          </p:nvPr>
        </p:nvSpPr>
        <p:spPr/>
        <p:txBody>
          <a:bodyPr/>
          <a:lstStyle/>
          <a:p>
            <a:r>
              <a:rPr lang="fr-FR" dirty="0">
                <a:latin typeface="Cambria" panose="02040503050406030204" pitchFamily="18" charset="0"/>
              </a:rPr>
              <a:t>La </a:t>
            </a:r>
            <a:r>
              <a:rPr lang="fr-FR" dirty="0" err="1">
                <a:latin typeface="Cambria" panose="02040503050406030204" pitchFamily="18" charset="0"/>
              </a:rPr>
              <a:t>xénotransplantation</a:t>
            </a:r>
            <a:endParaRPr lang="fr-FR" dirty="0">
              <a:latin typeface="Cambria" panose="02040503050406030204" pitchFamily="18" charset="0"/>
            </a:endParaRPr>
          </a:p>
          <a:p>
            <a:r>
              <a:rPr lang="fr-FR" dirty="0">
                <a:latin typeface="Cambria" panose="02040503050406030204" pitchFamily="18" charset="0"/>
              </a:rPr>
              <a:t>L’embryon chimérique selon la loi de bioéthique du 2 août 2021</a:t>
            </a:r>
            <a:endParaRPr lang="fr-FR" dirty="0"/>
          </a:p>
          <a:p>
            <a:pPr marL="0" indent="0">
              <a:buNone/>
            </a:pPr>
            <a:endParaRPr lang="fr-FR" dirty="0"/>
          </a:p>
          <a:p>
            <a:pPr marL="0" indent="0">
              <a:buNone/>
            </a:pPr>
            <a:endParaRPr lang="fr-FR" dirty="0"/>
          </a:p>
        </p:txBody>
      </p:sp>
      <p:pic>
        <p:nvPicPr>
          <p:cNvPr id="5" name="Image 4">
            <a:extLst>
              <a:ext uri="{FF2B5EF4-FFF2-40B4-BE49-F238E27FC236}">
                <a16:creationId xmlns:a16="http://schemas.microsoft.com/office/drawing/2014/main" id="{D3405A88-1D31-044F-A993-4D393B8139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720" y="2959788"/>
            <a:ext cx="5879939" cy="3132048"/>
          </a:xfrm>
          <a:prstGeom prst="rect">
            <a:avLst/>
          </a:prstGeom>
        </p:spPr>
      </p:pic>
      <p:pic>
        <p:nvPicPr>
          <p:cNvPr id="7" name="Image 6">
            <a:extLst>
              <a:ext uri="{FF2B5EF4-FFF2-40B4-BE49-F238E27FC236}">
                <a16:creationId xmlns:a16="http://schemas.microsoft.com/office/drawing/2014/main" id="{A3009DB7-89A3-E944-ADB1-B0A17D4678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54714" y="2959788"/>
            <a:ext cx="1909742" cy="2938065"/>
          </a:xfrm>
          <a:prstGeom prst="rect">
            <a:avLst/>
          </a:prstGeom>
        </p:spPr>
      </p:pic>
    </p:spTree>
    <p:extLst>
      <p:ext uri="{BB962C8B-B14F-4D97-AF65-F5344CB8AC3E}">
        <p14:creationId xmlns:p14="http://schemas.microsoft.com/office/powerpoint/2010/main" val="1153764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5C59D4-3F78-1448-BB24-D7D44981CD9E}"/>
              </a:ext>
            </a:extLst>
          </p:cNvPr>
          <p:cNvSpPr>
            <a:spLocks noGrp="1"/>
          </p:cNvSpPr>
          <p:nvPr>
            <p:ph type="title"/>
          </p:nvPr>
        </p:nvSpPr>
        <p:spPr>
          <a:xfrm>
            <a:off x="750259" y="404702"/>
            <a:ext cx="10515600" cy="1020330"/>
          </a:xfrm>
        </p:spPr>
        <p:txBody>
          <a:bodyPr>
            <a:normAutofit/>
          </a:bodyPr>
          <a:lstStyle/>
          <a:p>
            <a:r>
              <a:rPr lang="fr-FR" sz="3200" b="1" dirty="0">
                <a:latin typeface="Cambria" panose="02040503050406030204" pitchFamily="18" charset="0"/>
              </a:rPr>
              <a:t>Breveter le vivant</a:t>
            </a:r>
            <a:endParaRPr lang="fr-FR" sz="3200" dirty="0"/>
          </a:p>
        </p:txBody>
      </p:sp>
      <p:sp>
        <p:nvSpPr>
          <p:cNvPr id="3" name="Espace réservé du contenu 2">
            <a:extLst>
              <a:ext uri="{FF2B5EF4-FFF2-40B4-BE49-F238E27FC236}">
                <a16:creationId xmlns:a16="http://schemas.microsoft.com/office/drawing/2014/main" id="{85B2DE6C-39B1-F545-98CD-564FE87B703F}"/>
              </a:ext>
            </a:extLst>
          </p:cNvPr>
          <p:cNvSpPr>
            <a:spLocks noGrp="1"/>
          </p:cNvSpPr>
          <p:nvPr>
            <p:ph idx="1"/>
          </p:nvPr>
        </p:nvSpPr>
        <p:spPr>
          <a:xfrm>
            <a:off x="750259" y="1275501"/>
            <a:ext cx="6250969" cy="2153499"/>
          </a:xfrm>
        </p:spPr>
        <p:txBody>
          <a:bodyPr/>
          <a:lstStyle/>
          <a:p>
            <a:pPr marL="0" indent="0">
              <a:buNone/>
            </a:pPr>
            <a:r>
              <a:rPr lang="fr-FR" sz="2400" dirty="0">
                <a:latin typeface="Cambria" panose="02040503050406030204" pitchFamily="18" charset="0"/>
              </a:rPr>
              <a:t>Avec le développement de la biologie moléculaire et de la génétique, il devient compliqué de faire respecter le principe de non-commercialisation des constituants de corps humain et d’empêcher leur appropriation par le système des brevets.</a:t>
            </a:r>
          </a:p>
        </p:txBody>
      </p:sp>
      <p:sp>
        <p:nvSpPr>
          <p:cNvPr id="4" name="Espace réservé du numéro de diapositive 3">
            <a:extLst>
              <a:ext uri="{FF2B5EF4-FFF2-40B4-BE49-F238E27FC236}">
                <a16:creationId xmlns:a16="http://schemas.microsoft.com/office/drawing/2014/main" id="{01AA6C01-4B97-0A40-A6F3-11CD8E22591B}"/>
              </a:ext>
            </a:extLst>
          </p:cNvPr>
          <p:cNvSpPr>
            <a:spLocks noGrp="1"/>
          </p:cNvSpPr>
          <p:nvPr>
            <p:ph type="sldNum" sz="quarter" idx="12"/>
          </p:nvPr>
        </p:nvSpPr>
        <p:spPr/>
        <p:txBody>
          <a:bodyPr/>
          <a:lstStyle/>
          <a:p>
            <a:fld id="{8451C2F9-D2F6-4AB4-97F8-CBD41F7E86B7}" type="slidenum">
              <a:rPr lang="fr-FR" smtClean="0"/>
              <a:t>7</a:t>
            </a:fld>
            <a:endParaRPr lang="fr-FR"/>
          </a:p>
        </p:txBody>
      </p:sp>
      <p:pic>
        <p:nvPicPr>
          <p:cNvPr id="5" name="Image 4">
            <a:extLst>
              <a:ext uri="{FF2B5EF4-FFF2-40B4-BE49-F238E27FC236}">
                <a16:creationId xmlns:a16="http://schemas.microsoft.com/office/drawing/2014/main" id="{1CC96477-4F05-C144-A522-8306F50CE1DD}"/>
              </a:ext>
            </a:extLst>
          </p:cNvPr>
          <p:cNvPicPr>
            <a:picLocks noChangeAspect="1"/>
          </p:cNvPicPr>
          <p:nvPr/>
        </p:nvPicPr>
        <p:blipFill>
          <a:blip r:embed="rId3"/>
          <a:stretch>
            <a:fillRect/>
          </a:stretch>
        </p:blipFill>
        <p:spPr>
          <a:xfrm>
            <a:off x="8123577" y="1246616"/>
            <a:ext cx="2696823" cy="4388466"/>
          </a:xfrm>
          <a:prstGeom prst="rect">
            <a:avLst/>
          </a:prstGeom>
        </p:spPr>
      </p:pic>
      <p:sp>
        <p:nvSpPr>
          <p:cNvPr id="12" name="ZoneTexte 11">
            <a:extLst>
              <a:ext uri="{FF2B5EF4-FFF2-40B4-BE49-F238E27FC236}">
                <a16:creationId xmlns:a16="http://schemas.microsoft.com/office/drawing/2014/main" id="{954E83F3-1AE6-46C6-BB13-CC4CE224A643}"/>
              </a:ext>
            </a:extLst>
          </p:cNvPr>
          <p:cNvSpPr txBox="1"/>
          <p:nvPr/>
        </p:nvSpPr>
        <p:spPr>
          <a:xfrm>
            <a:off x="750259" y="3440849"/>
            <a:ext cx="6250969" cy="3200876"/>
          </a:xfrm>
          <a:prstGeom prst="rect">
            <a:avLst/>
          </a:prstGeom>
          <a:noFill/>
        </p:spPr>
        <p:txBody>
          <a:bodyPr wrap="square" rtlCol="0">
            <a:spAutoFit/>
          </a:bodyPr>
          <a:lstStyle/>
          <a:p>
            <a:r>
              <a:rPr lang="fr-FR" sz="3200" b="1" dirty="0">
                <a:latin typeface="Cambria" panose="02040503050406030204" pitchFamily="18" charset="0"/>
                <a:ea typeface="Cambria" panose="02040503050406030204" pitchFamily="18" charset="0"/>
              </a:rPr>
              <a:t>Pressions du marché et conflits d’intérêts</a:t>
            </a:r>
          </a:p>
          <a:p>
            <a:r>
              <a:rPr lang="fr-FR" sz="2400" i="1" dirty="0">
                <a:latin typeface="Cambria" panose="02040503050406030204" pitchFamily="18" charset="0"/>
                <a:ea typeface="Cambria" panose="02040503050406030204" pitchFamily="18" charset="0"/>
              </a:rPr>
              <a:t>« Ce qui est nouveau, </a:t>
            </a:r>
            <a:r>
              <a:rPr lang="fr-FR" sz="2400" dirty="0">
                <a:latin typeface="Cambria" panose="02040503050406030204" pitchFamily="18" charset="0"/>
                <a:ea typeface="Cambria" panose="02040503050406030204" pitchFamily="18" charset="0"/>
              </a:rPr>
              <a:t>écrit Axel Kahn</a:t>
            </a:r>
            <a:r>
              <a:rPr lang="fr-FR" sz="2400" i="1" dirty="0">
                <a:latin typeface="Cambria" panose="02040503050406030204" pitchFamily="18" charset="0"/>
                <a:ea typeface="Cambria" panose="02040503050406030204" pitchFamily="18" charset="0"/>
              </a:rPr>
              <a:t>, c’est l’explosion rapide et violente de la logique économique dans un domaine qui ne la connaissait pas jusqu’alors, celui de la génétique humaine ». </a:t>
            </a:r>
          </a:p>
          <a:p>
            <a:endParaRPr lang="fr-FR" dirty="0">
              <a:latin typeface="Cambria" panose="02040503050406030204" pitchFamily="18" charset="0"/>
            </a:endParaRPr>
          </a:p>
        </p:txBody>
      </p:sp>
    </p:spTree>
    <p:extLst>
      <p:ext uri="{BB962C8B-B14F-4D97-AF65-F5344CB8AC3E}">
        <p14:creationId xmlns:p14="http://schemas.microsoft.com/office/powerpoint/2010/main" val="4182192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8CB7AF-F217-F648-B569-1AB3841AA152}"/>
              </a:ext>
            </a:extLst>
          </p:cNvPr>
          <p:cNvSpPr>
            <a:spLocks noGrp="1"/>
          </p:cNvSpPr>
          <p:nvPr>
            <p:ph type="title"/>
          </p:nvPr>
        </p:nvSpPr>
        <p:spPr>
          <a:xfrm>
            <a:off x="838200" y="365125"/>
            <a:ext cx="10515600" cy="1046525"/>
          </a:xfrm>
        </p:spPr>
        <p:txBody>
          <a:bodyPr/>
          <a:lstStyle/>
          <a:p>
            <a:r>
              <a:rPr lang="fr-FR" b="1" dirty="0">
                <a:latin typeface="Cambria" panose="02040503050406030204" pitchFamily="18" charset="0"/>
                <a:ea typeface="Cambria" panose="02040503050406030204" pitchFamily="18" charset="0"/>
              </a:rPr>
              <a:t>Le désarroi des philosophes</a:t>
            </a:r>
          </a:p>
        </p:txBody>
      </p:sp>
      <p:pic>
        <p:nvPicPr>
          <p:cNvPr id="8" name="Espace réservé du contenu 7">
            <a:extLst>
              <a:ext uri="{FF2B5EF4-FFF2-40B4-BE49-F238E27FC236}">
                <a16:creationId xmlns:a16="http://schemas.microsoft.com/office/drawing/2014/main" id="{AF468CFD-9D39-0B49-8E7A-14E3D255DE8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66513" y="1411650"/>
            <a:ext cx="3630086" cy="3630086"/>
          </a:xfrm>
        </p:spPr>
      </p:pic>
      <p:sp>
        <p:nvSpPr>
          <p:cNvPr id="4" name="Espace réservé du numéro de diapositive 3">
            <a:extLst>
              <a:ext uri="{FF2B5EF4-FFF2-40B4-BE49-F238E27FC236}">
                <a16:creationId xmlns:a16="http://schemas.microsoft.com/office/drawing/2014/main" id="{09B07C79-AA36-3B44-86FA-AD991107268A}"/>
              </a:ext>
            </a:extLst>
          </p:cNvPr>
          <p:cNvSpPr>
            <a:spLocks noGrp="1"/>
          </p:cNvSpPr>
          <p:nvPr>
            <p:ph type="sldNum" sz="quarter" idx="12"/>
          </p:nvPr>
        </p:nvSpPr>
        <p:spPr>
          <a:xfrm>
            <a:off x="8529446" y="5446350"/>
            <a:ext cx="2944427" cy="847149"/>
          </a:xfrm>
        </p:spPr>
        <p:txBody>
          <a:bodyPr/>
          <a:lstStyle/>
          <a:p>
            <a:pPr algn="l"/>
            <a:r>
              <a:rPr lang="fr-FR" sz="1400" dirty="0">
                <a:solidFill>
                  <a:schemeClr val="tx1"/>
                </a:solidFill>
                <a:latin typeface="Cambria" panose="02040503050406030204" pitchFamily="18" charset="0"/>
                <a:ea typeface="Cambria" panose="02040503050406030204" pitchFamily="18" charset="0"/>
              </a:rPr>
              <a:t>Selon Jürgen </a:t>
            </a:r>
            <a:r>
              <a:rPr lang="fr-FR" sz="1400" dirty="0" err="1">
                <a:solidFill>
                  <a:schemeClr val="tx1"/>
                </a:solidFill>
                <a:latin typeface="Cambria" panose="02040503050406030204" pitchFamily="18" charset="0"/>
                <a:ea typeface="Cambria" panose="02040503050406030204" pitchFamily="18" charset="0"/>
              </a:rPr>
              <a:t>Harbermas</a:t>
            </a:r>
            <a:r>
              <a:rPr lang="fr-FR" sz="1400" dirty="0">
                <a:solidFill>
                  <a:schemeClr val="tx1"/>
                </a:solidFill>
                <a:latin typeface="Cambria" panose="02040503050406030204" pitchFamily="18" charset="0"/>
                <a:ea typeface="Cambria" panose="02040503050406030204" pitchFamily="18" charset="0"/>
              </a:rPr>
              <a:t>, les manipulations génétiques ouvrent une </a:t>
            </a:r>
            <a:r>
              <a:rPr lang="fr-FR" sz="1400" i="1" dirty="0">
                <a:solidFill>
                  <a:schemeClr val="tx1"/>
                </a:solidFill>
                <a:latin typeface="Cambria" panose="02040503050406030204" pitchFamily="18" charset="0"/>
                <a:ea typeface="Cambria" panose="02040503050406030204" pitchFamily="18" charset="0"/>
              </a:rPr>
              <a:t>terra </a:t>
            </a:r>
            <a:r>
              <a:rPr lang="fr-FR" sz="1400" i="1" dirty="0" err="1">
                <a:solidFill>
                  <a:schemeClr val="tx1"/>
                </a:solidFill>
                <a:latin typeface="Cambria" panose="02040503050406030204" pitchFamily="18" charset="0"/>
                <a:ea typeface="Cambria" panose="02040503050406030204" pitchFamily="18" charset="0"/>
              </a:rPr>
              <a:t>incognita</a:t>
            </a:r>
            <a:r>
              <a:rPr lang="fr-FR" sz="1400" dirty="0">
                <a:solidFill>
                  <a:schemeClr val="tx1"/>
                </a:solidFill>
                <a:latin typeface="Cambria" panose="02040503050406030204" pitchFamily="18" charset="0"/>
                <a:ea typeface="Cambria" panose="02040503050406030204" pitchFamily="18" charset="0"/>
              </a:rPr>
              <a:t> éthique.  </a:t>
            </a:r>
          </a:p>
        </p:txBody>
      </p:sp>
      <p:pic>
        <p:nvPicPr>
          <p:cNvPr id="5" name="Image 4">
            <a:extLst>
              <a:ext uri="{FF2B5EF4-FFF2-40B4-BE49-F238E27FC236}">
                <a16:creationId xmlns:a16="http://schemas.microsoft.com/office/drawing/2014/main" id="{76BEE790-05F6-4E12-B910-D5FD128C0C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29446" y="1411650"/>
            <a:ext cx="2544377" cy="3816566"/>
          </a:xfrm>
          <a:prstGeom prst="rect">
            <a:avLst/>
          </a:prstGeom>
        </p:spPr>
      </p:pic>
      <p:pic>
        <p:nvPicPr>
          <p:cNvPr id="7" name="Image 6">
            <a:extLst>
              <a:ext uri="{FF2B5EF4-FFF2-40B4-BE49-F238E27FC236}">
                <a16:creationId xmlns:a16="http://schemas.microsoft.com/office/drawing/2014/main" id="{F64B33A2-DF75-4355-A29C-F80A3F8DCC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3472" y="1411650"/>
            <a:ext cx="2651103" cy="3722255"/>
          </a:xfrm>
          <a:prstGeom prst="rect">
            <a:avLst/>
          </a:prstGeom>
        </p:spPr>
      </p:pic>
      <p:sp>
        <p:nvSpPr>
          <p:cNvPr id="9" name="ZoneTexte 8">
            <a:extLst>
              <a:ext uri="{FF2B5EF4-FFF2-40B4-BE49-F238E27FC236}">
                <a16:creationId xmlns:a16="http://schemas.microsoft.com/office/drawing/2014/main" id="{0CCE6716-EC84-4367-B500-C536E7E1409A}"/>
              </a:ext>
            </a:extLst>
          </p:cNvPr>
          <p:cNvSpPr txBox="1"/>
          <p:nvPr/>
        </p:nvSpPr>
        <p:spPr>
          <a:xfrm>
            <a:off x="613472" y="5336480"/>
            <a:ext cx="3140363" cy="1384995"/>
          </a:xfrm>
          <a:prstGeom prst="rect">
            <a:avLst/>
          </a:prstGeom>
          <a:noFill/>
        </p:spPr>
        <p:txBody>
          <a:bodyPr wrap="square" rtlCol="0">
            <a:spAutoFit/>
          </a:bodyPr>
          <a:lstStyle/>
          <a:p>
            <a:r>
              <a:rPr lang="fr-FR" sz="1400" i="1" dirty="0"/>
              <a:t>« Agis de telle sorte que tu traites l’humanité, aussi bien dans ta personne que dans la personne d’autrui, toujours comme une fin, jamais simplement comme un moyen »</a:t>
            </a:r>
            <a:r>
              <a:rPr lang="fr-FR" sz="1400" dirty="0"/>
              <a:t> Kant, </a:t>
            </a:r>
            <a:r>
              <a:rPr lang="fr-FR" sz="1400" i="1" dirty="0"/>
              <a:t>Fondements de la métaphysique des mœurs</a:t>
            </a:r>
            <a:r>
              <a:rPr lang="fr-FR" sz="1400" dirty="0"/>
              <a:t>. </a:t>
            </a:r>
          </a:p>
        </p:txBody>
      </p:sp>
    </p:spTree>
    <p:extLst>
      <p:ext uri="{BB962C8B-B14F-4D97-AF65-F5344CB8AC3E}">
        <p14:creationId xmlns:p14="http://schemas.microsoft.com/office/powerpoint/2010/main" val="2581081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7CA20B-3AAE-E441-8178-3322430DA131}"/>
              </a:ext>
            </a:extLst>
          </p:cNvPr>
          <p:cNvSpPr>
            <a:spLocks noGrp="1"/>
          </p:cNvSpPr>
          <p:nvPr>
            <p:ph type="title"/>
          </p:nvPr>
        </p:nvSpPr>
        <p:spPr/>
        <p:txBody>
          <a:bodyPr>
            <a:normAutofit/>
          </a:bodyPr>
          <a:lstStyle/>
          <a:p>
            <a:r>
              <a:rPr lang="fr-FR" sz="2800" b="1" dirty="0">
                <a:latin typeface="Cambria" panose="02040503050406030204" pitchFamily="18" charset="0"/>
              </a:rPr>
              <a:t>7 – Les nanotechnologies</a:t>
            </a:r>
          </a:p>
        </p:txBody>
      </p:sp>
      <p:sp>
        <p:nvSpPr>
          <p:cNvPr id="4" name="Espace réservé du numéro de diapositive 3">
            <a:extLst>
              <a:ext uri="{FF2B5EF4-FFF2-40B4-BE49-F238E27FC236}">
                <a16:creationId xmlns:a16="http://schemas.microsoft.com/office/drawing/2014/main" id="{1C7639C3-CE67-C847-B711-28B29A5DAE2F}"/>
              </a:ext>
            </a:extLst>
          </p:cNvPr>
          <p:cNvSpPr>
            <a:spLocks noGrp="1"/>
          </p:cNvSpPr>
          <p:nvPr>
            <p:ph type="sldNum" sz="quarter" idx="12"/>
          </p:nvPr>
        </p:nvSpPr>
        <p:spPr/>
        <p:txBody>
          <a:bodyPr/>
          <a:lstStyle/>
          <a:p>
            <a:fld id="{8451C2F9-D2F6-4AB4-97F8-CBD41F7E86B7}" type="slidenum">
              <a:rPr lang="fr-FR" smtClean="0"/>
              <a:t>9</a:t>
            </a:fld>
            <a:endParaRPr lang="fr-FR"/>
          </a:p>
        </p:txBody>
      </p:sp>
      <p:sp>
        <p:nvSpPr>
          <p:cNvPr id="5" name="Espace réservé du contenu 4">
            <a:extLst>
              <a:ext uri="{FF2B5EF4-FFF2-40B4-BE49-F238E27FC236}">
                <a16:creationId xmlns:a16="http://schemas.microsoft.com/office/drawing/2014/main" id="{0104D715-10B6-AD48-8190-7FC07EB03ED5}"/>
              </a:ext>
            </a:extLst>
          </p:cNvPr>
          <p:cNvSpPr>
            <a:spLocks noGrp="1"/>
          </p:cNvSpPr>
          <p:nvPr>
            <p:ph idx="1"/>
          </p:nvPr>
        </p:nvSpPr>
        <p:spPr/>
        <p:txBody>
          <a:bodyPr/>
          <a:lstStyle/>
          <a:p>
            <a:pPr algn="just"/>
            <a:r>
              <a:rPr lang="fr-FR" sz="1800" dirty="0">
                <a:latin typeface="Cambria" panose="02040503050406030204" pitchFamily="18" charset="0"/>
              </a:rPr>
              <a:t>L’utilisation des nanoparticules présente-t-elle un danger pour la santé et l’environnement ? </a:t>
            </a:r>
          </a:p>
          <a:p>
            <a:pPr algn="just"/>
            <a:r>
              <a:rPr lang="fr-FR" sz="1800" dirty="0">
                <a:latin typeface="Cambria" panose="02040503050406030204" pitchFamily="18" charset="0"/>
              </a:rPr>
              <a:t>Les nanotechnologies pourraient permettre de cibler précisément et efficacement les tumeurs cancéreuses, de façon sécuritaire et moins invasive que les thérapies traditionnelles. </a:t>
            </a:r>
          </a:p>
          <a:p>
            <a:pPr algn="just"/>
            <a:r>
              <a:rPr lang="fr-FR" sz="1800" dirty="0">
                <a:latin typeface="Cambria" panose="02040503050406030204" pitchFamily="18" charset="0"/>
              </a:rPr>
              <a:t>Mais plusieurs utilisations des nanoparticules présentent un danger potentiel pour la santé et pour l’environnement. Faut-il appliquer le principe de précaution ? Peut-on arrêter le développement d’une technologie quand elle est déjà utilisée depuis une dizaine d’années et qu’elle suscite l’enthousiasme chez les scientifiques ? </a:t>
            </a:r>
          </a:p>
          <a:p>
            <a:endParaRPr lang="fr-FR" dirty="0"/>
          </a:p>
        </p:txBody>
      </p:sp>
      <p:pic>
        <p:nvPicPr>
          <p:cNvPr id="8" name="Image 7">
            <a:extLst>
              <a:ext uri="{FF2B5EF4-FFF2-40B4-BE49-F238E27FC236}">
                <a16:creationId xmlns:a16="http://schemas.microsoft.com/office/drawing/2014/main" id="{195F70B2-D3C9-CD42-A713-DEBF1F4A4C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2554" y="3939412"/>
            <a:ext cx="6948361" cy="2044700"/>
          </a:xfrm>
          <a:prstGeom prst="rect">
            <a:avLst/>
          </a:prstGeom>
        </p:spPr>
      </p:pic>
    </p:spTree>
    <p:extLst>
      <p:ext uri="{BB962C8B-B14F-4D97-AF65-F5344CB8AC3E}">
        <p14:creationId xmlns:p14="http://schemas.microsoft.com/office/powerpoint/2010/main" val="2859205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6B0026-A828-F445-B240-399D49894594}"/>
              </a:ext>
            </a:extLst>
          </p:cNvPr>
          <p:cNvSpPr>
            <a:spLocks noGrp="1"/>
          </p:cNvSpPr>
          <p:nvPr>
            <p:ph type="title"/>
          </p:nvPr>
        </p:nvSpPr>
        <p:spPr/>
        <p:txBody>
          <a:bodyPr>
            <a:normAutofit/>
          </a:bodyPr>
          <a:lstStyle/>
          <a:p>
            <a:r>
              <a:rPr lang="fr-FR" sz="2800" b="1" dirty="0">
                <a:latin typeface="Cambria" panose="02040503050406030204" pitchFamily="18" charset="0"/>
              </a:rPr>
              <a:t>8 – La technoscience et « l’image de l’homme »</a:t>
            </a:r>
          </a:p>
        </p:txBody>
      </p:sp>
      <p:sp>
        <p:nvSpPr>
          <p:cNvPr id="3" name="Espace réservé du contenu 2">
            <a:extLst>
              <a:ext uri="{FF2B5EF4-FFF2-40B4-BE49-F238E27FC236}">
                <a16:creationId xmlns:a16="http://schemas.microsoft.com/office/drawing/2014/main" id="{70E92BD1-C955-C948-93F7-7916E685030F}"/>
              </a:ext>
            </a:extLst>
          </p:cNvPr>
          <p:cNvSpPr>
            <a:spLocks noGrp="1"/>
          </p:cNvSpPr>
          <p:nvPr>
            <p:ph idx="1"/>
          </p:nvPr>
        </p:nvSpPr>
        <p:spPr>
          <a:xfrm>
            <a:off x="838200" y="1825625"/>
            <a:ext cx="6442276" cy="4351338"/>
          </a:xfrm>
        </p:spPr>
        <p:txBody>
          <a:bodyPr>
            <a:normAutofit/>
          </a:bodyPr>
          <a:lstStyle/>
          <a:p>
            <a:r>
              <a:rPr lang="fr-FR" b="1" dirty="0" err="1">
                <a:latin typeface="Cambria" panose="02040503050406030204" pitchFamily="18" charset="0"/>
              </a:rPr>
              <a:t>Transhumanisme</a:t>
            </a:r>
            <a:r>
              <a:rPr lang="fr-FR" b="1" dirty="0">
                <a:latin typeface="Cambria" panose="02040503050406030204" pitchFamily="18" charset="0"/>
              </a:rPr>
              <a:t> et </a:t>
            </a:r>
            <a:r>
              <a:rPr lang="fr-FR" b="1" dirty="0" err="1">
                <a:latin typeface="Cambria" panose="02040503050406030204" pitchFamily="18" charset="0"/>
              </a:rPr>
              <a:t>posthumanisme</a:t>
            </a:r>
            <a:endParaRPr lang="fr-FR" b="1" dirty="0">
              <a:latin typeface="Cambria" panose="02040503050406030204" pitchFamily="18" charset="0"/>
            </a:endParaRPr>
          </a:p>
          <a:p>
            <a:pPr marL="0" indent="0">
              <a:buNone/>
            </a:pPr>
            <a:r>
              <a:rPr lang="fr-FR" sz="2400" dirty="0">
                <a:latin typeface="Cambria" panose="02040503050406030204" pitchFamily="18" charset="0"/>
              </a:rPr>
              <a:t>Le futur de l’humanité sera-t-il modelé par des innovations technologiques ? </a:t>
            </a:r>
          </a:p>
          <a:p>
            <a:pPr marL="0" indent="0">
              <a:buNone/>
            </a:pPr>
            <a:r>
              <a:rPr lang="fr-FR" sz="2400" dirty="0">
                <a:latin typeface="Cambria" panose="02040503050406030204" pitchFamily="18" charset="0"/>
              </a:rPr>
              <a:t>L’humain est-il voué à un </a:t>
            </a:r>
            <a:r>
              <a:rPr lang="fr-FR" sz="2400" dirty="0" err="1">
                <a:latin typeface="Cambria" panose="02040503050406030204" pitchFamily="18" charset="0"/>
              </a:rPr>
              <a:t>autoperfectionnement</a:t>
            </a:r>
            <a:r>
              <a:rPr lang="fr-FR" sz="2400" dirty="0">
                <a:latin typeface="Cambria" panose="02040503050406030204" pitchFamily="18" charset="0"/>
              </a:rPr>
              <a:t> illimité ? </a:t>
            </a:r>
          </a:p>
          <a:p>
            <a:pPr marL="0" indent="0">
              <a:buNone/>
            </a:pPr>
            <a:r>
              <a:rPr lang="fr-FR" sz="2400" dirty="0">
                <a:latin typeface="Cambria" panose="02040503050406030204" pitchFamily="18" charset="0"/>
              </a:rPr>
              <a:t>Transhumanisme : processus de transformation en profondeur de l’être humain, d’où émergera un être nouveau, doté de capacités supérieures. </a:t>
            </a:r>
          </a:p>
          <a:p>
            <a:pPr marL="0" indent="0">
              <a:buNone/>
            </a:pPr>
            <a:endParaRPr lang="fr-FR" sz="2400" dirty="0">
              <a:latin typeface="Cambria" panose="02040503050406030204" pitchFamily="18" charset="0"/>
            </a:endParaRPr>
          </a:p>
        </p:txBody>
      </p:sp>
      <p:sp>
        <p:nvSpPr>
          <p:cNvPr id="4" name="Espace réservé du numéro de diapositive 3">
            <a:extLst>
              <a:ext uri="{FF2B5EF4-FFF2-40B4-BE49-F238E27FC236}">
                <a16:creationId xmlns:a16="http://schemas.microsoft.com/office/drawing/2014/main" id="{1AA1BF56-3CC0-464B-9FCE-7167A305DA44}"/>
              </a:ext>
            </a:extLst>
          </p:cNvPr>
          <p:cNvSpPr>
            <a:spLocks noGrp="1"/>
          </p:cNvSpPr>
          <p:nvPr>
            <p:ph type="sldNum" sz="quarter" idx="12"/>
          </p:nvPr>
        </p:nvSpPr>
        <p:spPr/>
        <p:txBody>
          <a:bodyPr/>
          <a:lstStyle/>
          <a:p>
            <a:fld id="{8451C2F9-D2F6-4AB4-97F8-CBD41F7E86B7}" type="slidenum">
              <a:rPr lang="fr-FR" smtClean="0"/>
              <a:t>10</a:t>
            </a:fld>
            <a:endParaRPr lang="fr-FR"/>
          </a:p>
        </p:txBody>
      </p:sp>
      <p:pic>
        <p:nvPicPr>
          <p:cNvPr id="6" name="Image 5">
            <a:extLst>
              <a:ext uri="{FF2B5EF4-FFF2-40B4-BE49-F238E27FC236}">
                <a16:creationId xmlns:a16="http://schemas.microsoft.com/office/drawing/2014/main" id="{5F95B7C5-7B01-BA48-B6C6-847D7E211F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8280" y="1825625"/>
            <a:ext cx="4325957" cy="2896846"/>
          </a:xfrm>
          <a:prstGeom prst="rect">
            <a:avLst/>
          </a:prstGeom>
        </p:spPr>
      </p:pic>
    </p:spTree>
    <p:extLst>
      <p:ext uri="{BB962C8B-B14F-4D97-AF65-F5344CB8AC3E}">
        <p14:creationId xmlns:p14="http://schemas.microsoft.com/office/powerpoint/2010/main" val="3486830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8A1BA8A-3A98-5B4C-AB60-EFAE192C518C}"/>
              </a:ext>
            </a:extLst>
          </p:cNvPr>
          <p:cNvSpPr>
            <a:spLocks noGrp="1"/>
          </p:cNvSpPr>
          <p:nvPr>
            <p:ph idx="1"/>
          </p:nvPr>
        </p:nvSpPr>
        <p:spPr>
          <a:xfrm>
            <a:off x="838200" y="1076446"/>
            <a:ext cx="10515600" cy="5100517"/>
          </a:xfrm>
        </p:spPr>
        <p:txBody>
          <a:bodyPr/>
          <a:lstStyle/>
          <a:p>
            <a:pPr algn="just"/>
            <a:r>
              <a:rPr lang="fr-FR" b="1" dirty="0">
                <a:latin typeface="Cambria" panose="02040503050406030204" pitchFamily="18" charset="0"/>
              </a:rPr>
              <a:t>Transhumanisme : l’idée la plus dangereuse au monde ? </a:t>
            </a:r>
          </a:p>
          <a:p>
            <a:pPr algn="just"/>
            <a:r>
              <a:rPr lang="fr-FR" sz="2400" dirty="0">
                <a:latin typeface="Cambria" panose="02040503050406030204" pitchFamily="18" charset="0"/>
              </a:rPr>
              <a:t>Les critiques du </a:t>
            </a:r>
            <a:r>
              <a:rPr lang="fr-FR" sz="2400" dirty="0" err="1">
                <a:latin typeface="Cambria" panose="02040503050406030204" pitchFamily="18" charset="0"/>
              </a:rPr>
              <a:t>transhumanisme</a:t>
            </a:r>
            <a:r>
              <a:rPr lang="fr-FR" sz="2400" dirty="0">
                <a:latin typeface="Cambria" panose="02040503050406030204" pitchFamily="18" charset="0"/>
              </a:rPr>
              <a:t> soulèvent l’inquiétude et même l’horreur chez de nombreux penseurs. Les critiques du </a:t>
            </a:r>
            <a:r>
              <a:rPr lang="fr-FR" sz="2400" dirty="0" err="1">
                <a:latin typeface="Cambria" panose="02040503050406030204" pitchFamily="18" charset="0"/>
              </a:rPr>
              <a:t>transhumanisme</a:t>
            </a:r>
            <a:r>
              <a:rPr lang="fr-FR" sz="2400" dirty="0">
                <a:latin typeface="Cambria" panose="02040503050406030204" pitchFamily="18" charset="0"/>
              </a:rPr>
              <a:t> invoquent souvent la distinction entre thérapie et amélioration pour justifier leur opposition au développement sans frein des nouvelles technologies. </a:t>
            </a:r>
          </a:p>
          <a:p>
            <a:pPr algn="just"/>
            <a:r>
              <a:rPr lang="fr-FR" sz="2400" dirty="0">
                <a:latin typeface="Cambria" panose="02040503050406030204" pitchFamily="18" charset="0"/>
              </a:rPr>
              <a:t>Pour les </a:t>
            </a:r>
            <a:r>
              <a:rPr lang="fr-FR" sz="2400" dirty="0" err="1">
                <a:latin typeface="Cambria" panose="02040503050406030204" pitchFamily="18" charset="0"/>
              </a:rPr>
              <a:t>transhumanistes</a:t>
            </a:r>
            <a:r>
              <a:rPr lang="fr-FR" sz="2400" dirty="0">
                <a:latin typeface="Cambria" panose="02040503050406030204" pitchFamily="18" charset="0"/>
              </a:rPr>
              <a:t>, il n’existe pas de ligne de démarcation nette entre thérapie et perfectionnement. </a:t>
            </a:r>
          </a:p>
          <a:p>
            <a:pPr algn="just"/>
            <a:r>
              <a:rPr lang="fr-FR" sz="2400" dirty="0">
                <a:latin typeface="Cambria" panose="02040503050406030204" pitchFamily="18" charset="0"/>
              </a:rPr>
              <a:t>Deux conceptions de l’être humain s’affrontent dans ce débat. </a:t>
            </a:r>
          </a:p>
        </p:txBody>
      </p:sp>
      <p:sp>
        <p:nvSpPr>
          <p:cNvPr id="4" name="Espace réservé du numéro de diapositive 3">
            <a:extLst>
              <a:ext uri="{FF2B5EF4-FFF2-40B4-BE49-F238E27FC236}">
                <a16:creationId xmlns:a16="http://schemas.microsoft.com/office/drawing/2014/main" id="{E3551619-FB8F-C640-855D-283161117759}"/>
              </a:ext>
            </a:extLst>
          </p:cNvPr>
          <p:cNvSpPr>
            <a:spLocks noGrp="1"/>
          </p:cNvSpPr>
          <p:nvPr>
            <p:ph type="sldNum" sz="quarter" idx="12"/>
          </p:nvPr>
        </p:nvSpPr>
        <p:spPr/>
        <p:txBody>
          <a:bodyPr/>
          <a:lstStyle/>
          <a:p>
            <a:fld id="{8451C2F9-D2F6-4AB4-97F8-CBD41F7E86B7}" type="slidenum">
              <a:rPr lang="fr-FR" smtClean="0"/>
              <a:t>11</a:t>
            </a:fld>
            <a:endParaRPr lang="fr-FR"/>
          </a:p>
        </p:txBody>
      </p:sp>
    </p:spTree>
    <p:extLst>
      <p:ext uri="{BB962C8B-B14F-4D97-AF65-F5344CB8AC3E}">
        <p14:creationId xmlns:p14="http://schemas.microsoft.com/office/powerpoint/2010/main" val="3849962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158D70-2E01-476E-9BBF-72FC19A194B9}"/>
              </a:ext>
            </a:extLst>
          </p:cNvPr>
          <p:cNvSpPr>
            <a:spLocks noGrp="1"/>
          </p:cNvSpPr>
          <p:nvPr>
            <p:ph type="title"/>
          </p:nvPr>
        </p:nvSpPr>
        <p:spPr/>
        <p:txBody>
          <a:bodyPr>
            <a:normAutofit/>
          </a:bodyPr>
          <a:lstStyle/>
          <a:p>
            <a:r>
              <a:rPr lang="fr-FR" sz="3600" b="1" dirty="0">
                <a:latin typeface="Cambria" panose="02040503050406030204" pitchFamily="18" charset="0"/>
                <a:ea typeface="Cambria" panose="02040503050406030204" pitchFamily="18" charset="0"/>
              </a:rPr>
              <a:t>Bienvenue dans l’ère post-humaine</a:t>
            </a:r>
          </a:p>
        </p:txBody>
      </p:sp>
      <p:sp>
        <p:nvSpPr>
          <p:cNvPr id="3" name="Espace réservé du contenu 2">
            <a:extLst>
              <a:ext uri="{FF2B5EF4-FFF2-40B4-BE49-F238E27FC236}">
                <a16:creationId xmlns:a16="http://schemas.microsoft.com/office/drawing/2014/main" id="{DE885B62-27EE-4C15-9E07-47049F7835F3}"/>
              </a:ext>
            </a:extLst>
          </p:cNvPr>
          <p:cNvSpPr>
            <a:spLocks noGrp="1"/>
          </p:cNvSpPr>
          <p:nvPr>
            <p:ph idx="1"/>
          </p:nvPr>
        </p:nvSpPr>
        <p:spPr>
          <a:xfrm>
            <a:off x="838200" y="1861484"/>
            <a:ext cx="10515600" cy="4351338"/>
          </a:xfrm>
        </p:spPr>
        <p:txBody>
          <a:bodyPr/>
          <a:lstStyle/>
          <a:p>
            <a:r>
              <a:rPr lang="fr-FR" dirty="0">
                <a:latin typeface="Cambria" panose="02040503050406030204" pitchFamily="18" charset="0"/>
                <a:ea typeface="Cambria" panose="02040503050406030204" pitchFamily="18" charset="0"/>
              </a:rPr>
              <a:t>Avons-nous le droit de fabriquer des hommes ? </a:t>
            </a:r>
          </a:p>
          <a:p>
            <a:r>
              <a:rPr lang="fr-FR" dirty="0">
                <a:latin typeface="Cambria" panose="02040503050406030204" pitchFamily="18" charset="0"/>
                <a:ea typeface="Cambria" panose="02040503050406030204" pitchFamily="18" charset="0"/>
              </a:rPr>
              <a:t>Peut-on améliorer l’humanité sans la menacer ? </a:t>
            </a:r>
          </a:p>
          <a:p>
            <a:endParaRPr lang="fr-FR" dirty="0">
              <a:latin typeface="Cambria" panose="02040503050406030204" pitchFamily="18" charset="0"/>
              <a:ea typeface="Cambria" panose="02040503050406030204" pitchFamily="18" charset="0"/>
            </a:endParaRPr>
          </a:p>
          <a:p>
            <a:r>
              <a:rPr lang="fr-FR" dirty="0">
                <a:latin typeface="Cambria" panose="02040503050406030204" pitchFamily="18" charset="0"/>
                <a:ea typeface="Cambria" panose="02040503050406030204" pitchFamily="18" charset="0"/>
              </a:rPr>
              <a:t>Pour Habermas, la liberté indispensable à l’exercice de l’autonomie serait abîmée par une sélection génétique préalable. </a:t>
            </a:r>
          </a:p>
        </p:txBody>
      </p:sp>
    </p:spTree>
    <p:extLst>
      <p:ext uri="{BB962C8B-B14F-4D97-AF65-F5344CB8AC3E}">
        <p14:creationId xmlns:p14="http://schemas.microsoft.com/office/powerpoint/2010/main" val="239343677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BBBBB44617C9D41B212B2E264D58958" ma:contentTypeVersion="4" ma:contentTypeDescription="Crée un document." ma:contentTypeScope="" ma:versionID="d918869b6b1e82fc294c3fd81e1d5a57">
  <xsd:schema xmlns:xsd="http://www.w3.org/2001/XMLSchema" xmlns:xs="http://www.w3.org/2001/XMLSchema" xmlns:p="http://schemas.microsoft.com/office/2006/metadata/properties" xmlns:ns2="e44605a1-2ceb-48c5-9784-b5005a007fc4" targetNamespace="http://schemas.microsoft.com/office/2006/metadata/properties" ma:root="true" ma:fieldsID="e4fbadf0f91d9f954b914dcf48a6abec" ns2:_="">
    <xsd:import namespace="e44605a1-2ceb-48c5-9784-b5005a007f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4605a1-2ceb-48c5-9784-b5005a007f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AA9AE75-0BF7-44C6-9EA5-31C765EB274E}"/>
</file>

<file path=customXml/itemProps2.xml><?xml version="1.0" encoding="utf-8"?>
<ds:datastoreItem xmlns:ds="http://schemas.openxmlformats.org/officeDocument/2006/customXml" ds:itemID="{771DA25C-EA59-4DB3-BC8D-EEC09726D7DD}"/>
</file>

<file path=customXml/itemProps3.xml><?xml version="1.0" encoding="utf-8"?>
<ds:datastoreItem xmlns:ds="http://schemas.openxmlformats.org/officeDocument/2006/customXml" ds:itemID="{4E70BDF9-9D8B-40B1-ACC2-CE625DBC3966}"/>
</file>

<file path=docProps/app.xml><?xml version="1.0" encoding="utf-8"?>
<Properties xmlns="http://schemas.openxmlformats.org/officeDocument/2006/extended-properties" xmlns:vt="http://schemas.openxmlformats.org/officeDocument/2006/docPropsVTypes">
  <TotalTime>176</TotalTime>
  <Words>1010</Words>
  <Application>Microsoft Office PowerPoint</Application>
  <PresentationFormat>Grand écran</PresentationFormat>
  <Paragraphs>76</Paragraphs>
  <Slides>12</Slides>
  <Notes>5</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12</vt:i4>
      </vt:variant>
    </vt:vector>
  </HeadingPairs>
  <TitlesOfParts>
    <vt:vector size="19" baseType="lpstr">
      <vt:lpstr>Arial</vt:lpstr>
      <vt:lpstr>Calibri</vt:lpstr>
      <vt:lpstr>Calibri Light</vt:lpstr>
      <vt:lpstr>Cambria</vt:lpstr>
      <vt:lpstr>Gotham Medium</vt:lpstr>
      <vt:lpstr>Times New Roman</vt:lpstr>
      <vt:lpstr>Thème Office</vt:lpstr>
      <vt:lpstr>Ethique et Science</vt:lpstr>
      <vt:lpstr>5 - La technoscience</vt:lpstr>
      <vt:lpstr>6 - Découverte de la biologie moléculaire et de la génétique</vt:lpstr>
      <vt:lpstr>Des doutes chez les biologistes</vt:lpstr>
      <vt:lpstr>Le Diagnostic pré-implantatoire</vt:lpstr>
      <vt:lpstr>Xénogreffes : quelles implications éthiques ?</vt:lpstr>
      <vt:lpstr>Breveter le vivant</vt:lpstr>
      <vt:lpstr>Le désarroi des philosophes</vt:lpstr>
      <vt:lpstr>7 – Les nanotechnologies</vt:lpstr>
      <vt:lpstr>8 – La technoscience et « l’image de l’homme »</vt:lpstr>
      <vt:lpstr>Présentation PowerPoint</vt:lpstr>
      <vt:lpstr>Bienvenue dans l’ère post-humaine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Pierre Plancoulaine</dc:creator>
  <cp:lastModifiedBy>Pierre Plancoulaine</cp:lastModifiedBy>
  <cp:revision>12</cp:revision>
  <dcterms:created xsi:type="dcterms:W3CDTF">2024-10-08T09:47:56Z</dcterms:created>
  <dcterms:modified xsi:type="dcterms:W3CDTF">2024-10-22T14:15:27Z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0x0101004BBBBB44617C9D41B212B2E264D58958</vt:lpwstr>
  </property>
</Properties>
</file>