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sldIdLst>
    <p:sldId id="256" r:id="rId5"/>
    <p:sldId id="263" r:id="rId6"/>
    <p:sldId id="280" r:id="rId7"/>
    <p:sldId id="284" r:id="rId8"/>
    <p:sldId id="281" r:id="rId9"/>
    <p:sldId id="282" r:id="rId10"/>
    <p:sldId id="313" r:id="rId11"/>
    <p:sldId id="286" r:id="rId12"/>
    <p:sldId id="314" r:id="rId13"/>
    <p:sldId id="283" r:id="rId14"/>
    <p:sldId id="290" r:id="rId15"/>
    <p:sldId id="311" r:id="rId16"/>
    <p:sldId id="381" r:id="rId17"/>
    <p:sldId id="259" r:id="rId18"/>
    <p:sldId id="260" r:id="rId19"/>
    <p:sldId id="380" r:id="rId20"/>
    <p:sldId id="262" r:id="rId21"/>
    <p:sldId id="271" r:id="rId22"/>
    <p:sldId id="261"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p:restoredTop sz="88682"/>
  </p:normalViewPr>
  <p:slideViewPr>
    <p:cSldViewPr snapToGrid="0">
      <p:cViewPr varScale="1">
        <p:scale>
          <a:sx n="73" d="100"/>
          <a:sy n="73" d="100"/>
        </p:scale>
        <p:origin x="74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mien Faugère-Battiato" userId="eb462b6f42f0b467" providerId="LiveId" clId="{D89C1725-5A97-4B4D-8042-53056FD87211}"/>
  </pc:docChgLst>
  <pc:docChgLst>
    <pc:chgData name="Damien FAUGERE-BATTIATO" userId="S::dfo@teams.eisti.fr::8f3006e3-8b84-4f60-b9c5-7d27abad62a3" providerId="AD" clId="Web-{00E3AB20-0DD5-401B-B2B6-63F43E42D15E}"/>
  </pc:docChgLst>
  <pc:docChgLst>
    <pc:chgData name="Damien Faugère-Battiato" userId="eb462b6f42f0b467" providerId="LiveId" clId="{6D5E4C5B-3A6D-4B5F-ACC4-D3A72DE7F6E1}"/>
  </pc:docChgLst>
  <pc:docChgLst>
    <pc:chgData name="Damien Faugère-Battiato" userId="eb462b6f42f0b467" providerId="LiveId" clId="{ACE29C01-4931-46C5-94C8-9D4588182210}"/>
  </pc:docChgLst>
  <pc:docChgLst>
    <pc:chgData name="Alexis Weinberg" userId="S::awg@teams.eisti.fr::61f5eb12-30fa-4dc8-a958-8ea0851ee7be" providerId="AD" clId="Web-{3F3F8923-BEC4-48F1-9E78-EA534F44518B}"/>
  </pc:docChgLst>
  <pc:docChgLst>
    <pc:chgData name="Alexis Weinberg" userId="S::awg@teams.eisti.fr::61f5eb12-30fa-4dc8-a958-8ea0851ee7be" providerId="AD" clId="Web-{241568E4-949F-4D20-B39A-8D6A4235ED59}"/>
  </pc:docChgLst>
  <pc:docChgLst>
    <pc:chgData name="Damien FAUGERE-BATTIATO" userId="S::dfo@teams.eisti.fr::8f3006e3-8b84-4f60-b9c5-7d27abad62a3" providerId="AD" clId="Web-{937D49F6-24FA-4ADF-8752-2253754FCF1D}"/>
  </pc:docChgLst>
  <pc:docChgLst>
    <pc:chgData name="Damien FAUGERE-BATTIATO" userId="S::dfo@teams.eisti.fr::8f3006e3-8b84-4f60-b9c5-7d27abad62a3" providerId="AD" clId="Web-{8208C5B7-40B8-435B-86C5-9E0E5E3FECAD}"/>
  </pc:docChgLst>
  <pc:docChgLst>
    <pc:chgData name="Damien Faugère-Battiato" userId="eb462b6f42f0b467" providerId="LiveId" clId="{4E8797DC-B9C9-48D0-BF96-CF7A889F063E}"/>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0B3F23-95D9-451E-92E1-B596842D0081}" type="datetimeFigureOut">
              <a:rPr lang="fr-FR"/>
              <a:t>12/10/2024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9DEC3-20C1-4A4C-80E0-623637F00CFA}" type="slidenum">
              <a:rPr lang="fr-FR"/>
              <a:t>‹N°›</a:t>
            </a:fld>
            <a:endParaRPr lang="fr-FR"/>
          </a:p>
        </p:txBody>
      </p:sp>
    </p:spTree>
    <p:extLst>
      <p:ext uri="{BB962C8B-B14F-4D97-AF65-F5344CB8AC3E}">
        <p14:creationId xmlns:p14="http://schemas.microsoft.com/office/powerpoint/2010/main" val="1143841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*Pendant longtemps morale et éthique signifiaient la même chose. Apparition progressive d’une distinction (1) / (2)</a:t>
            </a:r>
          </a:p>
          <a:p>
            <a:r>
              <a:rPr lang="fr-FR" dirty="0"/>
              <a:t>Paul </a:t>
            </a:r>
            <a:r>
              <a:rPr lang="fr-FR" dirty="0" err="1"/>
              <a:t>Ricoeur</a:t>
            </a:r>
            <a:r>
              <a:rPr lang="fr-FR" dirty="0"/>
              <a:t> (1990). </a:t>
            </a:r>
            <a:r>
              <a:rPr lang="fr-FR" i="1" dirty="0"/>
              <a:t>Soi-même comme un autre</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i="0" dirty="0"/>
              <a:t>*</a:t>
            </a:r>
            <a:r>
              <a:rPr lang="fr-FR" dirty="0">
                <a:latin typeface="Gotham Light" pitchFamily="50" charset="0"/>
                <a:cs typeface="Gotham Light" pitchFamily="50" charset="0"/>
              </a:rPr>
              <a:t>Blondel (1999). </a:t>
            </a:r>
            <a:r>
              <a:rPr lang="fr-FR" i="1" dirty="0">
                <a:latin typeface="Gotham Light" pitchFamily="50" charset="0"/>
                <a:cs typeface="Gotham Light" pitchFamily="50" charset="0"/>
              </a:rPr>
              <a:t>La morale </a:t>
            </a:r>
            <a:endParaRPr lang="fr-FR" sz="1200" dirty="0">
              <a:solidFill>
                <a:schemeClr val="tx1">
                  <a:lumMod val="85000"/>
                  <a:lumOff val="15000"/>
                </a:schemeClr>
              </a:solidFill>
              <a:latin typeface="Gotham Light" pitchFamily="50" charset="0"/>
              <a:cs typeface="Gotham Light" pitchFamily="50" charset="0"/>
            </a:endParaRPr>
          </a:p>
          <a:p>
            <a:endParaRPr lang="fr-FR" dirty="0"/>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3</a:t>
            </a:fld>
            <a:endParaRPr lang="fr-FR"/>
          </a:p>
        </p:txBody>
      </p:sp>
    </p:spTree>
    <p:extLst>
      <p:ext uri="{BB962C8B-B14F-4D97-AF65-F5344CB8AC3E}">
        <p14:creationId xmlns:p14="http://schemas.microsoft.com/office/powerpoint/2010/main" val="3147889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*Elles ne seront pas directement abordées</a:t>
            </a:r>
          </a:p>
          <a:p>
            <a:r>
              <a:rPr lang="fr-FR" dirty="0"/>
              <a:t>*Lien fort entre prise de décision, position personnelle et action</a:t>
            </a:r>
          </a:p>
          <a:p>
            <a:r>
              <a:rPr lang="fr-FR" dirty="0"/>
              <a:t>*Il y a déjà dans la déontologie une réflexion sur les problèmes rencontrés dans certaines professions (transition entre la morale générale et l’éthique singulière et située)</a:t>
            </a:r>
          </a:p>
          <a:p>
            <a:endParaRPr lang="fr-FR" dirty="0"/>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4</a:t>
            </a:fld>
            <a:endParaRPr lang="fr-FR"/>
          </a:p>
        </p:txBody>
      </p:sp>
    </p:spTree>
    <p:extLst>
      <p:ext uri="{BB962C8B-B14F-4D97-AF65-F5344CB8AC3E}">
        <p14:creationId xmlns:p14="http://schemas.microsoft.com/office/powerpoint/2010/main" val="2619191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t>
            </a:r>
            <a:r>
              <a:rPr lang="fr-FR" i="1" dirty="0"/>
              <a:t>Ethique à </a:t>
            </a:r>
            <a:r>
              <a:rPr lang="fr-FR" i="1" dirty="0" err="1"/>
              <a:t>Nicomaque</a:t>
            </a:r>
            <a:endParaRPr lang="fr-FR" i="1" dirty="0"/>
          </a:p>
          <a:p>
            <a:r>
              <a:rPr lang="fr-FR" dirty="0"/>
              <a:t>*</a:t>
            </a:r>
            <a:r>
              <a:rPr lang="fr-FR" i="1" dirty="0"/>
              <a:t>Fondements de la métaphysique des mœurs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i="1" baseline="30000" dirty="0"/>
              <a:t>1</a:t>
            </a:r>
            <a:r>
              <a:rPr lang="fr-FR" i="1" dirty="0"/>
              <a:t> </a:t>
            </a:r>
            <a:r>
              <a:rPr lang="fr-FR" dirty="0"/>
              <a:t>On ne doit pas mentir pour éviter un meurtre, parce qu’il y a une obligation absolue à dire la vérité, sans considération pour les circonstances particulières. La déontologie affirme qu’une action est moralement correcte seulement si elle n’est pas incompatible avec une norme morale.</a:t>
            </a:r>
          </a:p>
          <a:p>
            <a:endParaRPr lang="fr-FR" i="1" dirty="0"/>
          </a:p>
          <a:p>
            <a:r>
              <a:rPr lang="fr-FR" dirty="0"/>
              <a:t>*</a:t>
            </a:r>
            <a:r>
              <a:rPr lang="fr-FR" i="1" dirty="0"/>
              <a:t>Introduction aux principes de la morale et de la législation </a:t>
            </a:r>
            <a:r>
              <a:rPr lang="fr-FR" dirty="0"/>
              <a:t>(Bentham) et </a:t>
            </a:r>
            <a:r>
              <a:rPr lang="fr-FR" i="1" dirty="0"/>
              <a:t>De la liberté </a:t>
            </a:r>
            <a:r>
              <a:rPr lang="fr-FR" dirty="0"/>
              <a:t>(Mill)</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5</a:t>
            </a:fld>
            <a:endParaRPr lang="fr-FR"/>
          </a:p>
        </p:txBody>
      </p:sp>
    </p:spTree>
    <p:extLst>
      <p:ext uri="{BB962C8B-B14F-4D97-AF65-F5344CB8AC3E}">
        <p14:creationId xmlns:p14="http://schemas.microsoft.com/office/powerpoint/2010/main" val="3303959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28600" indent="-228600">
              <a:buAutoNum type="arabicParenBoth"/>
            </a:pPr>
            <a:r>
              <a:rPr lang="fr-FR"/>
              <a:t>Importance de prendre en compte sa propre histoire, son éducation, sa culture, sa vision du monde</a:t>
            </a:r>
          </a:p>
          <a:p>
            <a:pPr marL="228600" indent="-228600">
              <a:buAutoNum type="arabicParenBoth"/>
            </a:pPr>
            <a:r>
              <a:rPr lang="fr-FR"/>
              <a:t>Interrogation sur le rôle culturel des valeurs et la question du relativisme axiologique</a:t>
            </a:r>
          </a:p>
          <a:p>
            <a:pPr marL="228600" indent="-228600">
              <a:buAutoNum type="arabicParenBoth"/>
            </a:pPr>
            <a:r>
              <a:rPr lang="fr-FR"/>
              <a:t>Justifier/expliquer ce qu’il faut faire perdurer par ce qui est déjà réalisé par les sociétés</a:t>
            </a:r>
          </a:p>
          <a:p>
            <a:endParaRPr lang="fr-FR"/>
          </a:p>
          <a:p>
            <a:endParaRPr lang="fr-FR"/>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6</a:t>
            </a:fld>
            <a:endParaRPr lang="fr-FR"/>
          </a:p>
        </p:txBody>
      </p:sp>
    </p:spTree>
    <p:extLst>
      <p:ext uri="{BB962C8B-B14F-4D97-AF65-F5344CB8AC3E}">
        <p14:creationId xmlns:p14="http://schemas.microsoft.com/office/powerpoint/2010/main" val="910024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aseline="30000" dirty="0">
                <a:solidFill>
                  <a:schemeClr val="tx1">
                    <a:lumMod val="85000"/>
                    <a:lumOff val="15000"/>
                  </a:schemeClr>
                </a:solidFill>
                <a:latin typeface="Gotham Light" pitchFamily="50" charset="0"/>
                <a:cs typeface="Gotham Light" pitchFamily="50" charset="0"/>
              </a:rPr>
              <a:t>1</a:t>
            </a:r>
            <a:r>
              <a:rPr lang="fr-FR" dirty="0"/>
              <a:t>Passage d’une cosmogonie à la cosmologie (mythe=&gt;science)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aseline="30000" dirty="0">
                <a:solidFill>
                  <a:schemeClr val="tx1">
                    <a:lumMod val="85000"/>
                    <a:lumOff val="15000"/>
                  </a:schemeClr>
                </a:solidFill>
                <a:latin typeface="Gotham Light" pitchFamily="50" charset="0"/>
                <a:cs typeface="Gotham Light" pitchFamily="50" charset="0"/>
              </a:rPr>
              <a:t>2</a:t>
            </a:r>
            <a:r>
              <a:rPr lang="fr-FR" dirty="0"/>
              <a:t>Cf. le combat contre le corporel, le sensible, l’éphémère pour atteindre le monde des Idées</a:t>
            </a:r>
            <a:endParaRPr lang="fr-FR" baseline="30000" dirty="0">
              <a:solidFill>
                <a:schemeClr val="tx1">
                  <a:lumMod val="85000"/>
                  <a:lumOff val="15000"/>
                </a:schemeClr>
              </a:solidFill>
              <a:latin typeface="Gotham Light" pitchFamily="50" charset="0"/>
              <a:cs typeface="Gotham Light" pitchFamily="50"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aseline="30000" dirty="0">
                <a:solidFill>
                  <a:schemeClr val="tx1">
                    <a:lumMod val="85000"/>
                    <a:lumOff val="15000"/>
                  </a:schemeClr>
                </a:solidFill>
                <a:latin typeface="Gotham Light" pitchFamily="50" charset="0"/>
                <a:cs typeface="Gotham Light" pitchFamily="50" charset="0"/>
              </a:rPr>
              <a:t>3 </a:t>
            </a:r>
            <a:r>
              <a:rPr lang="fr-FR" dirty="0"/>
              <a:t>opinion / combat contre les sophistes (réflexion sur le langage en lien avec le logos (raison-discours)</a:t>
            </a:r>
            <a:endParaRPr lang="fr-FR" baseline="30000" dirty="0">
              <a:solidFill>
                <a:schemeClr val="tx1">
                  <a:lumMod val="85000"/>
                  <a:lumOff val="15000"/>
                </a:schemeClr>
              </a:solidFill>
              <a:latin typeface="Gotham Light" pitchFamily="50" charset="0"/>
              <a:cs typeface="Gotham Light" pitchFamily="50" charset="0"/>
            </a:endParaRPr>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7</a:t>
            </a:fld>
            <a:endParaRPr lang="fr-FR"/>
          </a:p>
        </p:txBody>
      </p:sp>
    </p:spTree>
    <p:extLst>
      <p:ext uri="{BB962C8B-B14F-4D97-AF65-F5344CB8AC3E}">
        <p14:creationId xmlns:p14="http://schemas.microsoft.com/office/powerpoint/2010/main" val="386303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aseline="30000">
                <a:solidFill>
                  <a:schemeClr val="tx1">
                    <a:lumMod val="85000"/>
                    <a:lumOff val="15000"/>
                  </a:schemeClr>
                </a:solidFill>
                <a:latin typeface="Gotham Light" pitchFamily="50" charset="0"/>
                <a:cs typeface="Gotham Light" pitchFamily="50" charset="0"/>
              </a:rPr>
              <a:t>1</a:t>
            </a:r>
            <a:r>
              <a:rPr lang="fr-FR" sz="1200" i="1" baseline="30000">
                <a:solidFill>
                  <a:schemeClr val="tx1">
                    <a:lumMod val="85000"/>
                    <a:lumOff val="15000"/>
                  </a:schemeClr>
                </a:solidFill>
                <a:latin typeface="Gotham Light" pitchFamily="50" charset="0"/>
                <a:cs typeface="Gotham Light" pitchFamily="50" charset="0"/>
              </a:rPr>
              <a:t> </a:t>
            </a:r>
            <a:r>
              <a:rPr lang="fr-FR" sz="1200" i="0">
                <a:solidFill>
                  <a:schemeClr val="tx1">
                    <a:lumMod val="85000"/>
                    <a:lumOff val="15000"/>
                  </a:schemeClr>
                </a:solidFill>
                <a:latin typeface="Gotham Light" pitchFamily="50" charset="0"/>
                <a:cs typeface="Gotham Light" pitchFamily="50" charset="0"/>
              </a:rPr>
              <a:t>Tentative de liaison entre la logique aristotélicienne et la théologie</a:t>
            </a:r>
            <a:endParaRPr lang="fr-FR" sz="1200" i="1">
              <a:solidFill>
                <a:schemeClr val="tx1">
                  <a:lumMod val="85000"/>
                  <a:lumOff val="15000"/>
                </a:schemeClr>
              </a:solidFill>
              <a:latin typeface="Gotham Light" pitchFamily="50" charset="0"/>
              <a:cs typeface="Gotham Light" pitchFamily="50"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aseline="30000">
                <a:solidFill>
                  <a:schemeClr val="tx1">
                    <a:lumMod val="85000"/>
                    <a:lumOff val="15000"/>
                  </a:schemeClr>
                </a:solidFill>
                <a:latin typeface="Gotham Light" pitchFamily="50" charset="0"/>
                <a:cs typeface="Gotham Light" pitchFamily="50" charset="0"/>
              </a:rPr>
              <a:t>2 </a:t>
            </a:r>
            <a:r>
              <a:rPr lang="fr-FR"/>
              <a:t>Modèle rationnelle tendant vers un universalisme parfait (grâce aux sciences formelles) + lien entre connaissance et interrogations sociopolitiques contextualisées (JP Vernant) ou utilisation de la technique perçue différemment (PM </a:t>
            </a:r>
            <a:r>
              <a:rPr lang="fr-FR" err="1"/>
              <a:t>Schuhl</a:t>
            </a:r>
            <a:r>
              <a:rPr lang="fr-FR"/>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t>Ressource : Ph. FONTAINE – ARSI 2008/1 n°92 « Qu’est-ce que la science ? De la philosophie à la science : les origines de la rationalité moderne » pp6-19</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i="1" baseline="30000">
                <a:solidFill>
                  <a:schemeClr val="tx1">
                    <a:lumMod val="85000"/>
                    <a:lumOff val="15000"/>
                  </a:schemeClr>
                </a:solidFill>
                <a:latin typeface="Gotham Light" pitchFamily="50" charset="0"/>
                <a:cs typeface="Gotham Light" pitchFamily="50" charset="0"/>
              </a:rPr>
              <a:t>3 </a:t>
            </a:r>
            <a:r>
              <a:rPr lang="fr-FR" sz="1200" i="1">
                <a:solidFill>
                  <a:schemeClr val="tx1">
                    <a:lumMod val="85000"/>
                    <a:lumOff val="15000"/>
                  </a:schemeClr>
                </a:solidFill>
                <a:latin typeface="Gotham Light" pitchFamily="50" charset="0"/>
                <a:cs typeface="Gotham Light" pitchFamily="50" charset="0"/>
              </a:rPr>
              <a:t>hypothèse(s), construction d’un protocole, expérimentation, ajustement théorique par confirmation ou infirmation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p>
          <a:p>
            <a:endParaRPr lang="fr-FR"/>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8</a:t>
            </a:fld>
            <a:endParaRPr lang="fr-FR"/>
          </a:p>
        </p:txBody>
      </p:sp>
    </p:spTree>
    <p:extLst>
      <p:ext uri="{BB962C8B-B14F-4D97-AF65-F5344CB8AC3E}">
        <p14:creationId xmlns:p14="http://schemas.microsoft.com/office/powerpoint/2010/main" val="3608987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9</a:t>
            </a:fld>
            <a:endParaRPr lang="fr-FR"/>
          </a:p>
        </p:txBody>
      </p:sp>
    </p:spTree>
    <p:extLst>
      <p:ext uri="{BB962C8B-B14F-4D97-AF65-F5344CB8AC3E}">
        <p14:creationId xmlns:p14="http://schemas.microsoft.com/office/powerpoint/2010/main" val="1780359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i="0">
                <a:solidFill>
                  <a:schemeClr val="tx1">
                    <a:lumMod val="85000"/>
                    <a:lumOff val="15000"/>
                  </a:schemeClr>
                </a:solidFill>
                <a:latin typeface="Gotham Light" pitchFamily="50" charset="0"/>
                <a:cs typeface="Gotham Light" pitchFamily="50" charset="0"/>
              </a:rPr>
              <a:t>1. Épistémologie, philosophie, histoire et sociologie des sciences, anthropologie des savoirs, etc.</a:t>
            </a:r>
          </a:p>
          <a:p>
            <a:endParaRPr lang="fr-FR"/>
          </a:p>
          <a:p>
            <a:endParaRPr lang="fr-FR"/>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10</a:t>
            </a:fld>
            <a:endParaRPr lang="fr-FR"/>
          </a:p>
        </p:txBody>
      </p:sp>
    </p:spTree>
    <p:extLst>
      <p:ext uri="{BB962C8B-B14F-4D97-AF65-F5344CB8AC3E}">
        <p14:creationId xmlns:p14="http://schemas.microsoft.com/office/powerpoint/2010/main" val="1634761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*Certains éthiciens et penseurs essaient de faire passer l’idée que puisque la science ne s’occupe pas des valeurs (et donc de l’éthique), il revient à l’éthique de s’occuper de la science</a:t>
            </a:r>
          </a:p>
          <a:p>
            <a:r>
              <a:rPr lang="fr-FR"/>
              <a:t>*Amoralité = sans morale (position neutre) / Immoralité = contre la morale (position d’opposition)</a:t>
            </a:r>
          </a:p>
          <a:p>
            <a:r>
              <a:rPr lang="fr-FR"/>
              <a:t>*</a:t>
            </a:r>
            <a:r>
              <a:rPr lang="fr-FR" err="1"/>
              <a:t>description</a:t>
            </a:r>
            <a:r>
              <a:rPr lang="fr-FR" err="1">
                <a:latin typeface="Calibri" panose="020F0502020204030204" pitchFamily="34" charset="0"/>
                <a:cs typeface="Calibri" panose="020F0502020204030204" pitchFamily="34" charset="0"/>
              </a:rPr>
              <a:t>≠</a:t>
            </a:r>
            <a:r>
              <a:rPr lang="fr-FR" err="1"/>
              <a:t>prescription</a:t>
            </a:r>
            <a:endParaRPr lang="fr-FR"/>
          </a:p>
          <a:p>
            <a:endParaRPr lang="fr-FR"/>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11</a:t>
            </a:fld>
            <a:endParaRPr lang="fr-FR"/>
          </a:p>
        </p:txBody>
      </p:sp>
    </p:spTree>
    <p:extLst>
      <p:ext uri="{BB962C8B-B14F-4D97-AF65-F5344CB8AC3E}">
        <p14:creationId xmlns:p14="http://schemas.microsoft.com/office/powerpoint/2010/main" val="1228661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aseline="30000">
                <a:latin typeface="Gotham Light" pitchFamily="50" charset="0"/>
                <a:cs typeface="Gotham Light" pitchFamily="50" charset="0"/>
              </a:rPr>
              <a:t>1 </a:t>
            </a:r>
            <a:r>
              <a:rPr lang="fr-FR" sz="1200">
                <a:latin typeface="Gotham Light" pitchFamily="50" charset="0"/>
                <a:cs typeface="Gotham Light" pitchFamily="50" charset="0"/>
              </a:rPr>
              <a:t>Cf. la partie avec les illustrations</a:t>
            </a:r>
            <a:endParaRPr lang="fr-FR"/>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12</a:t>
            </a:fld>
            <a:endParaRPr lang="fr-FR"/>
          </a:p>
        </p:txBody>
      </p:sp>
    </p:spTree>
    <p:extLst>
      <p:ext uri="{BB962C8B-B14F-4D97-AF65-F5344CB8AC3E}">
        <p14:creationId xmlns:p14="http://schemas.microsoft.com/office/powerpoint/2010/main" val="42775946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Source : https://odysseum.eduscol.education.fr/le-mythe-de-promethee </a:t>
            </a:r>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15</a:t>
            </a:fld>
            <a:endParaRPr lang="fr-FR"/>
          </a:p>
        </p:txBody>
      </p:sp>
    </p:spTree>
    <p:extLst>
      <p:ext uri="{BB962C8B-B14F-4D97-AF65-F5344CB8AC3E}">
        <p14:creationId xmlns:p14="http://schemas.microsoft.com/office/powerpoint/2010/main" val="1329224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Source : https://fr.wikipedia.org/wiki/Icare  </a:t>
            </a:r>
          </a:p>
        </p:txBody>
      </p:sp>
      <p:sp>
        <p:nvSpPr>
          <p:cNvPr id="4" name="Espace réservé du numéro de diapositive 3"/>
          <p:cNvSpPr>
            <a:spLocks noGrp="1"/>
          </p:cNvSpPr>
          <p:nvPr>
            <p:ph type="sldNum" sz="quarter" idx="5"/>
          </p:nvPr>
        </p:nvSpPr>
        <p:spPr/>
        <p:txBody>
          <a:bodyPr/>
          <a:lstStyle/>
          <a:p>
            <a:fld id="{C2A9DEC3-20C1-4A4C-80E0-623637F00CFA}" type="slidenum">
              <a:rPr lang="fr-FR" smtClean="0"/>
              <a:t>17</a:t>
            </a:fld>
            <a:endParaRPr lang="fr-FR"/>
          </a:p>
        </p:txBody>
      </p:sp>
    </p:spTree>
    <p:extLst>
      <p:ext uri="{BB962C8B-B14F-4D97-AF65-F5344CB8AC3E}">
        <p14:creationId xmlns:p14="http://schemas.microsoft.com/office/powerpoint/2010/main" val="34751101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641731-9975-4EBD-B448-07F229C4580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DDF3C88-F73E-4DE2-A937-E119E80B04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63896D3-B50F-468D-A635-8BB1C3A9FACF}"/>
              </a:ext>
            </a:extLst>
          </p:cNvPr>
          <p:cNvSpPr>
            <a:spLocks noGrp="1"/>
          </p:cNvSpPr>
          <p:nvPr>
            <p:ph type="dt" sz="half" idx="10"/>
          </p:nvPr>
        </p:nvSpPr>
        <p:spPr/>
        <p:txBody>
          <a:bodyPr/>
          <a:lstStyle/>
          <a:p>
            <a:fld id="{C150C8FB-536B-4E8C-89E2-B3263702EF8C}" type="datetime1">
              <a:rPr lang="fr-FR" smtClean="0"/>
              <a:t>12/10/2024</a:t>
            </a:fld>
            <a:endParaRPr lang="fr-FR"/>
          </a:p>
        </p:txBody>
      </p:sp>
      <p:sp>
        <p:nvSpPr>
          <p:cNvPr id="5" name="Espace réservé du pied de page 4">
            <a:extLst>
              <a:ext uri="{FF2B5EF4-FFF2-40B4-BE49-F238E27FC236}">
                <a16:creationId xmlns:a16="http://schemas.microsoft.com/office/drawing/2014/main" id="{531EB995-D40A-4804-B843-EDB60C16F5F1}"/>
              </a:ext>
            </a:extLst>
          </p:cNvPr>
          <p:cNvSpPr>
            <a:spLocks noGrp="1"/>
          </p:cNvSpPr>
          <p:nvPr>
            <p:ph type="ftr" sz="quarter" idx="11"/>
          </p:nvPr>
        </p:nvSpPr>
        <p:spPr/>
        <p:txBody>
          <a:bodyPr/>
          <a:lstStyle/>
          <a:p>
            <a:r>
              <a:rPr lang="fr-FR"/>
              <a:t>Pole Humanités Design Département des Relations Humaines</a:t>
            </a:r>
          </a:p>
        </p:txBody>
      </p:sp>
      <p:sp>
        <p:nvSpPr>
          <p:cNvPr id="6" name="Espace réservé du numéro de diapositive 5">
            <a:extLst>
              <a:ext uri="{FF2B5EF4-FFF2-40B4-BE49-F238E27FC236}">
                <a16:creationId xmlns:a16="http://schemas.microsoft.com/office/drawing/2014/main" id="{41AADCCF-55B5-4ED3-A1FF-2BCD589B3D7C}"/>
              </a:ext>
            </a:extLst>
          </p:cNvPr>
          <p:cNvSpPr>
            <a:spLocks noGrp="1"/>
          </p:cNvSpPr>
          <p:nvPr>
            <p:ph type="sldNum" sz="quarter" idx="12"/>
          </p:nvPr>
        </p:nvSpPr>
        <p:spPr>
          <a:xfrm>
            <a:off x="9415269" y="6484626"/>
            <a:ext cx="2743200" cy="365125"/>
          </a:xfrm>
        </p:spPr>
        <p:txBody>
          <a:bodyPr/>
          <a:lstStyle/>
          <a:p>
            <a:fld id="{8451C2F9-D2F6-4AB4-97F8-CBD41F7E86B7}" type="slidenum">
              <a:rPr lang="fr-FR" smtClean="0"/>
              <a:t>‹N°›</a:t>
            </a:fld>
            <a:endParaRPr lang="fr-FR"/>
          </a:p>
        </p:txBody>
      </p:sp>
      <p:sp>
        <p:nvSpPr>
          <p:cNvPr id="7" name="object 10">
            <a:extLst>
              <a:ext uri="{FF2B5EF4-FFF2-40B4-BE49-F238E27FC236}">
                <a16:creationId xmlns:a16="http://schemas.microsoft.com/office/drawing/2014/main" id="{7A6DE3B7-1DF6-4CDC-B921-62AB6AA52042}"/>
              </a:ext>
            </a:extLst>
          </p:cNvPr>
          <p:cNvSpPr txBox="1">
            <a:spLocks/>
          </p:cNvSpPr>
          <p:nvPr userDrawn="1"/>
        </p:nvSpPr>
        <p:spPr>
          <a:xfrm>
            <a:off x="4041374" y="6472450"/>
            <a:ext cx="4114800" cy="189796"/>
          </a:xfrm>
          <a:prstGeom prst="rect">
            <a:avLst/>
          </a:prstGeom>
        </p:spPr>
        <p:txBody>
          <a:bodyPr vert="horz" wrap="square" lIns="0" tIns="5080" rIns="0" bIns="0" rtlCol="0" anchor="ctr">
            <a:spAutoFit/>
          </a:bodyPr>
          <a:lstStyle>
            <a:defPPr>
              <a:defRPr lang="fr-F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40"/>
              </a:spcBef>
            </a:pPr>
            <a:r>
              <a:rPr lang="fr-FR" spc="-60">
                <a:solidFill>
                  <a:srgbClr val="002060"/>
                </a:solidFill>
              </a:rPr>
              <a:t>Pole Humanités Design Département des Relations Humaines</a:t>
            </a:r>
            <a:endParaRPr lang="fr-FR" spc="-100">
              <a:solidFill>
                <a:srgbClr val="002060"/>
              </a:solidFill>
            </a:endParaRPr>
          </a:p>
        </p:txBody>
      </p:sp>
      <p:pic>
        <p:nvPicPr>
          <p:cNvPr id="8" name="Image 7">
            <a:extLst>
              <a:ext uri="{FF2B5EF4-FFF2-40B4-BE49-F238E27FC236}">
                <a16:creationId xmlns:a16="http://schemas.microsoft.com/office/drawing/2014/main" id="{B0950A6A-F1A2-4CD6-8620-3F57C46E272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144" y="32090"/>
            <a:ext cx="1299102" cy="686750"/>
          </a:xfrm>
          <a:prstGeom prst="rect">
            <a:avLst/>
          </a:prstGeom>
        </p:spPr>
      </p:pic>
      <p:pic>
        <p:nvPicPr>
          <p:cNvPr id="9" name="Image 8">
            <a:extLst>
              <a:ext uri="{FF2B5EF4-FFF2-40B4-BE49-F238E27FC236}">
                <a16:creationId xmlns:a16="http://schemas.microsoft.com/office/drawing/2014/main" id="{169DB039-EE27-4897-A511-AC922E82C88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15269" y="6109761"/>
            <a:ext cx="1938531" cy="640149"/>
          </a:xfrm>
          <a:prstGeom prst="rect">
            <a:avLst/>
          </a:prstGeom>
        </p:spPr>
      </p:pic>
    </p:spTree>
    <p:extLst>
      <p:ext uri="{BB962C8B-B14F-4D97-AF65-F5344CB8AC3E}">
        <p14:creationId xmlns:p14="http://schemas.microsoft.com/office/powerpoint/2010/main" val="2136408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F9EB31-2293-459E-B5AB-FCFDF7235C1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7F27CC7-7470-4CB3-88E1-5E2F4D1F7A7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FABE95A-B986-4437-9A8E-71ADB3D03CF8}"/>
              </a:ext>
            </a:extLst>
          </p:cNvPr>
          <p:cNvSpPr>
            <a:spLocks noGrp="1"/>
          </p:cNvSpPr>
          <p:nvPr>
            <p:ph type="dt" sz="half" idx="10"/>
          </p:nvPr>
        </p:nvSpPr>
        <p:spPr/>
        <p:txBody>
          <a:bodyPr/>
          <a:lstStyle/>
          <a:p>
            <a:fld id="{37E91008-4EA8-43D3-9330-053E18BE9BFE}" type="datetime1">
              <a:rPr lang="fr-FR" smtClean="0"/>
              <a:t>12/10/2024</a:t>
            </a:fld>
            <a:endParaRPr lang="fr-FR"/>
          </a:p>
        </p:txBody>
      </p:sp>
      <p:sp>
        <p:nvSpPr>
          <p:cNvPr id="5" name="Espace réservé du pied de page 4">
            <a:extLst>
              <a:ext uri="{FF2B5EF4-FFF2-40B4-BE49-F238E27FC236}">
                <a16:creationId xmlns:a16="http://schemas.microsoft.com/office/drawing/2014/main" id="{8B714437-B1CC-4314-A8F9-0F2A1DAD2D6D}"/>
              </a:ext>
            </a:extLst>
          </p:cNvPr>
          <p:cNvSpPr>
            <a:spLocks noGrp="1"/>
          </p:cNvSpPr>
          <p:nvPr>
            <p:ph type="ftr" sz="quarter" idx="11"/>
          </p:nvPr>
        </p:nvSpPr>
        <p:spPr/>
        <p:txBody>
          <a:bodyPr/>
          <a:lstStyle/>
          <a:p>
            <a:r>
              <a:rPr lang="fr-FR"/>
              <a:t>Pole Humanités Design Département des Relations Humaines</a:t>
            </a:r>
          </a:p>
        </p:txBody>
      </p:sp>
      <p:sp>
        <p:nvSpPr>
          <p:cNvPr id="6" name="Espace réservé du numéro de diapositive 5">
            <a:extLst>
              <a:ext uri="{FF2B5EF4-FFF2-40B4-BE49-F238E27FC236}">
                <a16:creationId xmlns:a16="http://schemas.microsoft.com/office/drawing/2014/main" id="{44B551C5-D511-45CC-B436-C127D827D6C8}"/>
              </a:ext>
            </a:extLst>
          </p:cNvPr>
          <p:cNvSpPr>
            <a:spLocks noGrp="1"/>
          </p:cNvSpPr>
          <p:nvPr>
            <p:ph type="sldNum" sz="quarter" idx="12"/>
          </p:nvPr>
        </p:nvSpPr>
        <p:spPr>
          <a:xfrm>
            <a:off x="9448800" y="6492875"/>
            <a:ext cx="2743200" cy="365125"/>
          </a:xfrm>
        </p:spPr>
        <p:txBody>
          <a:bodyPr/>
          <a:lstStyle/>
          <a:p>
            <a:fld id="{8451C2F9-D2F6-4AB4-97F8-CBD41F7E86B7}" type="slidenum">
              <a:rPr lang="fr-FR" smtClean="0"/>
              <a:t>‹N°›</a:t>
            </a:fld>
            <a:endParaRPr lang="fr-FR"/>
          </a:p>
        </p:txBody>
      </p:sp>
      <p:sp>
        <p:nvSpPr>
          <p:cNvPr id="7" name="object 10">
            <a:extLst>
              <a:ext uri="{FF2B5EF4-FFF2-40B4-BE49-F238E27FC236}">
                <a16:creationId xmlns:a16="http://schemas.microsoft.com/office/drawing/2014/main" id="{A20E848F-290E-4019-8AA8-467B53DB5DC9}"/>
              </a:ext>
            </a:extLst>
          </p:cNvPr>
          <p:cNvSpPr txBox="1">
            <a:spLocks/>
          </p:cNvSpPr>
          <p:nvPr userDrawn="1"/>
        </p:nvSpPr>
        <p:spPr>
          <a:xfrm>
            <a:off x="4041374" y="6472450"/>
            <a:ext cx="4114800" cy="189796"/>
          </a:xfrm>
          <a:prstGeom prst="rect">
            <a:avLst/>
          </a:prstGeom>
        </p:spPr>
        <p:txBody>
          <a:bodyPr vert="horz" wrap="square" lIns="0" tIns="5080" rIns="0" bIns="0" rtlCol="0" anchor="ctr">
            <a:spAutoFit/>
          </a:bodyPr>
          <a:lstStyle>
            <a:defPPr>
              <a:defRPr lang="fr-F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40"/>
              </a:spcBef>
            </a:pPr>
            <a:r>
              <a:rPr lang="fr-FR" spc="-60">
                <a:solidFill>
                  <a:srgbClr val="002060"/>
                </a:solidFill>
              </a:rPr>
              <a:t>Pole Humanités Design Département des Relations Humaines</a:t>
            </a:r>
            <a:endParaRPr lang="fr-FR" spc="-100">
              <a:solidFill>
                <a:srgbClr val="002060"/>
              </a:solidFill>
            </a:endParaRPr>
          </a:p>
        </p:txBody>
      </p:sp>
      <p:pic>
        <p:nvPicPr>
          <p:cNvPr id="8" name="Image 7">
            <a:extLst>
              <a:ext uri="{FF2B5EF4-FFF2-40B4-BE49-F238E27FC236}">
                <a16:creationId xmlns:a16="http://schemas.microsoft.com/office/drawing/2014/main" id="{BAD567BF-CB8C-4D24-957F-BF07CE4129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144" y="32090"/>
            <a:ext cx="1299102" cy="686750"/>
          </a:xfrm>
          <a:prstGeom prst="rect">
            <a:avLst/>
          </a:prstGeom>
        </p:spPr>
      </p:pic>
      <p:pic>
        <p:nvPicPr>
          <p:cNvPr id="9" name="Image 8">
            <a:extLst>
              <a:ext uri="{FF2B5EF4-FFF2-40B4-BE49-F238E27FC236}">
                <a16:creationId xmlns:a16="http://schemas.microsoft.com/office/drawing/2014/main" id="{462AEEB7-B469-4DB6-AAD2-90E35D27B9F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16656" y="6123941"/>
            <a:ext cx="1938531" cy="640149"/>
          </a:xfrm>
          <a:prstGeom prst="rect">
            <a:avLst/>
          </a:prstGeom>
        </p:spPr>
      </p:pic>
    </p:spTree>
    <p:extLst>
      <p:ext uri="{BB962C8B-B14F-4D97-AF65-F5344CB8AC3E}">
        <p14:creationId xmlns:p14="http://schemas.microsoft.com/office/powerpoint/2010/main" val="2455830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A6D121-A075-480F-A4D1-3F6D703F246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5898250-A6E6-4146-9A15-7169B50C1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4738C19E-FC51-4717-BFAB-800B963FC641}"/>
              </a:ext>
            </a:extLst>
          </p:cNvPr>
          <p:cNvSpPr>
            <a:spLocks noGrp="1"/>
          </p:cNvSpPr>
          <p:nvPr>
            <p:ph type="dt" sz="half" idx="10"/>
          </p:nvPr>
        </p:nvSpPr>
        <p:spPr/>
        <p:txBody>
          <a:bodyPr/>
          <a:lstStyle/>
          <a:p>
            <a:fld id="{8B863008-3577-4013-A153-CCC46DB48771}" type="datetime1">
              <a:rPr lang="fr-FR" smtClean="0"/>
              <a:t>12/10/2024</a:t>
            </a:fld>
            <a:endParaRPr lang="fr-FR"/>
          </a:p>
        </p:txBody>
      </p:sp>
      <p:sp>
        <p:nvSpPr>
          <p:cNvPr id="5" name="Espace réservé du pied de page 4">
            <a:extLst>
              <a:ext uri="{FF2B5EF4-FFF2-40B4-BE49-F238E27FC236}">
                <a16:creationId xmlns:a16="http://schemas.microsoft.com/office/drawing/2014/main" id="{D2359DB2-ACB4-435D-9CDD-559C69D35C12}"/>
              </a:ext>
            </a:extLst>
          </p:cNvPr>
          <p:cNvSpPr>
            <a:spLocks noGrp="1"/>
          </p:cNvSpPr>
          <p:nvPr>
            <p:ph type="ftr" sz="quarter" idx="11"/>
          </p:nvPr>
        </p:nvSpPr>
        <p:spPr/>
        <p:txBody>
          <a:bodyPr/>
          <a:lstStyle/>
          <a:p>
            <a:r>
              <a:rPr lang="fr-FR"/>
              <a:t>Pole Humanités Design Département des Relations Humaines</a:t>
            </a:r>
          </a:p>
        </p:txBody>
      </p:sp>
      <p:sp>
        <p:nvSpPr>
          <p:cNvPr id="6" name="Espace réservé du numéro de diapositive 5">
            <a:extLst>
              <a:ext uri="{FF2B5EF4-FFF2-40B4-BE49-F238E27FC236}">
                <a16:creationId xmlns:a16="http://schemas.microsoft.com/office/drawing/2014/main" id="{51091735-FCF0-40DD-BE8E-0E6BD0961BB6}"/>
              </a:ext>
            </a:extLst>
          </p:cNvPr>
          <p:cNvSpPr>
            <a:spLocks noGrp="1"/>
          </p:cNvSpPr>
          <p:nvPr>
            <p:ph type="sldNum" sz="quarter" idx="12"/>
          </p:nvPr>
        </p:nvSpPr>
        <p:spPr>
          <a:xfrm>
            <a:off x="9347446" y="6356350"/>
            <a:ext cx="2743200" cy="365125"/>
          </a:xfrm>
        </p:spPr>
        <p:txBody>
          <a:bodyPr/>
          <a:lstStyle/>
          <a:p>
            <a:fld id="{8451C2F9-D2F6-4AB4-97F8-CBD41F7E86B7}" type="slidenum">
              <a:rPr lang="fr-FR" smtClean="0"/>
              <a:t>‹N°›</a:t>
            </a:fld>
            <a:endParaRPr lang="fr-FR"/>
          </a:p>
        </p:txBody>
      </p:sp>
    </p:spTree>
    <p:extLst>
      <p:ext uri="{BB962C8B-B14F-4D97-AF65-F5344CB8AC3E}">
        <p14:creationId xmlns:p14="http://schemas.microsoft.com/office/powerpoint/2010/main" val="1978064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CAAAC-7B44-48D5-ADFB-C1A04C9A6CB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F667158-706A-4492-84A4-29AB64480DD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AB5EB59-F861-4694-9E1D-51C190E0CFA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6FDC1E2-FB7A-4FE7-956B-952B6A1DA332}"/>
              </a:ext>
            </a:extLst>
          </p:cNvPr>
          <p:cNvSpPr>
            <a:spLocks noGrp="1"/>
          </p:cNvSpPr>
          <p:nvPr>
            <p:ph type="dt" sz="half" idx="10"/>
          </p:nvPr>
        </p:nvSpPr>
        <p:spPr/>
        <p:txBody>
          <a:bodyPr/>
          <a:lstStyle/>
          <a:p>
            <a:fld id="{8CC18591-9775-4C57-92A3-1C9C1A0F8B09}" type="datetime1">
              <a:rPr lang="fr-FR" smtClean="0"/>
              <a:t>12/10/2024</a:t>
            </a:fld>
            <a:endParaRPr lang="fr-FR"/>
          </a:p>
        </p:txBody>
      </p:sp>
      <p:sp>
        <p:nvSpPr>
          <p:cNvPr id="6" name="Espace réservé du pied de page 5">
            <a:extLst>
              <a:ext uri="{FF2B5EF4-FFF2-40B4-BE49-F238E27FC236}">
                <a16:creationId xmlns:a16="http://schemas.microsoft.com/office/drawing/2014/main" id="{1093922E-5191-42CA-B202-40DA045CC5D0}"/>
              </a:ext>
            </a:extLst>
          </p:cNvPr>
          <p:cNvSpPr>
            <a:spLocks noGrp="1"/>
          </p:cNvSpPr>
          <p:nvPr>
            <p:ph type="ftr" sz="quarter" idx="11"/>
          </p:nvPr>
        </p:nvSpPr>
        <p:spPr/>
        <p:txBody>
          <a:bodyPr/>
          <a:lstStyle/>
          <a:p>
            <a:r>
              <a:rPr lang="fr-FR"/>
              <a:t>Pole Humanités Design Département des Relations Humaines</a:t>
            </a:r>
          </a:p>
        </p:txBody>
      </p:sp>
      <p:sp>
        <p:nvSpPr>
          <p:cNvPr id="7" name="Espace réservé du numéro de diapositive 6">
            <a:extLst>
              <a:ext uri="{FF2B5EF4-FFF2-40B4-BE49-F238E27FC236}">
                <a16:creationId xmlns:a16="http://schemas.microsoft.com/office/drawing/2014/main" id="{C7CA26F9-0562-4530-A83F-D581A21869EF}"/>
              </a:ext>
            </a:extLst>
          </p:cNvPr>
          <p:cNvSpPr>
            <a:spLocks noGrp="1"/>
          </p:cNvSpPr>
          <p:nvPr>
            <p:ph type="sldNum" sz="quarter" idx="12"/>
          </p:nvPr>
        </p:nvSpPr>
        <p:spPr/>
        <p:txBody>
          <a:bodyPr/>
          <a:lstStyle/>
          <a:p>
            <a:fld id="{8451C2F9-D2F6-4AB4-97F8-CBD41F7E86B7}" type="slidenum">
              <a:rPr lang="fr-FR" smtClean="0"/>
              <a:t>‹N°›</a:t>
            </a:fld>
            <a:endParaRPr lang="fr-FR"/>
          </a:p>
        </p:txBody>
      </p:sp>
    </p:spTree>
    <p:extLst>
      <p:ext uri="{BB962C8B-B14F-4D97-AF65-F5344CB8AC3E}">
        <p14:creationId xmlns:p14="http://schemas.microsoft.com/office/powerpoint/2010/main" val="3433975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B0654B-5453-4C77-87B0-50FEC461F629}"/>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4CDFD68-2434-4CB5-8891-014CB55E64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E8FD596-3A65-4E29-8717-3115F435647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244154B-751E-43A3-B888-F754E1B31E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EEC3FBD-20DF-4ABF-8063-69486315959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1B2964E-ED02-4182-8699-66B093E6C509}"/>
              </a:ext>
            </a:extLst>
          </p:cNvPr>
          <p:cNvSpPr>
            <a:spLocks noGrp="1"/>
          </p:cNvSpPr>
          <p:nvPr>
            <p:ph type="dt" sz="half" idx="10"/>
          </p:nvPr>
        </p:nvSpPr>
        <p:spPr/>
        <p:txBody>
          <a:bodyPr/>
          <a:lstStyle/>
          <a:p>
            <a:fld id="{3E9D126F-8AD6-4CB7-8524-571069DDFA93}" type="datetime1">
              <a:rPr lang="fr-FR" smtClean="0"/>
              <a:t>12/10/2024</a:t>
            </a:fld>
            <a:endParaRPr lang="fr-FR"/>
          </a:p>
        </p:txBody>
      </p:sp>
      <p:sp>
        <p:nvSpPr>
          <p:cNvPr id="8" name="Espace réservé du pied de page 7">
            <a:extLst>
              <a:ext uri="{FF2B5EF4-FFF2-40B4-BE49-F238E27FC236}">
                <a16:creationId xmlns:a16="http://schemas.microsoft.com/office/drawing/2014/main" id="{17D3EECB-B8AA-452F-B9C1-5CB29C6429B9}"/>
              </a:ext>
            </a:extLst>
          </p:cNvPr>
          <p:cNvSpPr>
            <a:spLocks noGrp="1"/>
          </p:cNvSpPr>
          <p:nvPr>
            <p:ph type="ftr" sz="quarter" idx="11"/>
          </p:nvPr>
        </p:nvSpPr>
        <p:spPr/>
        <p:txBody>
          <a:bodyPr/>
          <a:lstStyle/>
          <a:p>
            <a:r>
              <a:rPr lang="fr-FR"/>
              <a:t>Pole Humanités Design Département des Relations Humaines</a:t>
            </a:r>
          </a:p>
        </p:txBody>
      </p:sp>
      <p:sp>
        <p:nvSpPr>
          <p:cNvPr id="9" name="Espace réservé du numéro de diapositive 8">
            <a:extLst>
              <a:ext uri="{FF2B5EF4-FFF2-40B4-BE49-F238E27FC236}">
                <a16:creationId xmlns:a16="http://schemas.microsoft.com/office/drawing/2014/main" id="{1AB0326B-40F4-4FAB-9F8B-15532FE64283}"/>
              </a:ext>
            </a:extLst>
          </p:cNvPr>
          <p:cNvSpPr>
            <a:spLocks noGrp="1"/>
          </p:cNvSpPr>
          <p:nvPr>
            <p:ph type="sldNum" sz="quarter" idx="12"/>
          </p:nvPr>
        </p:nvSpPr>
        <p:spPr/>
        <p:txBody>
          <a:bodyPr/>
          <a:lstStyle/>
          <a:p>
            <a:fld id="{8451C2F9-D2F6-4AB4-97F8-CBD41F7E86B7}" type="slidenum">
              <a:rPr lang="fr-FR" smtClean="0"/>
              <a:t>‹N°›</a:t>
            </a:fld>
            <a:endParaRPr lang="fr-FR"/>
          </a:p>
        </p:txBody>
      </p:sp>
    </p:spTree>
    <p:extLst>
      <p:ext uri="{BB962C8B-B14F-4D97-AF65-F5344CB8AC3E}">
        <p14:creationId xmlns:p14="http://schemas.microsoft.com/office/powerpoint/2010/main" val="729746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076AED-813F-43BC-A9A9-BE0DF2C8A7F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F011EB3-0FAE-455F-B9C0-3D09407B0B6D}"/>
              </a:ext>
            </a:extLst>
          </p:cNvPr>
          <p:cNvSpPr>
            <a:spLocks noGrp="1"/>
          </p:cNvSpPr>
          <p:nvPr>
            <p:ph type="dt" sz="half" idx="10"/>
          </p:nvPr>
        </p:nvSpPr>
        <p:spPr/>
        <p:txBody>
          <a:bodyPr/>
          <a:lstStyle/>
          <a:p>
            <a:fld id="{8AB65546-0E30-4C7D-9C0C-772569E05DE6}" type="datetime1">
              <a:rPr lang="fr-FR" smtClean="0"/>
              <a:t>12/10/2024</a:t>
            </a:fld>
            <a:endParaRPr lang="fr-FR"/>
          </a:p>
        </p:txBody>
      </p:sp>
      <p:sp>
        <p:nvSpPr>
          <p:cNvPr id="4" name="Espace réservé du pied de page 3">
            <a:extLst>
              <a:ext uri="{FF2B5EF4-FFF2-40B4-BE49-F238E27FC236}">
                <a16:creationId xmlns:a16="http://schemas.microsoft.com/office/drawing/2014/main" id="{9211B94F-06E2-4AC6-8395-3094C1E753D3}"/>
              </a:ext>
            </a:extLst>
          </p:cNvPr>
          <p:cNvSpPr>
            <a:spLocks noGrp="1"/>
          </p:cNvSpPr>
          <p:nvPr>
            <p:ph type="ftr" sz="quarter" idx="11"/>
          </p:nvPr>
        </p:nvSpPr>
        <p:spPr/>
        <p:txBody>
          <a:bodyPr/>
          <a:lstStyle/>
          <a:p>
            <a:r>
              <a:rPr 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0F7C7BD2-A58D-49FF-8B6B-11C350507B8B}"/>
              </a:ext>
            </a:extLst>
          </p:cNvPr>
          <p:cNvSpPr>
            <a:spLocks noGrp="1"/>
          </p:cNvSpPr>
          <p:nvPr>
            <p:ph type="sldNum" sz="quarter" idx="12"/>
          </p:nvPr>
        </p:nvSpPr>
        <p:spPr/>
        <p:txBody>
          <a:bodyPr/>
          <a:lstStyle/>
          <a:p>
            <a:fld id="{8451C2F9-D2F6-4AB4-97F8-CBD41F7E86B7}" type="slidenum">
              <a:rPr lang="fr-FR" smtClean="0"/>
              <a:t>‹N°›</a:t>
            </a:fld>
            <a:endParaRPr lang="fr-FR"/>
          </a:p>
        </p:txBody>
      </p:sp>
    </p:spTree>
    <p:extLst>
      <p:ext uri="{BB962C8B-B14F-4D97-AF65-F5344CB8AC3E}">
        <p14:creationId xmlns:p14="http://schemas.microsoft.com/office/powerpoint/2010/main" val="2201092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D838AF3-6BBE-4372-85E3-35C0DA233560}"/>
              </a:ext>
            </a:extLst>
          </p:cNvPr>
          <p:cNvSpPr>
            <a:spLocks noGrp="1"/>
          </p:cNvSpPr>
          <p:nvPr>
            <p:ph type="dt" sz="half" idx="10"/>
          </p:nvPr>
        </p:nvSpPr>
        <p:spPr/>
        <p:txBody>
          <a:bodyPr/>
          <a:lstStyle/>
          <a:p>
            <a:fld id="{9FC7C7C2-5EEF-4F84-B2AB-B8E97F3CEB56}" type="datetime1">
              <a:rPr lang="fr-FR" smtClean="0"/>
              <a:t>12/10/2024</a:t>
            </a:fld>
            <a:endParaRPr lang="fr-FR"/>
          </a:p>
        </p:txBody>
      </p:sp>
      <p:sp>
        <p:nvSpPr>
          <p:cNvPr id="3" name="Espace réservé du pied de page 2">
            <a:extLst>
              <a:ext uri="{FF2B5EF4-FFF2-40B4-BE49-F238E27FC236}">
                <a16:creationId xmlns:a16="http://schemas.microsoft.com/office/drawing/2014/main" id="{1A096396-B862-422C-AC8C-10B58053AE2B}"/>
              </a:ext>
            </a:extLst>
          </p:cNvPr>
          <p:cNvSpPr>
            <a:spLocks noGrp="1"/>
          </p:cNvSpPr>
          <p:nvPr>
            <p:ph type="ftr" sz="quarter" idx="11"/>
          </p:nvPr>
        </p:nvSpPr>
        <p:spPr/>
        <p:txBody>
          <a:bodyPr/>
          <a:lstStyle/>
          <a:p>
            <a:r>
              <a:rPr lang="fr-FR"/>
              <a:t>Pole Humanités Design Département des Relations Humaines</a:t>
            </a:r>
          </a:p>
        </p:txBody>
      </p:sp>
      <p:sp>
        <p:nvSpPr>
          <p:cNvPr id="4" name="Espace réservé du numéro de diapositive 3">
            <a:extLst>
              <a:ext uri="{FF2B5EF4-FFF2-40B4-BE49-F238E27FC236}">
                <a16:creationId xmlns:a16="http://schemas.microsoft.com/office/drawing/2014/main" id="{44B8E836-06A4-440E-9DA5-8F770ABCE259}"/>
              </a:ext>
            </a:extLst>
          </p:cNvPr>
          <p:cNvSpPr>
            <a:spLocks noGrp="1"/>
          </p:cNvSpPr>
          <p:nvPr>
            <p:ph type="sldNum" sz="quarter" idx="12"/>
          </p:nvPr>
        </p:nvSpPr>
        <p:spPr/>
        <p:txBody>
          <a:bodyPr/>
          <a:lstStyle/>
          <a:p>
            <a:fld id="{8451C2F9-D2F6-4AB4-97F8-CBD41F7E86B7}" type="slidenum">
              <a:rPr lang="fr-FR" smtClean="0"/>
              <a:t>‹N°›</a:t>
            </a:fld>
            <a:endParaRPr lang="fr-FR"/>
          </a:p>
        </p:txBody>
      </p:sp>
    </p:spTree>
    <p:extLst>
      <p:ext uri="{BB962C8B-B14F-4D97-AF65-F5344CB8AC3E}">
        <p14:creationId xmlns:p14="http://schemas.microsoft.com/office/powerpoint/2010/main" val="270603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6BB0D-AD44-460A-9CFB-CF39FF16385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093CA18-FAB0-479D-93A9-43E0096CFB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A8FDAA7-4B7D-4504-A56A-A8A48AE665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C87B606-7357-4B33-AC52-1F6820B2A25E}"/>
              </a:ext>
            </a:extLst>
          </p:cNvPr>
          <p:cNvSpPr>
            <a:spLocks noGrp="1"/>
          </p:cNvSpPr>
          <p:nvPr>
            <p:ph type="dt" sz="half" idx="10"/>
          </p:nvPr>
        </p:nvSpPr>
        <p:spPr/>
        <p:txBody>
          <a:bodyPr/>
          <a:lstStyle/>
          <a:p>
            <a:fld id="{DCF960DE-0B53-40DA-A202-056BA988D849}" type="datetime1">
              <a:rPr lang="fr-FR" smtClean="0"/>
              <a:t>12/10/2024</a:t>
            </a:fld>
            <a:endParaRPr lang="fr-FR"/>
          </a:p>
        </p:txBody>
      </p:sp>
      <p:sp>
        <p:nvSpPr>
          <p:cNvPr id="6" name="Espace réservé du pied de page 5">
            <a:extLst>
              <a:ext uri="{FF2B5EF4-FFF2-40B4-BE49-F238E27FC236}">
                <a16:creationId xmlns:a16="http://schemas.microsoft.com/office/drawing/2014/main" id="{B0F3EEC2-D74E-466A-985E-132655B2BCA0}"/>
              </a:ext>
            </a:extLst>
          </p:cNvPr>
          <p:cNvSpPr>
            <a:spLocks noGrp="1"/>
          </p:cNvSpPr>
          <p:nvPr>
            <p:ph type="ftr" sz="quarter" idx="11"/>
          </p:nvPr>
        </p:nvSpPr>
        <p:spPr/>
        <p:txBody>
          <a:bodyPr/>
          <a:lstStyle/>
          <a:p>
            <a:r>
              <a:rPr lang="fr-FR"/>
              <a:t>Pole Humanités Design Département des Relations Humaines</a:t>
            </a:r>
          </a:p>
        </p:txBody>
      </p:sp>
      <p:sp>
        <p:nvSpPr>
          <p:cNvPr id="7" name="Espace réservé du numéro de diapositive 6">
            <a:extLst>
              <a:ext uri="{FF2B5EF4-FFF2-40B4-BE49-F238E27FC236}">
                <a16:creationId xmlns:a16="http://schemas.microsoft.com/office/drawing/2014/main" id="{1E024192-7EA5-499A-8612-D9A2074F9B67}"/>
              </a:ext>
            </a:extLst>
          </p:cNvPr>
          <p:cNvSpPr>
            <a:spLocks noGrp="1"/>
          </p:cNvSpPr>
          <p:nvPr>
            <p:ph type="sldNum" sz="quarter" idx="12"/>
          </p:nvPr>
        </p:nvSpPr>
        <p:spPr/>
        <p:txBody>
          <a:bodyPr/>
          <a:lstStyle/>
          <a:p>
            <a:fld id="{8451C2F9-D2F6-4AB4-97F8-CBD41F7E86B7}" type="slidenum">
              <a:rPr lang="fr-FR" smtClean="0"/>
              <a:t>‹N°›</a:t>
            </a:fld>
            <a:endParaRPr lang="fr-FR"/>
          </a:p>
        </p:txBody>
      </p:sp>
    </p:spTree>
    <p:extLst>
      <p:ext uri="{BB962C8B-B14F-4D97-AF65-F5344CB8AC3E}">
        <p14:creationId xmlns:p14="http://schemas.microsoft.com/office/powerpoint/2010/main" val="2189755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CAF84F-3225-4987-A3BF-4A9DA2A7629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24A2C00E-62DC-4B8A-818C-294FA2363E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EF21E3D-365C-4DB8-B098-FD813B437C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18CC511-5818-45AB-810B-D161468A49EB}"/>
              </a:ext>
            </a:extLst>
          </p:cNvPr>
          <p:cNvSpPr>
            <a:spLocks noGrp="1"/>
          </p:cNvSpPr>
          <p:nvPr>
            <p:ph type="dt" sz="half" idx="10"/>
          </p:nvPr>
        </p:nvSpPr>
        <p:spPr/>
        <p:txBody>
          <a:bodyPr/>
          <a:lstStyle/>
          <a:p>
            <a:fld id="{D46209A0-857C-40DB-B03D-C1085CD64132}" type="datetime1">
              <a:rPr lang="fr-FR" smtClean="0"/>
              <a:t>12/10/2024</a:t>
            </a:fld>
            <a:endParaRPr lang="fr-FR"/>
          </a:p>
        </p:txBody>
      </p:sp>
      <p:sp>
        <p:nvSpPr>
          <p:cNvPr id="6" name="Espace réservé du pied de page 5">
            <a:extLst>
              <a:ext uri="{FF2B5EF4-FFF2-40B4-BE49-F238E27FC236}">
                <a16:creationId xmlns:a16="http://schemas.microsoft.com/office/drawing/2014/main" id="{AFE70699-F111-4E57-8CAF-29166BB124B2}"/>
              </a:ext>
            </a:extLst>
          </p:cNvPr>
          <p:cNvSpPr>
            <a:spLocks noGrp="1"/>
          </p:cNvSpPr>
          <p:nvPr>
            <p:ph type="ftr" sz="quarter" idx="11"/>
          </p:nvPr>
        </p:nvSpPr>
        <p:spPr/>
        <p:txBody>
          <a:bodyPr/>
          <a:lstStyle/>
          <a:p>
            <a:r>
              <a:rPr lang="fr-FR"/>
              <a:t>Pole Humanités Design Département des Relations Humaines</a:t>
            </a:r>
          </a:p>
        </p:txBody>
      </p:sp>
      <p:sp>
        <p:nvSpPr>
          <p:cNvPr id="7" name="Espace réservé du numéro de diapositive 6">
            <a:extLst>
              <a:ext uri="{FF2B5EF4-FFF2-40B4-BE49-F238E27FC236}">
                <a16:creationId xmlns:a16="http://schemas.microsoft.com/office/drawing/2014/main" id="{AC065213-9EBF-470C-AEA8-4D5CC1C51858}"/>
              </a:ext>
            </a:extLst>
          </p:cNvPr>
          <p:cNvSpPr>
            <a:spLocks noGrp="1"/>
          </p:cNvSpPr>
          <p:nvPr>
            <p:ph type="sldNum" sz="quarter" idx="12"/>
          </p:nvPr>
        </p:nvSpPr>
        <p:spPr/>
        <p:txBody>
          <a:bodyPr/>
          <a:lstStyle/>
          <a:p>
            <a:fld id="{8451C2F9-D2F6-4AB4-97F8-CBD41F7E86B7}" type="slidenum">
              <a:rPr lang="fr-FR" smtClean="0"/>
              <a:t>‹N°›</a:t>
            </a:fld>
            <a:endParaRPr lang="fr-FR"/>
          </a:p>
        </p:txBody>
      </p:sp>
    </p:spTree>
    <p:extLst>
      <p:ext uri="{BB962C8B-B14F-4D97-AF65-F5344CB8AC3E}">
        <p14:creationId xmlns:p14="http://schemas.microsoft.com/office/powerpoint/2010/main" val="328374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6168ED-140A-4586-BF13-7BCB5EF91AC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C3A78A2-9AD8-439F-943B-40A747AE596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A7F4C22-FE1F-458C-AE14-8E901C364842}"/>
              </a:ext>
            </a:extLst>
          </p:cNvPr>
          <p:cNvSpPr>
            <a:spLocks noGrp="1"/>
          </p:cNvSpPr>
          <p:nvPr>
            <p:ph type="dt" sz="half" idx="10"/>
          </p:nvPr>
        </p:nvSpPr>
        <p:spPr/>
        <p:txBody>
          <a:bodyPr/>
          <a:lstStyle/>
          <a:p>
            <a:fld id="{157C678C-5618-498C-A29B-B73F5A6F0A66}" type="datetime1">
              <a:rPr lang="fr-FR" smtClean="0"/>
              <a:t>12/10/2024</a:t>
            </a:fld>
            <a:endParaRPr lang="fr-FR"/>
          </a:p>
        </p:txBody>
      </p:sp>
      <p:sp>
        <p:nvSpPr>
          <p:cNvPr id="5" name="Espace réservé du pied de page 4">
            <a:extLst>
              <a:ext uri="{FF2B5EF4-FFF2-40B4-BE49-F238E27FC236}">
                <a16:creationId xmlns:a16="http://schemas.microsoft.com/office/drawing/2014/main" id="{D57A0104-7E0B-4677-A181-569CDF4CAE4E}"/>
              </a:ext>
            </a:extLst>
          </p:cNvPr>
          <p:cNvSpPr>
            <a:spLocks noGrp="1"/>
          </p:cNvSpPr>
          <p:nvPr>
            <p:ph type="ftr" sz="quarter" idx="11"/>
          </p:nvPr>
        </p:nvSpPr>
        <p:spPr/>
        <p:txBody>
          <a:bodyPr/>
          <a:lstStyle/>
          <a:p>
            <a:r>
              <a:rPr lang="fr-FR"/>
              <a:t>Pole Humanités Design Département des Relations Humaines</a:t>
            </a:r>
          </a:p>
        </p:txBody>
      </p:sp>
      <p:sp>
        <p:nvSpPr>
          <p:cNvPr id="6" name="Espace réservé du numéro de diapositive 5">
            <a:extLst>
              <a:ext uri="{FF2B5EF4-FFF2-40B4-BE49-F238E27FC236}">
                <a16:creationId xmlns:a16="http://schemas.microsoft.com/office/drawing/2014/main" id="{53437C4C-F375-40A7-BFD5-5CC4AB982508}"/>
              </a:ext>
            </a:extLst>
          </p:cNvPr>
          <p:cNvSpPr>
            <a:spLocks noGrp="1"/>
          </p:cNvSpPr>
          <p:nvPr>
            <p:ph type="sldNum" sz="quarter" idx="12"/>
          </p:nvPr>
        </p:nvSpPr>
        <p:spPr/>
        <p:txBody>
          <a:bodyPr/>
          <a:lstStyle/>
          <a:p>
            <a:fld id="{8451C2F9-D2F6-4AB4-97F8-CBD41F7E86B7}" type="slidenum">
              <a:rPr lang="fr-FR" smtClean="0"/>
              <a:t>‹N°›</a:t>
            </a:fld>
            <a:endParaRPr lang="fr-FR"/>
          </a:p>
        </p:txBody>
      </p:sp>
    </p:spTree>
    <p:extLst>
      <p:ext uri="{BB962C8B-B14F-4D97-AF65-F5344CB8AC3E}">
        <p14:creationId xmlns:p14="http://schemas.microsoft.com/office/powerpoint/2010/main" val="367766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7D0FDB1-8C26-48B1-B700-E74511EDE66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5699A14-1C76-4D39-8FF3-E7CA652E7E1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500E7D6-1A75-479C-933E-7A40598E1807}"/>
              </a:ext>
            </a:extLst>
          </p:cNvPr>
          <p:cNvSpPr>
            <a:spLocks noGrp="1"/>
          </p:cNvSpPr>
          <p:nvPr>
            <p:ph type="dt" sz="half" idx="10"/>
          </p:nvPr>
        </p:nvSpPr>
        <p:spPr/>
        <p:txBody>
          <a:bodyPr/>
          <a:lstStyle/>
          <a:p>
            <a:fld id="{208417D7-8095-4453-945B-CC8F9B8FCAE9}" type="datetime1">
              <a:rPr lang="fr-FR" smtClean="0"/>
              <a:t>12/10/2024</a:t>
            </a:fld>
            <a:endParaRPr lang="fr-FR"/>
          </a:p>
        </p:txBody>
      </p:sp>
      <p:sp>
        <p:nvSpPr>
          <p:cNvPr id="5" name="Espace réservé du pied de page 4">
            <a:extLst>
              <a:ext uri="{FF2B5EF4-FFF2-40B4-BE49-F238E27FC236}">
                <a16:creationId xmlns:a16="http://schemas.microsoft.com/office/drawing/2014/main" id="{AD8CFC85-DC86-44F6-8F59-D0488223AE7A}"/>
              </a:ext>
            </a:extLst>
          </p:cNvPr>
          <p:cNvSpPr>
            <a:spLocks noGrp="1"/>
          </p:cNvSpPr>
          <p:nvPr>
            <p:ph type="ftr" sz="quarter" idx="11"/>
          </p:nvPr>
        </p:nvSpPr>
        <p:spPr/>
        <p:txBody>
          <a:bodyPr/>
          <a:lstStyle/>
          <a:p>
            <a:r>
              <a:rPr lang="fr-FR"/>
              <a:t>Pole Humanités Design Département des Relations Humaines</a:t>
            </a:r>
          </a:p>
        </p:txBody>
      </p:sp>
      <p:sp>
        <p:nvSpPr>
          <p:cNvPr id="6" name="Espace réservé du numéro de diapositive 5">
            <a:extLst>
              <a:ext uri="{FF2B5EF4-FFF2-40B4-BE49-F238E27FC236}">
                <a16:creationId xmlns:a16="http://schemas.microsoft.com/office/drawing/2014/main" id="{44E82D24-1BEC-48CF-9D97-66A0198F0C55}"/>
              </a:ext>
            </a:extLst>
          </p:cNvPr>
          <p:cNvSpPr>
            <a:spLocks noGrp="1"/>
          </p:cNvSpPr>
          <p:nvPr>
            <p:ph type="sldNum" sz="quarter" idx="12"/>
          </p:nvPr>
        </p:nvSpPr>
        <p:spPr/>
        <p:txBody>
          <a:bodyPr/>
          <a:lstStyle/>
          <a:p>
            <a:fld id="{8451C2F9-D2F6-4AB4-97F8-CBD41F7E86B7}" type="slidenum">
              <a:rPr lang="fr-FR" smtClean="0"/>
              <a:t>‹N°›</a:t>
            </a:fld>
            <a:endParaRPr lang="fr-FR"/>
          </a:p>
        </p:txBody>
      </p:sp>
    </p:spTree>
    <p:extLst>
      <p:ext uri="{BB962C8B-B14F-4D97-AF65-F5344CB8AC3E}">
        <p14:creationId xmlns:p14="http://schemas.microsoft.com/office/powerpoint/2010/main" val="292628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C82114F-748E-42C2-B0A0-2A63D436FC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3BD43CD-9122-4CDD-B34C-BCCA03633D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21C2A59-0F0E-4F20-90C0-0DA206364E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2A07E8-0A93-443C-91C3-03788E1CD327}" type="datetime1">
              <a:rPr lang="fr-FR" smtClean="0"/>
              <a:t>12/10/2024</a:t>
            </a:fld>
            <a:endParaRPr lang="fr-FR"/>
          </a:p>
        </p:txBody>
      </p:sp>
      <p:sp>
        <p:nvSpPr>
          <p:cNvPr id="5" name="Espace réservé du pied de page 4">
            <a:extLst>
              <a:ext uri="{FF2B5EF4-FFF2-40B4-BE49-F238E27FC236}">
                <a16:creationId xmlns:a16="http://schemas.microsoft.com/office/drawing/2014/main" id="{B6B12C9F-F7EC-466E-8049-07FE70B60B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Pole Humanités Design Département des Relations Humaines</a:t>
            </a:r>
          </a:p>
        </p:txBody>
      </p:sp>
      <p:sp>
        <p:nvSpPr>
          <p:cNvPr id="6" name="Espace réservé du numéro de diapositive 5">
            <a:extLst>
              <a:ext uri="{FF2B5EF4-FFF2-40B4-BE49-F238E27FC236}">
                <a16:creationId xmlns:a16="http://schemas.microsoft.com/office/drawing/2014/main" id="{BD87B3E0-83BE-48FE-8667-2DA5430904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51C2F9-D2F6-4AB4-97F8-CBD41F7E86B7}" type="slidenum">
              <a:rPr lang="fr-FR" smtClean="0"/>
              <a:t>‹N°›</a:t>
            </a:fld>
            <a:endParaRPr lang="fr-FR"/>
          </a:p>
        </p:txBody>
      </p:sp>
    </p:spTree>
    <p:extLst>
      <p:ext uri="{BB962C8B-B14F-4D97-AF65-F5344CB8AC3E}">
        <p14:creationId xmlns:p14="http://schemas.microsoft.com/office/powerpoint/2010/main" val="3510972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7D4567-8DBB-46A3-9C97-3D96ED401555}"/>
              </a:ext>
            </a:extLst>
          </p:cNvPr>
          <p:cNvSpPr>
            <a:spLocks noGrp="1"/>
          </p:cNvSpPr>
          <p:nvPr>
            <p:ph type="ctrTitle"/>
          </p:nvPr>
        </p:nvSpPr>
        <p:spPr>
          <a:xfrm>
            <a:off x="1523998" y="1780673"/>
            <a:ext cx="9144000" cy="1328237"/>
          </a:xfrm>
        </p:spPr>
        <p:txBody>
          <a:bodyPr>
            <a:normAutofit/>
          </a:bodyPr>
          <a:lstStyle/>
          <a:p>
            <a:r>
              <a:rPr lang="fr-FR" spc="-240" dirty="0">
                <a:solidFill>
                  <a:schemeClr val="accent5">
                    <a:lumMod val="75000"/>
                  </a:schemeClr>
                </a:solidFill>
                <a:latin typeface="Cambria" panose="02040503050406030204" pitchFamily="18" charset="0"/>
                <a:cs typeface="Gotham Medium" pitchFamily="50" charset="0"/>
              </a:rPr>
              <a:t>Ethique et Science</a:t>
            </a:r>
            <a:endParaRPr lang="fr-FR" dirty="0">
              <a:latin typeface="Cambria" panose="02040503050406030204" pitchFamily="18" charset="0"/>
            </a:endParaRPr>
          </a:p>
        </p:txBody>
      </p:sp>
      <p:pic>
        <p:nvPicPr>
          <p:cNvPr id="6" name="Image 5">
            <a:extLst>
              <a:ext uri="{FF2B5EF4-FFF2-40B4-BE49-F238E27FC236}">
                <a16:creationId xmlns:a16="http://schemas.microsoft.com/office/drawing/2014/main" id="{1AE8901F-1C30-4BD4-99BE-A97180C497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44" y="32090"/>
            <a:ext cx="1299102" cy="686750"/>
          </a:xfrm>
          <a:prstGeom prst="rect">
            <a:avLst/>
          </a:prstGeom>
        </p:spPr>
      </p:pic>
      <p:sp>
        <p:nvSpPr>
          <p:cNvPr id="9" name="Sous-titre 2">
            <a:extLst>
              <a:ext uri="{FF2B5EF4-FFF2-40B4-BE49-F238E27FC236}">
                <a16:creationId xmlns:a16="http://schemas.microsoft.com/office/drawing/2014/main" id="{DBA5A874-694F-4AD9-BD71-3529EA63D534}"/>
              </a:ext>
            </a:extLst>
          </p:cNvPr>
          <p:cNvSpPr txBox="1">
            <a:spLocks/>
          </p:cNvSpPr>
          <p:nvPr/>
        </p:nvSpPr>
        <p:spPr>
          <a:xfrm>
            <a:off x="2637778" y="3130511"/>
            <a:ext cx="6426011" cy="159231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3200" dirty="0">
                <a:solidFill>
                  <a:schemeClr val="tx1">
                    <a:lumMod val="85000"/>
                    <a:lumOff val="15000"/>
                  </a:schemeClr>
                </a:solidFill>
                <a:latin typeface="Cambria" panose="02040503050406030204" pitchFamily="18" charset="0"/>
                <a:cs typeface="Times New Roman" panose="02020603050405020304" pitchFamily="18" charset="0"/>
              </a:rPr>
              <a:t>Séance 1</a:t>
            </a:r>
          </a:p>
          <a:p>
            <a:r>
              <a:rPr lang="fr-FR" sz="3200" b="1" dirty="0">
                <a:solidFill>
                  <a:schemeClr val="tx1">
                    <a:lumMod val="85000"/>
                    <a:lumOff val="15000"/>
                  </a:schemeClr>
                </a:solidFill>
                <a:latin typeface="Cambria" panose="02040503050406030204" pitchFamily="18" charset="0"/>
                <a:cs typeface="Times New Roman" panose="02020603050405020304" pitchFamily="18" charset="0"/>
              </a:rPr>
              <a:t>Introduction aux enjeux de l’éthique des sciences</a:t>
            </a:r>
          </a:p>
        </p:txBody>
      </p:sp>
      <p:sp>
        <p:nvSpPr>
          <p:cNvPr id="4" name="Espace réservé du numéro de diapositive 3">
            <a:extLst>
              <a:ext uri="{FF2B5EF4-FFF2-40B4-BE49-F238E27FC236}">
                <a16:creationId xmlns:a16="http://schemas.microsoft.com/office/drawing/2014/main" id="{7E50C749-411D-4C58-BECE-F6F98F8E6BD4}"/>
              </a:ext>
            </a:extLst>
          </p:cNvPr>
          <p:cNvSpPr>
            <a:spLocks noGrp="1"/>
          </p:cNvSpPr>
          <p:nvPr>
            <p:ph type="sldNum" sz="quarter" idx="12"/>
          </p:nvPr>
        </p:nvSpPr>
        <p:spPr>
          <a:xfrm>
            <a:off x="9448800" y="6494508"/>
            <a:ext cx="2743200" cy="365125"/>
          </a:xfrm>
        </p:spPr>
        <p:txBody>
          <a:bodyPr/>
          <a:lstStyle/>
          <a:p>
            <a:fld id="{8451C2F9-D2F6-4AB4-97F8-CBD41F7E86B7}" type="slidenum">
              <a:rPr lang="fr-FR" smtClean="0"/>
              <a:t>1</a:t>
            </a:fld>
            <a:endParaRPr lang="fr-FR"/>
          </a:p>
        </p:txBody>
      </p:sp>
      <p:sp>
        <p:nvSpPr>
          <p:cNvPr id="3" name="ZoneTexte 2">
            <a:extLst>
              <a:ext uri="{FF2B5EF4-FFF2-40B4-BE49-F238E27FC236}">
                <a16:creationId xmlns:a16="http://schemas.microsoft.com/office/drawing/2014/main" id="{B29D0200-D9B6-48E6-BC5A-8FC843719574}"/>
              </a:ext>
            </a:extLst>
          </p:cNvPr>
          <p:cNvSpPr txBox="1"/>
          <p:nvPr/>
        </p:nvSpPr>
        <p:spPr>
          <a:xfrm>
            <a:off x="240632" y="6115294"/>
            <a:ext cx="3657600" cy="369332"/>
          </a:xfrm>
          <a:prstGeom prst="rect">
            <a:avLst/>
          </a:prstGeom>
          <a:noFill/>
        </p:spPr>
        <p:txBody>
          <a:bodyPr wrap="square" lIns="91440" tIns="45720" rIns="91440" bIns="45720" rtlCol="0" anchor="t">
            <a:spAutoFit/>
          </a:bodyPr>
          <a:lstStyle/>
          <a:p>
            <a:r>
              <a:rPr lang="fr-FR" u="sng" dirty="0" err="1">
                <a:solidFill>
                  <a:schemeClr val="accent1"/>
                </a:solidFill>
              </a:rPr>
              <a:t>pierre.plancoulaine@cyu.fr</a:t>
            </a:r>
            <a:endParaRPr lang="fr-FR" u="sng" dirty="0">
              <a:solidFill>
                <a:schemeClr val="accent1"/>
              </a:solidFill>
            </a:endParaRPr>
          </a:p>
        </p:txBody>
      </p:sp>
    </p:spTree>
    <p:extLst>
      <p:ext uri="{BB962C8B-B14F-4D97-AF65-F5344CB8AC3E}">
        <p14:creationId xmlns:p14="http://schemas.microsoft.com/office/powerpoint/2010/main" val="99788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E4D8BD-2659-4E40-AB1E-E54C67D6395D}"/>
              </a:ext>
            </a:extLst>
          </p:cNvPr>
          <p:cNvSpPr>
            <a:spLocks noGrp="1"/>
          </p:cNvSpPr>
          <p:nvPr>
            <p:ph type="title"/>
          </p:nvPr>
        </p:nvSpPr>
        <p:spPr>
          <a:xfrm>
            <a:off x="838200" y="657546"/>
            <a:ext cx="10515600" cy="1033142"/>
          </a:xfrm>
        </p:spPr>
        <p:txBody>
          <a:bodyPr>
            <a:normAutofit fontScale="90000"/>
          </a:bodyPr>
          <a:lstStyle/>
          <a:p>
            <a:r>
              <a:rPr lang="fr-FR" b="1" dirty="0">
                <a:latin typeface="Cambria" panose="02040503050406030204" pitchFamily="18" charset="0"/>
              </a:rPr>
              <a:t>De quoi parle-t-on lorsqu’on parle d’éthique ?</a:t>
            </a:r>
            <a:endParaRPr lang="fr-FR" dirty="0"/>
          </a:p>
        </p:txBody>
      </p:sp>
      <p:sp>
        <p:nvSpPr>
          <p:cNvPr id="3" name="Espace réservé du contenu 2">
            <a:extLst>
              <a:ext uri="{FF2B5EF4-FFF2-40B4-BE49-F238E27FC236}">
                <a16:creationId xmlns:a16="http://schemas.microsoft.com/office/drawing/2014/main" id="{AD5EDCE1-432D-3443-A134-DEA70B5A3654}"/>
              </a:ext>
            </a:extLst>
          </p:cNvPr>
          <p:cNvSpPr>
            <a:spLocks noGrp="1"/>
          </p:cNvSpPr>
          <p:nvPr>
            <p:ph idx="1"/>
          </p:nvPr>
        </p:nvSpPr>
        <p:spPr>
          <a:xfrm>
            <a:off x="838200" y="2126751"/>
            <a:ext cx="10515600" cy="4050212"/>
          </a:xfrm>
        </p:spPr>
        <p:txBody>
          <a:bodyPr/>
          <a:lstStyle/>
          <a:p>
            <a:r>
              <a:rPr lang="fr-FR" dirty="0">
                <a:latin typeface="Cambria" panose="02040503050406030204" pitchFamily="18" charset="0"/>
              </a:rPr>
              <a:t>Ethique : « science ayant pour objet le jugement d’appréciation en tant qu’il s’applique à la distinction du bien et du mal » (Lalande, </a:t>
            </a:r>
            <a:r>
              <a:rPr lang="fr-FR" i="1" dirty="0">
                <a:latin typeface="Cambria" panose="02040503050406030204" pitchFamily="18" charset="0"/>
              </a:rPr>
              <a:t>Vocabulaire technique et critique de la philosophie</a:t>
            </a:r>
            <a:r>
              <a:rPr lang="fr-FR" dirty="0">
                <a:latin typeface="Cambria" panose="02040503050406030204" pitchFamily="18" charset="0"/>
              </a:rPr>
              <a:t>). </a:t>
            </a:r>
          </a:p>
          <a:p>
            <a:r>
              <a:rPr lang="fr-FR" dirty="0">
                <a:latin typeface="Cambria" panose="02040503050406030204" pitchFamily="18" charset="0"/>
              </a:rPr>
              <a:t>« L’éthique est la science qui traite des principes régulateurs de l’action et de la conduite morale » (</a:t>
            </a:r>
            <a:r>
              <a:rPr lang="fr-FR" i="1" dirty="0">
                <a:latin typeface="Cambria" panose="02040503050406030204" pitchFamily="18" charset="0"/>
              </a:rPr>
              <a:t>Trésor de la langue française</a:t>
            </a:r>
            <a:r>
              <a:rPr lang="fr-FR" dirty="0">
                <a:latin typeface="Cambria" panose="02040503050406030204" pitchFamily="18" charset="0"/>
              </a:rPr>
              <a:t>).</a:t>
            </a:r>
          </a:p>
          <a:p>
            <a:r>
              <a:rPr lang="fr-FR" dirty="0">
                <a:latin typeface="Cambria" panose="02040503050406030204" pitchFamily="18" charset="0"/>
              </a:rPr>
              <a:t>« L’éthique est le souci de vivre bien, avec et pour les autres, dans des institutions justes » (Paul </a:t>
            </a:r>
            <a:r>
              <a:rPr lang="fr-FR" dirty="0" err="1">
                <a:latin typeface="Cambria" panose="02040503050406030204" pitchFamily="18" charset="0"/>
              </a:rPr>
              <a:t>Ricoeur</a:t>
            </a:r>
            <a:r>
              <a:rPr lang="fr-FR" dirty="0">
                <a:latin typeface="Cambria" panose="02040503050406030204" pitchFamily="18" charset="0"/>
              </a:rPr>
              <a:t>).</a:t>
            </a:r>
          </a:p>
          <a:p>
            <a:endParaRPr lang="fr-FR" dirty="0"/>
          </a:p>
        </p:txBody>
      </p:sp>
      <p:sp>
        <p:nvSpPr>
          <p:cNvPr id="4" name="Espace réservé du numéro de diapositive 3">
            <a:extLst>
              <a:ext uri="{FF2B5EF4-FFF2-40B4-BE49-F238E27FC236}">
                <a16:creationId xmlns:a16="http://schemas.microsoft.com/office/drawing/2014/main" id="{DA4DD9D4-8DB3-CE4B-A60A-30B5AA020189}"/>
              </a:ext>
            </a:extLst>
          </p:cNvPr>
          <p:cNvSpPr>
            <a:spLocks noGrp="1"/>
          </p:cNvSpPr>
          <p:nvPr>
            <p:ph type="sldNum" sz="quarter" idx="12"/>
          </p:nvPr>
        </p:nvSpPr>
        <p:spPr/>
        <p:txBody>
          <a:bodyPr/>
          <a:lstStyle/>
          <a:p>
            <a:fld id="{8451C2F9-D2F6-4AB4-97F8-CBD41F7E86B7}" type="slidenum">
              <a:rPr lang="fr-FR" smtClean="0"/>
              <a:t>2</a:t>
            </a:fld>
            <a:endParaRPr lang="fr-FR"/>
          </a:p>
        </p:txBody>
      </p:sp>
    </p:spTree>
    <p:extLst>
      <p:ext uri="{BB962C8B-B14F-4D97-AF65-F5344CB8AC3E}">
        <p14:creationId xmlns:p14="http://schemas.microsoft.com/office/powerpoint/2010/main" val="3151972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0D49FB8F-77DB-4CA9-B537-396BEC8EE2ED}"/>
              </a:ext>
            </a:extLst>
          </p:cNvPr>
          <p:cNvSpPr>
            <a:spLocks noGrp="1"/>
          </p:cNvSpPr>
          <p:nvPr>
            <p:ph type="sldNum" sz="quarter" idx="12"/>
          </p:nvPr>
        </p:nvSpPr>
        <p:spPr/>
        <p:txBody>
          <a:bodyPr/>
          <a:lstStyle/>
          <a:p>
            <a:fld id="{8451C2F9-D2F6-4AB4-97F8-CBD41F7E86B7}" type="slidenum">
              <a:rPr lang="fr-FR" smtClean="0">
                <a:latin typeface="Cambria" panose="02040503050406030204" pitchFamily="18" charset="0"/>
                <a:ea typeface="Cambria" panose="02040503050406030204" pitchFamily="18" charset="0"/>
              </a:rPr>
              <a:t>3</a:t>
            </a:fld>
            <a:endParaRPr lang="fr-FR">
              <a:latin typeface="Cambria" panose="02040503050406030204" pitchFamily="18" charset="0"/>
              <a:ea typeface="Cambria" panose="02040503050406030204" pitchFamily="18" charset="0"/>
            </a:endParaRPr>
          </a:p>
        </p:txBody>
      </p:sp>
      <p:sp>
        <p:nvSpPr>
          <p:cNvPr id="9" name="Titre 1">
            <a:extLst>
              <a:ext uri="{FF2B5EF4-FFF2-40B4-BE49-F238E27FC236}">
                <a16:creationId xmlns:a16="http://schemas.microsoft.com/office/drawing/2014/main" id="{E06479D0-EDF2-4BDF-B625-3FF642FE8989}"/>
              </a:ext>
            </a:extLst>
          </p:cNvPr>
          <p:cNvSpPr>
            <a:spLocks noGrp="1"/>
          </p:cNvSpPr>
          <p:nvPr>
            <p:ph type="title"/>
          </p:nvPr>
        </p:nvSpPr>
        <p:spPr>
          <a:xfrm>
            <a:off x="2181726" y="324594"/>
            <a:ext cx="9400674" cy="746560"/>
          </a:xfrm>
        </p:spPr>
        <p:txBody>
          <a:bodyPr>
            <a:normAutofit/>
          </a:bodyPr>
          <a:lstStyle/>
          <a:p>
            <a:pPr algn="ctr"/>
            <a:r>
              <a:rPr lang="fr-FR" sz="3200">
                <a:solidFill>
                  <a:srgbClr val="0070C0"/>
                </a:solidFill>
                <a:latin typeface="Cambria" panose="02040503050406030204" pitchFamily="18" charset="0"/>
                <a:ea typeface="Cambria" panose="02040503050406030204" pitchFamily="18" charset="0"/>
                <a:cs typeface="Gotham Medium" pitchFamily="50" charset="0"/>
              </a:rPr>
              <a:t>Introduction à l’éthique générale (1/4)</a:t>
            </a:r>
            <a:endParaRPr lang="fr-FR">
              <a:solidFill>
                <a:srgbClr val="0070C0"/>
              </a:solidFill>
              <a:latin typeface="Cambria" panose="02040503050406030204" pitchFamily="18" charset="0"/>
              <a:ea typeface="Cambria" panose="02040503050406030204" pitchFamily="18" charset="0"/>
              <a:cs typeface="Gotham Medium" pitchFamily="50" charset="0"/>
            </a:endParaRPr>
          </a:p>
        </p:txBody>
      </p:sp>
      <p:sp>
        <p:nvSpPr>
          <p:cNvPr id="4" name="Espace réservé du contenu 2">
            <a:extLst>
              <a:ext uri="{FF2B5EF4-FFF2-40B4-BE49-F238E27FC236}">
                <a16:creationId xmlns:a16="http://schemas.microsoft.com/office/drawing/2014/main" id="{E1C51E24-8ECC-43E3-B478-7F5E15FCAE9A}"/>
              </a:ext>
            </a:extLst>
          </p:cNvPr>
          <p:cNvSpPr>
            <a:spLocks noGrp="1"/>
          </p:cNvSpPr>
          <p:nvPr>
            <p:ph idx="1"/>
          </p:nvPr>
        </p:nvSpPr>
        <p:spPr>
          <a:xfrm>
            <a:off x="304799" y="1176040"/>
            <a:ext cx="11582402" cy="5457940"/>
          </a:xfrm>
        </p:spPr>
        <p:txBody>
          <a:bodyPr>
            <a:noAutofit/>
          </a:bodyPr>
          <a:lstStyle/>
          <a:p>
            <a:pPr>
              <a:buFont typeface="Wingdings" panose="05000000000000000000" pitchFamily="2" charset="2"/>
              <a:buChar char="v"/>
            </a:pPr>
            <a:r>
              <a:rPr lang="fr-FR" sz="2500" b="1" dirty="0">
                <a:solidFill>
                  <a:schemeClr val="accent2"/>
                </a:solidFill>
                <a:latin typeface="Cambria" panose="02040503050406030204" pitchFamily="18" charset="0"/>
                <a:ea typeface="Cambria" panose="02040503050406030204" pitchFamily="18" charset="0"/>
                <a:cs typeface="Gotham Light" pitchFamily="50" charset="0"/>
              </a:rPr>
              <a:t>Morale</a:t>
            </a:r>
            <a:r>
              <a:rPr lang="fr-FR" sz="2500" b="1"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(1) </a:t>
            </a:r>
            <a:r>
              <a:rPr lang="fr-FR" sz="25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ou</a:t>
            </a:r>
            <a:r>
              <a:rPr lang="fr-FR" sz="2500" b="1"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a:t>
            </a:r>
            <a:r>
              <a:rPr lang="fr-FR" sz="2500" b="1" dirty="0">
                <a:solidFill>
                  <a:schemeClr val="accent2"/>
                </a:solidFill>
                <a:latin typeface="Cambria" panose="02040503050406030204" pitchFamily="18" charset="0"/>
                <a:ea typeface="Cambria" panose="02040503050406030204" pitchFamily="18" charset="0"/>
                <a:cs typeface="Gotham Light" pitchFamily="50" charset="0"/>
              </a:rPr>
              <a:t>éthique</a:t>
            </a:r>
            <a:r>
              <a:rPr lang="fr-FR" sz="2500" b="1"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(2)</a:t>
            </a:r>
            <a:r>
              <a:rPr lang="fr-FR" sz="25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a:t>
            </a:r>
          </a:p>
          <a:p>
            <a:pPr marL="0" indent="0">
              <a:buNone/>
            </a:pPr>
            <a:r>
              <a:rPr lang="fr-FR" sz="25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Etymologie commune : « mœurs » (latin </a:t>
            </a:r>
            <a:r>
              <a:rPr lang="fr-FR" sz="2500" i="1"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mores </a:t>
            </a:r>
            <a:r>
              <a:rPr lang="fr-FR" sz="25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et grec </a:t>
            </a:r>
            <a:r>
              <a:rPr lang="fr-FR" sz="2500" i="1" dirty="0" err="1">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êthos</a:t>
            </a:r>
            <a:r>
              <a:rPr lang="fr-FR" sz="25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a:t>
            </a:r>
          </a:p>
          <a:p>
            <a:pPr marL="0" indent="0">
              <a:buNone/>
            </a:pPr>
            <a:r>
              <a:rPr lang="fr-FR" sz="25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Distinction possible (</a:t>
            </a:r>
            <a:r>
              <a:rPr lang="fr-FR" sz="2500" dirty="0" err="1">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Ricoeur</a:t>
            </a:r>
            <a:r>
              <a:rPr lang="fr-FR" sz="25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 </a:t>
            </a:r>
            <a:r>
              <a:rPr lang="fr-FR" sz="2500" b="1"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(1)</a:t>
            </a:r>
            <a:r>
              <a:rPr lang="fr-FR" sz="25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Principes, normes et règles et </a:t>
            </a:r>
            <a:r>
              <a:rPr lang="fr-FR" sz="2500" b="1"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(2)</a:t>
            </a:r>
            <a:r>
              <a:rPr lang="fr-FR" sz="25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Réflexion argumentée en vue de bien-agir</a:t>
            </a:r>
          </a:p>
          <a:p>
            <a:pPr algn="just">
              <a:buFont typeface="Wingdings" panose="05000000000000000000" pitchFamily="2" charset="2"/>
              <a:buChar char="v"/>
            </a:pPr>
            <a:r>
              <a:rPr lang="fr-FR" sz="25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La réflexion morale/éthique est une tension entre l’abstrait/le général et le concret/le singulier : « </a:t>
            </a:r>
            <a:r>
              <a:rPr lang="fr-FR" sz="2500" dirty="0">
                <a:latin typeface="Cambria" panose="02040503050406030204" pitchFamily="18" charset="0"/>
                <a:ea typeface="Cambria" panose="02040503050406030204" pitchFamily="18" charset="0"/>
                <a:cs typeface="Gotham Light" pitchFamily="50" charset="0"/>
              </a:rPr>
              <a:t>comme toute problématique philosophique, la morale représente en effet l’irruption de l’abstrait, de l’universel et de l’absolu dans le concret, le présent et le contingent »</a:t>
            </a:r>
          </a:p>
          <a:p>
            <a:pPr>
              <a:buFont typeface="Wingdings" panose="05000000000000000000" pitchFamily="2" charset="2"/>
              <a:buChar char="v"/>
            </a:pPr>
            <a:r>
              <a:rPr lang="fr-FR" sz="2500" dirty="0">
                <a:latin typeface="Cambria" panose="02040503050406030204" pitchFamily="18" charset="0"/>
                <a:ea typeface="Cambria" panose="02040503050406030204" pitchFamily="18" charset="0"/>
                <a:cs typeface="Gotham Light" pitchFamily="50" charset="0"/>
              </a:rPr>
              <a:t>Dans un contexte X, </a:t>
            </a:r>
            <a:r>
              <a:rPr lang="fr-FR" sz="2500" dirty="0">
                <a:solidFill>
                  <a:schemeClr val="accent2"/>
                </a:solidFill>
                <a:latin typeface="Cambria" panose="02040503050406030204" pitchFamily="18" charset="0"/>
                <a:ea typeface="Cambria" panose="02040503050406030204" pitchFamily="18" charset="0"/>
                <a:cs typeface="Gotham Light" pitchFamily="50" charset="0"/>
              </a:rPr>
              <a:t>quelle est la bonne action à faire?</a:t>
            </a:r>
          </a:p>
          <a:p>
            <a:pPr marL="0" indent="0">
              <a:buNone/>
            </a:pPr>
            <a:r>
              <a:rPr lang="fr-FR" sz="25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L’éthique est une </a:t>
            </a:r>
            <a:r>
              <a:rPr lang="fr-FR" sz="2500" b="1" dirty="0">
                <a:latin typeface="Cambria" panose="02040503050406030204" pitchFamily="18" charset="0"/>
                <a:ea typeface="Cambria" panose="02040503050406030204" pitchFamily="18" charset="0"/>
                <a:cs typeface="Gotham Light" pitchFamily="50" charset="0"/>
              </a:rPr>
              <a:t>enquête sur le </a:t>
            </a:r>
            <a:r>
              <a:rPr lang="fr-FR" sz="2500" b="1" dirty="0">
                <a:solidFill>
                  <a:schemeClr val="accent2"/>
                </a:solidFill>
                <a:latin typeface="Cambria" panose="02040503050406030204" pitchFamily="18" charset="0"/>
                <a:ea typeface="Cambria" panose="02040503050406030204" pitchFamily="18" charset="0"/>
                <a:cs typeface="Gotham Light" pitchFamily="50" charset="0"/>
              </a:rPr>
              <a:t>sens</a:t>
            </a:r>
            <a:r>
              <a:rPr lang="fr-FR" sz="2500" b="1" dirty="0">
                <a:latin typeface="Cambria" panose="02040503050406030204" pitchFamily="18" charset="0"/>
                <a:ea typeface="Cambria" panose="02040503050406030204" pitchFamily="18" charset="0"/>
                <a:cs typeface="Gotham Light" pitchFamily="50" charset="0"/>
              </a:rPr>
              <a:t> de ses pratiques</a:t>
            </a:r>
          </a:p>
          <a:p>
            <a:pPr marL="0" indent="0">
              <a:buNone/>
            </a:pPr>
            <a:r>
              <a:rPr lang="fr-FR" sz="2500" dirty="0">
                <a:latin typeface="Cambria" panose="02040503050406030204" pitchFamily="18" charset="0"/>
                <a:ea typeface="Cambria" panose="02040503050406030204" pitchFamily="18" charset="0"/>
                <a:cs typeface="Gotham Light" pitchFamily="50" charset="0"/>
              </a:rPr>
              <a:t>Cela exige une réflexion personnelle sur ses </a:t>
            </a:r>
            <a:r>
              <a:rPr lang="fr-FR" sz="2500" dirty="0">
                <a:solidFill>
                  <a:schemeClr val="accent2"/>
                </a:solidFill>
                <a:latin typeface="Cambria" panose="02040503050406030204" pitchFamily="18" charset="0"/>
                <a:ea typeface="Cambria" panose="02040503050406030204" pitchFamily="18" charset="0"/>
                <a:cs typeface="Gotham Light" pitchFamily="50" charset="0"/>
              </a:rPr>
              <a:t>valeurs</a:t>
            </a:r>
            <a:r>
              <a:rPr lang="fr-FR" sz="2500" dirty="0">
                <a:latin typeface="Cambria" panose="02040503050406030204" pitchFamily="18" charset="0"/>
                <a:ea typeface="Cambria" panose="02040503050406030204" pitchFamily="18" charset="0"/>
                <a:cs typeface="Gotham Light" pitchFamily="50" charset="0"/>
              </a:rPr>
              <a:t>, ses appartenances culturelles, son sens de l’agir…</a:t>
            </a:r>
          </a:p>
        </p:txBody>
      </p:sp>
    </p:spTree>
    <p:extLst>
      <p:ext uri="{BB962C8B-B14F-4D97-AF65-F5344CB8AC3E}">
        <p14:creationId xmlns:p14="http://schemas.microsoft.com/office/powerpoint/2010/main" val="1416069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0D49FB8F-77DB-4CA9-B537-396BEC8EE2ED}"/>
              </a:ext>
            </a:extLst>
          </p:cNvPr>
          <p:cNvSpPr>
            <a:spLocks noGrp="1"/>
          </p:cNvSpPr>
          <p:nvPr>
            <p:ph type="sldNum" sz="quarter" idx="12"/>
          </p:nvPr>
        </p:nvSpPr>
        <p:spPr/>
        <p:txBody>
          <a:bodyPr/>
          <a:lstStyle/>
          <a:p>
            <a:fld id="{8451C2F9-D2F6-4AB4-97F8-CBD41F7E86B7}" type="slidenum">
              <a:rPr lang="fr-FR" smtClean="0"/>
              <a:t>4</a:t>
            </a:fld>
            <a:endParaRPr lang="fr-FR"/>
          </a:p>
        </p:txBody>
      </p:sp>
      <p:sp>
        <p:nvSpPr>
          <p:cNvPr id="3" name="Titre 1">
            <a:extLst>
              <a:ext uri="{FF2B5EF4-FFF2-40B4-BE49-F238E27FC236}">
                <a16:creationId xmlns:a16="http://schemas.microsoft.com/office/drawing/2014/main" id="{A8075C79-8CC8-4D09-A5B0-3D439691287A}"/>
              </a:ext>
            </a:extLst>
          </p:cNvPr>
          <p:cNvSpPr>
            <a:spLocks noGrp="1"/>
          </p:cNvSpPr>
          <p:nvPr>
            <p:ph type="title"/>
          </p:nvPr>
        </p:nvSpPr>
        <p:spPr>
          <a:xfrm>
            <a:off x="2181726" y="324594"/>
            <a:ext cx="9400674" cy="746560"/>
          </a:xfrm>
        </p:spPr>
        <p:txBody>
          <a:bodyPr>
            <a:normAutofit/>
          </a:bodyPr>
          <a:lstStyle/>
          <a:p>
            <a:pPr algn="ctr"/>
            <a:r>
              <a:rPr lang="fr-FR" sz="3200" dirty="0">
                <a:solidFill>
                  <a:srgbClr val="0070C0"/>
                </a:solidFill>
                <a:latin typeface="Cambria" panose="02040503050406030204" pitchFamily="18" charset="0"/>
                <a:ea typeface="Cambria" panose="02040503050406030204" pitchFamily="18" charset="0"/>
                <a:cs typeface="Gotham Medium" pitchFamily="50" charset="0"/>
              </a:rPr>
              <a:t>Introduction</a:t>
            </a:r>
            <a:r>
              <a:rPr lang="fr-FR" sz="3200" dirty="0">
                <a:solidFill>
                  <a:srgbClr val="0070C0"/>
                </a:solidFill>
                <a:latin typeface="Gotham Medium" pitchFamily="50" charset="0"/>
                <a:cs typeface="Gotham Medium" pitchFamily="50" charset="0"/>
              </a:rPr>
              <a:t> à l’éthique générale (2/4)</a:t>
            </a:r>
          </a:p>
        </p:txBody>
      </p:sp>
      <p:sp>
        <p:nvSpPr>
          <p:cNvPr id="4" name="Espace réservé du contenu 2">
            <a:extLst>
              <a:ext uri="{FF2B5EF4-FFF2-40B4-BE49-F238E27FC236}">
                <a16:creationId xmlns:a16="http://schemas.microsoft.com/office/drawing/2014/main" id="{AA19AFDD-E0C2-4A90-9975-44B50561552C}"/>
              </a:ext>
            </a:extLst>
          </p:cNvPr>
          <p:cNvSpPr>
            <a:spLocks noGrp="1"/>
          </p:cNvSpPr>
          <p:nvPr>
            <p:ph idx="1"/>
          </p:nvPr>
        </p:nvSpPr>
        <p:spPr>
          <a:xfrm>
            <a:off x="332509" y="1479664"/>
            <a:ext cx="11637819" cy="4873009"/>
          </a:xfrm>
        </p:spPr>
        <p:txBody>
          <a:bodyPr>
            <a:normAutofit lnSpcReduction="10000"/>
          </a:bodyPr>
          <a:lstStyle/>
          <a:p>
            <a:pPr algn="just">
              <a:buFont typeface="Wingdings" panose="05000000000000000000" pitchFamily="2" charset="2"/>
              <a:buChar char="v"/>
            </a:pPr>
            <a:r>
              <a:rPr lang="fr-FR">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Ethique normative et méta-éthique liées à la philosophie morale</a:t>
            </a:r>
          </a:p>
          <a:p>
            <a:pPr algn="just">
              <a:buFont typeface="Wingdings" panose="05000000000000000000" pitchFamily="2" charset="2"/>
              <a:buChar char="v"/>
            </a:pPr>
            <a:r>
              <a:rPr lang="fr-FR" b="1">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Ethique appliquée</a:t>
            </a:r>
            <a:r>
              <a:rPr lang="fr-FR">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se focalise sur </a:t>
            </a:r>
            <a:r>
              <a:rPr lang="fr-FR">
                <a:solidFill>
                  <a:schemeClr val="accent2"/>
                </a:solidFill>
                <a:latin typeface="Cambria" panose="02040503050406030204" pitchFamily="18" charset="0"/>
                <a:ea typeface="Cambria" panose="02040503050406030204" pitchFamily="18" charset="0"/>
                <a:cs typeface="Gotham Light" pitchFamily="50" charset="0"/>
              </a:rPr>
              <a:t>la prise de décision en situation concrète</a:t>
            </a:r>
          </a:p>
          <a:p>
            <a:pPr marL="0" indent="0" algn="just">
              <a:buNone/>
            </a:pPr>
            <a:r>
              <a:rPr lang="fr-FR">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Démarche éthique est une remise en cause de la morale (=ensemble des solutions trouvées à un moment pour résoudre des problèmes)</a:t>
            </a:r>
          </a:p>
          <a:p>
            <a:pPr marL="0" indent="0" algn="just">
              <a:buNone/>
            </a:pPr>
            <a:endParaRPr lang="fr-FR">
              <a:solidFill>
                <a:schemeClr val="tx1">
                  <a:lumMod val="85000"/>
                  <a:lumOff val="15000"/>
                </a:schemeClr>
              </a:solidFill>
              <a:latin typeface="Cambria" panose="02040503050406030204" pitchFamily="18" charset="0"/>
              <a:ea typeface="Cambria" panose="02040503050406030204" pitchFamily="18" charset="0"/>
              <a:cs typeface="Gotham Light" pitchFamily="50" charset="0"/>
            </a:endParaRPr>
          </a:p>
          <a:p>
            <a:pPr algn="just">
              <a:buFont typeface="Wingdings" panose="05000000000000000000" pitchFamily="2" charset="2"/>
              <a:buChar char="v"/>
            </a:pPr>
            <a:r>
              <a:rPr lang="fr-FR">
                <a:solidFill>
                  <a:schemeClr val="accent2"/>
                </a:solidFill>
                <a:latin typeface="Cambria" panose="02040503050406030204" pitchFamily="18" charset="0"/>
                <a:ea typeface="Cambria" panose="02040503050406030204" pitchFamily="18" charset="0"/>
                <a:cs typeface="Gotham Light" pitchFamily="50" charset="0"/>
              </a:rPr>
              <a:t>Déontologie</a:t>
            </a:r>
            <a:r>
              <a:rPr lang="fr-FR">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 grec </a:t>
            </a:r>
            <a:r>
              <a:rPr lang="fr-FR" i="1" err="1">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deontos</a:t>
            </a:r>
            <a:r>
              <a:rPr lang="fr-FR" i="1">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a:t>
            </a:r>
            <a:r>
              <a:rPr lang="fr-FR">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devoir » = obligations en lien avec le travail, la profession, le métier</a:t>
            </a:r>
          </a:p>
          <a:p>
            <a:pPr marL="0" indent="0" algn="just">
              <a:buNone/>
            </a:pPr>
            <a:r>
              <a:rPr lang="fr-FR">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morale professionnelle, normes issues de la pratique</a:t>
            </a:r>
          </a:p>
          <a:p>
            <a:pPr marL="0" indent="0" algn="just">
              <a:buNone/>
            </a:pPr>
            <a:endParaRPr lang="fr-FR">
              <a:solidFill>
                <a:schemeClr val="tx1">
                  <a:lumMod val="85000"/>
                  <a:lumOff val="15000"/>
                </a:schemeClr>
              </a:solidFill>
              <a:latin typeface="Cambria" panose="02040503050406030204" pitchFamily="18" charset="0"/>
              <a:ea typeface="Cambria" panose="02040503050406030204" pitchFamily="18" charset="0"/>
              <a:cs typeface="Gotham Light" pitchFamily="50" charset="0"/>
            </a:endParaRPr>
          </a:p>
          <a:p>
            <a:pPr marL="0" indent="0" algn="just">
              <a:buNone/>
            </a:pPr>
            <a:r>
              <a:rPr lang="fr-FR" sz="2800">
                <a:latin typeface="Cambria" panose="02040503050406030204" pitchFamily="18" charset="0"/>
                <a:ea typeface="Cambria" panose="02040503050406030204" pitchFamily="18" charset="0"/>
                <a:cs typeface="Gotham Light" pitchFamily="50" charset="0"/>
              </a:rPr>
              <a:t>Déontologie de l’ingénierie ?</a:t>
            </a:r>
          </a:p>
        </p:txBody>
      </p:sp>
    </p:spTree>
    <p:extLst>
      <p:ext uri="{BB962C8B-B14F-4D97-AF65-F5344CB8AC3E}">
        <p14:creationId xmlns:p14="http://schemas.microsoft.com/office/powerpoint/2010/main" val="3484440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0D49FB8F-77DB-4CA9-B537-396BEC8EE2ED}"/>
              </a:ext>
            </a:extLst>
          </p:cNvPr>
          <p:cNvSpPr>
            <a:spLocks noGrp="1"/>
          </p:cNvSpPr>
          <p:nvPr>
            <p:ph type="sldNum" sz="quarter" idx="12"/>
          </p:nvPr>
        </p:nvSpPr>
        <p:spPr/>
        <p:txBody>
          <a:bodyPr/>
          <a:lstStyle/>
          <a:p>
            <a:fld id="{8451C2F9-D2F6-4AB4-97F8-CBD41F7E86B7}" type="slidenum">
              <a:rPr lang="fr-FR" smtClean="0"/>
              <a:t>5</a:t>
            </a:fld>
            <a:endParaRPr lang="fr-FR"/>
          </a:p>
        </p:txBody>
      </p:sp>
      <p:sp>
        <p:nvSpPr>
          <p:cNvPr id="3" name="Titre 1">
            <a:extLst>
              <a:ext uri="{FF2B5EF4-FFF2-40B4-BE49-F238E27FC236}">
                <a16:creationId xmlns:a16="http://schemas.microsoft.com/office/drawing/2014/main" id="{102D64C4-AC39-41CB-9CB4-F24FB84E6DC5}"/>
              </a:ext>
            </a:extLst>
          </p:cNvPr>
          <p:cNvSpPr>
            <a:spLocks noGrp="1"/>
          </p:cNvSpPr>
          <p:nvPr>
            <p:ph type="title"/>
          </p:nvPr>
        </p:nvSpPr>
        <p:spPr>
          <a:xfrm>
            <a:off x="2181726" y="324594"/>
            <a:ext cx="9400674" cy="746560"/>
          </a:xfrm>
        </p:spPr>
        <p:txBody>
          <a:bodyPr>
            <a:normAutofit/>
          </a:bodyPr>
          <a:lstStyle/>
          <a:p>
            <a:pPr algn="ctr"/>
            <a:r>
              <a:rPr lang="fr-FR" sz="3200">
                <a:solidFill>
                  <a:srgbClr val="0070C0"/>
                </a:solidFill>
                <a:latin typeface="Cambria" panose="02040503050406030204" pitchFamily="18" charset="0"/>
                <a:ea typeface="Cambria" panose="02040503050406030204" pitchFamily="18" charset="0"/>
                <a:cs typeface="Gotham Medium" pitchFamily="50" charset="0"/>
              </a:rPr>
              <a:t>Introduction à l’éthique générale (3/4)</a:t>
            </a:r>
          </a:p>
        </p:txBody>
      </p:sp>
      <p:sp>
        <p:nvSpPr>
          <p:cNvPr id="4" name="Espace réservé du contenu 2">
            <a:extLst>
              <a:ext uri="{FF2B5EF4-FFF2-40B4-BE49-F238E27FC236}">
                <a16:creationId xmlns:a16="http://schemas.microsoft.com/office/drawing/2014/main" id="{CAC221C3-D949-4A41-AA80-86C46D6196B7}"/>
              </a:ext>
            </a:extLst>
          </p:cNvPr>
          <p:cNvSpPr>
            <a:spLocks noGrp="1"/>
          </p:cNvSpPr>
          <p:nvPr>
            <p:ph idx="1"/>
          </p:nvPr>
        </p:nvSpPr>
        <p:spPr>
          <a:xfrm>
            <a:off x="332509" y="1479665"/>
            <a:ext cx="11637819" cy="4295494"/>
          </a:xfrm>
        </p:spPr>
        <p:txBody>
          <a:bodyPr>
            <a:normAutofit fontScale="92500"/>
          </a:bodyPr>
          <a:lstStyle/>
          <a:p>
            <a:pPr marL="0" indent="0">
              <a:buNone/>
            </a:pP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3 grands courants :</a:t>
            </a:r>
          </a:p>
          <a:p>
            <a:pPr>
              <a:buFont typeface="Wingdings" panose="05000000000000000000" pitchFamily="2" charset="2"/>
              <a:buChar char="v"/>
            </a:pPr>
            <a:r>
              <a:rPr lang="fr-FR" sz="2600" dirty="0">
                <a:solidFill>
                  <a:schemeClr val="accent2"/>
                </a:solidFill>
                <a:latin typeface="Cambria" panose="02040503050406030204" pitchFamily="18" charset="0"/>
                <a:ea typeface="Cambria" panose="02040503050406030204" pitchFamily="18" charset="0"/>
                <a:cs typeface="Gotham Light" pitchFamily="50" charset="0"/>
              </a:rPr>
              <a:t>Ethique de la vertu </a:t>
            </a:r>
            <a:r>
              <a:rPr lang="fr-FR" sz="2600" dirty="0">
                <a:latin typeface="Cambria" panose="02040503050406030204" pitchFamily="18" charset="0"/>
                <a:ea typeface="Cambria" panose="02040503050406030204" pitchFamily="18" charset="0"/>
                <a:cs typeface="Gotham Light" pitchFamily="50" charset="0"/>
              </a:rPr>
              <a:t>: théorie de l’action « bonne », alliant intention, bonheur (visée ultime) et vertu</a:t>
            </a:r>
          </a:p>
          <a:p>
            <a:pPr marL="457200" lvl="1" indent="0">
              <a:buNone/>
            </a:pPr>
            <a:r>
              <a:rPr lang="fr-FR" sz="2200" dirty="0">
                <a:latin typeface="Cambria" panose="02040503050406030204" pitchFamily="18" charset="0"/>
                <a:ea typeface="Cambria" panose="02040503050406030204" pitchFamily="18" charset="0"/>
                <a:cs typeface="Gotham Light" pitchFamily="50" charset="0"/>
              </a:rPr>
              <a:t>origine : la philosophie grecque des vertus (Aristote)</a:t>
            </a:r>
          </a:p>
          <a:p>
            <a:pPr marL="457200" lvl="1" indent="0">
              <a:buNone/>
            </a:pPr>
            <a:endParaRPr lang="fr-FR" sz="2200" dirty="0">
              <a:latin typeface="Cambria" panose="02040503050406030204" pitchFamily="18" charset="0"/>
              <a:ea typeface="Cambria" panose="02040503050406030204" pitchFamily="18" charset="0"/>
              <a:cs typeface="Gotham Light" pitchFamily="50" charset="0"/>
            </a:endParaRPr>
          </a:p>
          <a:p>
            <a:pPr>
              <a:buFont typeface="Wingdings" panose="05000000000000000000" pitchFamily="2" charset="2"/>
              <a:buChar char="v"/>
            </a:pPr>
            <a:r>
              <a:rPr lang="fr-FR" sz="2600" dirty="0">
                <a:solidFill>
                  <a:schemeClr val="accent2"/>
                </a:solidFill>
                <a:latin typeface="Cambria" panose="02040503050406030204" pitchFamily="18" charset="0"/>
                <a:ea typeface="Cambria" panose="02040503050406030204" pitchFamily="18" charset="0"/>
                <a:cs typeface="Gotham Light" pitchFamily="50" charset="0"/>
              </a:rPr>
              <a:t>Ethique déontologique </a:t>
            </a:r>
            <a:r>
              <a:rPr lang="fr-FR" sz="2600" dirty="0">
                <a:latin typeface="Cambria" panose="02040503050406030204" pitchFamily="18" charset="0"/>
                <a:ea typeface="Cambria" panose="02040503050406030204" pitchFamily="18" charset="0"/>
                <a:cs typeface="Gotham Light" pitchFamily="50" charset="0"/>
              </a:rPr>
              <a:t>: déterminée par le concept d’obligation (interne), adhésion à des principes, à des devoirs moraux</a:t>
            </a:r>
          </a:p>
          <a:p>
            <a:pPr marL="457200" lvl="1" indent="0">
              <a:buNone/>
            </a:pPr>
            <a:r>
              <a:rPr lang="fr-FR" sz="2200" dirty="0">
                <a:latin typeface="Cambria" panose="02040503050406030204" pitchFamily="18" charset="0"/>
                <a:ea typeface="Cambria" panose="02040503050406030204" pitchFamily="18" charset="0"/>
                <a:cs typeface="Gotham Light" pitchFamily="50" charset="0"/>
              </a:rPr>
              <a:t>origine : les impératifs (Kant). Illustration simple dans </a:t>
            </a:r>
            <a:r>
              <a:rPr lang="fr-FR" sz="2200" i="1" dirty="0">
                <a:latin typeface="Cambria" panose="02040503050406030204" pitchFamily="18" charset="0"/>
                <a:ea typeface="Cambria" panose="02040503050406030204" pitchFamily="18" charset="0"/>
                <a:cs typeface="Gotham Light" pitchFamily="50" charset="0"/>
              </a:rPr>
              <a:t>Du prétendu droit de mentir par humanité</a:t>
            </a:r>
            <a:r>
              <a:rPr lang="fr-FR" sz="2200" i="1" baseline="30000" dirty="0">
                <a:latin typeface="Cambria" panose="02040503050406030204" pitchFamily="18" charset="0"/>
                <a:ea typeface="Cambria" panose="02040503050406030204" pitchFamily="18" charset="0"/>
                <a:cs typeface="Gotham Light" pitchFamily="50" charset="0"/>
              </a:rPr>
              <a:t>1</a:t>
            </a:r>
            <a:endParaRPr lang="fr-FR" sz="2200" baseline="30000" dirty="0">
              <a:latin typeface="Cambria" panose="02040503050406030204" pitchFamily="18" charset="0"/>
              <a:ea typeface="Cambria" panose="02040503050406030204" pitchFamily="18" charset="0"/>
              <a:cs typeface="Gotham Light" pitchFamily="50" charset="0"/>
            </a:endParaRPr>
          </a:p>
          <a:p>
            <a:pPr lvl="1">
              <a:buFont typeface="Wingdings" panose="05000000000000000000" pitchFamily="2" charset="2"/>
              <a:buChar char="v"/>
            </a:pPr>
            <a:endParaRPr lang="fr-FR" sz="2200" dirty="0">
              <a:latin typeface="Cambria" panose="02040503050406030204" pitchFamily="18" charset="0"/>
              <a:ea typeface="Cambria" panose="02040503050406030204" pitchFamily="18" charset="0"/>
              <a:cs typeface="Gotham Light" pitchFamily="50" charset="0"/>
            </a:endParaRPr>
          </a:p>
          <a:p>
            <a:pPr>
              <a:buFont typeface="Wingdings" panose="05000000000000000000" pitchFamily="2" charset="2"/>
              <a:buChar char="v"/>
            </a:pPr>
            <a:r>
              <a:rPr lang="fr-FR" sz="2600" dirty="0">
                <a:solidFill>
                  <a:schemeClr val="accent2"/>
                </a:solidFill>
                <a:latin typeface="Cambria" panose="02040503050406030204" pitchFamily="18" charset="0"/>
                <a:ea typeface="Cambria" panose="02040503050406030204" pitchFamily="18" charset="0"/>
                <a:cs typeface="Gotham Light" pitchFamily="50" charset="0"/>
              </a:rPr>
              <a:t>Ethique </a:t>
            </a:r>
            <a:r>
              <a:rPr lang="fr-FR" sz="2600" dirty="0" err="1">
                <a:solidFill>
                  <a:schemeClr val="accent2"/>
                </a:solidFill>
                <a:latin typeface="Cambria" panose="02040503050406030204" pitchFamily="18" charset="0"/>
                <a:ea typeface="Cambria" panose="02040503050406030204" pitchFamily="18" charset="0"/>
                <a:cs typeface="Gotham Light" pitchFamily="50" charset="0"/>
              </a:rPr>
              <a:t>conséquentialiste</a:t>
            </a:r>
            <a:r>
              <a:rPr lang="fr-FR" sz="2600" dirty="0">
                <a:solidFill>
                  <a:schemeClr val="accent2"/>
                </a:solidFill>
                <a:latin typeface="Cambria" panose="02040503050406030204" pitchFamily="18" charset="0"/>
                <a:ea typeface="Cambria" panose="02040503050406030204" pitchFamily="18" charset="0"/>
                <a:cs typeface="Gotham Light" pitchFamily="50" charset="0"/>
              </a:rPr>
              <a:t> </a:t>
            </a:r>
            <a:r>
              <a:rPr lang="fr-FR" sz="2600" dirty="0">
                <a:latin typeface="Cambria" panose="02040503050406030204" pitchFamily="18" charset="0"/>
                <a:ea typeface="Cambria" panose="02040503050406030204" pitchFamily="18" charset="0"/>
                <a:cs typeface="Gotham Light" pitchFamily="50" charset="0"/>
              </a:rPr>
              <a:t>: préoccupation pour les conséquences de l’action</a:t>
            </a:r>
          </a:p>
          <a:p>
            <a:pPr marL="457200" lvl="1" indent="0">
              <a:buNone/>
            </a:pPr>
            <a:r>
              <a:rPr lang="fr-FR" sz="2200" dirty="0">
                <a:latin typeface="Cambria" panose="02040503050406030204" pitchFamily="18" charset="0"/>
                <a:ea typeface="Cambria" panose="02040503050406030204" pitchFamily="18" charset="0"/>
                <a:cs typeface="Gotham Light" pitchFamily="50" charset="0"/>
              </a:rPr>
              <a:t>origine : la philosophie anglaise utilitariste (Bentham/Mill)</a:t>
            </a:r>
          </a:p>
          <a:p>
            <a:pPr marL="0" indent="0">
              <a:buNone/>
            </a:pPr>
            <a:endParaRPr lang="fr-FR" sz="2800" dirty="0">
              <a:solidFill>
                <a:schemeClr val="accent5"/>
              </a:solidFill>
              <a:latin typeface="Gotham Light" pitchFamily="50" charset="0"/>
              <a:cs typeface="Gotham Light" pitchFamily="50" charset="0"/>
            </a:endParaRPr>
          </a:p>
        </p:txBody>
      </p:sp>
    </p:spTree>
    <p:extLst>
      <p:ext uri="{BB962C8B-B14F-4D97-AF65-F5344CB8AC3E}">
        <p14:creationId xmlns:p14="http://schemas.microsoft.com/office/powerpoint/2010/main" val="341131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0D49FB8F-77DB-4CA9-B537-396BEC8EE2ED}"/>
              </a:ext>
            </a:extLst>
          </p:cNvPr>
          <p:cNvSpPr>
            <a:spLocks noGrp="1"/>
          </p:cNvSpPr>
          <p:nvPr>
            <p:ph type="sldNum" sz="quarter" idx="12"/>
          </p:nvPr>
        </p:nvSpPr>
        <p:spPr/>
        <p:txBody>
          <a:bodyPr/>
          <a:lstStyle/>
          <a:p>
            <a:fld id="{8451C2F9-D2F6-4AB4-97F8-CBD41F7E86B7}" type="slidenum">
              <a:rPr lang="fr-FR" smtClean="0"/>
              <a:t>6</a:t>
            </a:fld>
            <a:endParaRPr lang="fr-FR"/>
          </a:p>
        </p:txBody>
      </p:sp>
      <p:sp>
        <p:nvSpPr>
          <p:cNvPr id="3" name="Titre 1">
            <a:extLst>
              <a:ext uri="{FF2B5EF4-FFF2-40B4-BE49-F238E27FC236}">
                <a16:creationId xmlns:a16="http://schemas.microsoft.com/office/drawing/2014/main" id="{60DBD5E4-4887-45BB-B85E-B034205EBEC7}"/>
              </a:ext>
            </a:extLst>
          </p:cNvPr>
          <p:cNvSpPr>
            <a:spLocks noGrp="1"/>
          </p:cNvSpPr>
          <p:nvPr>
            <p:ph type="title"/>
          </p:nvPr>
        </p:nvSpPr>
        <p:spPr>
          <a:xfrm>
            <a:off x="2181726" y="324594"/>
            <a:ext cx="9400674" cy="746560"/>
          </a:xfrm>
        </p:spPr>
        <p:txBody>
          <a:bodyPr>
            <a:normAutofit/>
          </a:bodyPr>
          <a:lstStyle/>
          <a:p>
            <a:pPr algn="ctr"/>
            <a:r>
              <a:rPr lang="fr-FR" sz="3200">
                <a:solidFill>
                  <a:srgbClr val="0070C0"/>
                </a:solidFill>
                <a:latin typeface="Cambria" panose="02040503050406030204" pitchFamily="18" charset="0"/>
                <a:ea typeface="Cambria" panose="02040503050406030204" pitchFamily="18" charset="0"/>
                <a:cs typeface="Gotham Medium" pitchFamily="50" charset="0"/>
              </a:rPr>
              <a:t>Introduction à l’éthique générale (4/4)</a:t>
            </a:r>
          </a:p>
        </p:txBody>
      </p:sp>
      <p:sp>
        <p:nvSpPr>
          <p:cNvPr id="4" name="Espace réservé du contenu 2">
            <a:extLst>
              <a:ext uri="{FF2B5EF4-FFF2-40B4-BE49-F238E27FC236}">
                <a16:creationId xmlns:a16="http://schemas.microsoft.com/office/drawing/2014/main" id="{F9419660-99C9-4EF6-9BE1-729310F4A450}"/>
              </a:ext>
            </a:extLst>
          </p:cNvPr>
          <p:cNvSpPr>
            <a:spLocks noGrp="1"/>
          </p:cNvSpPr>
          <p:nvPr>
            <p:ph idx="1"/>
          </p:nvPr>
        </p:nvSpPr>
        <p:spPr>
          <a:xfrm>
            <a:off x="609600" y="1347536"/>
            <a:ext cx="11133221" cy="4820507"/>
          </a:xfrm>
        </p:spPr>
        <p:txBody>
          <a:bodyPr>
            <a:normAutofit fontScale="92500" lnSpcReduction="10000"/>
          </a:bodyPr>
          <a:lstStyle/>
          <a:p>
            <a:pPr marL="0" indent="0">
              <a:buNone/>
            </a:pPr>
            <a:r>
              <a:rPr lang="fr-FR" b="1"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Méthodologie générale </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a:t>
            </a:r>
          </a:p>
          <a:p>
            <a:r>
              <a:rPr lang="fr-FR" dirty="0">
                <a:solidFill>
                  <a:schemeClr val="accent2"/>
                </a:solidFill>
                <a:latin typeface="Cambria" panose="02040503050406030204" pitchFamily="18" charset="0"/>
                <a:ea typeface="Cambria" panose="02040503050406030204" pitchFamily="18" charset="0"/>
                <a:cs typeface="Gotham Light" pitchFamily="50" charset="0"/>
              </a:rPr>
              <a:t>Analyse des faits </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puis des </a:t>
            </a:r>
            <a:r>
              <a:rPr lang="fr-FR" dirty="0">
                <a:solidFill>
                  <a:schemeClr val="accent2"/>
                </a:solidFill>
                <a:latin typeface="Cambria" panose="02040503050406030204" pitchFamily="18" charset="0"/>
                <a:ea typeface="Cambria" panose="02040503050406030204" pitchFamily="18" charset="0"/>
                <a:cs typeface="Gotham Light" pitchFamily="50" charset="0"/>
              </a:rPr>
              <a:t>valeurs</a:t>
            </a:r>
          </a:p>
          <a:p>
            <a:r>
              <a:rPr lang="fr-FR" dirty="0">
                <a:solidFill>
                  <a:schemeClr val="accent2"/>
                </a:solidFill>
                <a:latin typeface="Cambria" panose="02040503050406030204" pitchFamily="18" charset="0"/>
                <a:ea typeface="Cambria" panose="02040503050406030204" pitchFamily="18" charset="0"/>
                <a:cs typeface="Gotham Light" pitchFamily="50" charset="0"/>
              </a:rPr>
              <a:t>Hiérarchisation</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de ces valeurs</a:t>
            </a:r>
          </a:p>
          <a:p>
            <a:r>
              <a:rPr lang="fr-FR" dirty="0">
                <a:solidFill>
                  <a:schemeClr val="accent2"/>
                </a:solidFill>
                <a:latin typeface="Cambria" panose="02040503050406030204" pitchFamily="18" charset="0"/>
                <a:ea typeface="Cambria" panose="02040503050406030204" pitchFamily="18" charset="0"/>
                <a:cs typeface="Gotham Light" pitchFamily="50" charset="0"/>
              </a:rPr>
              <a:t>Justification</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puis </a:t>
            </a:r>
            <a:r>
              <a:rPr lang="fr-FR" dirty="0">
                <a:solidFill>
                  <a:schemeClr val="accent2"/>
                </a:solidFill>
                <a:latin typeface="Cambria" panose="02040503050406030204" pitchFamily="18" charset="0"/>
                <a:ea typeface="Cambria" panose="02040503050406030204" pitchFamily="18" charset="0"/>
                <a:cs typeface="Gotham Light" pitchFamily="50" charset="0"/>
              </a:rPr>
              <a:t>prise de décision collective </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avant d’agir</a:t>
            </a:r>
          </a:p>
          <a:p>
            <a:pPr marL="0" indent="0">
              <a:buNone/>
            </a:pPr>
            <a:endPar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endParaRPr>
          </a:p>
          <a:p>
            <a:pPr algn="just">
              <a:buFont typeface="Symbol" panose="05050102010706020507" pitchFamily="18" charset="2"/>
              <a:buChar char="Þ"/>
            </a:pPr>
            <a:r>
              <a:rPr lang="fr-FR" dirty="0">
                <a:latin typeface="Cambria" panose="02040503050406030204" pitchFamily="18" charset="0"/>
                <a:ea typeface="Cambria" panose="02040503050406030204" pitchFamily="18" charset="0"/>
                <a:cs typeface="Gotham Light" pitchFamily="50" charset="0"/>
              </a:rPr>
              <a:t> (1) Comment analyser des valeurs en jeu lorsqu’on est soi-même pris dans ces valeurs?</a:t>
            </a:r>
          </a:p>
          <a:p>
            <a:pPr algn="just">
              <a:buFont typeface="Symbol" panose="05050102010706020507" pitchFamily="18" charset="2"/>
              <a:buChar char="Þ"/>
            </a:pPr>
            <a:r>
              <a:rPr lang="fr-FR" dirty="0">
                <a:latin typeface="Cambria" panose="02040503050406030204" pitchFamily="18" charset="0"/>
                <a:ea typeface="Cambria" panose="02040503050406030204" pitchFamily="18" charset="0"/>
                <a:cs typeface="Gotham Light" pitchFamily="50" charset="0"/>
              </a:rPr>
              <a:t> (2) Si la morale, et donc l’éthique, sont liées à un contexte spécifique, la hiérarchisation des valeurs est-elle possible ? Est-il possible d’avoir un consensus social de la morale ?</a:t>
            </a:r>
          </a:p>
          <a:p>
            <a:pPr algn="just">
              <a:buFont typeface="Symbol" panose="05050102010706020507" pitchFamily="18" charset="2"/>
              <a:buChar char="Þ"/>
            </a:pPr>
            <a:r>
              <a:rPr lang="fr-FR" dirty="0">
                <a:latin typeface="Cambria" panose="02040503050406030204" pitchFamily="18" charset="0"/>
                <a:ea typeface="Cambria" panose="02040503050406030204" pitchFamily="18" charset="0"/>
                <a:cs typeface="Gotham Light" pitchFamily="50" charset="0"/>
              </a:rPr>
              <a:t> (3) La morale n’est-elle qu’une histoire de justification et d’explications des mœurs en vigueur ?</a:t>
            </a:r>
          </a:p>
        </p:txBody>
      </p:sp>
    </p:spTree>
    <p:extLst>
      <p:ext uri="{BB962C8B-B14F-4D97-AF65-F5344CB8AC3E}">
        <p14:creationId xmlns:p14="http://schemas.microsoft.com/office/powerpoint/2010/main" val="1018892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0D49FB8F-77DB-4CA9-B537-396BEC8EE2ED}"/>
              </a:ext>
            </a:extLst>
          </p:cNvPr>
          <p:cNvSpPr>
            <a:spLocks noGrp="1"/>
          </p:cNvSpPr>
          <p:nvPr>
            <p:ph type="sldNum" sz="quarter" idx="12"/>
          </p:nvPr>
        </p:nvSpPr>
        <p:spPr/>
        <p:txBody>
          <a:bodyPr/>
          <a:lstStyle/>
          <a:p>
            <a:fld id="{8451C2F9-D2F6-4AB4-97F8-CBD41F7E86B7}" type="slidenum">
              <a:rPr lang="fr-FR" smtClean="0"/>
              <a:t>7</a:t>
            </a:fld>
            <a:endParaRPr lang="fr-FR"/>
          </a:p>
        </p:txBody>
      </p:sp>
      <p:sp>
        <p:nvSpPr>
          <p:cNvPr id="3" name="Espace réservé du contenu 2">
            <a:extLst>
              <a:ext uri="{FF2B5EF4-FFF2-40B4-BE49-F238E27FC236}">
                <a16:creationId xmlns:a16="http://schemas.microsoft.com/office/drawing/2014/main" id="{8F7B9DFF-7723-4EA2-8613-937979F0A4D8}"/>
              </a:ext>
            </a:extLst>
          </p:cNvPr>
          <p:cNvSpPr>
            <a:spLocks noGrp="1"/>
          </p:cNvSpPr>
          <p:nvPr>
            <p:ph idx="1"/>
          </p:nvPr>
        </p:nvSpPr>
        <p:spPr>
          <a:xfrm>
            <a:off x="385010" y="1251284"/>
            <a:ext cx="11550316" cy="5282122"/>
          </a:xfrm>
        </p:spPr>
        <p:txBody>
          <a:bodyPr>
            <a:normAutofit/>
          </a:bodyPr>
          <a:lstStyle/>
          <a:p>
            <a:pPr algn="just">
              <a:lnSpc>
                <a:spcPct val="120000"/>
              </a:lnSpc>
              <a:buFont typeface="Wingdings" panose="05000000000000000000" pitchFamily="2" charset="2"/>
              <a:buChar char="v"/>
            </a:pP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Latin </a:t>
            </a:r>
            <a:r>
              <a:rPr lang="fr-FR" i="1" dirty="0" err="1">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scientia</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 connaissance » / grec </a:t>
            </a:r>
            <a:r>
              <a:rPr lang="fr-FR" i="1"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épistémè</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 savoir théorique »</a:t>
            </a:r>
          </a:p>
          <a:p>
            <a:pPr algn="just">
              <a:lnSpc>
                <a:spcPct val="120000"/>
              </a:lnSpc>
              <a:buFont typeface="Wingdings" panose="05000000000000000000" pitchFamily="2" charset="2"/>
              <a:buChar char="v"/>
            </a:pP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Historiquement, la philosophie grecque s’intéressait à la totalité des savoirs (philosophie de la Nature) = </a:t>
            </a:r>
            <a:r>
              <a:rPr lang="fr-FR" dirty="0">
                <a:solidFill>
                  <a:schemeClr val="accent2"/>
                </a:solidFill>
                <a:latin typeface="Cambria" panose="02040503050406030204" pitchFamily="18" charset="0"/>
                <a:ea typeface="Cambria" panose="02040503050406030204" pitchFamily="18" charset="0"/>
                <a:cs typeface="Gotham Light" pitchFamily="50" charset="0"/>
              </a:rPr>
              <a:t>avènement d’une certaine rationalité</a:t>
            </a:r>
            <a:r>
              <a:rPr lang="fr-FR" baseline="300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1</a:t>
            </a:r>
            <a:endParaRPr lang="fr-FR" dirty="0">
              <a:solidFill>
                <a:schemeClr val="accent2"/>
              </a:solidFill>
              <a:latin typeface="Cambria" panose="02040503050406030204" pitchFamily="18" charset="0"/>
              <a:ea typeface="Cambria" panose="02040503050406030204" pitchFamily="18" charset="0"/>
              <a:cs typeface="Gotham Light" pitchFamily="50" charset="0"/>
            </a:endParaRPr>
          </a:p>
          <a:p>
            <a:pPr algn="just">
              <a:lnSpc>
                <a:spcPct val="120000"/>
              </a:lnSpc>
              <a:buFont typeface="Wingdings" panose="05000000000000000000" pitchFamily="2" charset="2"/>
              <a:buChar char="v"/>
            </a:pP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L’origine de la pensée scientifique en occident : réflexions sur l’essence de la connaissance ? Exemple de l’allégorie de la caverne (Platon) comme illustration d’un double combat : contre le monde sensible</a:t>
            </a:r>
            <a:r>
              <a:rPr lang="fr-FR" baseline="300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2 </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et contre la </a:t>
            </a:r>
            <a:r>
              <a:rPr lang="fr-FR" i="1"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doxa</a:t>
            </a:r>
            <a:r>
              <a:rPr lang="fr-FR" i="1" baseline="300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3</a:t>
            </a:r>
            <a:r>
              <a:rPr lang="fr-FR" baseline="300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a:t>
            </a:r>
            <a:endPar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endParaRPr>
          </a:p>
        </p:txBody>
      </p:sp>
      <p:sp>
        <p:nvSpPr>
          <p:cNvPr id="4" name="Titre 1">
            <a:extLst>
              <a:ext uri="{FF2B5EF4-FFF2-40B4-BE49-F238E27FC236}">
                <a16:creationId xmlns:a16="http://schemas.microsoft.com/office/drawing/2014/main" id="{E2E02EC4-14CF-4C46-BEE1-2A511A5C1602}"/>
              </a:ext>
            </a:extLst>
          </p:cNvPr>
          <p:cNvSpPr>
            <a:spLocks noGrp="1"/>
          </p:cNvSpPr>
          <p:nvPr>
            <p:ph type="title"/>
          </p:nvPr>
        </p:nvSpPr>
        <p:spPr>
          <a:xfrm>
            <a:off x="2181726" y="324594"/>
            <a:ext cx="9400674" cy="746560"/>
          </a:xfrm>
        </p:spPr>
        <p:txBody>
          <a:bodyPr>
            <a:normAutofit/>
          </a:bodyPr>
          <a:lstStyle/>
          <a:p>
            <a:pPr algn="ctr"/>
            <a:r>
              <a:rPr lang="fr-FR" sz="3200" dirty="0">
                <a:solidFill>
                  <a:srgbClr val="0070C0"/>
                </a:solidFill>
                <a:latin typeface="Cambria" panose="02040503050406030204" pitchFamily="18" charset="0"/>
                <a:ea typeface="Cambria" panose="02040503050406030204" pitchFamily="18" charset="0"/>
                <a:cs typeface="Gotham Medium" pitchFamily="50" charset="0"/>
              </a:rPr>
              <a:t>Pour introduire la science </a:t>
            </a:r>
          </a:p>
        </p:txBody>
      </p:sp>
    </p:spTree>
    <p:extLst>
      <p:ext uri="{BB962C8B-B14F-4D97-AF65-F5344CB8AC3E}">
        <p14:creationId xmlns:p14="http://schemas.microsoft.com/office/powerpoint/2010/main" val="454753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0D49FB8F-77DB-4CA9-B537-396BEC8EE2ED}"/>
              </a:ext>
            </a:extLst>
          </p:cNvPr>
          <p:cNvSpPr>
            <a:spLocks noGrp="1"/>
          </p:cNvSpPr>
          <p:nvPr>
            <p:ph type="sldNum" sz="quarter" idx="12"/>
          </p:nvPr>
        </p:nvSpPr>
        <p:spPr/>
        <p:txBody>
          <a:bodyPr/>
          <a:lstStyle/>
          <a:p>
            <a:fld id="{8451C2F9-D2F6-4AB4-97F8-CBD41F7E86B7}" type="slidenum">
              <a:rPr lang="fr-FR" smtClean="0"/>
              <a:t>8</a:t>
            </a:fld>
            <a:endParaRPr lang="fr-FR"/>
          </a:p>
        </p:txBody>
      </p:sp>
      <p:sp>
        <p:nvSpPr>
          <p:cNvPr id="4" name="Espace réservé du contenu 2">
            <a:extLst>
              <a:ext uri="{FF2B5EF4-FFF2-40B4-BE49-F238E27FC236}">
                <a16:creationId xmlns:a16="http://schemas.microsoft.com/office/drawing/2014/main" id="{26112BE7-6423-4B8B-A576-8C5EDCB06D51}"/>
              </a:ext>
            </a:extLst>
          </p:cNvPr>
          <p:cNvSpPr>
            <a:spLocks noGrp="1"/>
          </p:cNvSpPr>
          <p:nvPr>
            <p:ph idx="1"/>
          </p:nvPr>
        </p:nvSpPr>
        <p:spPr>
          <a:xfrm>
            <a:off x="144378" y="1163198"/>
            <a:ext cx="11742821" cy="5329677"/>
          </a:xfrm>
        </p:spPr>
        <p:txBody>
          <a:bodyPr>
            <a:noAutofit/>
          </a:bodyPr>
          <a:lstStyle/>
          <a:p>
            <a:pPr>
              <a:buFont typeface="Wingdings" panose="05000000000000000000" pitchFamily="2" charset="2"/>
              <a:buChar char="v"/>
            </a:pP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Long cheminement vers la science moderne, en passant par la </a:t>
            </a:r>
            <a:r>
              <a:rPr lang="fr-FR" sz="2600" dirty="0">
                <a:solidFill>
                  <a:schemeClr val="accent2"/>
                </a:solidFill>
                <a:latin typeface="Cambria" panose="02040503050406030204" pitchFamily="18" charset="0"/>
                <a:ea typeface="Cambria" panose="02040503050406030204" pitchFamily="18" charset="0"/>
                <a:cs typeface="Gotham Light" pitchFamily="50" charset="0"/>
              </a:rPr>
              <a:t>scolastique</a:t>
            </a:r>
            <a:r>
              <a:rPr lang="fr-FR" sz="2600" baseline="300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1</a:t>
            </a: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du Moyen-Âge</a:t>
            </a:r>
          </a:p>
          <a:p>
            <a:pPr algn="just">
              <a:lnSpc>
                <a:spcPct val="120000"/>
              </a:lnSpc>
              <a:buFont typeface="Wingdings" panose="05000000000000000000" pitchFamily="2" charset="2"/>
              <a:buChar char="v"/>
            </a:pPr>
            <a:r>
              <a:rPr lang="fr-FR" sz="2600" dirty="0">
                <a:solidFill>
                  <a:schemeClr val="accent2"/>
                </a:solidFill>
                <a:latin typeface="Cambria" panose="02040503050406030204" pitchFamily="18" charset="0"/>
                <a:ea typeface="Cambria" panose="02040503050406030204" pitchFamily="18" charset="0"/>
                <a:cs typeface="Gotham Light" pitchFamily="50" charset="0"/>
              </a:rPr>
              <a:t>Séparation</a:t>
            </a: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philosophie/science s’est opérée vers le XVII</a:t>
            </a:r>
            <a:r>
              <a:rPr lang="fr-FR" sz="2600" baseline="300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ème</a:t>
            </a:r>
          </a:p>
          <a:p>
            <a:pPr algn="just">
              <a:lnSpc>
                <a:spcPct val="120000"/>
              </a:lnSpc>
              <a:buFont typeface="Wingdings" panose="05000000000000000000" pitchFamily="2" charset="2"/>
              <a:buChar char="v"/>
            </a:pPr>
            <a:r>
              <a:rPr lang="fr-FR" sz="2600" dirty="0">
                <a:solidFill>
                  <a:schemeClr val="accent2"/>
                </a:solidFill>
                <a:latin typeface="Cambria" panose="02040503050406030204" pitchFamily="18" charset="0"/>
                <a:ea typeface="Cambria" panose="02040503050406030204" pitchFamily="18" charset="0"/>
                <a:cs typeface="Gotham Light" pitchFamily="50" charset="0"/>
              </a:rPr>
              <a:t>Transformation</a:t>
            </a: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de la connaissance </a:t>
            </a:r>
            <a:r>
              <a:rPr lang="fr-FR" sz="2600" i="1"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épistémè </a:t>
            </a: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vers la science moderne</a:t>
            </a:r>
            <a:r>
              <a:rPr lang="fr-FR" sz="2600" baseline="300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2 </a:t>
            </a: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passage d’une conception grecque de la science comme démarche compréhensive, à une volonté de maîtrise</a:t>
            </a:r>
          </a:p>
          <a:p>
            <a:pPr algn="just">
              <a:lnSpc>
                <a:spcPct val="120000"/>
              </a:lnSpc>
              <a:buFont typeface="Wingdings" panose="05000000000000000000" pitchFamily="2" charset="2"/>
              <a:buChar char="v"/>
            </a:pPr>
            <a:r>
              <a:rPr lang="fr-FR" sz="2600" dirty="0">
                <a:latin typeface="Cambria" panose="02040503050406030204" pitchFamily="18" charset="0"/>
                <a:ea typeface="Cambria" panose="02040503050406030204" pitchFamily="18" charset="0"/>
                <a:cs typeface="Gotham Light" pitchFamily="50" charset="0"/>
              </a:rPr>
              <a:t>Le</a:t>
            </a:r>
            <a:r>
              <a:rPr lang="fr-FR" sz="2600" dirty="0">
                <a:solidFill>
                  <a:schemeClr val="accent6"/>
                </a:solidFill>
                <a:latin typeface="Cambria" panose="02040503050406030204" pitchFamily="18" charset="0"/>
                <a:ea typeface="Cambria" panose="02040503050406030204" pitchFamily="18" charset="0"/>
                <a:cs typeface="Gotham Light" pitchFamily="50" charset="0"/>
              </a:rPr>
              <a:t> </a:t>
            </a:r>
            <a:r>
              <a:rPr lang="fr-FR" sz="2600" dirty="0">
                <a:solidFill>
                  <a:schemeClr val="accent2"/>
                </a:solidFill>
                <a:latin typeface="Cambria" panose="02040503050406030204" pitchFamily="18" charset="0"/>
                <a:ea typeface="Cambria" panose="02040503050406030204" pitchFamily="18" charset="0"/>
                <a:cs typeface="Gotham Light" pitchFamily="50" charset="0"/>
              </a:rPr>
              <a:t>savoir scientifique </a:t>
            </a:r>
            <a:r>
              <a:rPr lang="fr-FR" sz="2600" dirty="0">
                <a:latin typeface="Cambria" panose="02040503050406030204" pitchFamily="18" charset="0"/>
                <a:ea typeface="Cambria" panose="02040503050406030204" pitchFamily="18" charset="0"/>
                <a:cs typeface="Gotham Light" pitchFamily="50" charset="0"/>
              </a:rPr>
              <a:t>est considéré comme un progrès en soi depuis l’avènement de la science moderne (XVIII</a:t>
            </a:r>
            <a:r>
              <a:rPr lang="fr-FR" sz="2600" baseline="30000" dirty="0">
                <a:latin typeface="Cambria" panose="02040503050406030204" pitchFamily="18" charset="0"/>
                <a:ea typeface="Cambria" panose="02040503050406030204" pitchFamily="18" charset="0"/>
                <a:cs typeface="Gotham Light" pitchFamily="50" charset="0"/>
              </a:rPr>
              <a:t>ème</a:t>
            </a:r>
            <a:r>
              <a:rPr lang="fr-FR" sz="2600" dirty="0">
                <a:latin typeface="Cambria" panose="02040503050406030204" pitchFamily="18" charset="0"/>
                <a:ea typeface="Cambria" panose="02040503050406030204" pitchFamily="18" charset="0"/>
                <a:cs typeface="Gotham Light" pitchFamily="50" charset="0"/>
              </a:rPr>
              <a:t>) = m</a:t>
            </a: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ise en œuvre d’une méthode expérimentale avec des modèles théoriques d’explication de phénomènes</a:t>
            </a:r>
            <a:r>
              <a:rPr lang="fr-FR" sz="2600" baseline="300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3</a:t>
            </a: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a:t>
            </a:r>
            <a:endParaRPr lang="fr-FR" sz="2600" dirty="0">
              <a:latin typeface="Cambria" panose="02040503050406030204" pitchFamily="18" charset="0"/>
              <a:ea typeface="Cambria" panose="02040503050406030204" pitchFamily="18" charset="0"/>
              <a:cs typeface="Gotham Light" pitchFamily="50" charset="0"/>
            </a:endParaRPr>
          </a:p>
        </p:txBody>
      </p:sp>
      <p:sp>
        <p:nvSpPr>
          <p:cNvPr id="7" name="Titre 1">
            <a:extLst>
              <a:ext uri="{FF2B5EF4-FFF2-40B4-BE49-F238E27FC236}">
                <a16:creationId xmlns:a16="http://schemas.microsoft.com/office/drawing/2014/main" id="{6918E04D-597C-4531-A457-88598878C293}"/>
              </a:ext>
            </a:extLst>
          </p:cNvPr>
          <p:cNvSpPr txBox="1">
            <a:spLocks/>
          </p:cNvSpPr>
          <p:nvPr/>
        </p:nvSpPr>
        <p:spPr>
          <a:xfrm>
            <a:off x="2054495" y="365125"/>
            <a:ext cx="9400674" cy="746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dirty="0">
                <a:solidFill>
                  <a:srgbClr val="0070C0"/>
                </a:solidFill>
                <a:latin typeface="Gotham Medium" pitchFamily="50" charset="0"/>
                <a:cs typeface="Gotham Medium" pitchFamily="50" charset="0"/>
              </a:rPr>
              <a:t>Pour </a:t>
            </a:r>
            <a:r>
              <a:rPr lang="fr-FR" sz="3200" dirty="0">
                <a:solidFill>
                  <a:srgbClr val="0070C0"/>
                </a:solidFill>
                <a:latin typeface="Cambria" panose="02040503050406030204" pitchFamily="18" charset="0"/>
                <a:ea typeface="Cambria" panose="02040503050406030204" pitchFamily="18" charset="0"/>
                <a:cs typeface="Gotham Medium" pitchFamily="50" charset="0"/>
              </a:rPr>
              <a:t>introduire</a:t>
            </a:r>
            <a:r>
              <a:rPr lang="fr-FR" sz="3200" dirty="0">
                <a:solidFill>
                  <a:srgbClr val="0070C0"/>
                </a:solidFill>
                <a:latin typeface="Gotham Medium" pitchFamily="50" charset="0"/>
                <a:cs typeface="Gotham Medium" pitchFamily="50" charset="0"/>
              </a:rPr>
              <a:t> la science </a:t>
            </a:r>
            <a:endParaRPr lang="fr-FR" sz="2800" dirty="0">
              <a:solidFill>
                <a:srgbClr val="0070C0"/>
              </a:solidFill>
              <a:latin typeface="Gotham Medium" pitchFamily="50" charset="0"/>
              <a:cs typeface="Gotham Medium" pitchFamily="50" charset="0"/>
            </a:endParaRPr>
          </a:p>
        </p:txBody>
      </p:sp>
    </p:spTree>
    <p:extLst>
      <p:ext uri="{BB962C8B-B14F-4D97-AF65-F5344CB8AC3E}">
        <p14:creationId xmlns:p14="http://schemas.microsoft.com/office/powerpoint/2010/main" val="4028998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0D49FB8F-77DB-4CA9-B537-396BEC8EE2ED}"/>
              </a:ext>
            </a:extLst>
          </p:cNvPr>
          <p:cNvSpPr>
            <a:spLocks noGrp="1"/>
          </p:cNvSpPr>
          <p:nvPr>
            <p:ph type="sldNum" sz="quarter" idx="12"/>
          </p:nvPr>
        </p:nvSpPr>
        <p:spPr/>
        <p:txBody>
          <a:bodyPr/>
          <a:lstStyle/>
          <a:p>
            <a:fld id="{8451C2F9-D2F6-4AB4-97F8-CBD41F7E86B7}" type="slidenum">
              <a:rPr lang="fr-FR" smtClean="0"/>
              <a:t>9</a:t>
            </a:fld>
            <a:endParaRPr lang="fr-FR"/>
          </a:p>
        </p:txBody>
      </p:sp>
      <p:sp>
        <p:nvSpPr>
          <p:cNvPr id="4" name="Espace réservé du contenu 2">
            <a:extLst>
              <a:ext uri="{FF2B5EF4-FFF2-40B4-BE49-F238E27FC236}">
                <a16:creationId xmlns:a16="http://schemas.microsoft.com/office/drawing/2014/main" id="{26112BE7-6423-4B8B-A576-8C5EDCB06D51}"/>
              </a:ext>
            </a:extLst>
          </p:cNvPr>
          <p:cNvSpPr>
            <a:spLocks noGrp="1"/>
          </p:cNvSpPr>
          <p:nvPr>
            <p:ph idx="1"/>
          </p:nvPr>
        </p:nvSpPr>
        <p:spPr>
          <a:xfrm>
            <a:off x="577516" y="1235242"/>
            <a:ext cx="11036968" cy="4797835"/>
          </a:xfrm>
        </p:spPr>
        <p:txBody>
          <a:bodyPr>
            <a:noAutofit/>
          </a:bodyPr>
          <a:lstStyle/>
          <a:p>
            <a:pPr algn="just">
              <a:buFont typeface="Wingdings" panose="05000000000000000000" pitchFamily="2" charset="2"/>
              <a:buChar char="v"/>
            </a:pP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La </a:t>
            </a:r>
            <a:r>
              <a:rPr lang="fr-FR" sz="2600" dirty="0">
                <a:latin typeface="Cambria" panose="02040503050406030204" pitchFamily="18" charset="0"/>
                <a:ea typeface="Cambria" panose="02040503050406030204" pitchFamily="18" charset="0"/>
                <a:cs typeface="Gotham Light" pitchFamily="50" charset="0"/>
              </a:rPr>
              <a:t>science</a:t>
            </a: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s’attache à découvrir les lois qui régissent le réel avec le </a:t>
            </a:r>
            <a:r>
              <a:rPr lang="fr-FR" sz="2600" dirty="0">
                <a:solidFill>
                  <a:schemeClr val="accent2"/>
                </a:solidFill>
                <a:latin typeface="Cambria" panose="02040503050406030204" pitchFamily="18" charset="0"/>
                <a:ea typeface="Cambria" panose="02040503050406030204" pitchFamily="18" charset="0"/>
                <a:cs typeface="Gotham Light" pitchFamily="50" charset="0"/>
              </a:rPr>
              <a:t>postulat de la causalité </a:t>
            </a:r>
            <a:r>
              <a:rPr lang="fr-FR" sz="26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le monde est déterministe : l’état du monde d’hier détermine l’état du monde </a:t>
            </a:r>
            <a:r>
              <a:rPr lang="fr-FR" sz="2600" dirty="0">
                <a:latin typeface="Cambria" panose="02040503050406030204" pitchFamily="18" charset="0"/>
                <a:ea typeface="Cambria" panose="02040503050406030204" pitchFamily="18" charset="0"/>
                <a:cs typeface="Gotham Light" pitchFamily="50" charset="0"/>
              </a:rPr>
              <a:t>aujourd’hui</a:t>
            </a:r>
          </a:p>
          <a:p>
            <a:pPr algn="just">
              <a:buFont typeface="Wingdings" panose="05000000000000000000" pitchFamily="2" charset="2"/>
              <a:buChar char="v"/>
            </a:pPr>
            <a:endParaRPr lang="fr-FR" sz="2600" dirty="0">
              <a:latin typeface="Cambria" panose="02040503050406030204" pitchFamily="18" charset="0"/>
              <a:ea typeface="Cambria" panose="02040503050406030204" pitchFamily="18" charset="0"/>
              <a:cs typeface="Gotham Light" pitchFamily="50" charset="0"/>
            </a:endParaRPr>
          </a:p>
          <a:p>
            <a:pPr algn="just">
              <a:buFont typeface="Wingdings" panose="05000000000000000000" pitchFamily="2" charset="2"/>
              <a:buChar char="v"/>
            </a:pPr>
            <a:r>
              <a:rPr lang="fr-FR" sz="2600" dirty="0">
                <a:latin typeface="Cambria" panose="02040503050406030204" pitchFamily="18" charset="0"/>
                <a:ea typeface="Cambria" panose="02040503050406030204" pitchFamily="18" charset="0"/>
                <a:cs typeface="Gotham Light" pitchFamily="50" charset="0"/>
              </a:rPr>
              <a:t>Des lois qui ne résisteraient pas au temps et à l’espace ne pourraient pas s’appuyer sur la méthodologie de la science moderne</a:t>
            </a:r>
          </a:p>
          <a:p>
            <a:pPr algn="just">
              <a:buFont typeface="Wingdings" panose="05000000000000000000" pitchFamily="2" charset="2"/>
              <a:buChar char="v"/>
            </a:pPr>
            <a:endParaRPr lang="fr-FR" sz="2600" dirty="0">
              <a:latin typeface="Cambria" panose="02040503050406030204" pitchFamily="18" charset="0"/>
              <a:ea typeface="Cambria" panose="02040503050406030204" pitchFamily="18" charset="0"/>
              <a:cs typeface="Gotham Light" pitchFamily="50" charset="0"/>
            </a:endParaRPr>
          </a:p>
          <a:p>
            <a:pPr algn="just">
              <a:buFont typeface="Wingdings" panose="05000000000000000000" pitchFamily="2" charset="2"/>
              <a:buChar char="v"/>
            </a:pPr>
            <a:r>
              <a:rPr lang="fr-FR" sz="2600" dirty="0">
                <a:latin typeface="Cambria" panose="02040503050406030204" pitchFamily="18" charset="0"/>
                <a:ea typeface="Cambria" panose="02040503050406030204" pitchFamily="18" charset="0"/>
                <a:cs typeface="Gotham Light" pitchFamily="50" charset="0"/>
              </a:rPr>
              <a:t>Distinction entre un savoir scientifique (façon spécifique de connaître) et les autres savoirs (avoir une connaissance de quelque chose par d’autres méthodes)</a:t>
            </a:r>
          </a:p>
        </p:txBody>
      </p:sp>
      <p:sp>
        <p:nvSpPr>
          <p:cNvPr id="7" name="Titre 1">
            <a:extLst>
              <a:ext uri="{FF2B5EF4-FFF2-40B4-BE49-F238E27FC236}">
                <a16:creationId xmlns:a16="http://schemas.microsoft.com/office/drawing/2014/main" id="{6918E04D-597C-4531-A457-88598878C293}"/>
              </a:ext>
            </a:extLst>
          </p:cNvPr>
          <p:cNvSpPr txBox="1">
            <a:spLocks/>
          </p:cNvSpPr>
          <p:nvPr/>
        </p:nvSpPr>
        <p:spPr>
          <a:xfrm>
            <a:off x="2117557" y="241420"/>
            <a:ext cx="9400674" cy="746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dirty="0">
                <a:solidFill>
                  <a:srgbClr val="0070C0"/>
                </a:solidFill>
                <a:latin typeface="Cambria" panose="02040503050406030204" pitchFamily="18" charset="0"/>
                <a:ea typeface="Cambria" panose="02040503050406030204" pitchFamily="18" charset="0"/>
                <a:cs typeface="Gotham Medium" pitchFamily="50" charset="0"/>
              </a:rPr>
              <a:t>Pour introduire la science </a:t>
            </a:r>
            <a:endParaRPr lang="fr-FR" sz="2800" dirty="0">
              <a:solidFill>
                <a:srgbClr val="0070C0"/>
              </a:solidFill>
              <a:latin typeface="Cambria" panose="02040503050406030204" pitchFamily="18" charset="0"/>
              <a:ea typeface="Cambria" panose="02040503050406030204" pitchFamily="18" charset="0"/>
              <a:cs typeface="Gotham Medium" pitchFamily="50" charset="0"/>
            </a:endParaRPr>
          </a:p>
        </p:txBody>
      </p:sp>
    </p:spTree>
    <p:extLst>
      <p:ext uri="{BB962C8B-B14F-4D97-AF65-F5344CB8AC3E}">
        <p14:creationId xmlns:p14="http://schemas.microsoft.com/office/powerpoint/2010/main" val="1612615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0D49FB8F-77DB-4CA9-B537-396BEC8EE2ED}"/>
              </a:ext>
            </a:extLst>
          </p:cNvPr>
          <p:cNvSpPr>
            <a:spLocks noGrp="1"/>
          </p:cNvSpPr>
          <p:nvPr>
            <p:ph type="sldNum" sz="quarter" idx="12"/>
          </p:nvPr>
        </p:nvSpPr>
        <p:spPr/>
        <p:txBody>
          <a:bodyPr/>
          <a:lstStyle/>
          <a:p>
            <a:fld id="{8451C2F9-D2F6-4AB4-97F8-CBD41F7E86B7}" type="slidenum">
              <a:rPr lang="fr-FR" smtClean="0"/>
              <a:t>10</a:t>
            </a:fld>
            <a:endParaRPr lang="fr-FR"/>
          </a:p>
        </p:txBody>
      </p:sp>
      <p:sp>
        <p:nvSpPr>
          <p:cNvPr id="4" name="Espace réservé du contenu 2">
            <a:extLst>
              <a:ext uri="{FF2B5EF4-FFF2-40B4-BE49-F238E27FC236}">
                <a16:creationId xmlns:a16="http://schemas.microsoft.com/office/drawing/2014/main" id="{08803BCD-5C51-4944-9779-9EE4371674C2}"/>
              </a:ext>
            </a:extLst>
          </p:cNvPr>
          <p:cNvSpPr>
            <a:spLocks noGrp="1"/>
          </p:cNvSpPr>
          <p:nvPr>
            <p:ph idx="1"/>
          </p:nvPr>
        </p:nvSpPr>
        <p:spPr>
          <a:xfrm>
            <a:off x="561474" y="1668379"/>
            <a:ext cx="11197389" cy="4620126"/>
          </a:xfrm>
        </p:spPr>
        <p:txBody>
          <a:bodyPr>
            <a:normAutofit/>
          </a:bodyPr>
          <a:lstStyle/>
          <a:p>
            <a:pPr algn="just">
              <a:buFont typeface="Wingdings" panose="05000000000000000000" pitchFamily="2" charset="2"/>
              <a:buChar char="v"/>
            </a:pP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L’histoire des sciences permet de montrer le rôle des sciences dans </a:t>
            </a:r>
            <a:r>
              <a:rPr lang="fr-FR" dirty="0">
                <a:solidFill>
                  <a:schemeClr val="accent2"/>
                </a:solidFill>
                <a:latin typeface="Cambria" panose="02040503050406030204" pitchFamily="18" charset="0"/>
                <a:ea typeface="Cambria" panose="02040503050406030204" pitchFamily="18" charset="0"/>
                <a:cs typeface="Gotham Light" pitchFamily="50" charset="0"/>
              </a:rPr>
              <a:t>l’histoire de la pensée</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de faire réfléchir aux fondements de la science, à la progression des idées et à leur répercussion philosophique</a:t>
            </a:r>
          </a:p>
          <a:p>
            <a:pPr algn="just">
              <a:buFont typeface="Wingdings" panose="05000000000000000000" pitchFamily="2" charset="2"/>
              <a:buChar char="v"/>
            </a:pPr>
            <a:endPar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endParaRPr>
          </a:p>
          <a:p>
            <a:pPr algn="just">
              <a:buFont typeface="Wingdings" panose="05000000000000000000" pitchFamily="2" charset="2"/>
              <a:buChar char="v"/>
            </a:pP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Savoir pourquoi (justification) </a:t>
            </a:r>
            <a:r>
              <a:rPr lang="fr-FR" dirty="0">
                <a:solidFill>
                  <a:schemeClr val="tx1">
                    <a:lumMod val="85000"/>
                    <a:lumOff val="15000"/>
                  </a:schemeClr>
                </a:solidFill>
                <a:latin typeface="Cambria" panose="02040503050406030204" pitchFamily="18" charset="0"/>
                <a:ea typeface="Cambria" panose="02040503050406030204" pitchFamily="18" charset="0"/>
                <a:cs typeface="Calibri" panose="020F0502020204030204" pitchFamily="34" charset="0"/>
              </a:rPr>
              <a:t>≠</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savoir comment (pratique)</a:t>
            </a:r>
          </a:p>
          <a:p>
            <a:pPr algn="just">
              <a:buFont typeface="Wingdings" panose="05000000000000000000" pitchFamily="2" charset="2"/>
              <a:buChar char="v"/>
            </a:pPr>
            <a:endPar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endParaRPr>
          </a:p>
          <a:p>
            <a:pPr algn="just">
              <a:buFont typeface="Wingdings" panose="05000000000000000000" pitchFamily="2" charset="2"/>
              <a:buChar char="v"/>
            </a:pP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Plusieurs disciplines</a:t>
            </a:r>
            <a:r>
              <a:rPr lang="fr-FR" baseline="300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1</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montrent que la </a:t>
            </a:r>
            <a:r>
              <a:rPr lang="fr-FR" dirty="0">
                <a:latin typeface="Cambria" panose="02040503050406030204" pitchFamily="18" charset="0"/>
                <a:ea typeface="Cambria" panose="02040503050406030204" pitchFamily="18" charset="0"/>
                <a:cs typeface="Gotham Light" pitchFamily="50" charset="0"/>
              </a:rPr>
              <a:t>science</a:t>
            </a: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a des conséquences sociétales, que </a:t>
            </a:r>
            <a:r>
              <a:rPr lang="fr-FR" dirty="0">
                <a:solidFill>
                  <a:schemeClr val="accent2"/>
                </a:solidFill>
                <a:latin typeface="Cambria" panose="02040503050406030204" pitchFamily="18" charset="0"/>
                <a:ea typeface="Cambria" panose="02040503050406030204" pitchFamily="18" charset="0"/>
                <a:cs typeface="Gotham Light" pitchFamily="50" charset="0"/>
              </a:rPr>
              <a:t>les savoirs sont investis de valeurs</a:t>
            </a:r>
            <a:endPar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endParaRPr>
          </a:p>
          <a:p>
            <a:pPr algn="just">
              <a:buFont typeface="Wingdings" panose="05000000000000000000" pitchFamily="2" charset="2"/>
              <a:buChar char="v"/>
            </a:pPr>
            <a:endParaRPr lang="fr-FR" dirty="0">
              <a:solidFill>
                <a:schemeClr val="tx1">
                  <a:lumMod val="85000"/>
                  <a:lumOff val="15000"/>
                </a:schemeClr>
              </a:solidFill>
              <a:latin typeface="Gotham Light" pitchFamily="50" charset="0"/>
              <a:cs typeface="Gotham Light" pitchFamily="50" charset="0"/>
            </a:endParaRPr>
          </a:p>
          <a:p>
            <a:pPr marL="0" indent="0" algn="just">
              <a:buNone/>
            </a:pPr>
            <a:endParaRPr lang="fr-FR" dirty="0">
              <a:solidFill>
                <a:schemeClr val="tx1">
                  <a:lumMod val="85000"/>
                  <a:lumOff val="15000"/>
                </a:schemeClr>
              </a:solidFill>
              <a:latin typeface="Gotham Light" pitchFamily="50" charset="0"/>
              <a:cs typeface="Gotham Light" pitchFamily="50" charset="0"/>
            </a:endParaRPr>
          </a:p>
          <a:p>
            <a:pPr marL="0" indent="0" algn="just">
              <a:buNone/>
            </a:pPr>
            <a:endParaRPr lang="fr-FR" dirty="0">
              <a:solidFill>
                <a:schemeClr val="tx1">
                  <a:lumMod val="85000"/>
                  <a:lumOff val="15000"/>
                </a:schemeClr>
              </a:solidFill>
              <a:latin typeface="Gotham Light" pitchFamily="50" charset="0"/>
              <a:cs typeface="Gotham Light" pitchFamily="50" charset="0"/>
            </a:endParaRPr>
          </a:p>
        </p:txBody>
      </p:sp>
      <p:sp>
        <p:nvSpPr>
          <p:cNvPr id="10" name="Titre 1">
            <a:extLst>
              <a:ext uri="{FF2B5EF4-FFF2-40B4-BE49-F238E27FC236}">
                <a16:creationId xmlns:a16="http://schemas.microsoft.com/office/drawing/2014/main" id="{86A85D47-6F90-4357-A531-1BE4255A5758}"/>
              </a:ext>
            </a:extLst>
          </p:cNvPr>
          <p:cNvSpPr>
            <a:spLocks noGrp="1"/>
          </p:cNvSpPr>
          <p:nvPr>
            <p:ph type="title"/>
          </p:nvPr>
        </p:nvSpPr>
        <p:spPr>
          <a:xfrm>
            <a:off x="2117557" y="241420"/>
            <a:ext cx="9400674" cy="746560"/>
          </a:xfrm>
        </p:spPr>
        <p:txBody>
          <a:bodyPr>
            <a:normAutofit/>
          </a:bodyPr>
          <a:lstStyle/>
          <a:p>
            <a:pPr algn="ctr"/>
            <a:r>
              <a:rPr lang="fr-FR" sz="3200" dirty="0">
                <a:solidFill>
                  <a:srgbClr val="0070C0"/>
                </a:solidFill>
                <a:latin typeface="Cambria" panose="02040503050406030204" pitchFamily="18" charset="0"/>
                <a:ea typeface="Cambria" panose="02040503050406030204" pitchFamily="18" charset="0"/>
                <a:cs typeface="Gotham Medium" pitchFamily="50" charset="0"/>
              </a:rPr>
              <a:t>Problématisation entre éthique et science </a:t>
            </a:r>
            <a:r>
              <a:rPr lang="fr-FR" sz="2800" dirty="0">
                <a:solidFill>
                  <a:srgbClr val="0070C0"/>
                </a:solidFill>
                <a:latin typeface="Cambria" panose="02040503050406030204" pitchFamily="18" charset="0"/>
                <a:ea typeface="Cambria" panose="02040503050406030204" pitchFamily="18" charset="0"/>
                <a:cs typeface="Gotham Medium" pitchFamily="50" charset="0"/>
              </a:rPr>
              <a:t>(1/3)</a:t>
            </a:r>
          </a:p>
        </p:txBody>
      </p:sp>
    </p:spTree>
    <p:extLst>
      <p:ext uri="{BB962C8B-B14F-4D97-AF65-F5344CB8AC3E}">
        <p14:creationId xmlns:p14="http://schemas.microsoft.com/office/powerpoint/2010/main" val="3793003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0D49FB8F-77DB-4CA9-B537-396BEC8EE2ED}"/>
              </a:ext>
            </a:extLst>
          </p:cNvPr>
          <p:cNvSpPr>
            <a:spLocks noGrp="1"/>
          </p:cNvSpPr>
          <p:nvPr>
            <p:ph type="sldNum" sz="quarter" idx="12"/>
          </p:nvPr>
        </p:nvSpPr>
        <p:spPr/>
        <p:txBody>
          <a:bodyPr/>
          <a:lstStyle/>
          <a:p>
            <a:fld id="{8451C2F9-D2F6-4AB4-97F8-CBD41F7E86B7}" type="slidenum">
              <a:rPr lang="fr-FR" smtClean="0"/>
              <a:t>11</a:t>
            </a:fld>
            <a:endParaRPr lang="fr-FR"/>
          </a:p>
        </p:txBody>
      </p:sp>
      <p:sp>
        <p:nvSpPr>
          <p:cNvPr id="4" name="Espace réservé du contenu 2">
            <a:extLst>
              <a:ext uri="{FF2B5EF4-FFF2-40B4-BE49-F238E27FC236}">
                <a16:creationId xmlns:a16="http://schemas.microsoft.com/office/drawing/2014/main" id="{EB644503-6D89-4A89-86AF-EDC0D1D2B7BF}"/>
              </a:ext>
            </a:extLst>
          </p:cNvPr>
          <p:cNvSpPr>
            <a:spLocks noGrp="1"/>
          </p:cNvSpPr>
          <p:nvPr>
            <p:ph idx="1"/>
          </p:nvPr>
        </p:nvSpPr>
        <p:spPr>
          <a:xfrm>
            <a:off x="529389" y="1499941"/>
            <a:ext cx="11133221" cy="4427622"/>
          </a:xfrm>
        </p:spPr>
        <p:txBody>
          <a:bodyPr>
            <a:normAutofit/>
          </a:bodyPr>
          <a:lstStyle/>
          <a:p>
            <a:pPr algn="just">
              <a:buFont typeface="Wingdings" panose="05000000000000000000" pitchFamily="2" charset="2"/>
              <a:buChar char="v"/>
            </a:pPr>
            <a:r>
              <a:rPr lang="fr-FR" sz="28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Les théories scientifiques n’ont pas vocation à s’exprimer sur les valeurs mais sur les faits</a:t>
            </a:r>
          </a:p>
          <a:p>
            <a:pPr algn="just">
              <a:buFont typeface="Wingdings" panose="05000000000000000000" pitchFamily="2" charset="2"/>
              <a:buChar char="v"/>
            </a:pPr>
            <a:endParaRPr lang="fr-FR" sz="28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endParaRPr>
          </a:p>
          <a:p>
            <a:pPr algn="just">
              <a:buFont typeface="Wingdings" panose="05000000000000000000" pitchFamily="2" charset="2"/>
              <a:buChar char="v"/>
            </a:pPr>
            <a:r>
              <a:rPr lang="fr-FR" sz="28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Les méthodes scientifiques sont amorales et le contrôle social de l’activité scientifique permet de contrer l’immoralité (</a:t>
            </a:r>
            <a:r>
              <a:rPr lang="fr-FR" sz="2800" dirty="0">
                <a:solidFill>
                  <a:schemeClr val="accent2"/>
                </a:solidFill>
                <a:latin typeface="Cambria" panose="02040503050406030204" pitchFamily="18" charset="0"/>
                <a:ea typeface="Cambria" panose="02040503050406030204" pitchFamily="18" charset="0"/>
                <a:cs typeface="Gotham Light" pitchFamily="50" charset="0"/>
              </a:rPr>
              <a:t>éthique</a:t>
            </a:r>
            <a:r>
              <a:rPr lang="fr-FR" sz="28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a:t>
            </a:r>
          </a:p>
          <a:p>
            <a:pPr algn="just">
              <a:buFont typeface="Wingdings" panose="05000000000000000000" pitchFamily="2" charset="2"/>
              <a:buChar char="v"/>
            </a:pPr>
            <a:endParaRPr lang="fr-FR" sz="28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endParaRPr>
          </a:p>
          <a:p>
            <a:pPr algn="just">
              <a:buFont typeface="Wingdings" panose="05000000000000000000" pitchFamily="2" charset="2"/>
              <a:buChar char="v"/>
            </a:pPr>
            <a:r>
              <a:rPr lang="fr-FR" sz="28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La </a:t>
            </a:r>
            <a:r>
              <a:rPr lang="fr-FR" sz="2800" dirty="0">
                <a:solidFill>
                  <a:schemeClr val="accent2"/>
                </a:solidFill>
                <a:latin typeface="Cambria" panose="02040503050406030204" pitchFamily="18" charset="0"/>
                <a:ea typeface="Cambria" panose="02040503050406030204" pitchFamily="18" charset="0"/>
                <a:cs typeface="Gotham Light" pitchFamily="50" charset="0"/>
              </a:rPr>
              <a:t>science</a:t>
            </a:r>
            <a:r>
              <a:rPr lang="fr-FR" sz="28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dit ce qui « est » et </a:t>
            </a:r>
            <a:r>
              <a:rPr lang="fr-FR" sz="2800" dirty="0">
                <a:solidFill>
                  <a:schemeClr val="accent2"/>
                </a:solidFill>
                <a:latin typeface="Cambria" panose="02040503050406030204" pitchFamily="18" charset="0"/>
                <a:ea typeface="Cambria" panose="02040503050406030204" pitchFamily="18" charset="0"/>
                <a:cs typeface="Gotham Light" pitchFamily="50" charset="0"/>
              </a:rPr>
              <a:t>l’éthique</a:t>
            </a:r>
            <a:r>
              <a:rPr lang="fr-FR" sz="2800"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 préconise « ce qui devrait être fait » dans les actions humaines</a:t>
            </a:r>
          </a:p>
          <a:p>
            <a:pPr marL="0" indent="0" algn="just">
              <a:buNone/>
            </a:pPr>
            <a:endParaRPr lang="fr-FR" sz="2800" dirty="0">
              <a:latin typeface="Cambria" panose="02040503050406030204" pitchFamily="18" charset="0"/>
              <a:ea typeface="Cambria" panose="02040503050406030204" pitchFamily="18" charset="0"/>
              <a:cs typeface="Gotham Light" pitchFamily="50" charset="0"/>
            </a:endParaRPr>
          </a:p>
        </p:txBody>
      </p:sp>
      <p:sp>
        <p:nvSpPr>
          <p:cNvPr id="7" name="Titre 1">
            <a:extLst>
              <a:ext uri="{FF2B5EF4-FFF2-40B4-BE49-F238E27FC236}">
                <a16:creationId xmlns:a16="http://schemas.microsoft.com/office/drawing/2014/main" id="{B9ACAD60-45E8-4762-8429-FC238B17DD13}"/>
              </a:ext>
            </a:extLst>
          </p:cNvPr>
          <p:cNvSpPr>
            <a:spLocks noGrp="1"/>
          </p:cNvSpPr>
          <p:nvPr>
            <p:ph type="title"/>
          </p:nvPr>
        </p:nvSpPr>
        <p:spPr>
          <a:xfrm>
            <a:off x="1989222" y="241420"/>
            <a:ext cx="9673388" cy="746560"/>
          </a:xfrm>
        </p:spPr>
        <p:txBody>
          <a:bodyPr>
            <a:normAutofit/>
          </a:bodyPr>
          <a:lstStyle/>
          <a:p>
            <a:pPr algn="ctr"/>
            <a:r>
              <a:rPr lang="fr-FR" sz="2800" dirty="0">
                <a:solidFill>
                  <a:srgbClr val="0070C0"/>
                </a:solidFill>
                <a:latin typeface="Cambria" panose="02040503050406030204" pitchFamily="18" charset="0"/>
                <a:ea typeface="Cambria" panose="02040503050406030204" pitchFamily="18" charset="0"/>
                <a:cs typeface="Gotham Medium" pitchFamily="50" charset="0"/>
              </a:rPr>
              <a:t>Problématisation entre éthique et science (2/3)</a:t>
            </a:r>
          </a:p>
        </p:txBody>
      </p:sp>
    </p:spTree>
    <p:extLst>
      <p:ext uri="{BB962C8B-B14F-4D97-AF65-F5344CB8AC3E}">
        <p14:creationId xmlns:p14="http://schemas.microsoft.com/office/powerpoint/2010/main" val="1496514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0D49FB8F-77DB-4CA9-B537-396BEC8EE2ED}"/>
              </a:ext>
            </a:extLst>
          </p:cNvPr>
          <p:cNvSpPr>
            <a:spLocks noGrp="1"/>
          </p:cNvSpPr>
          <p:nvPr>
            <p:ph type="sldNum" sz="quarter" idx="12"/>
          </p:nvPr>
        </p:nvSpPr>
        <p:spPr/>
        <p:txBody>
          <a:bodyPr/>
          <a:lstStyle/>
          <a:p>
            <a:fld id="{8451C2F9-D2F6-4AB4-97F8-CBD41F7E86B7}" type="slidenum">
              <a:rPr lang="fr-FR" smtClean="0"/>
              <a:t>12</a:t>
            </a:fld>
            <a:endParaRPr lang="fr-FR"/>
          </a:p>
        </p:txBody>
      </p:sp>
      <p:sp>
        <p:nvSpPr>
          <p:cNvPr id="5" name="Espace réservé du contenu 4">
            <a:extLst>
              <a:ext uri="{FF2B5EF4-FFF2-40B4-BE49-F238E27FC236}">
                <a16:creationId xmlns:a16="http://schemas.microsoft.com/office/drawing/2014/main" id="{4551D4AE-A444-4180-BEE7-630EFA0B118C}"/>
              </a:ext>
            </a:extLst>
          </p:cNvPr>
          <p:cNvSpPr>
            <a:spLocks noGrp="1"/>
          </p:cNvSpPr>
          <p:nvPr>
            <p:ph idx="1"/>
          </p:nvPr>
        </p:nvSpPr>
        <p:spPr>
          <a:xfrm>
            <a:off x="304800" y="1392487"/>
            <a:ext cx="11582400" cy="4623301"/>
          </a:xfrm>
        </p:spPr>
        <p:txBody>
          <a:bodyPr>
            <a:normAutofit fontScale="92500" lnSpcReduction="10000"/>
          </a:bodyPr>
          <a:lstStyle/>
          <a:p>
            <a:pPr algn="just">
              <a:buFont typeface="Wingdings" panose="05000000000000000000" pitchFamily="2" charset="2"/>
              <a:buChar char="v"/>
            </a:pPr>
            <a:r>
              <a:rPr lang="fr-FR" dirty="0">
                <a:latin typeface="Cambria" panose="02040503050406030204" pitchFamily="18" charset="0"/>
                <a:ea typeface="Cambria" panose="02040503050406030204" pitchFamily="18" charset="0"/>
              </a:rPr>
              <a:t>Etudier l’éthique des sciences, c’est d’abord se préoccuper des dangers de la science.</a:t>
            </a:r>
          </a:p>
          <a:p>
            <a:pPr algn="just">
              <a:buFont typeface="Wingdings" panose="05000000000000000000" pitchFamily="2" charset="2"/>
              <a:buChar char="v"/>
            </a:pPr>
            <a:endParaRPr lang="fr-FR" sz="2800" dirty="0">
              <a:latin typeface="Cambria" panose="02040503050406030204" pitchFamily="18" charset="0"/>
              <a:ea typeface="Cambria" panose="02040503050406030204" pitchFamily="18" charset="0"/>
              <a:cs typeface="Gotham Light" pitchFamily="50" charset="0"/>
            </a:endParaRPr>
          </a:p>
          <a:p>
            <a:pPr algn="just">
              <a:buFont typeface="Wingdings" panose="05000000000000000000" pitchFamily="2" charset="2"/>
              <a:buChar char="v"/>
            </a:pPr>
            <a:r>
              <a:rPr lang="fr-FR" sz="2800" dirty="0">
                <a:latin typeface="Cambria" panose="02040503050406030204" pitchFamily="18" charset="0"/>
                <a:ea typeface="Cambria" panose="02040503050406030204" pitchFamily="18" charset="0"/>
                <a:cs typeface="Gotham Light" pitchFamily="50" charset="0"/>
              </a:rPr>
              <a:t>Les faits historiques nous montrent une utilisation néfaste</a:t>
            </a:r>
            <a:r>
              <a:rPr lang="fr-FR" sz="2800" baseline="30000" dirty="0">
                <a:latin typeface="Cambria" panose="02040503050406030204" pitchFamily="18" charset="0"/>
                <a:ea typeface="Cambria" panose="02040503050406030204" pitchFamily="18" charset="0"/>
                <a:cs typeface="Gotham Light" pitchFamily="50" charset="0"/>
              </a:rPr>
              <a:t>1</a:t>
            </a:r>
            <a:r>
              <a:rPr lang="fr-FR" sz="2800" dirty="0">
                <a:latin typeface="Cambria" panose="02040503050406030204" pitchFamily="18" charset="0"/>
                <a:ea typeface="Cambria" panose="02040503050406030204" pitchFamily="18" charset="0"/>
                <a:cs typeface="Gotham Light" pitchFamily="50" charset="0"/>
              </a:rPr>
              <a:t> de certaines technologies (étude des techniques)</a:t>
            </a:r>
          </a:p>
          <a:p>
            <a:pPr algn="just">
              <a:buFont typeface="Wingdings" panose="05000000000000000000" pitchFamily="2" charset="2"/>
              <a:buChar char="v"/>
            </a:pPr>
            <a:r>
              <a:rPr lang="fr-FR" sz="2800" dirty="0">
                <a:solidFill>
                  <a:schemeClr val="accent2"/>
                </a:solidFill>
                <a:latin typeface="Cambria" panose="02040503050406030204" pitchFamily="18" charset="0"/>
                <a:ea typeface="Cambria" panose="02040503050406030204" pitchFamily="18" charset="0"/>
                <a:cs typeface="Gotham Light" pitchFamily="50" charset="0"/>
              </a:rPr>
              <a:t>Technique</a:t>
            </a:r>
            <a:r>
              <a:rPr lang="fr-FR" sz="2800" dirty="0">
                <a:latin typeface="Cambria" panose="02040503050406030204" pitchFamily="18" charset="0"/>
                <a:ea typeface="Cambria" panose="02040503050406030204" pitchFamily="18" charset="0"/>
                <a:cs typeface="Gotham Light" pitchFamily="50" charset="0"/>
              </a:rPr>
              <a:t> = application des théories scientifiques qui vise l’utilité générale</a:t>
            </a:r>
          </a:p>
          <a:p>
            <a:pPr algn="just">
              <a:buFont typeface="Wingdings" panose="05000000000000000000" pitchFamily="2" charset="2"/>
              <a:buChar char="v"/>
            </a:pPr>
            <a:endParaRPr lang="fr-FR" sz="2800" dirty="0">
              <a:latin typeface="Cambria" panose="02040503050406030204" pitchFamily="18" charset="0"/>
              <a:ea typeface="Cambria" panose="02040503050406030204" pitchFamily="18" charset="0"/>
              <a:cs typeface="Gotham Light" pitchFamily="50" charset="0"/>
            </a:endParaRPr>
          </a:p>
          <a:p>
            <a:pPr algn="just">
              <a:buFont typeface="Wingdings" panose="05000000000000000000" pitchFamily="2" charset="2"/>
              <a:buChar char="v"/>
            </a:pPr>
            <a:r>
              <a:rPr lang="fr-FR" sz="2800" dirty="0">
                <a:latin typeface="Cambria" panose="02040503050406030204" pitchFamily="18" charset="0"/>
                <a:ea typeface="Cambria" panose="02040503050406030204" pitchFamily="18" charset="0"/>
                <a:cs typeface="Gotham Light" pitchFamily="50" charset="0"/>
              </a:rPr>
              <a:t>*L’ingénieur utilise la technique pour répondre à des demandes sociétales = </a:t>
            </a:r>
            <a:r>
              <a:rPr lang="fr-FR" sz="2800" dirty="0">
                <a:solidFill>
                  <a:schemeClr val="accent2"/>
                </a:solidFill>
                <a:latin typeface="Cambria" panose="02040503050406030204" pitchFamily="18" charset="0"/>
                <a:ea typeface="Cambria" panose="02040503050406030204" pitchFamily="18" charset="0"/>
                <a:cs typeface="Gotham Light" pitchFamily="50" charset="0"/>
              </a:rPr>
              <a:t>interface entre la société et la science</a:t>
            </a:r>
          </a:p>
          <a:p>
            <a:pPr algn="just">
              <a:buFont typeface="Wingdings" panose="05000000000000000000" pitchFamily="2" charset="2"/>
              <a:buChar char="v"/>
            </a:pPr>
            <a:endParaRPr lang="fr-FR" sz="2800" dirty="0">
              <a:latin typeface="Cambria" panose="02040503050406030204" pitchFamily="18" charset="0"/>
              <a:ea typeface="Cambria" panose="02040503050406030204" pitchFamily="18" charset="0"/>
              <a:cs typeface="Gotham Light" pitchFamily="50" charset="0"/>
            </a:endParaRPr>
          </a:p>
          <a:p>
            <a:pPr algn="just">
              <a:buFont typeface="Wingdings" panose="05000000000000000000" pitchFamily="2" charset="2"/>
              <a:buChar char="v"/>
            </a:pPr>
            <a:r>
              <a:rPr lang="fr-FR" dirty="0">
                <a:solidFill>
                  <a:schemeClr val="tx1">
                    <a:lumMod val="85000"/>
                    <a:lumOff val="15000"/>
                  </a:schemeClr>
                </a:solidFill>
                <a:latin typeface="Cambria" panose="02040503050406030204" pitchFamily="18" charset="0"/>
                <a:ea typeface="Cambria" panose="02040503050406030204" pitchFamily="18" charset="0"/>
                <a:cs typeface="Gotham Light" pitchFamily="50" charset="0"/>
              </a:rPr>
              <a:t>Dérives issues des connaissances extraites de la science ?</a:t>
            </a:r>
          </a:p>
          <a:p>
            <a:pPr algn="just">
              <a:buFont typeface="Wingdings" panose="05000000000000000000" pitchFamily="2" charset="2"/>
              <a:buChar char="v"/>
            </a:pPr>
            <a:endParaRPr lang="fr-FR" sz="2800" dirty="0">
              <a:latin typeface="Gotham Light" pitchFamily="50" charset="0"/>
              <a:cs typeface="Gotham Light" pitchFamily="50" charset="0"/>
            </a:endParaRPr>
          </a:p>
        </p:txBody>
      </p:sp>
      <p:sp>
        <p:nvSpPr>
          <p:cNvPr id="7" name="Titre 1">
            <a:extLst>
              <a:ext uri="{FF2B5EF4-FFF2-40B4-BE49-F238E27FC236}">
                <a16:creationId xmlns:a16="http://schemas.microsoft.com/office/drawing/2014/main" id="{49461F9B-A08D-4FBA-A181-CBBAA8B9ABD9}"/>
              </a:ext>
            </a:extLst>
          </p:cNvPr>
          <p:cNvSpPr>
            <a:spLocks noGrp="1"/>
          </p:cNvSpPr>
          <p:nvPr>
            <p:ph type="title"/>
          </p:nvPr>
        </p:nvSpPr>
        <p:spPr>
          <a:xfrm>
            <a:off x="2117557" y="241420"/>
            <a:ext cx="9400674" cy="746560"/>
          </a:xfrm>
        </p:spPr>
        <p:txBody>
          <a:bodyPr>
            <a:normAutofit/>
          </a:bodyPr>
          <a:lstStyle/>
          <a:p>
            <a:pPr algn="ctr"/>
            <a:r>
              <a:rPr lang="fr-FR" sz="3200" dirty="0">
                <a:solidFill>
                  <a:srgbClr val="0070C0"/>
                </a:solidFill>
                <a:latin typeface="Cambria" panose="02040503050406030204" pitchFamily="18" charset="0"/>
                <a:ea typeface="Cambria" panose="02040503050406030204" pitchFamily="18" charset="0"/>
                <a:cs typeface="Gotham Medium" pitchFamily="50" charset="0"/>
              </a:rPr>
              <a:t>Problématisation entre éthique et science (3/3)</a:t>
            </a:r>
            <a:endParaRPr lang="fr-FR" sz="2800" dirty="0">
              <a:solidFill>
                <a:srgbClr val="0070C0"/>
              </a:solidFill>
              <a:latin typeface="Cambria" panose="02040503050406030204" pitchFamily="18" charset="0"/>
              <a:ea typeface="Cambria" panose="02040503050406030204" pitchFamily="18" charset="0"/>
              <a:cs typeface="Gotham Medium" pitchFamily="50" charset="0"/>
            </a:endParaRPr>
          </a:p>
        </p:txBody>
      </p:sp>
    </p:spTree>
    <p:extLst>
      <p:ext uri="{BB962C8B-B14F-4D97-AF65-F5344CB8AC3E}">
        <p14:creationId xmlns:p14="http://schemas.microsoft.com/office/powerpoint/2010/main" val="3114715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DD65C48-DCD8-CD4F-B757-4CC0ABDED884}"/>
              </a:ext>
            </a:extLst>
          </p:cNvPr>
          <p:cNvSpPr>
            <a:spLocks noGrp="1"/>
          </p:cNvSpPr>
          <p:nvPr>
            <p:ph idx="1"/>
          </p:nvPr>
        </p:nvSpPr>
        <p:spPr>
          <a:xfrm>
            <a:off x="1106054" y="1520825"/>
            <a:ext cx="10515600" cy="4351338"/>
          </a:xfrm>
        </p:spPr>
        <p:txBody>
          <a:bodyPr/>
          <a:lstStyle/>
          <a:p>
            <a:r>
              <a:rPr lang="fr-FR" b="1" dirty="0">
                <a:latin typeface="Cambria" panose="02040503050406030204" pitchFamily="18" charset="0"/>
              </a:rPr>
              <a:t>Introduction à une réflexion sur "éthique et science":  les imaginaires de la connaissance et de la transgression.</a:t>
            </a:r>
          </a:p>
          <a:p>
            <a:r>
              <a:rPr lang="fr-FR" b="1" dirty="0">
                <a:latin typeface="Cambria" panose="02040503050406030204" pitchFamily="18" charset="0"/>
              </a:rPr>
              <a:t>Quels types de bornes doit-on mettre face au développement des connaissances ?</a:t>
            </a:r>
          </a:p>
          <a:p>
            <a:r>
              <a:rPr lang="fr-FR" b="1" dirty="0">
                <a:latin typeface="Cambria" panose="02040503050406030204" pitchFamily="18" charset="0"/>
              </a:rPr>
              <a:t>Le risque de l’</a:t>
            </a:r>
            <a:r>
              <a:rPr lang="fr-FR" b="1" i="1" dirty="0" err="1">
                <a:latin typeface="Cambria" panose="02040503050406030204" pitchFamily="18" charset="0"/>
              </a:rPr>
              <a:t>hybris</a:t>
            </a:r>
            <a:r>
              <a:rPr lang="fr-FR" b="1" dirty="0">
                <a:latin typeface="Cambria" panose="02040503050406030204" pitchFamily="18" charset="0"/>
              </a:rPr>
              <a:t> à la lumière des mythes.</a:t>
            </a:r>
            <a:endParaRPr lang="fr-FR" sz="5400" b="1" dirty="0">
              <a:solidFill>
                <a:schemeClr val="tx1">
                  <a:lumMod val="85000"/>
                  <a:lumOff val="15000"/>
                </a:schemeClr>
              </a:solidFill>
              <a:latin typeface="Cambria" panose="02040503050406030204" pitchFamily="18" charset="0"/>
              <a:cs typeface="Times New Roman" panose="02020603050405020304" pitchFamily="18" charset="0"/>
            </a:endParaRPr>
          </a:p>
          <a:p>
            <a:endParaRPr lang="fr-FR" dirty="0"/>
          </a:p>
        </p:txBody>
      </p:sp>
      <p:sp>
        <p:nvSpPr>
          <p:cNvPr id="4" name="Espace réservé du numéro de diapositive 3">
            <a:extLst>
              <a:ext uri="{FF2B5EF4-FFF2-40B4-BE49-F238E27FC236}">
                <a16:creationId xmlns:a16="http://schemas.microsoft.com/office/drawing/2014/main" id="{97E305A7-2955-804F-965E-F415143B6670}"/>
              </a:ext>
            </a:extLst>
          </p:cNvPr>
          <p:cNvSpPr>
            <a:spLocks noGrp="1"/>
          </p:cNvSpPr>
          <p:nvPr>
            <p:ph type="sldNum" sz="quarter" idx="12"/>
          </p:nvPr>
        </p:nvSpPr>
        <p:spPr/>
        <p:txBody>
          <a:bodyPr/>
          <a:lstStyle/>
          <a:p>
            <a:fld id="{8451C2F9-D2F6-4AB4-97F8-CBD41F7E86B7}" type="slidenum">
              <a:rPr lang="fr-FR" smtClean="0"/>
              <a:t>13</a:t>
            </a:fld>
            <a:endParaRPr lang="fr-FR"/>
          </a:p>
        </p:txBody>
      </p:sp>
    </p:spTree>
    <p:extLst>
      <p:ext uri="{BB962C8B-B14F-4D97-AF65-F5344CB8AC3E}">
        <p14:creationId xmlns:p14="http://schemas.microsoft.com/office/powerpoint/2010/main" val="3592620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F1C306-B920-414F-814B-F4851B683FDE}"/>
              </a:ext>
            </a:extLst>
          </p:cNvPr>
          <p:cNvSpPr>
            <a:spLocks noGrp="1"/>
          </p:cNvSpPr>
          <p:nvPr>
            <p:ph idx="1"/>
          </p:nvPr>
        </p:nvSpPr>
        <p:spPr>
          <a:xfrm>
            <a:off x="838201" y="745067"/>
            <a:ext cx="5257800" cy="5203788"/>
          </a:xfrm>
        </p:spPr>
        <p:txBody>
          <a:bodyPr>
            <a:normAutofit fontScale="25000" lnSpcReduction="20000"/>
          </a:bodyPr>
          <a:lstStyle/>
          <a:p>
            <a:pPr marL="0" indent="0">
              <a:buNone/>
            </a:pPr>
            <a:r>
              <a:rPr lang="fr-FR" sz="12800" b="1" dirty="0">
                <a:latin typeface="Cambria" panose="02040503050406030204" pitchFamily="18" charset="0"/>
                <a:ea typeface="Cambria" panose="02040503050406030204" pitchFamily="18" charset="0"/>
              </a:rPr>
              <a:t>La Genèse et le fruit de l’arbre de la connaissance du bien et du mal</a:t>
            </a:r>
          </a:p>
          <a:p>
            <a:pPr marL="0" indent="0">
              <a:buNone/>
            </a:pPr>
            <a:endParaRPr lang="fr-FR" dirty="0">
              <a:latin typeface="Cambria" panose="02040503050406030204" pitchFamily="18" charset="0"/>
            </a:endParaRPr>
          </a:p>
          <a:p>
            <a:endParaRPr lang="fr-FR" dirty="0"/>
          </a:p>
          <a:p>
            <a:endParaRPr lang="fr-FR" dirty="0"/>
          </a:p>
          <a:p>
            <a:pPr marL="0" indent="0">
              <a:buNone/>
            </a:pPr>
            <a:r>
              <a:rPr lang="fr-FR" sz="7200" dirty="0">
                <a:latin typeface="Cambria" panose="02040503050406030204" pitchFamily="18" charset="0"/>
                <a:ea typeface="Cambria" panose="02040503050406030204" pitchFamily="18" charset="0"/>
              </a:rPr>
              <a:t>Pour le fruit de l’arbre qui est au milieu du jardin, Dieu a dit : « Vous n’en mangerez pas, vous n’y toucherez pas, sinon vous mourrez. »</a:t>
            </a:r>
          </a:p>
          <a:p>
            <a:pPr marL="0" indent="0">
              <a:buNone/>
            </a:pPr>
            <a:r>
              <a:rPr lang="fr-FR" sz="7200" dirty="0">
                <a:latin typeface="Cambria" panose="02040503050406030204" pitchFamily="18" charset="0"/>
                <a:ea typeface="Cambria" panose="02040503050406030204" pitchFamily="18" charset="0"/>
              </a:rPr>
              <a:t>Le serpent dit à la femme : « Pas du tout ! Vous ne mourrez pas !</a:t>
            </a:r>
          </a:p>
          <a:p>
            <a:pPr marL="0" indent="0">
              <a:buNone/>
            </a:pPr>
            <a:r>
              <a:rPr lang="fr-FR" sz="7200" dirty="0">
                <a:latin typeface="Cambria" panose="02040503050406030204" pitchFamily="18" charset="0"/>
                <a:ea typeface="Cambria" panose="02040503050406030204" pitchFamily="18" charset="0"/>
              </a:rPr>
              <a:t>Mais Dieu sait que, le jour où vous en mangerez, vos yeux s’ouvriront, </a:t>
            </a:r>
            <a:r>
              <a:rPr lang="fr-FR" sz="7200" b="1" dirty="0">
                <a:latin typeface="Cambria" panose="02040503050406030204" pitchFamily="18" charset="0"/>
                <a:ea typeface="Cambria" panose="02040503050406030204" pitchFamily="18" charset="0"/>
              </a:rPr>
              <a:t>et vous serez comme des dieux</a:t>
            </a:r>
            <a:r>
              <a:rPr lang="fr-FR" sz="7200" dirty="0">
                <a:latin typeface="Cambria" panose="02040503050406030204" pitchFamily="18" charset="0"/>
                <a:ea typeface="Cambria" panose="02040503050406030204" pitchFamily="18" charset="0"/>
              </a:rPr>
              <a:t>, connaissant le bien et le mal. »</a:t>
            </a:r>
          </a:p>
          <a:p>
            <a:pPr marL="0" indent="0">
              <a:buNone/>
            </a:pPr>
            <a:r>
              <a:rPr lang="fr-FR" sz="7200" dirty="0">
                <a:latin typeface="Cambria" panose="02040503050406030204" pitchFamily="18" charset="0"/>
                <a:ea typeface="Cambria" panose="02040503050406030204" pitchFamily="18" charset="0"/>
              </a:rPr>
              <a:t>La femme s’aperçut que le fruit de l’arbre devait être savoureux, qu’il était agréable à regarder et qu’il était désirable, cet arbre, puisqu’il donnait l’intelligence. Elle prit de son fruit, et en mangea. Elle en donna aussi à son mari, et il en mangea.</a:t>
            </a:r>
          </a:p>
          <a:p>
            <a:pPr marL="0" indent="0">
              <a:buNone/>
            </a:pPr>
            <a:r>
              <a:rPr lang="fr-FR" sz="7200" b="1" dirty="0">
                <a:latin typeface="Cambria" panose="02040503050406030204" pitchFamily="18" charset="0"/>
                <a:ea typeface="Cambria" panose="02040503050406030204" pitchFamily="18" charset="0"/>
              </a:rPr>
              <a:t>Genèse, 3, 3 – 6.</a:t>
            </a:r>
          </a:p>
        </p:txBody>
      </p:sp>
      <p:sp>
        <p:nvSpPr>
          <p:cNvPr id="4" name="Espace réservé du numéro de diapositive 3">
            <a:extLst>
              <a:ext uri="{FF2B5EF4-FFF2-40B4-BE49-F238E27FC236}">
                <a16:creationId xmlns:a16="http://schemas.microsoft.com/office/drawing/2014/main" id="{EE4C6301-16E8-7147-8C36-84668F19E9A5}"/>
              </a:ext>
            </a:extLst>
          </p:cNvPr>
          <p:cNvSpPr>
            <a:spLocks noGrp="1"/>
          </p:cNvSpPr>
          <p:nvPr>
            <p:ph type="sldNum" sz="quarter" idx="12"/>
          </p:nvPr>
        </p:nvSpPr>
        <p:spPr/>
        <p:txBody>
          <a:bodyPr/>
          <a:lstStyle/>
          <a:p>
            <a:fld id="{8451C2F9-D2F6-4AB4-97F8-CBD41F7E86B7}" type="slidenum">
              <a:rPr lang="fr-FR" smtClean="0"/>
              <a:t>14</a:t>
            </a:fld>
            <a:endParaRPr lang="fr-FR"/>
          </a:p>
        </p:txBody>
      </p:sp>
      <p:pic>
        <p:nvPicPr>
          <p:cNvPr id="5" name="Image 4">
            <a:extLst>
              <a:ext uri="{FF2B5EF4-FFF2-40B4-BE49-F238E27FC236}">
                <a16:creationId xmlns:a16="http://schemas.microsoft.com/office/drawing/2014/main" id="{700F08FB-F8BF-574C-BE05-BFB4EA94DC24}"/>
              </a:ext>
            </a:extLst>
          </p:cNvPr>
          <p:cNvPicPr>
            <a:picLocks noChangeAspect="1"/>
          </p:cNvPicPr>
          <p:nvPr/>
        </p:nvPicPr>
        <p:blipFill>
          <a:blip r:embed="rId2"/>
          <a:stretch>
            <a:fillRect/>
          </a:stretch>
        </p:blipFill>
        <p:spPr>
          <a:xfrm>
            <a:off x="6096000" y="1529723"/>
            <a:ext cx="5457408" cy="3956621"/>
          </a:xfrm>
          <a:prstGeom prst="rect">
            <a:avLst/>
          </a:prstGeom>
        </p:spPr>
      </p:pic>
      <p:sp>
        <p:nvSpPr>
          <p:cNvPr id="6" name="ZoneTexte 5">
            <a:extLst>
              <a:ext uri="{FF2B5EF4-FFF2-40B4-BE49-F238E27FC236}">
                <a16:creationId xmlns:a16="http://schemas.microsoft.com/office/drawing/2014/main" id="{C84E90A2-CEC5-B942-8DAA-7C73C9846C0F}"/>
              </a:ext>
            </a:extLst>
          </p:cNvPr>
          <p:cNvSpPr txBox="1"/>
          <p:nvPr/>
        </p:nvSpPr>
        <p:spPr>
          <a:xfrm>
            <a:off x="6096000" y="5527944"/>
            <a:ext cx="5457408" cy="307777"/>
          </a:xfrm>
          <a:prstGeom prst="rect">
            <a:avLst/>
          </a:prstGeom>
          <a:noFill/>
        </p:spPr>
        <p:txBody>
          <a:bodyPr wrap="square" rtlCol="0">
            <a:spAutoFit/>
          </a:bodyPr>
          <a:lstStyle/>
          <a:p>
            <a:r>
              <a:rPr lang="fr-FR" sz="1400" b="1" i="1" dirty="0"/>
              <a:t>Expulsion </a:t>
            </a:r>
            <a:r>
              <a:rPr lang="fr-FR" sz="1400" b="1" i="1" dirty="0" err="1"/>
              <a:t>from</a:t>
            </a:r>
            <a:r>
              <a:rPr lang="fr-FR" sz="1400" b="1" i="1" dirty="0"/>
              <a:t> the Garden of Eden, </a:t>
            </a:r>
            <a:r>
              <a:rPr lang="fr-FR" sz="1400" dirty="0"/>
              <a:t>Thomas Cole, 1828.</a:t>
            </a:r>
          </a:p>
        </p:txBody>
      </p:sp>
    </p:spTree>
    <p:extLst>
      <p:ext uri="{BB962C8B-B14F-4D97-AF65-F5344CB8AC3E}">
        <p14:creationId xmlns:p14="http://schemas.microsoft.com/office/powerpoint/2010/main" val="2469060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220A385-391E-CF4E-956A-EEFE6622C23B}"/>
              </a:ext>
            </a:extLst>
          </p:cNvPr>
          <p:cNvSpPr>
            <a:spLocks noGrp="1"/>
          </p:cNvSpPr>
          <p:nvPr>
            <p:ph idx="1"/>
          </p:nvPr>
        </p:nvSpPr>
        <p:spPr>
          <a:xfrm>
            <a:off x="838200" y="897467"/>
            <a:ext cx="6918434" cy="5282616"/>
          </a:xfrm>
        </p:spPr>
        <p:txBody>
          <a:bodyPr>
            <a:normAutofit fontScale="70000" lnSpcReduction="20000"/>
          </a:bodyPr>
          <a:lstStyle/>
          <a:p>
            <a:pPr marL="0" indent="0">
              <a:buNone/>
            </a:pPr>
            <a:r>
              <a:rPr lang="fr-FR" b="1" dirty="0">
                <a:latin typeface="Cambria" panose="02040503050406030204" pitchFamily="18" charset="0"/>
                <a:ea typeface="Cambria" panose="02040503050406030204" pitchFamily="18" charset="0"/>
              </a:rPr>
              <a:t>Prométhée </a:t>
            </a:r>
          </a:p>
          <a:p>
            <a:pPr marL="0" indent="0">
              <a:buNone/>
            </a:pPr>
            <a:r>
              <a:rPr lang="fr-FR" dirty="0">
                <a:latin typeface="Cambria" panose="02040503050406030204" pitchFamily="18" charset="0"/>
                <a:ea typeface="Cambria" panose="02040503050406030204" pitchFamily="18" charset="0"/>
              </a:rPr>
              <a:t>Prométhée dérobe le feu sacré de l’Olympe pour le donner aux humains. Zeus le condamne à être attaché au sommet du mont Caucase, son foie dévoré par chaque jour par un aigle.</a:t>
            </a:r>
          </a:p>
          <a:p>
            <a:pPr marL="0" indent="0">
              <a:buNone/>
            </a:pPr>
            <a:r>
              <a:rPr lang="fr-FR" dirty="0">
                <a:latin typeface="Cambria" panose="02040503050406030204" pitchFamily="18" charset="0"/>
                <a:ea typeface="Cambria" panose="02040503050406030204" pitchFamily="18" charset="0"/>
              </a:rPr>
              <a:t>Dès que l’homme  se juge capable de maîtriser son destin, aussitôt il en vient à se révolter contre un dieu qui l’a asservi.</a:t>
            </a:r>
          </a:p>
          <a:p>
            <a:pPr marL="0" indent="0">
              <a:buNone/>
            </a:pPr>
            <a:r>
              <a:rPr lang="fr-FR" dirty="0">
                <a:latin typeface="Cambria" panose="02040503050406030204" pitchFamily="18" charset="0"/>
                <a:ea typeface="Cambria" panose="02040503050406030204" pitchFamily="18" charset="0"/>
              </a:rPr>
              <a:t>Prométhée est une figure de l’humanisme. Tout comme il peut choisir entre le bien et le mal, l’homme est libre de ses actions. Ainsi, il revendique sa propre possibilité de création. Prométhée, c’est l’homme qui, par son action, achève l’œuvre divine.</a:t>
            </a:r>
          </a:p>
          <a:p>
            <a:pPr marL="0" indent="0">
              <a:buNone/>
            </a:pPr>
            <a:r>
              <a:rPr lang="fr-FR" dirty="0">
                <a:latin typeface="Cambria" panose="02040503050406030204" pitchFamily="18" charset="0"/>
                <a:ea typeface="Cambria" panose="02040503050406030204" pitchFamily="18" charset="0"/>
              </a:rPr>
              <a:t>A la Renaissance, Prométhée devient l’incarnation de la condition humaine. </a:t>
            </a:r>
          </a:p>
          <a:p>
            <a:pPr marL="0" indent="0">
              <a:buNone/>
            </a:pPr>
            <a:r>
              <a:rPr lang="fr-FR" dirty="0">
                <a:latin typeface="Cambria" panose="02040503050406030204" pitchFamily="18" charset="0"/>
                <a:ea typeface="Cambria" panose="02040503050406030204" pitchFamily="18" charset="0"/>
              </a:rPr>
              <a:t>L’élan humaniste qui avait porté l’homme au centre de l’univers pour en faire le représentant de Dieu sur terre aboutit à faire de l’homme son propre dieu prêt à dénoncer toutes les contraintes qui pourraient limiter son essor.</a:t>
            </a:r>
          </a:p>
          <a:p>
            <a:pPr marL="0" indent="0">
              <a:buNone/>
            </a:pPr>
            <a:r>
              <a:rPr lang="fr-FR" dirty="0">
                <a:latin typeface="Cambria" panose="02040503050406030204" pitchFamily="18" charset="0"/>
                <a:ea typeface="Cambria" panose="02040503050406030204" pitchFamily="18" charset="0"/>
              </a:rPr>
              <a:t>Mais Prométhée symbolise aussi la souffrance de celui qui a voulu s’élever au-dessus de sa condition pour devenir le rival de Dieu. </a:t>
            </a:r>
          </a:p>
          <a:p>
            <a:pPr algn="just"/>
            <a:endParaRPr lang="fr-FR" dirty="0">
              <a:latin typeface="Cambria" panose="02040503050406030204" pitchFamily="18" charset="0"/>
              <a:ea typeface="Cambria" panose="02040503050406030204" pitchFamily="18" charset="0"/>
            </a:endParaRPr>
          </a:p>
          <a:p>
            <a:endParaRPr lang="fr-FR" dirty="0"/>
          </a:p>
        </p:txBody>
      </p:sp>
      <p:sp>
        <p:nvSpPr>
          <p:cNvPr id="4" name="Espace réservé du numéro de diapositive 3">
            <a:extLst>
              <a:ext uri="{FF2B5EF4-FFF2-40B4-BE49-F238E27FC236}">
                <a16:creationId xmlns:a16="http://schemas.microsoft.com/office/drawing/2014/main" id="{B1DE1137-8FEC-AE49-B00E-C15439F50788}"/>
              </a:ext>
            </a:extLst>
          </p:cNvPr>
          <p:cNvSpPr>
            <a:spLocks noGrp="1"/>
          </p:cNvSpPr>
          <p:nvPr>
            <p:ph type="sldNum" sz="quarter" idx="12"/>
          </p:nvPr>
        </p:nvSpPr>
        <p:spPr/>
        <p:txBody>
          <a:bodyPr/>
          <a:lstStyle/>
          <a:p>
            <a:fld id="{8451C2F9-D2F6-4AB4-97F8-CBD41F7E86B7}" type="slidenum">
              <a:rPr lang="fr-FR" smtClean="0"/>
              <a:t>15</a:t>
            </a:fld>
            <a:endParaRPr lang="fr-FR"/>
          </a:p>
        </p:txBody>
      </p:sp>
      <p:pic>
        <p:nvPicPr>
          <p:cNvPr id="5" name="Image 4">
            <a:extLst>
              <a:ext uri="{FF2B5EF4-FFF2-40B4-BE49-F238E27FC236}">
                <a16:creationId xmlns:a16="http://schemas.microsoft.com/office/drawing/2014/main" id="{0A35614B-4C72-E943-B2B3-AA0FEB0840C3}"/>
              </a:ext>
            </a:extLst>
          </p:cNvPr>
          <p:cNvPicPr>
            <a:picLocks noChangeAspect="1"/>
          </p:cNvPicPr>
          <p:nvPr/>
        </p:nvPicPr>
        <p:blipFill>
          <a:blip r:embed="rId3"/>
          <a:stretch>
            <a:fillRect/>
          </a:stretch>
        </p:blipFill>
        <p:spPr>
          <a:xfrm>
            <a:off x="7927178" y="757945"/>
            <a:ext cx="3703787" cy="4755877"/>
          </a:xfrm>
          <a:prstGeom prst="rect">
            <a:avLst/>
          </a:prstGeom>
        </p:spPr>
      </p:pic>
      <p:sp>
        <p:nvSpPr>
          <p:cNvPr id="6" name="ZoneTexte 5">
            <a:extLst>
              <a:ext uri="{FF2B5EF4-FFF2-40B4-BE49-F238E27FC236}">
                <a16:creationId xmlns:a16="http://schemas.microsoft.com/office/drawing/2014/main" id="{7F7D800B-1CA8-9D43-861C-CC12E6247A12}"/>
              </a:ext>
            </a:extLst>
          </p:cNvPr>
          <p:cNvSpPr txBox="1"/>
          <p:nvPr/>
        </p:nvSpPr>
        <p:spPr>
          <a:xfrm>
            <a:off x="7837714" y="5585353"/>
            <a:ext cx="4354286" cy="307777"/>
          </a:xfrm>
          <a:prstGeom prst="rect">
            <a:avLst/>
          </a:prstGeom>
          <a:noFill/>
        </p:spPr>
        <p:txBody>
          <a:bodyPr wrap="square" rtlCol="0">
            <a:spAutoFit/>
          </a:bodyPr>
          <a:lstStyle/>
          <a:p>
            <a:r>
              <a:rPr lang="fr-FR" sz="1400" b="1" i="1" dirty="0"/>
              <a:t>La Torture de Prométhée</a:t>
            </a:r>
            <a:r>
              <a:rPr lang="fr-FR" sz="1400" b="1" dirty="0"/>
              <a:t>, Jean Louis </a:t>
            </a:r>
            <a:r>
              <a:rPr lang="fr-FR" sz="1400" b="1" dirty="0" err="1"/>
              <a:t>Cesar</a:t>
            </a:r>
            <a:r>
              <a:rPr lang="fr-FR" sz="1400" b="1" dirty="0"/>
              <a:t> Lair, 1819.</a:t>
            </a:r>
            <a:endParaRPr lang="fr-FR" sz="1400" dirty="0"/>
          </a:p>
        </p:txBody>
      </p:sp>
    </p:spTree>
    <p:extLst>
      <p:ext uri="{BB962C8B-B14F-4D97-AF65-F5344CB8AC3E}">
        <p14:creationId xmlns:p14="http://schemas.microsoft.com/office/powerpoint/2010/main" val="3454418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87A5F99-D326-1342-B50E-F0D92C67945C}"/>
              </a:ext>
            </a:extLst>
          </p:cNvPr>
          <p:cNvSpPr>
            <a:spLocks noGrp="1"/>
          </p:cNvSpPr>
          <p:nvPr>
            <p:ph idx="1"/>
          </p:nvPr>
        </p:nvSpPr>
        <p:spPr/>
        <p:txBody>
          <a:bodyPr/>
          <a:lstStyle/>
          <a:p>
            <a:pPr marL="0" indent="0" algn="just">
              <a:buNone/>
            </a:pPr>
            <a:r>
              <a:rPr lang="fr-FR" dirty="0"/>
              <a:t>   </a:t>
            </a:r>
            <a:r>
              <a:rPr lang="fr-FR" sz="2400" dirty="0"/>
              <a:t>   </a:t>
            </a:r>
            <a:r>
              <a:rPr lang="fr-FR" sz="2400" i="1" dirty="0">
                <a:latin typeface="Cambria" panose="02040503050406030204" pitchFamily="18" charset="0"/>
              </a:rPr>
              <a:t> « L'avatar contemporain de Prométhée est le chercheur, le scientifique, l'</a:t>
            </a:r>
            <a:r>
              <a:rPr lang="fr-FR" sz="2400" i="1" dirty="0" err="1">
                <a:latin typeface="Cambria" panose="02040503050406030204" pitchFamily="18" charset="0"/>
              </a:rPr>
              <a:t>ingénieur</a:t>
            </a:r>
            <a:r>
              <a:rPr lang="fr-FR" sz="2400" i="1" dirty="0">
                <a:latin typeface="Cambria" panose="02040503050406030204" pitchFamily="18" charset="0"/>
              </a:rPr>
              <a:t>, le technicien dont les travaux sont </a:t>
            </a:r>
            <a:r>
              <a:rPr lang="fr-FR" sz="2400" i="1" dirty="0" err="1">
                <a:latin typeface="Cambria" panose="02040503050406030204" pitchFamily="18" charset="0"/>
              </a:rPr>
              <a:t>voués</a:t>
            </a:r>
            <a:r>
              <a:rPr lang="fr-FR" sz="2400" i="1" dirty="0">
                <a:latin typeface="Cambria" panose="02040503050406030204" pitchFamily="18" charset="0"/>
              </a:rPr>
              <a:t> au sein des laboratoires à multiplier les découvertes et les innovations. Ce Prométhée est plus dynamique que jamais, et tellement mieux armé qu'aux </a:t>
            </a:r>
            <a:r>
              <a:rPr lang="fr-FR" sz="2400" i="1" dirty="0" err="1">
                <a:latin typeface="Cambria" panose="02040503050406030204" pitchFamily="18" charset="0"/>
              </a:rPr>
              <a:t>débuts</a:t>
            </a:r>
            <a:r>
              <a:rPr lang="fr-FR" sz="2400" i="1" dirty="0">
                <a:latin typeface="Cambria" panose="02040503050406030204" pitchFamily="18" charset="0"/>
              </a:rPr>
              <a:t> de l'industrialisation pour exercer son génie inventif. Mais le champ de ses </a:t>
            </a:r>
            <a:r>
              <a:rPr lang="fr-FR" sz="2400" i="1" dirty="0" err="1">
                <a:latin typeface="Cambria" panose="02040503050406030204" pitchFamily="18" charset="0"/>
              </a:rPr>
              <a:t>activités</a:t>
            </a:r>
            <a:r>
              <a:rPr lang="fr-FR" sz="2400" i="1" dirty="0">
                <a:latin typeface="Cambria" panose="02040503050406030204" pitchFamily="18" charset="0"/>
              </a:rPr>
              <a:t> est </a:t>
            </a:r>
            <a:r>
              <a:rPr lang="fr-FR" sz="2400" i="1" dirty="0" err="1">
                <a:latin typeface="Cambria" panose="02040503050406030204" pitchFamily="18" charset="0"/>
              </a:rPr>
              <a:t>désormais</a:t>
            </a:r>
            <a:r>
              <a:rPr lang="fr-FR" sz="2400" i="1" dirty="0">
                <a:latin typeface="Cambria" panose="02040503050406030204" pitchFamily="18" charset="0"/>
              </a:rPr>
              <a:t> borné. </a:t>
            </a:r>
            <a:r>
              <a:rPr lang="fr-FR" sz="2400" i="1" dirty="0" err="1">
                <a:latin typeface="Cambria" panose="02040503050406030204" pitchFamily="18" charset="0"/>
              </a:rPr>
              <a:t>Prométhée</a:t>
            </a:r>
            <a:r>
              <a:rPr lang="fr-FR" sz="2400" i="1" dirty="0">
                <a:latin typeface="Cambria" panose="02040503050406030204" pitchFamily="18" charset="0"/>
              </a:rPr>
              <a:t> doit compter avec la </a:t>
            </a:r>
            <a:r>
              <a:rPr lang="fr-FR" sz="2400" i="1" dirty="0" err="1">
                <a:latin typeface="Cambria" panose="02040503050406030204" pitchFamily="18" charset="0"/>
              </a:rPr>
              <a:t>résistance</a:t>
            </a:r>
            <a:r>
              <a:rPr lang="fr-FR" sz="2400" i="1" dirty="0">
                <a:latin typeface="Cambria" panose="02040503050406030204" pitchFamily="18" charset="0"/>
              </a:rPr>
              <a:t> des choses, de la </a:t>
            </a:r>
            <a:r>
              <a:rPr lang="fr-FR" sz="2400" i="1" dirty="0" err="1">
                <a:latin typeface="Cambria" panose="02040503050406030204" pitchFamily="18" charset="0"/>
              </a:rPr>
              <a:t>matière</a:t>
            </a:r>
            <a:r>
              <a:rPr lang="fr-FR" sz="2400" i="1" dirty="0">
                <a:latin typeface="Cambria" panose="02040503050406030204" pitchFamily="18" charset="0"/>
              </a:rPr>
              <a:t>, de la nature et avec celle de l'homme, des institutions, des </a:t>
            </a:r>
            <a:r>
              <a:rPr lang="fr-FR" sz="2400" i="1" dirty="0" err="1">
                <a:latin typeface="Cambria" panose="02040503050406030204" pitchFamily="18" charset="0"/>
              </a:rPr>
              <a:t>sociétés</a:t>
            </a:r>
            <a:r>
              <a:rPr lang="fr-FR" sz="2400" i="1" dirty="0">
                <a:latin typeface="Cambria" panose="02040503050406030204" pitchFamily="18" charset="0"/>
              </a:rPr>
              <a:t>. La science est prise à ses propres </a:t>
            </a:r>
            <a:r>
              <a:rPr lang="fr-FR" sz="2400" i="1" dirty="0" err="1">
                <a:latin typeface="Cambria" panose="02040503050406030204" pitchFamily="18" charset="0"/>
              </a:rPr>
              <a:t>pièges</a:t>
            </a:r>
            <a:r>
              <a:rPr lang="fr-FR" sz="2400" i="1" dirty="0">
                <a:latin typeface="Cambria" panose="02040503050406030204" pitchFamily="18" charset="0"/>
              </a:rPr>
              <a:t>, et nul ne peut </a:t>
            </a:r>
            <a:r>
              <a:rPr lang="fr-FR" sz="2400" i="1" dirty="0" err="1">
                <a:latin typeface="Cambria" panose="02040503050406030204" pitchFamily="18" charset="0"/>
              </a:rPr>
              <a:t>céder</a:t>
            </a:r>
            <a:r>
              <a:rPr lang="fr-FR" sz="2400" i="1" dirty="0">
                <a:latin typeface="Cambria" panose="02040503050406030204" pitchFamily="18" charset="0"/>
              </a:rPr>
              <a:t> à l'ivresse des utopies du </a:t>
            </a:r>
            <a:r>
              <a:rPr lang="fr-FR" sz="2400" i="1" dirty="0" err="1">
                <a:latin typeface="Cambria" panose="02040503050406030204" pitchFamily="18" charset="0"/>
              </a:rPr>
              <a:t>progrès</a:t>
            </a:r>
            <a:r>
              <a:rPr lang="fr-FR" sz="2400" i="1" dirty="0">
                <a:latin typeface="Cambria" panose="02040503050406030204" pitchFamily="18" charset="0"/>
              </a:rPr>
              <a:t> sans savoir quel en est le </a:t>
            </a:r>
            <a:r>
              <a:rPr lang="fr-FR" sz="2400" i="1" dirty="0" err="1">
                <a:latin typeface="Cambria" panose="02040503050406030204" pitchFamily="18" charset="0"/>
              </a:rPr>
              <a:t>coût</a:t>
            </a:r>
            <a:r>
              <a:rPr lang="fr-FR" sz="2400" i="1" dirty="0">
                <a:latin typeface="Cambria" panose="02040503050406030204" pitchFamily="18" charset="0"/>
              </a:rPr>
              <a:t> . »</a:t>
            </a:r>
          </a:p>
          <a:p>
            <a:pPr marL="0" indent="0">
              <a:buNone/>
            </a:pPr>
            <a:endParaRPr lang="fr-FR" sz="2400" dirty="0"/>
          </a:p>
          <a:p>
            <a:pPr marL="0" indent="0">
              <a:buNone/>
            </a:pPr>
            <a:r>
              <a:rPr lang="fr-FR" sz="2400" dirty="0"/>
              <a:t>				</a:t>
            </a:r>
            <a:r>
              <a:rPr lang="fr-FR" sz="2400" dirty="0">
                <a:latin typeface="Cambria" panose="02040503050406030204" pitchFamily="18" charset="0"/>
              </a:rPr>
              <a:t>Jean-Jacques Salomon, </a:t>
            </a:r>
            <a:r>
              <a:rPr lang="fr-FR" sz="2400" i="1" dirty="0">
                <a:latin typeface="Cambria" panose="02040503050406030204" pitchFamily="18" charset="0"/>
              </a:rPr>
              <a:t>Le Destin Technologique.</a:t>
            </a:r>
          </a:p>
        </p:txBody>
      </p:sp>
      <p:sp>
        <p:nvSpPr>
          <p:cNvPr id="4" name="Espace réservé du numéro de diapositive 3">
            <a:extLst>
              <a:ext uri="{FF2B5EF4-FFF2-40B4-BE49-F238E27FC236}">
                <a16:creationId xmlns:a16="http://schemas.microsoft.com/office/drawing/2014/main" id="{28F8394F-8C07-D345-B896-DE55861DEE9D}"/>
              </a:ext>
            </a:extLst>
          </p:cNvPr>
          <p:cNvSpPr>
            <a:spLocks noGrp="1"/>
          </p:cNvSpPr>
          <p:nvPr>
            <p:ph type="sldNum" sz="quarter" idx="12"/>
          </p:nvPr>
        </p:nvSpPr>
        <p:spPr/>
        <p:txBody>
          <a:bodyPr/>
          <a:lstStyle/>
          <a:p>
            <a:fld id="{8451C2F9-D2F6-4AB4-97F8-CBD41F7E86B7}" type="slidenum">
              <a:rPr lang="fr-FR" smtClean="0"/>
              <a:t>16</a:t>
            </a:fld>
            <a:endParaRPr lang="fr-FR"/>
          </a:p>
        </p:txBody>
      </p:sp>
    </p:spTree>
    <p:extLst>
      <p:ext uri="{BB962C8B-B14F-4D97-AF65-F5344CB8AC3E}">
        <p14:creationId xmlns:p14="http://schemas.microsoft.com/office/powerpoint/2010/main" val="1871779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F34D6BA-BDA6-0E41-A211-89BC14F5211A}"/>
              </a:ext>
            </a:extLst>
          </p:cNvPr>
          <p:cNvSpPr>
            <a:spLocks noGrp="1"/>
          </p:cNvSpPr>
          <p:nvPr>
            <p:ph idx="1"/>
          </p:nvPr>
        </p:nvSpPr>
        <p:spPr>
          <a:xfrm>
            <a:off x="838200" y="762000"/>
            <a:ext cx="10515600" cy="5414963"/>
          </a:xfrm>
        </p:spPr>
        <p:txBody>
          <a:bodyPr/>
          <a:lstStyle/>
          <a:p>
            <a:pPr marL="0" indent="0">
              <a:buNone/>
            </a:pPr>
            <a:r>
              <a:rPr lang="fr-FR" b="1" dirty="0">
                <a:latin typeface="Cambria" panose="02040503050406030204" pitchFamily="18" charset="0"/>
              </a:rPr>
              <a:t>Icare</a:t>
            </a:r>
          </a:p>
          <a:p>
            <a:endParaRPr lang="fr-FR" dirty="0">
              <a:latin typeface="Cambria" panose="02040503050406030204" pitchFamily="18" charset="0"/>
            </a:endParaRPr>
          </a:p>
          <a:p>
            <a:pPr marL="0" indent="0">
              <a:buNone/>
            </a:pPr>
            <a:endParaRPr lang="fr-FR" dirty="0"/>
          </a:p>
          <a:p>
            <a:endParaRPr lang="fr-FR" dirty="0"/>
          </a:p>
        </p:txBody>
      </p:sp>
      <p:sp>
        <p:nvSpPr>
          <p:cNvPr id="4" name="Espace réservé du numéro de diapositive 3">
            <a:extLst>
              <a:ext uri="{FF2B5EF4-FFF2-40B4-BE49-F238E27FC236}">
                <a16:creationId xmlns:a16="http://schemas.microsoft.com/office/drawing/2014/main" id="{7B28749F-478E-6546-AEC3-4ED70B176541}"/>
              </a:ext>
            </a:extLst>
          </p:cNvPr>
          <p:cNvSpPr>
            <a:spLocks noGrp="1"/>
          </p:cNvSpPr>
          <p:nvPr>
            <p:ph type="sldNum" sz="quarter" idx="12"/>
          </p:nvPr>
        </p:nvSpPr>
        <p:spPr/>
        <p:txBody>
          <a:bodyPr/>
          <a:lstStyle/>
          <a:p>
            <a:fld id="{8451C2F9-D2F6-4AB4-97F8-CBD41F7E86B7}" type="slidenum">
              <a:rPr lang="fr-FR" smtClean="0"/>
              <a:t>17</a:t>
            </a:fld>
            <a:endParaRPr lang="fr-FR"/>
          </a:p>
        </p:txBody>
      </p:sp>
      <p:pic>
        <p:nvPicPr>
          <p:cNvPr id="5" name="Image 4">
            <a:extLst>
              <a:ext uri="{FF2B5EF4-FFF2-40B4-BE49-F238E27FC236}">
                <a16:creationId xmlns:a16="http://schemas.microsoft.com/office/drawing/2014/main" id="{5920F44F-8971-CD4F-861C-FEA1D8464AAD}"/>
              </a:ext>
            </a:extLst>
          </p:cNvPr>
          <p:cNvPicPr>
            <a:picLocks noChangeAspect="1"/>
          </p:cNvPicPr>
          <p:nvPr/>
        </p:nvPicPr>
        <p:blipFill>
          <a:blip r:embed="rId3"/>
          <a:stretch>
            <a:fillRect/>
          </a:stretch>
        </p:blipFill>
        <p:spPr>
          <a:xfrm>
            <a:off x="4704392" y="1204145"/>
            <a:ext cx="7093022" cy="3939355"/>
          </a:xfrm>
          <a:prstGeom prst="rect">
            <a:avLst/>
          </a:prstGeom>
        </p:spPr>
      </p:pic>
      <p:sp>
        <p:nvSpPr>
          <p:cNvPr id="6" name="Espace réservé du contenu 2">
            <a:extLst>
              <a:ext uri="{FF2B5EF4-FFF2-40B4-BE49-F238E27FC236}">
                <a16:creationId xmlns:a16="http://schemas.microsoft.com/office/drawing/2014/main" id="{A7ECC2AD-E6BC-431E-A084-74F0C0732F2C}"/>
              </a:ext>
            </a:extLst>
          </p:cNvPr>
          <p:cNvSpPr txBox="1">
            <a:spLocks/>
          </p:cNvSpPr>
          <p:nvPr/>
        </p:nvSpPr>
        <p:spPr>
          <a:xfrm>
            <a:off x="838201" y="1825624"/>
            <a:ext cx="3439886" cy="35546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fr-FR" sz="2000" dirty="0">
                <a:latin typeface="Cambria" panose="02040503050406030204" pitchFamily="18" charset="0"/>
                <a:ea typeface="Cambria" panose="02040503050406030204" pitchFamily="18" charset="0"/>
              </a:rPr>
              <a:t>Le mythe d’Icare symbolise le désir de repousser toujours plus loin les frontières de l'exploration et de la connaissance, au risque de soumettre sa condition humaine à une épreuve fatale.</a:t>
            </a:r>
            <a:br>
              <a:rPr lang="fr-FR" sz="2000" dirty="0">
                <a:latin typeface="Cambria" panose="02040503050406030204" pitchFamily="18" charset="0"/>
                <a:ea typeface="Cambria" panose="02040503050406030204" pitchFamily="18" charset="0"/>
              </a:rPr>
            </a:br>
            <a:r>
              <a:rPr lang="fr-FR" sz="2000" dirty="0">
                <a:latin typeface="Cambria" panose="02040503050406030204" pitchFamily="18" charset="0"/>
                <a:ea typeface="Cambria" panose="02040503050406030204" pitchFamily="18" charset="0"/>
              </a:rPr>
              <a:t>La </a:t>
            </a:r>
            <a:r>
              <a:rPr lang="fr-FR" sz="2000" b="1" dirty="0">
                <a:latin typeface="Cambria" panose="02040503050406030204" pitchFamily="18" charset="0"/>
                <a:ea typeface="Cambria" panose="02040503050406030204" pitchFamily="18" charset="0"/>
              </a:rPr>
              <a:t>chute d’Icare</a:t>
            </a:r>
            <a:r>
              <a:rPr lang="fr-FR" sz="2000" dirty="0">
                <a:latin typeface="Cambria" panose="02040503050406030204" pitchFamily="18" charset="0"/>
                <a:ea typeface="Cambria" panose="02040503050406030204" pitchFamily="18" charset="0"/>
              </a:rPr>
              <a:t> nous interpelle sur le châtiment réservé aux humains faisant preuve d’</a:t>
            </a:r>
            <a:r>
              <a:rPr lang="fr-FR" sz="2000" i="1" dirty="0">
                <a:latin typeface="Cambria" panose="02040503050406030204" pitchFamily="18" charset="0"/>
                <a:ea typeface="Cambria" panose="02040503050406030204" pitchFamily="18" charset="0"/>
              </a:rPr>
              <a:t>hybris</a:t>
            </a:r>
            <a:r>
              <a:rPr lang="fr-FR" sz="2000" dirty="0">
                <a:latin typeface="Cambria" panose="02040503050406030204" pitchFamily="18" charset="0"/>
                <a:ea typeface="Cambria" panose="02040503050406030204" pitchFamily="18" charset="0"/>
              </a:rPr>
              <a:t>. </a:t>
            </a:r>
            <a:endParaRPr lang="fr-FR" sz="2000" i="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10031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D48D52-B846-F941-971C-843183216E3A}"/>
              </a:ext>
            </a:extLst>
          </p:cNvPr>
          <p:cNvSpPr>
            <a:spLocks noGrp="1"/>
          </p:cNvSpPr>
          <p:nvPr>
            <p:ph type="title"/>
          </p:nvPr>
        </p:nvSpPr>
        <p:spPr>
          <a:xfrm>
            <a:off x="934644" y="733360"/>
            <a:ext cx="7000666" cy="5332944"/>
          </a:xfrm>
        </p:spPr>
        <p:txBody>
          <a:bodyPr>
            <a:normAutofit fontScale="90000"/>
          </a:bodyPr>
          <a:lstStyle/>
          <a:p>
            <a:r>
              <a:rPr lang="fr-FR" sz="3100" b="1" dirty="0">
                <a:latin typeface="Cambria" panose="02040503050406030204" pitchFamily="18" charset="0"/>
                <a:ea typeface="Cambria" panose="02040503050406030204" pitchFamily="18" charset="0"/>
              </a:rPr>
              <a:t>Le complexe de Frankenstein : quand la créature échappe à son créateur</a:t>
            </a:r>
            <a:br>
              <a:rPr lang="fr-FR" sz="2700" b="1" dirty="0">
                <a:latin typeface="Cambria" panose="02040503050406030204" pitchFamily="18" charset="0"/>
                <a:ea typeface="Cambria" panose="02040503050406030204" pitchFamily="18" charset="0"/>
              </a:rPr>
            </a:br>
            <a:br>
              <a:rPr lang="fr-FR" sz="2700" b="1" dirty="0">
                <a:latin typeface="Cambria" panose="02040503050406030204" pitchFamily="18" charset="0"/>
                <a:ea typeface="Cambria" panose="02040503050406030204" pitchFamily="18" charset="0"/>
              </a:rPr>
            </a:br>
            <a:r>
              <a:rPr lang="fr-FR" sz="2700" dirty="0">
                <a:latin typeface="Cambria" panose="02040503050406030204" pitchFamily="18" charset="0"/>
                <a:ea typeface="Cambria" panose="02040503050406030204" pitchFamily="18" charset="0"/>
              </a:rPr>
              <a:t>Le XIXe et le XXe siècle ont produit deux pensées antagonistes : d’une part, la foi dans les progrès de la science, et d’autre part, la méfiance et la peur face à ses dérives possibles.</a:t>
            </a:r>
            <a:br>
              <a:rPr lang="fr-FR" sz="2700" dirty="0">
                <a:latin typeface="Cambria" panose="02040503050406030204" pitchFamily="18" charset="0"/>
                <a:ea typeface="Cambria" panose="02040503050406030204" pitchFamily="18" charset="0"/>
              </a:rPr>
            </a:br>
            <a:r>
              <a:rPr lang="fr-FR" sz="2700" dirty="0">
                <a:latin typeface="Cambria" panose="02040503050406030204" pitchFamily="18" charset="0"/>
                <a:ea typeface="Cambria" panose="02040503050406030204" pitchFamily="18" charset="0"/>
              </a:rPr>
              <a:t>Ainsi naquit l’un des thèmes les plus populaires de la science-fiction : une créature échappe à son </a:t>
            </a:r>
            <a:r>
              <a:rPr lang="fr-FR" sz="2700" dirty="0" err="1">
                <a:latin typeface="Cambria" panose="02040503050406030204" pitchFamily="18" charset="0"/>
                <a:ea typeface="Cambria" panose="02040503050406030204" pitchFamily="18" charset="0"/>
              </a:rPr>
              <a:t>créatuer</a:t>
            </a:r>
            <a:r>
              <a:rPr lang="fr-FR" sz="2700" dirty="0">
                <a:latin typeface="Cambria" panose="02040503050406030204" pitchFamily="18" charset="0"/>
                <a:ea typeface="Cambria" panose="02040503050406030204" pitchFamily="18" charset="0"/>
              </a:rPr>
              <a:t> et se retourne contre lui. C’est « le complexe de Frankenstein », comme l’appellera Isaac Asimov, en référence à la créature du docteur Frankenstein dans le roman de Mary Shelley (1818). </a:t>
            </a:r>
            <a:br>
              <a:rPr lang="fr-FR" sz="2700" dirty="0">
                <a:latin typeface="Cambria" panose="02040503050406030204" pitchFamily="18" charset="0"/>
                <a:ea typeface="Cambria" panose="02040503050406030204" pitchFamily="18" charset="0"/>
              </a:rPr>
            </a:br>
            <a:endParaRPr lang="fr-FR" sz="2700" dirty="0">
              <a:latin typeface="Cambria" panose="02040503050406030204" pitchFamily="18" charset="0"/>
              <a:ea typeface="Cambria" panose="02040503050406030204" pitchFamily="18" charset="0"/>
            </a:endParaRPr>
          </a:p>
        </p:txBody>
      </p:sp>
      <p:pic>
        <p:nvPicPr>
          <p:cNvPr id="6" name="Espace réservé du contenu 5">
            <a:extLst>
              <a:ext uri="{FF2B5EF4-FFF2-40B4-BE49-F238E27FC236}">
                <a16:creationId xmlns:a16="http://schemas.microsoft.com/office/drawing/2014/main" id="{008C1A6C-5B3C-064C-8557-BA95207959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21564" y="520790"/>
            <a:ext cx="3555296" cy="5332944"/>
          </a:xfrm>
        </p:spPr>
      </p:pic>
      <p:sp>
        <p:nvSpPr>
          <p:cNvPr id="4" name="Espace réservé du numéro de diapositive 3">
            <a:extLst>
              <a:ext uri="{FF2B5EF4-FFF2-40B4-BE49-F238E27FC236}">
                <a16:creationId xmlns:a16="http://schemas.microsoft.com/office/drawing/2014/main" id="{5CB658F1-3ECE-494F-97E6-04552E505967}"/>
              </a:ext>
            </a:extLst>
          </p:cNvPr>
          <p:cNvSpPr>
            <a:spLocks noGrp="1"/>
          </p:cNvSpPr>
          <p:nvPr>
            <p:ph type="sldNum" sz="quarter" idx="12"/>
          </p:nvPr>
        </p:nvSpPr>
        <p:spPr/>
        <p:txBody>
          <a:bodyPr/>
          <a:lstStyle/>
          <a:p>
            <a:fld id="{8451C2F9-D2F6-4AB4-97F8-CBD41F7E86B7}" type="slidenum">
              <a:rPr lang="fr-FR" smtClean="0"/>
              <a:t>18</a:t>
            </a:fld>
            <a:endParaRPr lang="fr-FR"/>
          </a:p>
        </p:txBody>
      </p:sp>
      <p:sp>
        <p:nvSpPr>
          <p:cNvPr id="3" name="Rectangle 2">
            <a:extLst>
              <a:ext uri="{FF2B5EF4-FFF2-40B4-BE49-F238E27FC236}">
                <a16:creationId xmlns:a16="http://schemas.microsoft.com/office/drawing/2014/main" id="{F4530994-A07A-DF40-ADA1-401B58340EE4}"/>
              </a:ext>
            </a:extLst>
          </p:cNvPr>
          <p:cNvSpPr/>
          <p:nvPr/>
        </p:nvSpPr>
        <p:spPr>
          <a:xfrm>
            <a:off x="8221564" y="5392851"/>
            <a:ext cx="3731624" cy="369332"/>
          </a:xfrm>
          <a:prstGeom prst="rect">
            <a:avLst/>
          </a:prstGeom>
        </p:spPr>
        <p:txBody>
          <a:bodyPr wrap="square">
            <a:spAutoFit/>
          </a:bodyPr>
          <a:lstStyle/>
          <a:p>
            <a:r>
              <a:rPr lang="fr-FR" b="1" i="1" dirty="0"/>
              <a:t>Frankenstein</a:t>
            </a:r>
            <a:r>
              <a:rPr lang="fr-FR" b="1" dirty="0"/>
              <a:t>, par Bernie </a:t>
            </a:r>
            <a:r>
              <a:rPr lang="fr-FR" b="1" dirty="0" err="1"/>
              <a:t>Wrightson</a:t>
            </a:r>
            <a:endParaRPr lang="fr-FR" dirty="0"/>
          </a:p>
        </p:txBody>
      </p:sp>
    </p:spTree>
    <p:extLst>
      <p:ext uri="{BB962C8B-B14F-4D97-AF65-F5344CB8AC3E}">
        <p14:creationId xmlns:p14="http://schemas.microsoft.com/office/powerpoint/2010/main" val="1060910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C3FEC21-F380-184D-994A-FE256BAC0A49}"/>
              </a:ext>
            </a:extLst>
          </p:cNvPr>
          <p:cNvSpPr>
            <a:spLocks noGrp="1"/>
          </p:cNvSpPr>
          <p:nvPr>
            <p:ph idx="1"/>
          </p:nvPr>
        </p:nvSpPr>
        <p:spPr>
          <a:xfrm>
            <a:off x="838200" y="914400"/>
            <a:ext cx="10515600" cy="5262563"/>
          </a:xfrm>
        </p:spPr>
        <p:txBody>
          <a:bodyPr>
            <a:normAutofit fontScale="92500" lnSpcReduction="10000"/>
          </a:bodyPr>
          <a:lstStyle/>
          <a:p>
            <a:r>
              <a:rPr lang="fr-FR" dirty="0">
                <a:latin typeface="Cambria" panose="02040503050406030204" pitchFamily="18" charset="0"/>
              </a:rPr>
              <a:t>Le Château de Barbe-Bleue et la clé interdite. </a:t>
            </a:r>
          </a:p>
          <a:p>
            <a:endParaRPr lang="fr-FR" dirty="0">
              <a:latin typeface="Cambria" panose="02040503050406030204" pitchFamily="18" charset="0"/>
            </a:endParaRPr>
          </a:p>
          <a:p>
            <a:pPr marL="0" indent="0">
              <a:buNone/>
            </a:pPr>
            <a:r>
              <a:rPr lang="fr-FR" i="1" dirty="0">
                <a:latin typeface="Cambria" panose="02040503050406030204" pitchFamily="18" charset="0"/>
              </a:rPr>
              <a:t>«Longtemps, nous avons cru que le progrès de la morale allait de pair avec le développement de la culture. Le nazisme (…) a pulvérisé cette illusion : Buchenwald n'est situé qu'à quelques kilomètres de Weimar.</a:t>
            </a:r>
            <a:br>
              <a:rPr lang="fr-FR" i="1" dirty="0">
                <a:latin typeface="Cambria" panose="02040503050406030204" pitchFamily="18" charset="0"/>
              </a:rPr>
            </a:br>
            <a:r>
              <a:rPr lang="fr-FR" i="1" dirty="0">
                <a:latin typeface="Cambria" panose="02040503050406030204" pitchFamily="18" charset="0"/>
              </a:rPr>
              <a:t>Longtemps aussi, au moins depuis Athènes, nous avons été animés par la conviction que l'investigation intellectuelle devait aller toujours de l'avant et (…) nous conduire à ouvrir l'une après l'autre les portes du château de Barbe-Bleue. Mais cette foi dans le progrès est aujourd'hui vacillante: peut-être le développement technique est-il un piège et non une libération ; peut-être la dernière porte du château donne-t-elle sur des réalités contraires à notre équilibre mental et à nos maigres réserves morales.»</a:t>
            </a:r>
          </a:p>
          <a:p>
            <a:pPr marL="0" indent="0">
              <a:buNone/>
            </a:pPr>
            <a:br>
              <a:rPr lang="fr-FR" dirty="0">
                <a:latin typeface="Cambria" panose="02040503050406030204" pitchFamily="18" charset="0"/>
              </a:rPr>
            </a:br>
            <a:r>
              <a:rPr lang="fr-FR" dirty="0">
                <a:latin typeface="Cambria" panose="02040503050406030204" pitchFamily="18" charset="0"/>
              </a:rPr>
              <a:t>Alain Finkielkraut. </a:t>
            </a:r>
          </a:p>
          <a:p>
            <a:pPr marL="0" indent="0">
              <a:buNone/>
            </a:pPr>
            <a:endParaRPr lang="fr-FR" dirty="0"/>
          </a:p>
          <a:p>
            <a:endParaRPr lang="fr-FR" dirty="0"/>
          </a:p>
        </p:txBody>
      </p:sp>
      <p:sp>
        <p:nvSpPr>
          <p:cNvPr id="4" name="Espace réservé du numéro de diapositive 3">
            <a:extLst>
              <a:ext uri="{FF2B5EF4-FFF2-40B4-BE49-F238E27FC236}">
                <a16:creationId xmlns:a16="http://schemas.microsoft.com/office/drawing/2014/main" id="{C4690189-CA14-3A45-A5CD-374AED02CCC5}"/>
              </a:ext>
            </a:extLst>
          </p:cNvPr>
          <p:cNvSpPr>
            <a:spLocks noGrp="1"/>
          </p:cNvSpPr>
          <p:nvPr>
            <p:ph type="sldNum" sz="quarter" idx="12"/>
          </p:nvPr>
        </p:nvSpPr>
        <p:spPr/>
        <p:txBody>
          <a:bodyPr/>
          <a:lstStyle/>
          <a:p>
            <a:fld id="{8451C2F9-D2F6-4AB4-97F8-CBD41F7E86B7}" type="slidenum">
              <a:rPr lang="fr-FR" smtClean="0"/>
              <a:t>19</a:t>
            </a:fld>
            <a:endParaRPr lang="fr-FR"/>
          </a:p>
        </p:txBody>
      </p:sp>
    </p:spTree>
    <p:extLst>
      <p:ext uri="{BB962C8B-B14F-4D97-AF65-F5344CB8AC3E}">
        <p14:creationId xmlns:p14="http://schemas.microsoft.com/office/powerpoint/2010/main" val="201871445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BBBBB44617C9D41B212B2E264D58958" ma:contentTypeVersion="4" ma:contentTypeDescription="Crée un document." ma:contentTypeScope="" ma:versionID="d918869b6b1e82fc294c3fd81e1d5a57">
  <xsd:schema xmlns:xsd="http://www.w3.org/2001/XMLSchema" xmlns:xs="http://www.w3.org/2001/XMLSchema" xmlns:p="http://schemas.microsoft.com/office/2006/metadata/properties" xmlns:ns2="e44605a1-2ceb-48c5-9784-b5005a007fc4" targetNamespace="http://schemas.microsoft.com/office/2006/metadata/properties" ma:root="true" ma:fieldsID="e4fbadf0f91d9f954b914dcf48a6abec" ns2:_="">
    <xsd:import namespace="e44605a1-2ceb-48c5-9784-b5005a007f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4605a1-2ceb-48c5-9784-b5005a007f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15E7CA-6BC8-4E17-8EAC-AB6E36EFC566}"/>
</file>

<file path=customXml/itemProps2.xml><?xml version="1.0" encoding="utf-8"?>
<ds:datastoreItem xmlns:ds="http://schemas.openxmlformats.org/officeDocument/2006/customXml" ds:itemID="{38E14CC5-DC1E-4E05-B295-2662DDE0AD4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C426D2F-3519-40F3-A8F7-18D13574B6E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231</TotalTime>
  <Words>2380</Words>
  <Application>Microsoft Office PowerPoint</Application>
  <PresentationFormat>Grand écran</PresentationFormat>
  <Paragraphs>173</Paragraphs>
  <Slides>19</Slides>
  <Notes>12</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19</vt:i4>
      </vt:variant>
    </vt:vector>
  </HeadingPairs>
  <TitlesOfParts>
    <vt:vector size="29" baseType="lpstr">
      <vt:lpstr>Arial</vt:lpstr>
      <vt:lpstr>Calibri</vt:lpstr>
      <vt:lpstr>Calibri Light</vt:lpstr>
      <vt:lpstr>Cambria</vt:lpstr>
      <vt:lpstr>Gotham Light</vt:lpstr>
      <vt:lpstr>Gotham Medium</vt:lpstr>
      <vt:lpstr>Symbol</vt:lpstr>
      <vt:lpstr>Times New Roman</vt:lpstr>
      <vt:lpstr>Wingdings</vt:lpstr>
      <vt:lpstr>Thème Office</vt:lpstr>
      <vt:lpstr>Ethique et Science</vt:lpstr>
      <vt:lpstr>De quoi parle-t-on lorsqu’on parle d’éthique ?</vt:lpstr>
      <vt:lpstr>Introduction à l’éthique générale (1/4)</vt:lpstr>
      <vt:lpstr>Introduction à l’éthique générale (2/4)</vt:lpstr>
      <vt:lpstr>Introduction à l’éthique générale (3/4)</vt:lpstr>
      <vt:lpstr>Introduction à l’éthique générale (4/4)</vt:lpstr>
      <vt:lpstr>Pour introduire la science </vt:lpstr>
      <vt:lpstr>Présentation PowerPoint</vt:lpstr>
      <vt:lpstr>Présentation PowerPoint</vt:lpstr>
      <vt:lpstr>Problématisation entre éthique et science (1/3)</vt:lpstr>
      <vt:lpstr>Problématisation entre éthique et science (2/3)</vt:lpstr>
      <vt:lpstr>Problématisation entre éthique et science (3/3)</vt:lpstr>
      <vt:lpstr>Présentation PowerPoint</vt:lpstr>
      <vt:lpstr>Présentation PowerPoint</vt:lpstr>
      <vt:lpstr>Présentation PowerPoint</vt:lpstr>
      <vt:lpstr>Présentation PowerPoint</vt:lpstr>
      <vt:lpstr>Présentation PowerPoint</vt:lpstr>
      <vt:lpstr>Le complexe de Frankenstein : quand la créature échappe à son créateur  Le XIXe et le XXe siècle ont produit deux pensées antagonistes : d’une part, la foi dans les progrès de la science, et d’autre part, la méfiance et la peur face à ses dérives possibles. Ainsi naquit l’un des thèmes les plus populaires de la science-fiction : une créature échappe à son créatuer et se retourne contre lui. C’est « le complexe de Frankenstein », comme l’appellera Isaac Asimov, en référence à la créature du docteur Frankenstein dans le roman de Mary Shelley (1818).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Alexis Weinberg</dc:creator>
  <cp:lastModifiedBy>Pierre Plancoulaine</cp:lastModifiedBy>
  <cp:revision>38</cp:revision>
  <dcterms:created xsi:type="dcterms:W3CDTF">2021-01-22T13:41:31Z</dcterms:created>
  <dcterms:modified xsi:type="dcterms:W3CDTF">2024-10-12T15:41:44Z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0x0101004BBBBB44617C9D41B212B2E264D58958</vt:lpwstr>
  </property>
</Properties>
</file>