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4.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0.xml" ContentType="application/vnd.openxmlformats-officedocument.presentationml.slide+xml"/>
  <Override PartName="/ppt/slides/slide79.xml" ContentType="application/vnd.openxmlformats-officedocument.presentationml.slide+xml"/>
  <Override PartName="/ppt/slides/slide21.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22.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11.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12.xml" ContentType="application/vnd.openxmlformats-officedocument.presentationml.notesSlide+xml"/>
  <Override PartName="/ppt/notesSlides/notesSlide22.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theme/theme3.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 id="2147483660" r:id="rId2"/>
  </p:sldMasterIdLst>
  <p:notesMasterIdLst>
    <p:notesMasterId r:id="rId82"/>
  </p:notesMasterIdLst>
  <p:sldIdLst>
    <p:sldId id="256" r:id="rId3"/>
    <p:sldId id="727" r:id="rId4"/>
    <p:sldId id="257" r:id="rId5"/>
    <p:sldId id="421" r:id="rId6"/>
    <p:sldId id="438" r:id="rId7"/>
    <p:sldId id="393" r:id="rId8"/>
    <p:sldId id="378" r:id="rId9"/>
    <p:sldId id="261" r:id="rId10"/>
    <p:sldId id="356" r:id="rId11"/>
    <p:sldId id="428" r:id="rId12"/>
    <p:sldId id="429" r:id="rId13"/>
    <p:sldId id="361" r:id="rId14"/>
    <p:sldId id="381" r:id="rId15"/>
    <p:sldId id="363" r:id="rId16"/>
    <p:sldId id="430" r:id="rId17"/>
    <p:sldId id="364" r:id="rId18"/>
    <p:sldId id="431" r:id="rId19"/>
    <p:sldId id="365" r:id="rId20"/>
    <p:sldId id="366" r:id="rId21"/>
    <p:sldId id="367" r:id="rId22"/>
    <p:sldId id="394" r:id="rId23"/>
    <p:sldId id="424" r:id="rId24"/>
    <p:sldId id="349" r:id="rId25"/>
    <p:sldId id="307" r:id="rId26"/>
    <p:sldId id="350" r:id="rId27"/>
    <p:sldId id="433" r:id="rId28"/>
    <p:sldId id="382" r:id="rId29"/>
    <p:sldId id="432" r:id="rId30"/>
    <p:sldId id="434" r:id="rId31"/>
    <p:sldId id="435" r:id="rId32"/>
    <p:sldId id="351" r:id="rId33"/>
    <p:sldId id="383" r:id="rId34"/>
    <p:sldId id="352" r:id="rId35"/>
    <p:sldId id="389" r:id="rId36"/>
    <p:sldId id="384" r:id="rId37"/>
    <p:sldId id="353" r:id="rId38"/>
    <p:sldId id="354" r:id="rId39"/>
    <p:sldId id="284" r:id="rId40"/>
    <p:sldId id="285" r:id="rId41"/>
    <p:sldId id="399" r:id="rId42"/>
    <p:sldId id="310" r:id="rId43"/>
    <p:sldId id="286" r:id="rId44"/>
    <p:sldId id="398" r:id="rId45"/>
    <p:sldId id="390" r:id="rId46"/>
    <p:sldId id="287" r:id="rId47"/>
    <p:sldId id="385" r:id="rId48"/>
    <p:sldId id="301" r:id="rId49"/>
    <p:sldId id="308" r:id="rId50"/>
    <p:sldId id="395" r:id="rId51"/>
    <p:sldId id="289" r:id="rId52"/>
    <p:sldId id="426" r:id="rId53"/>
    <p:sldId id="386" r:id="rId54"/>
    <p:sldId id="290" r:id="rId55"/>
    <p:sldId id="292" r:id="rId56"/>
    <p:sldId id="425" r:id="rId57"/>
    <p:sldId id="422" r:id="rId58"/>
    <p:sldId id="436" r:id="rId59"/>
    <p:sldId id="427" r:id="rId60"/>
    <p:sldId id="402" r:id="rId61"/>
    <p:sldId id="403" r:id="rId62"/>
    <p:sldId id="404" r:id="rId63"/>
    <p:sldId id="405" r:id="rId64"/>
    <p:sldId id="406" r:id="rId65"/>
    <p:sldId id="409" r:id="rId66"/>
    <p:sldId id="412" r:id="rId67"/>
    <p:sldId id="413" r:id="rId68"/>
    <p:sldId id="415" r:id="rId69"/>
    <p:sldId id="414" r:id="rId70"/>
    <p:sldId id="416" r:id="rId71"/>
    <p:sldId id="437" r:id="rId72"/>
    <p:sldId id="294" r:id="rId73"/>
    <p:sldId id="392" r:id="rId74"/>
    <p:sldId id="391" r:id="rId75"/>
    <p:sldId id="400" r:id="rId76"/>
    <p:sldId id="302" r:id="rId77"/>
    <p:sldId id="295" r:id="rId78"/>
    <p:sldId id="388" r:id="rId79"/>
    <p:sldId id="423" r:id="rId80"/>
    <p:sldId id="299" r:id="rId81"/>
  </p:sldIdLst>
  <p:sldSz cx="12192000" cy="6858000"/>
  <p:notesSz cx="6858000" cy="9144000"/>
  <p:defaultTextStyle>
    <a:defPPr>
      <a:defRPr lang="fr-FR" alt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is Weinberg" initials="AW" lastIdx="1" clrIdx="0">
    <p:extLst>
      <p:ext uri="{19B8F6BF-5375-455C-9EA6-DF929625EA0E}">
        <p15:presenceInfo xmlns:p15="http://schemas.microsoft.com/office/powerpoint/2012/main" userId="68e851337faa5f1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2374" autoAdjust="0"/>
  </p:normalViewPr>
  <p:slideViewPr>
    <p:cSldViewPr snapToGrid="0">
      <p:cViewPr varScale="1">
        <p:scale>
          <a:sx n="68" d="100"/>
          <a:sy n="68" d="100"/>
        </p:scale>
        <p:origin x="114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89" Type="http://schemas.openxmlformats.org/officeDocument/2006/relationships/customXml" Target="../customXml/item2.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customXml" Target="../customXml/item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commentAuthors" Target="commentAuthors.xml"/><Relationship Id="rId88"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notesMaster" Target="notesMasters/notesMaster1.xml"/><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numCol="1" rtlCol="0"/>
          <a:lstStyle>
            <a:lvl1pPr algn="l">
              <a:defRPr sz="1200"/>
            </a:lvl1pPr>
          </a:lstStyle>
          <a:p>
            <a:endParaRPr lang="fr-FR" alt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numCol="1" rtlCol="0"/>
          <a:lstStyle>
            <a:lvl1pPr algn="r">
              <a:defRPr sz="1200"/>
            </a:lvl1pPr>
          </a:lstStyle>
          <a:p>
            <a:fld id="{5472127D-2F90-46AD-8E70-1C6468012F68}" type="datetimeFigureOut">
              <a:rPr lang="fr-FR" altLang="fr-FR" smtClean="0"/>
              <a:t>27/10/2023</a:t>
            </a:fld>
            <a:endParaRPr lang="fr-FR" alt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numCol="1" rtlCol="0" anchor="ctr"/>
          <a:lstStyle/>
          <a:p>
            <a:endParaRPr lang="fr-FR" alt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numCol="1" rtlCol="0"/>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numCol="1" rtlCol="0" anchor="b"/>
          <a:lstStyle>
            <a:lvl1pPr algn="l">
              <a:defRPr sz="1200"/>
            </a:lvl1pPr>
          </a:lstStyle>
          <a:p>
            <a:endParaRPr lang="fr-FR" alt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numCol="1" rtlCol="0" anchor="b"/>
          <a:lstStyle>
            <a:lvl1pPr algn="r">
              <a:defRPr sz="1200"/>
            </a:lvl1pPr>
          </a:lstStyle>
          <a:p>
            <a:fld id="{6DF1160C-CE2F-426B-8608-ED458F59F52B}" type="slidenum">
              <a:rPr lang="fr-FR" altLang="fr-FR" smtClean="0"/>
              <a:t>‹N°›</a:t>
            </a:fld>
            <a:endParaRPr lang="fr-FR" altLang="fr-FR"/>
          </a:p>
        </p:txBody>
      </p:sp>
    </p:spTree>
    <p:extLst>
      <p:ext uri="{BB962C8B-B14F-4D97-AF65-F5344CB8AC3E}">
        <p14:creationId xmlns:p14="http://schemas.microsoft.com/office/powerpoint/2010/main" val="106727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Remarque</a:t>
            </a:r>
            <a:r>
              <a:rPr lang="fr-FR" altLang="fr-FR" dirty="0"/>
              <a:t> : Ce support de cours vaut pour une double séances, soit deux fois 1h30. </a:t>
            </a:r>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1</a:t>
            </a:fld>
            <a:endParaRPr lang="fr-FR" altLang="fr-FR"/>
          </a:p>
        </p:txBody>
      </p:sp>
    </p:spTree>
    <p:extLst>
      <p:ext uri="{BB962C8B-B14F-4D97-AF65-F5344CB8AC3E}">
        <p14:creationId xmlns:p14="http://schemas.microsoft.com/office/powerpoint/2010/main" val="327452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p>
          <a:p>
            <a:endParaRPr lang="fr-FR" altLang="fr-FR" dirty="0"/>
          </a:p>
          <a:p>
            <a:r>
              <a:rPr lang="fr-FR" altLang="fr-FR" dirty="0"/>
              <a:t>La citation est l’incipit du petit ouvrage suivant : Dominique Bourg, </a:t>
            </a:r>
            <a:r>
              <a:rPr lang="fr-FR" altLang="fr-FR" i="1" dirty="0"/>
              <a:t>Quel AVENIR pour le développement durable ?, </a:t>
            </a:r>
            <a:r>
              <a:rPr lang="fr-FR" altLang="fr-FR" dirty="0"/>
              <a:t>Le Pommier, coll. « Les Petites Pommes du Savoir », 2002.</a:t>
            </a:r>
          </a:p>
          <a:p>
            <a:endParaRPr lang="fr-FR" altLang="fr-FR" dirty="0"/>
          </a:p>
          <a:p>
            <a:r>
              <a:rPr lang="fr-FR" altLang="fr-FR" dirty="0"/>
              <a:t>La notion de développement durable a été très à la mode dans les années 2000. Elle marquait la conscience croissante de changements globaux, dus à l’activité humaine, tout en considérant qu’il était encore possible de conserver un mode de développement relativement stable, moyennant un certain nombre d’adaptations techniques. Si cette option reste défendue par certains, le paradigme de la « collapsologie » témoigne d’une étape supplémentaire franchie dans la pensée écologique.</a:t>
            </a:r>
          </a:p>
          <a:p>
            <a:endParaRPr lang="fr-FR" altLang="fr-FR" dirty="0"/>
          </a:p>
          <a:p>
            <a:r>
              <a:rPr lang="fr-FR" altLang="fr-FR" dirty="0"/>
              <a:t>Wikipédia : « Le nom d'Objectifs de développement durable (ODD) (en anglais : </a:t>
            </a:r>
            <a:r>
              <a:rPr lang="fr-FR" altLang="fr-FR" dirty="0" err="1"/>
              <a:t>Sustainable</a:t>
            </a:r>
            <a:r>
              <a:rPr lang="fr-FR" altLang="fr-FR" dirty="0"/>
              <a:t> </a:t>
            </a:r>
            <a:r>
              <a:rPr lang="fr-FR" altLang="fr-FR" dirty="0" err="1"/>
              <a:t>Development</a:t>
            </a:r>
            <a:r>
              <a:rPr lang="fr-FR" altLang="fr-FR" dirty="0"/>
              <a:t> Goals, ou </a:t>
            </a:r>
            <a:r>
              <a:rPr lang="fr-FR" altLang="fr-FR" dirty="0" err="1"/>
              <a:t>SDGs</a:t>
            </a:r>
            <a:r>
              <a:rPr lang="fr-FR" altLang="fr-FR" dirty="0"/>
              <a:t>) est couramment utilisé pour désigner les dix-sept objectifs établis par les États membres des Nations unies et qui sont rassemblés dans l'Agenda 2030. Cet agenda a été adopté par l'ONU en septembre 2015 après deux ans de négociations incluant les gouvernements comme la société civile. Il définit des cibles à atteindre à l'horizon 2030, définies ODD par ODD. Les cibles sont au nombre de 1691 et sont communes à tous les pays engagés. »</a:t>
            </a:r>
          </a:p>
          <a:p>
            <a:endParaRPr lang="fr-FR" altLang="fr-FR" dirty="0"/>
          </a:p>
          <a:p>
            <a:r>
              <a:rPr lang="fr-FR" altLang="fr-FR" dirty="0"/>
              <a:t>Pour suivre ces évolutions des usages lexicaux, on peut utiliser l’outil « Google trends ».</a:t>
            </a:r>
          </a:p>
          <a:p>
            <a:endParaRPr lang="fr-FR" altLang="fr-FR" dirty="0"/>
          </a:p>
          <a:p>
            <a:r>
              <a:rPr lang="fr-FR" altLang="fr-FR" dirty="0"/>
              <a:t>Mais pris en un sens large, et appelant une « grande transition », le « développement durable » est véritablement l’enjeu de notre temps. L’article Wikipédia est riche et informatif : https://fr.wikipedia.org/wiki/D%C3%A9veloppement_durable </a:t>
            </a:r>
          </a:p>
          <a:p>
            <a:endParaRPr lang="fr-FR" altLang="fr-FR" dirty="0"/>
          </a:p>
          <a:p>
            <a:endParaRPr lang="fr-FR" altLang="fr-FR" dirty="0"/>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9</a:t>
            </a:fld>
            <a:endParaRPr lang="fr-FR" altLang="fr-FR"/>
          </a:p>
        </p:txBody>
      </p:sp>
    </p:spTree>
    <p:extLst>
      <p:ext uri="{BB962C8B-B14F-4D97-AF65-F5344CB8AC3E}">
        <p14:creationId xmlns:p14="http://schemas.microsoft.com/office/powerpoint/2010/main" val="754854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endParaRPr lang="fr-FR" altLang="fr-FR" dirty="0"/>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10</a:t>
            </a:fld>
            <a:endParaRPr lang="fr-FR" altLang="fr-FR"/>
          </a:p>
        </p:txBody>
      </p:sp>
    </p:spTree>
    <p:extLst>
      <p:ext uri="{BB962C8B-B14F-4D97-AF65-F5344CB8AC3E}">
        <p14:creationId xmlns:p14="http://schemas.microsoft.com/office/powerpoint/2010/main" val="3916900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endParaRPr lang="fr-FR" altLang="fr-FR" dirty="0"/>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11</a:t>
            </a:fld>
            <a:endParaRPr lang="fr-FR" altLang="fr-FR"/>
          </a:p>
        </p:txBody>
      </p:sp>
    </p:spTree>
    <p:extLst>
      <p:ext uri="{BB962C8B-B14F-4D97-AF65-F5344CB8AC3E}">
        <p14:creationId xmlns:p14="http://schemas.microsoft.com/office/powerpoint/2010/main" val="7133285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pPr marL="0" marR="0" lvl="0" indent="0" algn="l" defTabSz="914400" rtl="0" eaLnBrk="1" latinLnBrk="0" hangingPunct="1">
              <a:lnSpc>
                <a:spcPct val="100000"/>
              </a:lnSpc>
              <a:spcBef>
                <a:spcPts val="0"/>
              </a:spcBef>
              <a:spcAft>
                <a:spcPts val="0"/>
              </a:spcAft>
              <a:buClrTx/>
              <a:buSzTx/>
              <a:buFontTx/>
              <a:buNone/>
              <a:tabLst/>
              <a:defRPr/>
            </a:pPr>
            <a:r>
              <a:rPr lang="fr-FR" altLang="fr-FR" u="sng" dirty="0"/>
              <a:t>Pour aller plus loin :</a:t>
            </a:r>
          </a:p>
          <a:p>
            <a:r>
              <a:rPr lang="fr-FR" altLang="fr-FR" dirty="0"/>
              <a:t>Quelques implications de la notion de « développement durable »</a:t>
            </a:r>
          </a:p>
          <a:p>
            <a:r>
              <a:rPr lang="fr-FR" altLang="fr-FR" dirty="0"/>
              <a:t>L’expression « </a:t>
            </a:r>
            <a:r>
              <a:rPr lang="fr-FR" altLang="fr-FR" i="1" dirty="0" err="1"/>
              <a:t>sustainable</a:t>
            </a:r>
            <a:r>
              <a:rPr lang="fr-FR" altLang="fr-FR" i="1" dirty="0"/>
              <a:t> </a:t>
            </a:r>
            <a:r>
              <a:rPr lang="fr-FR" altLang="fr-FR" i="1" dirty="0" err="1"/>
              <a:t>development</a:t>
            </a:r>
            <a:r>
              <a:rPr lang="fr-FR" altLang="fr-FR" i="1" dirty="0"/>
              <a:t> </a:t>
            </a:r>
            <a:r>
              <a:rPr lang="fr-FR" altLang="fr-FR" dirty="0"/>
              <a:t>» apparaît pour la première fois en 1980, lors d’une conférence internationale (voir Dominique Bourg, 2002, p. 15)</a:t>
            </a:r>
          </a:p>
          <a:p>
            <a:r>
              <a:rPr lang="fr-FR" altLang="fr-FR" dirty="0"/>
              <a:t>Le rapport </a:t>
            </a:r>
            <a:r>
              <a:rPr lang="fr-FR" altLang="fr-FR" dirty="0" err="1"/>
              <a:t>Brutland</a:t>
            </a:r>
            <a:r>
              <a:rPr lang="fr-FR" altLang="fr-FR" dirty="0"/>
              <a:t> qui en donne une définition canonique s’intitule « Notre avenir à tous ». Il est consultable en ligne, traduit en français : https://fr.wikisource.org/wiki/Notre_avenir_%C3%A0_tous_-_Rapport_Brundtland </a:t>
            </a:r>
          </a:p>
          <a:p>
            <a:r>
              <a:rPr lang="fr-FR" altLang="fr-FR" dirty="0"/>
              <a:t>Cette définition du développement durable implique qu’on ne mette « pas en danger les systèmes naturels qui nous font vivre : l’atmosphère, l’eau, les sols et les êtres vivants ».</a:t>
            </a:r>
          </a:p>
          <a:p>
            <a:r>
              <a:rPr lang="fr-FR" altLang="fr-FR" dirty="0"/>
              <a:t>Cette idée n’implique pas une « croissance zéro », qui serait préjudiciable aux pays du Sud, mais elle implique </a:t>
            </a:r>
            <a:r>
              <a:rPr lang="fr-FR" altLang="fr-FR" b="1" dirty="0"/>
              <a:t>une idée de contrôle de la croissance des flux de matière première et d’énergie</a:t>
            </a:r>
            <a:r>
              <a:rPr lang="fr-FR" altLang="fr-FR" dirty="0"/>
              <a:t>. C’est donc le résultat d’un compromis diplomatique.</a:t>
            </a:r>
          </a:p>
          <a:p>
            <a:endParaRPr lang="fr-FR" altLang="fr-FR" dirty="0"/>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12</a:t>
            </a:fld>
            <a:endParaRPr lang="fr-FR" altLang="fr-FR"/>
          </a:p>
        </p:txBody>
      </p:sp>
    </p:spTree>
    <p:extLst>
      <p:ext uri="{BB962C8B-B14F-4D97-AF65-F5344CB8AC3E}">
        <p14:creationId xmlns:p14="http://schemas.microsoft.com/office/powerpoint/2010/main" val="3887358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endParaRPr lang="fr-FR" altLang="fr-FR" dirty="0"/>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13</a:t>
            </a:fld>
            <a:endParaRPr lang="fr-FR" altLang="fr-FR"/>
          </a:p>
        </p:txBody>
      </p:sp>
    </p:spTree>
    <p:extLst>
      <p:ext uri="{BB962C8B-B14F-4D97-AF65-F5344CB8AC3E}">
        <p14:creationId xmlns:p14="http://schemas.microsoft.com/office/powerpoint/2010/main" val="2124478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endParaRPr lang="fr-FR" altLang="fr-FR" dirty="0"/>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16</a:t>
            </a:fld>
            <a:endParaRPr lang="fr-FR" altLang="fr-FR"/>
          </a:p>
        </p:txBody>
      </p:sp>
    </p:spTree>
    <p:extLst>
      <p:ext uri="{BB962C8B-B14F-4D97-AF65-F5344CB8AC3E}">
        <p14:creationId xmlns:p14="http://schemas.microsoft.com/office/powerpoint/2010/main" val="3664163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endParaRPr lang="fr-FR" altLang="fr-FR" dirty="0"/>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17</a:t>
            </a:fld>
            <a:endParaRPr lang="fr-FR" altLang="fr-FR"/>
          </a:p>
        </p:txBody>
      </p:sp>
    </p:spTree>
    <p:extLst>
      <p:ext uri="{BB962C8B-B14F-4D97-AF65-F5344CB8AC3E}">
        <p14:creationId xmlns:p14="http://schemas.microsoft.com/office/powerpoint/2010/main" val="1075177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pPr algn="l"/>
            <a:r>
              <a:rPr lang="fr-FR" altLang="fr-FR" u="sng" dirty="0"/>
              <a:t>Pour aller plus loin </a:t>
            </a:r>
            <a:r>
              <a:rPr lang="fr-FR" altLang="fr-FR" dirty="0"/>
              <a:t>: </a:t>
            </a:r>
          </a:p>
          <a:p>
            <a:endParaRPr lang="fr-FR" altLang="fr-FR" dirty="0"/>
          </a:p>
          <a:p>
            <a:r>
              <a:rPr lang="fr-FR" altLang="fr-FR" dirty="0"/>
              <a:t>1) L’opposition entre « </a:t>
            </a:r>
            <a:r>
              <a:rPr lang="fr-FR" altLang="fr-FR" b="1" dirty="0"/>
              <a:t>collapsologie</a:t>
            </a:r>
            <a:r>
              <a:rPr lang="fr-FR" altLang="fr-FR" dirty="0"/>
              <a:t> » et « </a:t>
            </a:r>
            <a:r>
              <a:rPr lang="fr-FR" altLang="fr-FR" b="1" dirty="0"/>
              <a:t>transhumanisme</a:t>
            </a:r>
            <a:r>
              <a:rPr lang="fr-FR" altLang="fr-FR" dirty="0"/>
              <a:t> » est devenue un geste heuristique très fréquent, qui doit toutefois être interrogé.</a:t>
            </a:r>
          </a:p>
          <a:p>
            <a:endParaRPr lang="fr-FR" altLang="fr-FR" dirty="0"/>
          </a:p>
          <a:p>
            <a:r>
              <a:rPr lang="fr-FR" altLang="fr-FR" dirty="0"/>
              <a:t>Même si cette opposition semble légitime de prime abord, étant donné la polarisation en deux grands récits de vectorisation inverse, cette configuration est en réalité bien plus complexe. D’une part, la « collapsologie » ne dit pas que l’effondrement est certain ; d’autre part, le « transhumanisme » ménage une incertitude quant à la forme que prendra l’avenir, une fois le point de « singularité » dépassé.</a:t>
            </a:r>
          </a:p>
          <a:p>
            <a:endParaRPr lang="fr-FR" altLang="fr-FR" dirty="0"/>
          </a:p>
          <a:p>
            <a:r>
              <a:rPr lang="fr-FR" altLang="fr-FR" dirty="0"/>
              <a:t>Pour un examen de la pertinence même d’une telle opposition, voir :</a:t>
            </a:r>
          </a:p>
          <a:p>
            <a:pPr marL="171450" indent="-171450">
              <a:buFontTx/>
              <a:buChar char="-"/>
            </a:pPr>
            <a:r>
              <a:rPr lang="fr-FR" altLang="fr-FR" dirty="0"/>
              <a:t>https://silogora.org/collapsologie-et-transhumanisme-recits-jumeaux-sur-la-fin-des-temps/ </a:t>
            </a:r>
          </a:p>
          <a:p>
            <a:pPr marL="171450" indent="-171450">
              <a:buFontTx/>
              <a:buChar char="-"/>
            </a:pPr>
            <a:r>
              <a:rPr lang="fr-FR" altLang="fr-FR" dirty="0"/>
              <a:t>https://www.cnetfrance.fr/news/collapsologues-vs-transhumanistes-entre-l-effondrement-et-l-homme-augmente-les-dangers-d-un-futur-mythifie-39917509.htm</a:t>
            </a:r>
          </a:p>
          <a:p>
            <a:endParaRPr lang="fr-FR" altLang="fr-FR" dirty="0"/>
          </a:p>
          <a:p>
            <a:r>
              <a:rPr lang="fr-FR" altLang="fr-FR" dirty="0"/>
              <a:t>On peut remarquer les usages tout à fait distincts que les uns et les autres font de la notion d’ « </a:t>
            </a:r>
            <a:r>
              <a:rPr lang="fr-FR" altLang="fr-FR" b="1" dirty="0"/>
              <a:t>exponentiel</a:t>
            </a:r>
            <a:r>
              <a:rPr lang="fr-FR" altLang="fr-FR" dirty="0"/>
              <a:t> ». Pour Pablo et </a:t>
            </a:r>
            <a:r>
              <a:rPr lang="fr-FR" altLang="fr-FR" dirty="0" err="1"/>
              <a:t>Servigne</a:t>
            </a:r>
            <a:r>
              <a:rPr lang="fr-FR" altLang="fr-FR" dirty="0"/>
              <a:t>, l’exponentiel caractérise les courbes qui constituent le tableau de bord inquiétant de l’anthropocène (voir le cours ci-après). Pour la collapsologie, elle marque un développement, notamment de la puissance de calcul des ordinateurs, qui doit conduire à un point de bascule.</a:t>
            </a:r>
          </a:p>
          <a:p>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2) Remarques sur le « transhumanisme »</a:t>
            </a:r>
          </a:p>
          <a:p>
            <a:pPr marL="0" marR="0" lvl="0" indent="0" algn="l" defTabSz="914400" rtl="0" eaLnBrk="1" latinLnBrk="0" hangingPunct="1">
              <a:lnSpc>
                <a:spcPct val="100000"/>
              </a:lnSpc>
              <a:spcBef>
                <a:spcPts val="0"/>
              </a:spcBef>
              <a:spcAft>
                <a:spcPts val="0"/>
              </a:spcAft>
              <a:buClrTx/>
              <a:buSzTx/>
              <a:buFontTx/>
              <a:buNone/>
              <a:tabLst/>
              <a:defRPr/>
            </a:pPr>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sz="1200" dirty="0">
                <a:effectLst/>
                <a:ea typeface="Calibri" panose="020F0502020204030204" pitchFamily="34" charset="0"/>
                <a:cs typeface="Times New Roman" panose="02020603050405020304" pitchFamily="18" charset="0"/>
              </a:rPr>
              <a:t>L’idéologie du « transhumanisme » sous-tend la formidable réussite économique de quelques start-ups de la </a:t>
            </a:r>
            <a:r>
              <a:rPr lang="fr-FR" altLang="fr-FR" sz="1200" i="1" dirty="0">
                <a:effectLst/>
                <a:ea typeface="Calibri" panose="020F0502020204030204" pitchFamily="34" charset="0"/>
                <a:cs typeface="Times New Roman" panose="02020603050405020304" pitchFamily="18" charset="0"/>
              </a:rPr>
              <a:t>Silicon Valley</a:t>
            </a:r>
            <a:r>
              <a:rPr lang="fr-FR" altLang="fr-FR" sz="1200" dirty="0">
                <a:effectLst/>
                <a:ea typeface="Calibri" panose="020F0502020204030204" pitchFamily="34" charset="0"/>
                <a:cs typeface="Times New Roman" panose="02020603050405020304" pitchFamily="18" charset="0"/>
              </a:rPr>
              <a:t>, devenues en l’espace d’une génération des mastodontes financiers, comme en témoigne leur capitalisation boursière en comparaison de celle des grands groupes héritiers de la deuxième révolution industrielle. Bien que moins visible en France, ce courant commence à faire l’objet de vives controverses philosophiques depuis quelques années. Pour les uns, il y a dans les nouvelles technologies un gisement de progrès qu’il serait coupable de négliger, quitte à ce que note vieille humanité en passe d’être obsolète accepte d’entrer dans une logique de modification technique de son substrat matériel (</a:t>
            </a:r>
            <a:r>
              <a:rPr lang="fr-FR" altLang="fr-FR" sz="1200" dirty="0" err="1">
                <a:effectLst/>
                <a:ea typeface="Calibri" panose="020F0502020204030204" pitchFamily="34" charset="0"/>
                <a:cs typeface="Times New Roman" panose="02020603050405020304" pitchFamily="18" charset="0"/>
              </a:rPr>
              <a:t>cyborgisation</a:t>
            </a:r>
            <a:r>
              <a:rPr lang="fr-FR" altLang="fr-FR" sz="1200" dirty="0">
                <a:effectLst/>
                <a:ea typeface="Calibri" panose="020F0502020204030204" pitchFamily="34" charset="0"/>
                <a:cs typeface="Times New Roman" panose="02020603050405020304" pitchFamily="18" charset="0"/>
              </a:rPr>
              <a:t>) et/ou génétique, via la convergence des nanotechnologies, des biotechnologies, de l’informatique et des sciences cognitives (NBIC). Pour d’autres, il y aurait dans cette idéologie à la fois beaucoup de naïveté épistémologique, de fantasme infantile de toute-puissance et un effet de « leurre », masquant les intérêts économiques en jeu en nous détournant de problèmes plus urgents.</a:t>
            </a:r>
          </a:p>
          <a:p>
            <a:pPr marL="0" marR="0" lvl="0" indent="0" algn="l" defTabSz="914400" rtl="0" eaLnBrk="1" latinLnBrk="0" hangingPunct="1">
              <a:lnSpc>
                <a:spcPct val="100000"/>
              </a:lnSpc>
              <a:spcBef>
                <a:spcPts val="0"/>
              </a:spcBef>
              <a:spcAft>
                <a:spcPts val="0"/>
              </a:spcAft>
              <a:buClrTx/>
              <a:buSzTx/>
              <a:buFontTx/>
              <a:buNone/>
              <a:tabLst/>
              <a:defRPr/>
            </a:pPr>
            <a:endParaRPr lang="fr-FR" altLang="fr-FR" sz="1200" dirty="0">
              <a:effectLst/>
              <a:ea typeface="Calibri" panose="020F0502020204030204" pitchFamily="34" charset="0"/>
              <a:cs typeface="Times New Roman" panose="02020603050405020304" pitchFamily="18" charset="0"/>
            </a:endParaRPr>
          </a:p>
          <a:p>
            <a:r>
              <a:rPr lang="fr-FR" altLang="fr-FR" sz="1200" dirty="0">
                <a:effectLst/>
                <a:ea typeface="Calibri" panose="020F0502020204030204" pitchFamily="34" charset="0"/>
                <a:cs typeface="Times New Roman" panose="02020603050405020304" pitchFamily="18" charset="0"/>
              </a:rPr>
              <a:t>Cette controverse serait sans doute d’un intérêt plus limité si elle ne mettait pas en présence des puissances susceptible de peser sur le destin collectif de l’humanité. Rappelons que Google, entreprise âgée de tout juste 20 ans, pèse près de mille milliards de dollars de capitalisation boursière, et que Raymond </a:t>
            </a:r>
            <a:r>
              <a:rPr lang="fr-FR" altLang="fr-FR" sz="1200" dirty="0" err="1">
                <a:effectLst/>
                <a:ea typeface="Calibri" panose="020F0502020204030204" pitchFamily="34" charset="0"/>
                <a:cs typeface="Times New Roman" panose="02020603050405020304" pitchFamily="18" charset="0"/>
              </a:rPr>
              <a:t>Kurzweil</a:t>
            </a:r>
            <a:r>
              <a:rPr lang="fr-FR" altLang="fr-FR" sz="1200" dirty="0">
                <a:effectLst/>
                <a:ea typeface="Calibri" panose="020F0502020204030204" pitchFamily="34" charset="0"/>
                <a:cs typeface="Times New Roman" panose="02020603050405020304" pitchFamily="18" charset="0"/>
              </a:rPr>
              <a:t>, directeur de l’ingénierie de cette dernière, est une figure marquante de la pensée transhumaniste.</a:t>
            </a:r>
            <a:r>
              <a:rPr lang="en-US" sz="1200" dirty="0">
                <a:effectLst/>
                <a:ea typeface="Calibri" panose="020F0502020204030204" pitchFamily="34" charset="0"/>
                <a:cs typeface="Times New Roman" panose="02020603050405020304" pitchFamily="18" charset="0"/>
              </a:rPr>
              <a:t> </a:t>
            </a:r>
            <a:r>
              <a:rPr lang="fr-FR" altLang="fr-FR" sz="1200" dirty="0">
                <a:effectLst/>
                <a:ea typeface="Calibri" panose="020F0502020204030204" pitchFamily="34" charset="0"/>
                <a:cs typeface="Times New Roman" panose="02020603050405020304" pitchFamily="18" charset="0"/>
              </a:rPr>
              <a:t>« </a:t>
            </a:r>
            <a:r>
              <a:rPr lang="fr-FR" altLang="fr-FR" sz="1200" i="1" dirty="0">
                <a:effectLst/>
                <a:ea typeface="Calibri" panose="020F0502020204030204" pitchFamily="34" charset="0"/>
                <a:cs typeface="Times New Roman" panose="02020603050405020304" pitchFamily="18" charset="0"/>
              </a:rPr>
              <a:t>Do the right </a:t>
            </a:r>
            <a:r>
              <a:rPr lang="fr-FR" altLang="fr-FR" sz="1200" i="1" dirty="0" err="1">
                <a:effectLst/>
                <a:ea typeface="Calibri" panose="020F0502020204030204" pitchFamily="34" charset="0"/>
                <a:cs typeface="Times New Roman" panose="02020603050405020304" pitchFamily="18" charset="0"/>
              </a:rPr>
              <a:t>thing</a:t>
            </a:r>
            <a:r>
              <a:rPr lang="fr-FR" altLang="fr-FR" sz="1200" i="1" dirty="0">
                <a:effectLst/>
                <a:ea typeface="Calibri" panose="020F0502020204030204" pitchFamily="34" charset="0"/>
                <a:cs typeface="Times New Roman" panose="02020603050405020304" pitchFamily="18" charset="0"/>
              </a:rPr>
              <a:t> </a:t>
            </a:r>
            <a:r>
              <a:rPr lang="fr-FR" altLang="fr-FR" sz="1200" dirty="0">
                <a:effectLst/>
                <a:ea typeface="Calibri" panose="020F0502020204030204" pitchFamily="34" charset="0"/>
                <a:cs typeface="Times New Roman" panose="02020603050405020304" pitchFamily="18" charset="0"/>
              </a:rPr>
              <a:t>» est le slogan de Google qui revendique ainsi une rare absence de neutralité axiologique, en entorse à la pensée économique libérale qui voudrait que l’entreprise à capitaux privés se contente de chercher à maximiser son profit</a:t>
            </a:r>
            <a:r>
              <a:rPr lang="en-US" sz="1200" dirty="0">
                <a:ea typeface="Calibri" panose="020F0502020204030204" pitchFamily="34" charset="0"/>
                <a:cs typeface="Times New Roman" panose="02020603050405020304" pitchFamily="18" charset="0"/>
              </a:rPr>
              <a:t>.</a:t>
            </a:r>
            <a:endParaRPr lang="fr-FR" altLang="fr-FR" sz="1200" dirty="0">
              <a:effectLst/>
              <a:ea typeface="Calibri" panose="020F0502020204030204" pitchFamily="34" charset="0"/>
              <a:cs typeface="Times New Roman" panose="02020603050405020304" pitchFamily="18" charset="0"/>
            </a:endParaRPr>
          </a:p>
          <a:p>
            <a:pPr marL="0" marR="0" lvl="0" indent="0" algn="l" defTabSz="914400" rtl="0" eaLnBrk="1" latinLnBrk="0" hangingPunct="1">
              <a:lnSpc>
                <a:spcPct val="100000"/>
              </a:lnSpc>
              <a:spcBef>
                <a:spcPts val="0"/>
              </a:spcBef>
              <a:spcAft>
                <a:spcPts val="0"/>
              </a:spcAft>
              <a:buClrTx/>
              <a:buSzTx/>
              <a:buFontTx/>
              <a:buNone/>
              <a:tabLst/>
              <a:defRPr/>
            </a:pPr>
            <a:endParaRPr lang="fr-FR" altLang="fr-FR" sz="1200" dirty="0">
              <a:effectLst/>
              <a:ea typeface="Calibri" panose="020F0502020204030204" pitchFamily="34" charset="0"/>
              <a:cs typeface="Times New Roman" panose="02020603050405020304" pitchFamily="18" charset="0"/>
            </a:endParaRPr>
          </a:p>
          <a:p>
            <a:endParaRPr lang="fr-FR" altLang="fr-FR" dirty="0"/>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19</a:t>
            </a:fld>
            <a:endParaRPr lang="fr-FR" altLang="fr-FR"/>
          </a:p>
        </p:txBody>
      </p:sp>
    </p:spTree>
    <p:extLst>
      <p:ext uri="{BB962C8B-B14F-4D97-AF65-F5344CB8AC3E}">
        <p14:creationId xmlns:p14="http://schemas.microsoft.com/office/powerpoint/2010/main" val="1265730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dirty="0"/>
              <a:t>Sur le rapport du Club de Rome, voir :</a:t>
            </a:r>
          </a:p>
          <a:p>
            <a:r>
              <a:rPr lang="fr-FR" altLang="fr-FR" dirty="0"/>
              <a:t>https://fr.wikipedia.org/wiki/Les_Limites_%C3%A0_la_croissance </a:t>
            </a:r>
          </a:p>
          <a:p>
            <a:r>
              <a:rPr lang="fr-FR" altLang="fr-FR" dirty="0"/>
              <a:t>https://jancovici.com/recension-de-lectures/societes/rapport-du-club-de-rome-the-limits-of-growth-1972/ </a:t>
            </a:r>
          </a:p>
          <a:p>
            <a:r>
              <a:rPr lang="fr-FR" altLang="fr-FR" dirty="0"/>
              <a:t>http://www.donellameadows.org/wp-content/userfiles/Limits-to-Growth-digital-scan-version.pdf </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23</a:t>
            </a:fld>
            <a:endParaRPr lang="fr-FR" altLang="fr-FR"/>
          </a:p>
        </p:txBody>
      </p:sp>
    </p:spTree>
    <p:extLst>
      <p:ext uri="{BB962C8B-B14F-4D97-AF65-F5344CB8AC3E}">
        <p14:creationId xmlns:p14="http://schemas.microsoft.com/office/powerpoint/2010/main" val="1820727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dirty="0"/>
              <a:t>Sur le rapport du Club de Rome, voir :</a:t>
            </a:r>
          </a:p>
          <a:p>
            <a:r>
              <a:rPr lang="fr-FR" altLang="fr-FR" dirty="0"/>
              <a:t>https://fr.wikipedia.org/wiki/Les_Limites_%C3%A0_la_croissance </a:t>
            </a:r>
          </a:p>
          <a:p>
            <a:r>
              <a:rPr lang="fr-FR" altLang="fr-FR" dirty="0"/>
              <a:t>https://jancovici.com/recension-de-lectures/societes/rapport-du-club-de-rome-the-limits-of-growth-1972/ </a:t>
            </a:r>
          </a:p>
          <a:p>
            <a:r>
              <a:rPr lang="fr-FR" altLang="fr-FR" dirty="0"/>
              <a:t>http://www.donellameadows.org/wp-content/userfiles/Limits-to-Growth-digital-scan-version.pdf </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24</a:t>
            </a:fld>
            <a:endParaRPr lang="fr-FR" altLang="fr-FR"/>
          </a:p>
        </p:txBody>
      </p:sp>
    </p:spTree>
    <p:extLst>
      <p:ext uri="{BB962C8B-B14F-4D97-AF65-F5344CB8AC3E}">
        <p14:creationId xmlns:p14="http://schemas.microsoft.com/office/powerpoint/2010/main" val="3648938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endParaRPr lang="fr-FR" altLang="fr-FR" dirty="0"/>
          </a:p>
          <a:p>
            <a:endParaRPr lang="fr-FR" altLang="fr-FR" dirty="0"/>
          </a:p>
          <a:p>
            <a:r>
              <a:rPr lang="fr-FR" altLang="fr-FR" dirty="0"/>
              <a:t>1) L’émergence de la notion d’anthropocène</a:t>
            </a:r>
          </a:p>
          <a:p>
            <a:endParaRPr lang="fr-FR" altLang="fr-FR" dirty="0"/>
          </a:p>
          <a:p>
            <a:r>
              <a:rPr lang="fr-FR" altLang="fr-FR" dirty="0"/>
              <a:t>On peut être attentif aux marqueur lexicaux. Tandis qu’il y a quelques années on parlait encore de l’impact de l’activité humaine sur la </a:t>
            </a:r>
            <a:r>
              <a:rPr lang="fr-FR" altLang="fr-FR" b="1" dirty="0"/>
              <a:t>biosphère</a:t>
            </a:r>
            <a:r>
              <a:rPr lang="fr-FR" altLang="fr-FR" dirty="0"/>
              <a:t>, c’est la notion d’</a:t>
            </a:r>
            <a:r>
              <a:rPr lang="fr-FR" altLang="fr-FR" b="1" dirty="0"/>
              <a:t>anthropocène</a:t>
            </a:r>
            <a:r>
              <a:rPr lang="fr-FR" altLang="fr-FR" dirty="0"/>
              <a:t> qui est aujourd’hui mise en avant.</a:t>
            </a:r>
          </a:p>
          <a:p>
            <a:endParaRPr lang="fr-FR" altLang="fr-FR" dirty="0"/>
          </a:p>
          <a:p>
            <a:endParaRPr lang="fr-FR" altLang="fr-FR" dirty="0"/>
          </a:p>
          <a:p>
            <a:r>
              <a:rPr lang="fr-FR" altLang="fr-FR" dirty="0"/>
              <a:t>2) La délimitation historiographique de la période actuelle.</a:t>
            </a:r>
          </a:p>
          <a:p>
            <a:endParaRPr lang="fr-FR" altLang="fr-FR" dirty="0"/>
          </a:p>
          <a:p>
            <a:r>
              <a:rPr lang="fr-FR" altLang="fr-FR" dirty="0"/>
              <a:t>« Le « manque de temps » aigu est devenu un état permanent de nos sociétés modernes » (Hartmut Rosa), cité par Servigne, Stevens, 2015.</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31</a:t>
            </a:fld>
            <a:endParaRPr lang="fr-FR" altLang="fr-FR"/>
          </a:p>
        </p:txBody>
      </p:sp>
    </p:spTree>
    <p:extLst>
      <p:ext uri="{BB962C8B-B14F-4D97-AF65-F5344CB8AC3E}">
        <p14:creationId xmlns:p14="http://schemas.microsoft.com/office/powerpoint/2010/main" val="3444375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endParaRPr lang="fr-FR" altLang="fr-FR" dirty="0"/>
          </a:p>
          <a:p>
            <a:endParaRPr lang="fr-FR" altLang="fr-FR" dirty="0"/>
          </a:p>
          <a:p>
            <a:r>
              <a:rPr lang="fr-FR" altLang="fr-FR" dirty="0"/>
              <a:t>1) L’émergence de la notion d’anthropocène</a:t>
            </a:r>
          </a:p>
          <a:p>
            <a:endParaRPr lang="fr-FR" altLang="fr-FR" dirty="0"/>
          </a:p>
          <a:p>
            <a:r>
              <a:rPr lang="fr-FR" altLang="fr-FR" dirty="0"/>
              <a:t>On peut être attentif aux marqueur lexicaux. Tandis qu’il y a quelques années on parlait encore de l’impact de l’activité humaine sur la </a:t>
            </a:r>
            <a:r>
              <a:rPr lang="fr-FR" altLang="fr-FR" b="1" dirty="0"/>
              <a:t>biosphère</a:t>
            </a:r>
            <a:r>
              <a:rPr lang="fr-FR" altLang="fr-FR" dirty="0"/>
              <a:t>, c’est la notion d’</a:t>
            </a:r>
            <a:r>
              <a:rPr lang="fr-FR" altLang="fr-FR" b="1" dirty="0"/>
              <a:t>anthropocène</a:t>
            </a:r>
            <a:r>
              <a:rPr lang="fr-FR" altLang="fr-FR" dirty="0"/>
              <a:t> qui est aujourd’hui mise en avant.</a:t>
            </a:r>
          </a:p>
          <a:p>
            <a:endParaRPr lang="fr-FR" altLang="fr-FR" dirty="0"/>
          </a:p>
          <a:p>
            <a:endParaRPr lang="fr-FR" altLang="fr-FR" dirty="0"/>
          </a:p>
          <a:p>
            <a:r>
              <a:rPr lang="fr-FR" altLang="fr-FR" dirty="0"/>
              <a:t>2) La délimitation historiographique de la période actuelle.</a:t>
            </a:r>
          </a:p>
          <a:p>
            <a:endParaRPr lang="fr-FR" altLang="fr-FR" dirty="0"/>
          </a:p>
          <a:p>
            <a:r>
              <a:rPr lang="fr-FR" altLang="fr-FR" dirty="0"/>
              <a:t>« Le « manque de temps » aigu est devenu un état permanent de nos sociétés modernes » (Hartmut Rosa), cité par Servigne, Stevens, 2015.</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32</a:t>
            </a:fld>
            <a:endParaRPr lang="fr-FR" altLang="fr-FR"/>
          </a:p>
        </p:txBody>
      </p:sp>
    </p:spTree>
    <p:extLst>
      <p:ext uri="{BB962C8B-B14F-4D97-AF65-F5344CB8AC3E}">
        <p14:creationId xmlns:p14="http://schemas.microsoft.com/office/powerpoint/2010/main" val="2689555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endParaRPr lang="fr-FR" altLang="fr-FR" dirty="0"/>
          </a:p>
          <a:p>
            <a:endParaRPr lang="fr-FR" altLang="fr-FR" dirty="0"/>
          </a:p>
          <a:p>
            <a:r>
              <a:rPr lang="fr-FR" altLang="fr-FR" dirty="0"/>
              <a:t>1) L’émergence de la notion d’anthropocène</a:t>
            </a:r>
          </a:p>
          <a:p>
            <a:endParaRPr lang="fr-FR" altLang="fr-FR" dirty="0"/>
          </a:p>
          <a:p>
            <a:r>
              <a:rPr lang="fr-FR" altLang="fr-FR" dirty="0"/>
              <a:t>On peut être attentif aux marqueur lexicaux. Tandis qu’il y a quelques années on parlait encore de l’impact de l’activité humaine sur la </a:t>
            </a:r>
            <a:r>
              <a:rPr lang="fr-FR" altLang="fr-FR" b="1" dirty="0"/>
              <a:t>biosphère</a:t>
            </a:r>
            <a:r>
              <a:rPr lang="fr-FR" altLang="fr-FR" dirty="0"/>
              <a:t>, c’est la notion d’</a:t>
            </a:r>
            <a:r>
              <a:rPr lang="fr-FR" altLang="fr-FR" b="1" dirty="0"/>
              <a:t>anthropocène</a:t>
            </a:r>
            <a:r>
              <a:rPr lang="fr-FR" altLang="fr-FR" dirty="0"/>
              <a:t> qui est aujourd’hui mise en avant.</a:t>
            </a:r>
          </a:p>
          <a:p>
            <a:endParaRPr lang="fr-FR" altLang="fr-FR" dirty="0"/>
          </a:p>
          <a:p>
            <a:endParaRPr lang="fr-FR" altLang="fr-FR" dirty="0"/>
          </a:p>
          <a:p>
            <a:r>
              <a:rPr lang="fr-FR" altLang="fr-FR" dirty="0"/>
              <a:t>2) La délimitation historiographique de la période actuelle.</a:t>
            </a:r>
          </a:p>
          <a:p>
            <a:endParaRPr lang="fr-FR" altLang="fr-FR" dirty="0"/>
          </a:p>
          <a:p>
            <a:r>
              <a:rPr lang="fr-FR" altLang="fr-FR" dirty="0"/>
              <a:t>« Le « manque de temps » aigu est devenu un état permanent de nos sociétés modernes » (Hartmut Rosa), cité par Servigne, Stevens, 2015.</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33</a:t>
            </a:fld>
            <a:endParaRPr lang="fr-FR" altLang="fr-FR"/>
          </a:p>
        </p:txBody>
      </p:sp>
    </p:spTree>
    <p:extLst>
      <p:ext uri="{BB962C8B-B14F-4D97-AF65-F5344CB8AC3E}">
        <p14:creationId xmlns:p14="http://schemas.microsoft.com/office/powerpoint/2010/main" val="7315831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endParaRPr lang="fr-FR" altLang="fr-FR" dirty="0"/>
          </a:p>
          <a:p>
            <a:endParaRPr lang="fr-FR" altLang="fr-FR" dirty="0"/>
          </a:p>
          <a:p>
            <a:r>
              <a:rPr lang="fr-FR" altLang="fr-FR" dirty="0"/>
              <a:t>1) L’émergence de la notion d’anthropocène</a:t>
            </a:r>
          </a:p>
          <a:p>
            <a:endParaRPr lang="fr-FR" altLang="fr-FR" dirty="0"/>
          </a:p>
          <a:p>
            <a:r>
              <a:rPr lang="fr-FR" altLang="fr-FR" dirty="0"/>
              <a:t>On peut être attentif aux marqueur lexicaux. Tandis qu’il y a quelques années on parlait encore de l’impact de l’activité humaine sur la </a:t>
            </a:r>
            <a:r>
              <a:rPr lang="fr-FR" altLang="fr-FR" b="1" dirty="0"/>
              <a:t>biosphère</a:t>
            </a:r>
            <a:r>
              <a:rPr lang="fr-FR" altLang="fr-FR" dirty="0"/>
              <a:t>, c’est la notion d’</a:t>
            </a:r>
            <a:r>
              <a:rPr lang="fr-FR" altLang="fr-FR" b="1" dirty="0"/>
              <a:t>anthropocène</a:t>
            </a:r>
            <a:r>
              <a:rPr lang="fr-FR" altLang="fr-FR" dirty="0"/>
              <a:t> qui est aujourd’hui mise en avant.</a:t>
            </a:r>
          </a:p>
          <a:p>
            <a:endParaRPr lang="fr-FR" altLang="fr-FR" dirty="0"/>
          </a:p>
          <a:p>
            <a:endParaRPr lang="fr-FR" altLang="fr-FR" dirty="0"/>
          </a:p>
          <a:p>
            <a:r>
              <a:rPr lang="fr-FR" altLang="fr-FR" dirty="0"/>
              <a:t>2) La délimitation historiographique de la période actuelle.</a:t>
            </a:r>
          </a:p>
          <a:p>
            <a:endParaRPr lang="fr-FR" altLang="fr-FR" dirty="0"/>
          </a:p>
          <a:p>
            <a:r>
              <a:rPr lang="fr-FR" altLang="fr-FR" dirty="0"/>
              <a:t>« Le « manque de temps » aigu est devenu un état permanent de nos sociétés modernes » (Hartmut Rosa), cité par Servigne, Stevens, 2015.</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34</a:t>
            </a:fld>
            <a:endParaRPr lang="fr-FR" altLang="fr-FR"/>
          </a:p>
        </p:txBody>
      </p:sp>
    </p:spTree>
    <p:extLst>
      <p:ext uri="{BB962C8B-B14F-4D97-AF65-F5344CB8AC3E}">
        <p14:creationId xmlns:p14="http://schemas.microsoft.com/office/powerpoint/2010/main" val="4275713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endParaRPr lang="fr-FR" altLang="fr-FR" dirty="0"/>
          </a:p>
          <a:p>
            <a:endParaRPr lang="fr-FR" altLang="fr-FR" dirty="0"/>
          </a:p>
          <a:p>
            <a:r>
              <a:rPr lang="fr-FR" altLang="fr-FR" dirty="0"/>
              <a:t>1) L’émergence de la notion d’anthropocène</a:t>
            </a:r>
          </a:p>
          <a:p>
            <a:endParaRPr lang="fr-FR" altLang="fr-FR" dirty="0"/>
          </a:p>
          <a:p>
            <a:r>
              <a:rPr lang="fr-FR" altLang="fr-FR" dirty="0"/>
              <a:t>On peut être attentif aux marqueur lexicaux. Tandis qu’il y a quelques années on parlait encore de l’impact de l’activité humaine sur la </a:t>
            </a:r>
            <a:r>
              <a:rPr lang="fr-FR" altLang="fr-FR" b="1" dirty="0"/>
              <a:t>biosphère</a:t>
            </a:r>
            <a:r>
              <a:rPr lang="fr-FR" altLang="fr-FR" dirty="0"/>
              <a:t>, c’est la notion d’</a:t>
            </a:r>
            <a:r>
              <a:rPr lang="fr-FR" altLang="fr-FR" b="1" dirty="0"/>
              <a:t>anthropocène</a:t>
            </a:r>
            <a:r>
              <a:rPr lang="fr-FR" altLang="fr-FR" dirty="0"/>
              <a:t> qui est aujourd’hui mise en avant.</a:t>
            </a:r>
          </a:p>
          <a:p>
            <a:endParaRPr lang="fr-FR" altLang="fr-FR" dirty="0"/>
          </a:p>
          <a:p>
            <a:endParaRPr lang="fr-FR" altLang="fr-FR" dirty="0"/>
          </a:p>
          <a:p>
            <a:r>
              <a:rPr lang="fr-FR" altLang="fr-FR" dirty="0"/>
              <a:t>2) La délimitation historiographique de la période actuelle.</a:t>
            </a:r>
          </a:p>
          <a:p>
            <a:endParaRPr lang="fr-FR" altLang="fr-FR" dirty="0"/>
          </a:p>
          <a:p>
            <a:r>
              <a:rPr lang="fr-FR" altLang="fr-FR" dirty="0"/>
              <a:t>« Le « manque de temps » aigu est devenu un état permanent de nos sociétés modernes » (Hartmut Rosa), cité par Servigne, Stevens, 2015.</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35</a:t>
            </a:fld>
            <a:endParaRPr lang="fr-FR" altLang="fr-FR"/>
          </a:p>
        </p:txBody>
      </p:sp>
    </p:spTree>
    <p:extLst>
      <p:ext uri="{BB962C8B-B14F-4D97-AF65-F5344CB8AC3E}">
        <p14:creationId xmlns:p14="http://schemas.microsoft.com/office/powerpoint/2010/main" val="1550950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pPr marL="0" indent="0">
              <a:buFont typeface="Arial" panose="020B0604020202020204" pitchFamily="34" charset="0"/>
              <a:buNone/>
            </a:pPr>
            <a:r>
              <a:rPr lang="fr-FR" altLang="fr-FR" u="sng" dirty="0"/>
              <a:t>Remarques</a:t>
            </a:r>
            <a:r>
              <a:rPr lang="fr-FR" altLang="fr-FR" dirty="0"/>
              <a:t> : </a:t>
            </a:r>
          </a:p>
          <a:p>
            <a:pPr marL="171450" indent="-171450">
              <a:buFont typeface="Arial" panose="020B0604020202020204" pitchFamily="34" charset="0"/>
              <a:buChar char="•"/>
            </a:pPr>
            <a:r>
              <a:rPr lang="fr-FR" altLang="fr-FR" dirty="0"/>
              <a:t>Concentrations en dioxyde de carbone, en méthane, en protoxyde d’azote inégalées depuis 800 000 ans.</a:t>
            </a:r>
          </a:p>
          <a:p>
            <a:pPr marL="171450" indent="-171450">
              <a:buFont typeface="Arial" panose="020B0604020202020204" pitchFamily="34" charset="0"/>
              <a:buChar char="•"/>
            </a:pPr>
            <a:r>
              <a:rPr lang="fr-FR" altLang="fr-FR" dirty="0"/>
              <a:t>Acidification des océans, eutrophisation des zones côtières. </a:t>
            </a:r>
          </a:p>
          <a:p>
            <a:pPr marL="171450" indent="-171450">
              <a:buFont typeface="Arial" panose="020B0604020202020204" pitchFamily="34" charset="0"/>
              <a:buChar char="•"/>
            </a:pPr>
            <a:r>
              <a:rPr lang="fr-FR" altLang="fr-FR" dirty="0"/>
              <a:t>Extinction des espèces : rythme mille fois plus rapide qu’habituellement.</a:t>
            </a:r>
          </a:p>
          <a:p>
            <a:endParaRPr lang="fr-FR" altLang="fr-FR" dirty="0"/>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37</a:t>
            </a:fld>
            <a:endParaRPr lang="fr-FR" altLang="fr-FR"/>
          </a:p>
        </p:txBody>
      </p:sp>
    </p:spTree>
    <p:extLst>
      <p:ext uri="{BB962C8B-B14F-4D97-AF65-F5344CB8AC3E}">
        <p14:creationId xmlns:p14="http://schemas.microsoft.com/office/powerpoint/2010/main" val="2735684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pPr algn="l"/>
            <a:r>
              <a:rPr lang="fr-FR" altLang="fr-FR" dirty="0"/>
              <a:t>Les désordres environnementaux sont très nombreux. Les « Indicateurs de fonctionnement du système Terre » (voir ci-avant) en donnent quelques-uns.  Les courbes exponentiels ont la même allure quelle celles décrivant les grandes « tendances socio-économiques », avec un point d’inflexion vers 1950. </a:t>
            </a:r>
          </a:p>
          <a:p>
            <a:endParaRPr lang="fr-FR" altLang="fr-FR" dirty="0"/>
          </a:p>
          <a:p>
            <a:r>
              <a:rPr lang="fr-FR" altLang="fr-FR" dirty="0"/>
              <a:t>Pablo Servigne et Raphaël Stevens, dans leur ouvrage </a:t>
            </a:r>
            <a:r>
              <a:rPr lang="fr-FR" altLang="fr-FR" i="1" dirty="0"/>
              <a:t>Comment tout peut s’effondre ? </a:t>
            </a:r>
            <a:r>
              <a:rPr lang="fr-FR" altLang="fr-FR" i="0" dirty="0"/>
              <a:t>(2015), distinguent les « limites infranchissables » des « frontières franchissables ».</a:t>
            </a:r>
            <a:endParaRPr lang="fr-FR" altLang="fr-FR" dirty="0">
              <a:solidFill>
                <a:srgbClr val="FF0000"/>
              </a:solidFill>
            </a:endParaRPr>
          </a:p>
          <a:p>
            <a:endParaRPr lang="fr-FR" altLang="fr-FR" dirty="0"/>
          </a:p>
          <a:p>
            <a:r>
              <a:rPr lang="fr-FR" altLang="fr-FR" dirty="0"/>
              <a:t>Ils insistent également sur le lien entre crise énergétique et crise financière, l’économie fondée sur la dette a besoin de croissance économique.</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39</a:t>
            </a:fld>
            <a:endParaRPr lang="fr-FR" altLang="fr-FR"/>
          </a:p>
        </p:txBody>
      </p:sp>
    </p:spTree>
    <p:extLst>
      <p:ext uri="{BB962C8B-B14F-4D97-AF65-F5344CB8AC3E}">
        <p14:creationId xmlns:p14="http://schemas.microsoft.com/office/powerpoint/2010/main" val="2198153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pPr algn="l"/>
            <a:r>
              <a:rPr lang="fr-FR" altLang="fr-FR" dirty="0"/>
              <a:t>Les désordres environnementaux sont très nombreux. Les « Indicateurs de fonctionnement du système Terre » (voir ci-avant) en donnent quelques-uns.  Les courbes exponentiels ont la même allure quelle celles décrivant les grandes « tendances socio-économiques », avec un point d’inflexion vers 1950. </a:t>
            </a:r>
          </a:p>
          <a:p>
            <a:endParaRPr lang="fr-FR" altLang="fr-FR" dirty="0"/>
          </a:p>
          <a:p>
            <a:r>
              <a:rPr lang="fr-FR" altLang="fr-FR" dirty="0"/>
              <a:t>Pablo Servigne et Raphaël Stevens, dans leur ouvrage </a:t>
            </a:r>
            <a:r>
              <a:rPr lang="fr-FR" altLang="fr-FR" i="1" dirty="0"/>
              <a:t>Comment tout peut s’effondre ? </a:t>
            </a:r>
            <a:r>
              <a:rPr lang="fr-FR" altLang="fr-FR" i="0" dirty="0"/>
              <a:t>(2015), distinguent les « limites infranchissables » des « frontières franchissables ».</a:t>
            </a:r>
            <a:endParaRPr lang="fr-FR" altLang="fr-FR" dirty="0">
              <a:solidFill>
                <a:srgbClr val="FF0000"/>
              </a:solidFill>
            </a:endParaRPr>
          </a:p>
          <a:p>
            <a:endParaRPr lang="fr-FR" altLang="fr-FR" dirty="0"/>
          </a:p>
          <a:p>
            <a:r>
              <a:rPr lang="fr-FR" altLang="fr-FR" dirty="0"/>
              <a:t>Ils insistent également sur le lien entre crise énergétique et crise financière, l’économie fondée sur la dette a besoin de croissance économique.</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40</a:t>
            </a:fld>
            <a:endParaRPr lang="fr-FR" altLang="fr-FR"/>
          </a:p>
        </p:txBody>
      </p:sp>
    </p:spTree>
    <p:extLst>
      <p:ext uri="{BB962C8B-B14F-4D97-AF65-F5344CB8AC3E}">
        <p14:creationId xmlns:p14="http://schemas.microsoft.com/office/powerpoint/2010/main" val="2403075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pPr algn="l"/>
            <a:r>
              <a:rPr lang="fr-FR" altLang="fr-FR" dirty="0"/>
              <a:t>Les désordres environnementaux sont très nombreux. Les « Indicateurs de fonctionnement du système Terre » (voir ci-avant) en donnent quelques-uns.  Les courbes exponentiels ont la même allure quelle celles décrivant les grandes « tendances socio-économiques », avec un point d’inflexion vers 1950. </a:t>
            </a:r>
          </a:p>
          <a:p>
            <a:endParaRPr lang="fr-FR" altLang="fr-FR" dirty="0"/>
          </a:p>
          <a:p>
            <a:r>
              <a:rPr lang="fr-FR" altLang="fr-FR" dirty="0"/>
              <a:t>Pablo Servigne et Raphaël Stevens, dans leur ouvrage </a:t>
            </a:r>
            <a:r>
              <a:rPr lang="fr-FR" altLang="fr-FR" i="1" dirty="0"/>
              <a:t>Comment tout peut s’effondre ? </a:t>
            </a:r>
            <a:r>
              <a:rPr lang="fr-FR" altLang="fr-FR" i="0" dirty="0"/>
              <a:t>(2015), distinguent les « limites infranchissables » des « frontières franchissables ».</a:t>
            </a:r>
            <a:endParaRPr lang="fr-FR" altLang="fr-FR" dirty="0">
              <a:solidFill>
                <a:srgbClr val="FF0000"/>
              </a:solidFill>
            </a:endParaRPr>
          </a:p>
          <a:p>
            <a:endParaRPr lang="fr-FR" altLang="fr-FR" dirty="0"/>
          </a:p>
          <a:p>
            <a:r>
              <a:rPr lang="fr-FR" altLang="fr-FR" dirty="0"/>
              <a:t>Ils insistent également sur le lien entre crise énergétique et crise financière, l’économie fondée sur la dette a besoin de croissance économique.</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41</a:t>
            </a:fld>
            <a:endParaRPr lang="fr-FR" altLang="fr-FR"/>
          </a:p>
        </p:txBody>
      </p:sp>
    </p:spTree>
    <p:extLst>
      <p:ext uri="{BB962C8B-B14F-4D97-AF65-F5344CB8AC3E}">
        <p14:creationId xmlns:p14="http://schemas.microsoft.com/office/powerpoint/2010/main" val="2593823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pPr marL="0" marR="0" lvl="0" indent="0" algn="l" defTabSz="914400" rtl="0" eaLnBrk="1" latinLnBrk="0" hangingPunct="1">
              <a:lnSpc>
                <a:spcPct val="100000"/>
              </a:lnSpc>
              <a:spcBef>
                <a:spcPts val="0"/>
              </a:spcBef>
              <a:spcAft>
                <a:spcPts val="0"/>
              </a:spcAft>
              <a:buClrTx/>
              <a:buSzTx/>
              <a:buFontTx/>
              <a:buNone/>
              <a:tabLst/>
              <a:defRPr/>
            </a:pPr>
            <a:r>
              <a:rPr lang="fr-FR" altLang="fr-FR" dirty="0"/>
              <a:t>Voir : </a:t>
            </a:r>
            <a:r>
              <a:rPr lang="fr-FR" altLang="fr-FR" sz="1200" dirty="0"/>
              <a:t>https://fr.wikipedia.org/wiki/Limites_plan%C3%A9taires#/media/Fichier:Planetary_Boundaries.png</a:t>
            </a:r>
          </a:p>
          <a:p>
            <a:endParaRPr lang="fr-FR" altLang="fr-FR" dirty="0"/>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42</a:t>
            </a:fld>
            <a:endParaRPr lang="fr-FR" altLang="fr-FR"/>
          </a:p>
        </p:txBody>
      </p:sp>
    </p:spTree>
    <p:extLst>
      <p:ext uri="{BB962C8B-B14F-4D97-AF65-F5344CB8AC3E}">
        <p14:creationId xmlns:p14="http://schemas.microsoft.com/office/powerpoint/2010/main" val="10444343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pPr marL="0" marR="0" lvl="0" indent="0" algn="l" defTabSz="914400" rtl="0" eaLnBrk="1" latinLnBrk="0" hangingPunct="1">
              <a:lnSpc>
                <a:spcPct val="100000"/>
              </a:lnSpc>
              <a:spcBef>
                <a:spcPts val="0"/>
              </a:spcBef>
              <a:spcAft>
                <a:spcPts val="0"/>
              </a:spcAft>
              <a:buClrTx/>
              <a:buSzTx/>
              <a:buFontTx/>
              <a:buNone/>
              <a:tabLst/>
              <a:defRPr/>
            </a:pPr>
            <a:r>
              <a:rPr lang="fr-FR" altLang="fr-FR" dirty="0"/>
              <a:t>Voir : </a:t>
            </a:r>
            <a:r>
              <a:rPr lang="fr-FR" altLang="fr-FR" sz="1200" dirty="0"/>
              <a:t>https://fr.wikipedia.org/wiki/Limites_plan%C3%A9taires#/media/Fichier:Planetary_Boundaries.png</a:t>
            </a:r>
          </a:p>
          <a:p>
            <a:endParaRPr lang="fr-FR" altLang="fr-FR" dirty="0"/>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43</a:t>
            </a:fld>
            <a:endParaRPr lang="fr-FR" altLang="fr-FR"/>
          </a:p>
        </p:txBody>
      </p:sp>
    </p:spTree>
    <p:extLst>
      <p:ext uri="{BB962C8B-B14F-4D97-AF65-F5344CB8AC3E}">
        <p14:creationId xmlns:p14="http://schemas.microsoft.com/office/powerpoint/2010/main" val="25452659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 </a:t>
            </a:r>
          </a:p>
          <a:p>
            <a:endParaRPr lang="fr-FR" altLang="fr-FR" dirty="0"/>
          </a:p>
          <a:p>
            <a:r>
              <a:rPr lang="fr-FR" altLang="fr-FR" dirty="0"/>
              <a:t>[Evoquer les controverses scientifiques sur l’usage de la notion d’ « anthropocène »]</a:t>
            </a:r>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45</a:t>
            </a:fld>
            <a:endParaRPr lang="fr-FR" altLang="fr-FR"/>
          </a:p>
        </p:txBody>
      </p:sp>
    </p:spTree>
    <p:extLst>
      <p:ext uri="{BB962C8B-B14F-4D97-AF65-F5344CB8AC3E}">
        <p14:creationId xmlns:p14="http://schemas.microsoft.com/office/powerpoint/2010/main" val="39153208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 </a:t>
            </a:r>
          </a:p>
          <a:p>
            <a:endParaRPr lang="fr-FR" altLang="fr-FR" dirty="0"/>
          </a:p>
          <a:p>
            <a:r>
              <a:rPr lang="fr-FR" altLang="fr-FR" dirty="0"/>
              <a:t>[Evoquer les controverses scientifiques sur l’usage de la notion d’ « anthropocène »]</a:t>
            </a:r>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46</a:t>
            </a:fld>
            <a:endParaRPr lang="fr-FR" altLang="fr-FR"/>
          </a:p>
        </p:txBody>
      </p:sp>
    </p:spTree>
    <p:extLst>
      <p:ext uri="{BB962C8B-B14F-4D97-AF65-F5344CB8AC3E}">
        <p14:creationId xmlns:p14="http://schemas.microsoft.com/office/powerpoint/2010/main" val="1905986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endParaRPr lang="fr-FR" altLang="fr-FR" dirty="0"/>
          </a:p>
          <a:p>
            <a:endParaRPr lang="fr-FR" altLang="fr-FR" dirty="0"/>
          </a:p>
          <a:p>
            <a:r>
              <a:rPr lang="fr-FR" altLang="fr-FR" dirty="0"/>
              <a:t>1) L’émergence de la notion d’anthropocène</a:t>
            </a:r>
          </a:p>
          <a:p>
            <a:endParaRPr lang="fr-FR" altLang="fr-FR" dirty="0"/>
          </a:p>
          <a:p>
            <a:r>
              <a:rPr lang="fr-FR" altLang="fr-FR" dirty="0"/>
              <a:t>On peut être attentif aux marqueur lexicaux. Tandis qu’il y a quelques années on parlait encore de l’impact de l’activité humaine sur la </a:t>
            </a:r>
            <a:r>
              <a:rPr lang="fr-FR" altLang="fr-FR" b="1" dirty="0"/>
              <a:t>biosphère</a:t>
            </a:r>
            <a:r>
              <a:rPr lang="fr-FR" altLang="fr-FR" dirty="0"/>
              <a:t>, c’est la notion d’</a:t>
            </a:r>
            <a:r>
              <a:rPr lang="fr-FR" altLang="fr-FR" b="1" dirty="0"/>
              <a:t>anthropocène</a:t>
            </a:r>
            <a:r>
              <a:rPr lang="fr-FR" altLang="fr-FR" dirty="0"/>
              <a:t> qui est aujourd’hui mise en avant.</a:t>
            </a:r>
          </a:p>
          <a:p>
            <a:endParaRPr lang="fr-FR" altLang="fr-FR" dirty="0"/>
          </a:p>
          <a:p>
            <a:endParaRPr lang="fr-FR" altLang="fr-FR" dirty="0"/>
          </a:p>
          <a:p>
            <a:r>
              <a:rPr lang="fr-FR" altLang="fr-FR" dirty="0"/>
              <a:t>2) La délimitation historiographique de la période actuelle.</a:t>
            </a:r>
          </a:p>
          <a:p>
            <a:endParaRPr lang="fr-FR" altLang="fr-FR" dirty="0"/>
          </a:p>
          <a:p>
            <a:r>
              <a:rPr lang="fr-FR" altLang="fr-FR" dirty="0"/>
              <a:t>« Le « manque de temps » aigu est devenu un état permanent de nos sociétés modernes » (Hartmut Rosa), cité par Servigne, Stevens, 2015.</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50</a:t>
            </a:fld>
            <a:endParaRPr lang="fr-FR" altLang="fr-FR"/>
          </a:p>
        </p:txBody>
      </p:sp>
    </p:spTree>
    <p:extLst>
      <p:ext uri="{BB962C8B-B14F-4D97-AF65-F5344CB8AC3E}">
        <p14:creationId xmlns:p14="http://schemas.microsoft.com/office/powerpoint/2010/main" val="15465662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endParaRPr lang="fr-FR" altLang="fr-FR" dirty="0"/>
          </a:p>
          <a:p>
            <a:endParaRPr lang="fr-FR" altLang="fr-FR" dirty="0"/>
          </a:p>
          <a:p>
            <a:r>
              <a:rPr lang="fr-FR" altLang="fr-FR" dirty="0"/>
              <a:t>1) L’émergence de la notion d’anthropocène</a:t>
            </a:r>
          </a:p>
          <a:p>
            <a:endParaRPr lang="fr-FR" altLang="fr-FR" dirty="0"/>
          </a:p>
          <a:p>
            <a:r>
              <a:rPr lang="fr-FR" altLang="fr-FR" dirty="0"/>
              <a:t>On peut être attentif aux marqueur lexicaux. Tandis qu’il y a quelques années on parlait encore de l’impact de l’activité humaine sur la </a:t>
            </a:r>
            <a:r>
              <a:rPr lang="fr-FR" altLang="fr-FR" b="1" dirty="0"/>
              <a:t>biosphère</a:t>
            </a:r>
            <a:r>
              <a:rPr lang="fr-FR" altLang="fr-FR" dirty="0"/>
              <a:t>, c’est la notion d’</a:t>
            </a:r>
            <a:r>
              <a:rPr lang="fr-FR" altLang="fr-FR" b="1" dirty="0"/>
              <a:t>anthropocène</a:t>
            </a:r>
            <a:r>
              <a:rPr lang="fr-FR" altLang="fr-FR" dirty="0"/>
              <a:t> qui est aujourd’hui mise en avant.</a:t>
            </a:r>
          </a:p>
          <a:p>
            <a:endParaRPr lang="fr-FR" altLang="fr-FR" dirty="0"/>
          </a:p>
          <a:p>
            <a:endParaRPr lang="fr-FR" altLang="fr-FR" dirty="0"/>
          </a:p>
          <a:p>
            <a:r>
              <a:rPr lang="fr-FR" altLang="fr-FR" dirty="0"/>
              <a:t>2) La délimitation historiographique de la période actuelle.</a:t>
            </a:r>
          </a:p>
          <a:p>
            <a:endParaRPr lang="fr-FR" altLang="fr-FR" dirty="0"/>
          </a:p>
          <a:p>
            <a:r>
              <a:rPr lang="fr-FR" altLang="fr-FR" dirty="0"/>
              <a:t>« Le « manque de temps » aigu est devenu un état permanent de nos sociétés modernes » (Hartmut Rosa), cité par Servigne, Stevens, 2015.</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51</a:t>
            </a:fld>
            <a:endParaRPr lang="fr-FR" altLang="fr-FR"/>
          </a:p>
        </p:txBody>
      </p:sp>
    </p:spTree>
    <p:extLst>
      <p:ext uri="{BB962C8B-B14F-4D97-AF65-F5344CB8AC3E}">
        <p14:creationId xmlns:p14="http://schemas.microsoft.com/office/powerpoint/2010/main" val="15673461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endParaRPr lang="fr-FR" altLang="fr-FR" dirty="0"/>
          </a:p>
          <a:p>
            <a:endParaRPr lang="fr-FR" altLang="fr-FR" dirty="0"/>
          </a:p>
          <a:p>
            <a:r>
              <a:rPr lang="fr-FR" altLang="fr-FR" dirty="0"/>
              <a:t>1) L’émergence de la notion d’anthropocène</a:t>
            </a:r>
          </a:p>
          <a:p>
            <a:endParaRPr lang="fr-FR" altLang="fr-FR" dirty="0"/>
          </a:p>
          <a:p>
            <a:r>
              <a:rPr lang="fr-FR" altLang="fr-FR" dirty="0"/>
              <a:t>On peut être attentif aux marqueur lexicaux. Tandis qu’il y a quelques années on parlait encore de l’impact de l’activité humaine sur la </a:t>
            </a:r>
            <a:r>
              <a:rPr lang="fr-FR" altLang="fr-FR" b="1" dirty="0"/>
              <a:t>biosphère</a:t>
            </a:r>
            <a:r>
              <a:rPr lang="fr-FR" altLang="fr-FR" dirty="0"/>
              <a:t>, c’est la notion d’</a:t>
            </a:r>
            <a:r>
              <a:rPr lang="fr-FR" altLang="fr-FR" b="1" dirty="0"/>
              <a:t>anthropocène</a:t>
            </a:r>
            <a:r>
              <a:rPr lang="fr-FR" altLang="fr-FR" dirty="0"/>
              <a:t> qui est aujourd’hui mise en avant.</a:t>
            </a:r>
          </a:p>
          <a:p>
            <a:endParaRPr lang="fr-FR" altLang="fr-FR" dirty="0"/>
          </a:p>
          <a:p>
            <a:endParaRPr lang="fr-FR" altLang="fr-FR" dirty="0"/>
          </a:p>
          <a:p>
            <a:r>
              <a:rPr lang="fr-FR" altLang="fr-FR" dirty="0"/>
              <a:t>2) La délimitation historiographique de la période actuelle.</a:t>
            </a:r>
          </a:p>
          <a:p>
            <a:endParaRPr lang="fr-FR" altLang="fr-FR" dirty="0"/>
          </a:p>
          <a:p>
            <a:r>
              <a:rPr lang="fr-FR" altLang="fr-FR" dirty="0"/>
              <a:t>« Le « manque de temps » aigu est devenu un état permanent de nos sociétés modernes » (Hartmut Rosa), cité par Servigne, Stevens, 2015.</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52</a:t>
            </a:fld>
            <a:endParaRPr lang="fr-FR" altLang="fr-FR"/>
          </a:p>
        </p:txBody>
      </p:sp>
    </p:spTree>
    <p:extLst>
      <p:ext uri="{BB962C8B-B14F-4D97-AF65-F5344CB8AC3E}">
        <p14:creationId xmlns:p14="http://schemas.microsoft.com/office/powerpoint/2010/main" val="1329055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endParaRPr lang="fr-FR" altLang="fr-FR" dirty="0"/>
          </a:p>
          <a:p>
            <a:endParaRPr lang="fr-FR" altLang="fr-FR" dirty="0"/>
          </a:p>
          <a:p>
            <a:r>
              <a:rPr lang="fr-FR" altLang="fr-FR" dirty="0"/>
              <a:t>1) L’émergence de la notion d’anthropocène</a:t>
            </a:r>
          </a:p>
          <a:p>
            <a:endParaRPr lang="fr-FR" altLang="fr-FR" dirty="0"/>
          </a:p>
          <a:p>
            <a:r>
              <a:rPr lang="fr-FR" altLang="fr-FR" dirty="0"/>
              <a:t>On peut être attentif aux marqueur lexicaux. Tandis qu’il y a quelques années on parlait encore de l’impact de l’activité humaine sur la </a:t>
            </a:r>
            <a:r>
              <a:rPr lang="fr-FR" altLang="fr-FR" b="1" dirty="0"/>
              <a:t>biosphère</a:t>
            </a:r>
            <a:r>
              <a:rPr lang="fr-FR" altLang="fr-FR" dirty="0"/>
              <a:t>, c’est la notion d’</a:t>
            </a:r>
            <a:r>
              <a:rPr lang="fr-FR" altLang="fr-FR" b="1" dirty="0"/>
              <a:t>anthropocène</a:t>
            </a:r>
            <a:r>
              <a:rPr lang="fr-FR" altLang="fr-FR" dirty="0"/>
              <a:t> qui est aujourd’hui mise en avant.</a:t>
            </a:r>
          </a:p>
          <a:p>
            <a:endParaRPr lang="fr-FR" altLang="fr-FR" dirty="0"/>
          </a:p>
          <a:p>
            <a:endParaRPr lang="fr-FR" altLang="fr-FR" dirty="0"/>
          </a:p>
          <a:p>
            <a:r>
              <a:rPr lang="fr-FR" altLang="fr-FR" dirty="0"/>
              <a:t>2) La délimitation historiographique de la période actuelle.</a:t>
            </a:r>
          </a:p>
          <a:p>
            <a:endParaRPr lang="fr-FR" altLang="fr-FR" dirty="0"/>
          </a:p>
          <a:p>
            <a:r>
              <a:rPr lang="fr-FR" altLang="fr-FR" dirty="0"/>
              <a:t>« Le « manque de temps » aigu est devenu un état permanent de nos sociétés modernes » (Hartmut Rosa), cité par Servigne, Stevens, 2015.</a:t>
            </a:r>
          </a:p>
        </p:txBody>
      </p:sp>
      <p:sp>
        <p:nvSpPr>
          <p:cNvPr id="4" name="Espace réservé du numéro de diapositive 3"/>
          <p:cNvSpPr>
            <a:spLocks noGrp="1"/>
          </p:cNvSpPr>
          <p:nvPr>
            <p:ph type="sldNum" sz="quarter" idx="5"/>
          </p:nvPr>
        </p:nvSpPr>
        <p:spPr/>
        <p:txBody>
          <a:bodyPr numCol="1"/>
          <a:lstStyle/>
          <a:p>
            <a:fld id="{EE5C0A75-B43F-4D16-9787-0C2CEED058D3}" type="slidenum">
              <a:rPr lang="fr-FR" altLang="fr-FR" smtClean="0"/>
              <a:t>53</a:t>
            </a:fld>
            <a:endParaRPr lang="fr-FR" altLang="fr-FR"/>
          </a:p>
        </p:txBody>
      </p:sp>
    </p:spTree>
    <p:extLst>
      <p:ext uri="{BB962C8B-B14F-4D97-AF65-F5344CB8AC3E}">
        <p14:creationId xmlns:p14="http://schemas.microsoft.com/office/powerpoint/2010/main" val="16957454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endParaRPr lang="fr-FR" altLang="fr-FR" b="1"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b="1" dirty="0"/>
              <a:t>Sur l’hypothèse Gaïa, </a:t>
            </a:r>
            <a:r>
              <a:rPr lang="fr-FR" altLang="fr-FR" b="0" dirty="0"/>
              <a:t>voir :</a:t>
            </a:r>
          </a:p>
          <a:p>
            <a:pPr marL="171450" marR="0" lvl="0" indent="-171450" algn="l" defTabSz="914400" rtl="0" eaLnBrk="1" latinLnBrk="0" hangingPunct="1">
              <a:lnSpc>
                <a:spcPct val="100000"/>
              </a:lnSpc>
              <a:spcBef>
                <a:spcPts val="0"/>
              </a:spcBef>
              <a:spcAft>
                <a:spcPts val="0"/>
              </a:spcAft>
              <a:buClrTx/>
              <a:buSzTx/>
              <a:buFontTx/>
              <a:buChar char="-"/>
              <a:tabLst/>
              <a:defRPr/>
            </a:pPr>
            <a:r>
              <a:rPr lang="fr-FR" altLang="fr-FR" b="0" dirty="0"/>
              <a:t>http://geoconfluences.ens-lyon.fr/informations-scientifiques/dossiers-thematiques/fait-religieux-et-construction-de-l-espace/corpus-documentaire/gaia-hypothese-scientifique-veneration-neopaienne-et-intrusion </a:t>
            </a:r>
          </a:p>
          <a:p>
            <a:pPr marL="171450" marR="0" lvl="0" indent="-171450" algn="l" defTabSz="914400" rtl="0" eaLnBrk="1" latinLnBrk="0" hangingPunct="1">
              <a:lnSpc>
                <a:spcPct val="100000"/>
              </a:lnSpc>
              <a:spcBef>
                <a:spcPts val="0"/>
              </a:spcBef>
              <a:spcAft>
                <a:spcPts val="0"/>
              </a:spcAft>
              <a:buClrTx/>
              <a:buSzTx/>
              <a:buFontTx/>
              <a:buChar char="-"/>
              <a:tabLst/>
              <a:defRPr/>
            </a:pPr>
            <a:r>
              <a:rPr lang="fr-FR" altLang="fr-FR" b="0" dirty="0"/>
              <a:t>https://www.franceculture.fr/emissions/matieres-a-penser-avec-frederic-worms/objectif-terre</a:t>
            </a:r>
          </a:p>
          <a:p>
            <a:pPr marL="0" marR="0" lvl="0" indent="0" algn="l" defTabSz="914400" rtl="0" eaLnBrk="1" latinLnBrk="0" hangingPunct="1">
              <a:lnSpc>
                <a:spcPct val="100000"/>
              </a:lnSpc>
              <a:spcBef>
                <a:spcPts val="0"/>
              </a:spcBef>
              <a:spcAft>
                <a:spcPts val="0"/>
              </a:spcAft>
              <a:buClrTx/>
              <a:buSzTx/>
              <a:buFontTx/>
              <a:buNone/>
              <a:tabLst/>
              <a:defRPr/>
            </a:pPr>
            <a:endParaRPr lang="fr-FR" altLang="fr-FR" b="1"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b="1" dirty="0"/>
              <a:t>Bruno Latour </a:t>
            </a:r>
            <a:r>
              <a:rPr lang="fr-FR" altLang="fr-FR" dirty="0"/>
              <a:t>est un philosophe et sociologue des sciences, particulièrement influent. Sa pensée est discutée dans le monde entier.</a:t>
            </a:r>
          </a:p>
          <a:p>
            <a:r>
              <a:rPr lang="fr-FR" altLang="fr-FR" dirty="0"/>
              <a:t>L’œuvre du Bruno Latour est abondante, reconnue et discutée. On trouvera une bibliographie sur sa notice Wikipédia.</a:t>
            </a:r>
          </a:p>
          <a:p>
            <a:pPr marL="0" marR="0" lvl="0" indent="0" algn="l" defTabSz="914400" rtl="0" eaLnBrk="1" latinLnBrk="0" hangingPunct="1">
              <a:lnSpc>
                <a:spcPct val="100000"/>
              </a:lnSpc>
              <a:spcBef>
                <a:spcPts val="0"/>
              </a:spcBef>
              <a:spcAft>
                <a:spcPts val="0"/>
              </a:spcAft>
              <a:buClrTx/>
              <a:buSzTx/>
              <a:buFontTx/>
              <a:buNone/>
              <a:tabLst/>
              <a:defRPr/>
            </a:pPr>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Son essai le plus récent, à date (en 2021), est bref et abordable pour des étudiants :</a:t>
            </a:r>
          </a:p>
          <a:p>
            <a:pPr marL="171450" marR="0" lvl="0" indent="-171450" algn="l" defTabSz="914400" rtl="0" eaLnBrk="1" latinLnBrk="0" hangingPunct="1">
              <a:lnSpc>
                <a:spcPct val="100000"/>
              </a:lnSpc>
              <a:spcBef>
                <a:spcPts val="0"/>
              </a:spcBef>
              <a:spcAft>
                <a:spcPts val="0"/>
              </a:spcAft>
              <a:buClrTx/>
              <a:buSzTx/>
              <a:buFontTx/>
              <a:buChar char="-"/>
              <a:tabLst/>
              <a:defRPr/>
            </a:pPr>
            <a:r>
              <a:rPr lang="fr-FR" altLang="fr-FR" dirty="0"/>
              <a:t>Bruno Latour, </a:t>
            </a:r>
            <a:r>
              <a:rPr lang="fr-FR" altLang="fr-FR" i="1" dirty="0"/>
              <a:t>Où suis-je ? Leçons du confinement à l’usage des terrestres</a:t>
            </a:r>
            <a:r>
              <a:rPr lang="fr-FR" altLang="fr-FR" dirty="0"/>
              <a:t>, Paris, La découverte, coll. «  Les empêcheurs de penser en rond », 2021.</a:t>
            </a:r>
          </a:p>
          <a:p>
            <a:pPr marL="0" marR="0" lvl="0" indent="0" algn="l" defTabSz="914400" rtl="0" eaLnBrk="1" latinLnBrk="0" hangingPunct="1">
              <a:lnSpc>
                <a:spcPct val="100000"/>
              </a:lnSpc>
              <a:spcBef>
                <a:spcPts val="0"/>
              </a:spcBef>
              <a:spcAft>
                <a:spcPts val="0"/>
              </a:spcAft>
              <a:buClrTx/>
              <a:buSzTx/>
              <a:buFontTx/>
              <a:buNone/>
              <a:tabLst/>
              <a:defRPr/>
            </a:pPr>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Un ouvrage collectif récent porte sur son œuvre :</a:t>
            </a:r>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 Frédérique Aït-Touati, Emmanuelle </a:t>
            </a:r>
            <a:r>
              <a:rPr lang="fr-FR" altLang="fr-FR" dirty="0" err="1"/>
              <a:t>Coccia</a:t>
            </a:r>
            <a:r>
              <a:rPr lang="fr-FR" altLang="fr-FR" dirty="0"/>
              <a:t> (</a:t>
            </a:r>
            <a:r>
              <a:rPr lang="fr-FR" altLang="fr-FR" dirty="0" err="1"/>
              <a:t>dir</a:t>
            </a:r>
            <a:r>
              <a:rPr lang="fr-FR" altLang="fr-FR" dirty="0"/>
              <a:t>.), </a:t>
            </a:r>
            <a:r>
              <a:rPr lang="fr-FR" altLang="fr-FR" i="1" dirty="0"/>
              <a:t>Le cri de Gaïa. Penser avec Bruno Latour</a:t>
            </a:r>
            <a:r>
              <a:rPr lang="fr-FR" altLang="fr-FR" dirty="0"/>
              <a:t>, Paris, La découverte, coll. «  Les empêcheurs de penser en rond », 2021.</a:t>
            </a:r>
          </a:p>
          <a:p>
            <a:pPr marL="171450" marR="0" lvl="0" indent="-171450" algn="l" defTabSz="914400" rtl="0" eaLnBrk="1" latinLnBrk="0" hangingPunct="1">
              <a:lnSpc>
                <a:spcPct val="100000"/>
              </a:lnSpc>
              <a:spcBef>
                <a:spcPts val="0"/>
              </a:spcBef>
              <a:spcAft>
                <a:spcPts val="0"/>
              </a:spcAft>
              <a:buClrTx/>
              <a:buSzTx/>
              <a:buFontTx/>
              <a:buChar char="-"/>
              <a:tabLst/>
              <a:defRPr/>
            </a:pPr>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Bruno Latour s’est beaucoup nourri du dialogue avec l’anthropologie.</a:t>
            </a:r>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 Voir un dialogue avec Philippe Descola :: https://vancouver.consulfrance.org/Philippe-Descola-et-Bruno-Latour </a:t>
            </a:r>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71</a:t>
            </a:fld>
            <a:endParaRPr lang="fr-FR" altLang="fr-FR"/>
          </a:p>
        </p:txBody>
      </p:sp>
    </p:spTree>
    <p:extLst>
      <p:ext uri="{BB962C8B-B14F-4D97-AF65-F5344CB8AC3E}">
        <p14:creationId xmlns:p14="http://schemas.microsoft.com/office/powerpoint/2010/main" val="30512116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endParaRPr lang="fr-FR" altLang="fr-FR" dirty="0"/>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72</a:t>
            </a:fld>
            <a:endParaRPr lang="fr-FR" altLang="fr-FR"/>
          </a:p>
        </p:txBody>
      </p:sp>
    </p:spTree>
    <p:extLst>
      <p:ext uri="{BB962C8B-B14F-4D97-AF65-F5344CB8AC3E}">
        <p14:creationId xmlns:p14="http://schemas.microsoft.com/office/powerpoint/2010/main" val="304410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r>
              <a:rPr lang="fr-FR" altLang="fr-FR" u="sng" dirty="0"/>
              <a:t>Pour aller plus loin </a:t>
            </a:r>
            <a:r>
              <a:rPr lang="fr-FR" altLang="fr-FR" dirty="0"/>
              <a:t>:</a:t>
            </a:r>
          </a:p>
          <a:p>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endParaRPr lang="fr-FR" altLang="fr-FR" b="1"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b="1" dirty="0"/>
              <a:t>Sur l’hypothèse Gaïa, </a:t>
            </a:r>
            <a:r>
              <a:rPr lang="fr-FR" altLang="fr-FR" b="0" dirty="0"/>
              <a:t>voir :</a:t>
            </a:r>
          </a:p>
          <a:p>
            <a:pPr marL="171450" marR="0" lvl="0" indent="-171450" algn="l" defTabSz="914400" rtl="0" eaLnBrk="1" latinLnBrk="0" hangingPunct="1">
              <a:lnSpc>
                <a:spcPct val="100000"/>
              </a:lnSpc>
              <a:spcBef>
                <a:spcPts val="0"/>
              </a:spcBef>
              <a:spcAft>
                <a:spcPts val="0"/>
              </a:spcAft>
              <a:buClrTx/>
              <a:buSzTx/>
              <a:buFontTx/>
              <a:buChar char="-"/>
              <a:tabLst/>
              <a:defRPr/>
            </a:pPr>
            <a:r>
              <a:rPr lang="fr-FR" altLang="fr-FR" b="0" dirty="0"/>
              <a:t>http://geoconfluences.ens-lyon.fr/informations-scientifiques/dossiers-thematiques/fait-religieux-et-construction-de-l-espace/corpus-documentaire/gaia-hypothese-scientifique-veneration-neopaienne-et-intrusion </a:t>
            </a:r>
          </a:p>
          <a:p>
            <a:pPr marL="171450" marR="0" lvl="0" indent="-171450" algn="l" defTabSz="914400" rtl="0" eaLnBrk="1" latinLnBrk="0" hangingPunct="1">
              <a:lnSpc>
                <a:spcPct val="100000"/>
              </a:lnSpc>
              <a:spcBef>
                <a:spcPts val="0"/>
              </a:spcBef>
              <a:spcAft>
                <a:spcPts val="0"/>
              </a:spcAft>
              <a:buClrTx/>
              <a:buSzTx/>
              <a:buFontTx/>
              <a:buChar char="-"/>
              <a:tabLst/>
              <a:defRPr/>
            </a:pPr>
            <a:r>
              <a:rPr lang="fr-FR" altLang="fr-FR" b="0" dirty="0"/>
              <a:t>https://www.franceculture.fr/emissions/matieres-a-penser-avec-frederic-worms/objectif-terre</a:t>
            </a:r>
          </a:p>
          <a:p>
            <a:pPr marL="0" marR="0" lvl="0" indent="0" algn="l" defTabSz="914400" rtl="0" eaLnBrk="1" latinLnBrk="0" hangingPunct="1">
              <a:lnSpc>
                <a:spcPct val="100000"/>
              </a:lnSpc>
              <a:spcBef>
                <a:spcPts val="0"/>
              </a:spcBef>
              <a:spcAft>
                <a:spcPts val="0"/>
              </a:spcAft>
              <a:buClrTx/>
              <a:buSzTx/>
              <a:buFontTx/>
              <a:buNone/>
              <a:tabLst/>
              <a:defRPr/>
            </a:pPr>
            <a:endParaRPr lang="fr-FR" altLang="fr-FR" b="1"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b="1" dirty="0"/>
              <a:t>Bruno Latour </a:t>
            </a:r>
            <a:r>
              <a:rPr lang="fr-FR" altLang="fr-FR" dirty="0"/>
              <a:t>est un philosophe et sociologue des sciences, particulièrement influent. Sa pensée est discutée dans le monde entier.</a:t>
            </a:r>
          </a:p>
          <a:p>
            <a:r>
              <a:rPr lang="fr-FR" altLang="fr-FR" dirty="0"/>
              <a:t>L’œuvre du Bruno Latour est abondante, reconnue et discutée. On trouvera une bibliographie sur sa notice Wikipédia.</a:t>
            </a:r>
          </a:p>
          <a:p>
            <a:pPr marL="0" marR="0" lvl="0" indent="0" algn="l" defTabSz="914400" rtl="0" eaLnBrk="1" latinLnBrk="0" hangingPunct="1">
              <a:lnSpc>
                <a:spcPct val="100000"/>
              </a:lnSpc>
              <a:spcBef>
                <a:spcPts val="0"/>
              </a:spcBef>
              <a:spcAft>
                <a:spcPts val="0"/>
              </a:spcAft>
              <a:buClrTx/>
              <a:buSzTx/>
              <a:buFontTx/>
              <a:buNone/>
              <a:tabLst/>
              <a:defRPr/>
            </a:pPr>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Son essai le plus récent, à date (en 2021), est bref et abordable pour des étudiants :</a:t>
            </a:r>
          </a:p>
          <a:p>
            <a:pPr marL="171450" marR="0" lvl="0" indent="-171450" algn="l" defTabSz="914400" rtl="0" eaLnBrk="1" latinLnBrk="0" hangingPunct="1">
              <a:lnSpc>
                <a:spcPct val="100000"/>
              </a:lnSpc>
              <a:spcBef>
                <a:spcPts val="0"/>
              </a:spcBef>
              <a:spcAft>
                <a:spcPts val="0"/>
              </a:spcAft>
              <a:buClrTx/>
              <a:buSzTx/>
              <a:buFontTx/>
              <a:buChar char="-"/>
              <a:tabLst/>
              <a:defRPr/>
            </a:pPr>
            <a:r>
              <a:rPr lang="fr-FR" altLang="fr-FR" dirty="0"/>
              <a:t>Bruno Latour, </a:t>
            </a:r>
            <a:r>
              <a:rPr lang="fr-FR" altLang="fr-FR" i="1" dirty="0"/>
              <a:t>Où suis-je ? Leçons du confinement à l’usage des terrestres</a:t>
            </a:r>
            <a:r>
              <a:rPr lang="fr-FR" altLang="fr-FR" dirty="0"/>
              <a:t>, Paris, La découverte, coll. «  Les empêcheurs de penser en rond », 2021.</a:t>
            </a:r>
          </a:p>
          <a:p>
            <a:pPr marL="0" marR="0" lvl="0" indent="0" algn="l" defTabSz="914400" rtl="0" eaLnBrk="1" latinLnBrk="0" hangingPunct="1">
              <a:lnSpc>
                <a:spcPct val="100000"/>
              </a:lnSpc>
              <a:spcBef>
                <a:spcPts val="0"/>
              </a:spcBef>
              <a:spcAft>
                <a:spcPts val="0"/>
              </a:spcAft>
              <a:buClrTx/>
              <a:buSzTx/>
              <a:buFontTx/>
              <a:buNone/>
              <a:tabLst/>
              <a:defRPr/>
            </a:pPr>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Un ouvrage collectif récent porte sur son œuvre :</a:t>
            </a:r>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 Frédérique Aït-Touati, Emmanuelle </a:t>
            </a:r>
            <a:r>
              <a:rPr lang="fr-FR" altLang="fr-FR" dirty="0" err="1"/>
              <a:t>Coccia</a:t>
            </a:r>
            <a:r>
              <a:rPr lang="fr-FR" altLang="fr-FR" dirty="0"/>
              <a:t> (</a:t>
            </a:r>
            <a:r>
              <a:rPr lang="fr-FR" altLang="fr-FR" dirty="0" err="1"/>
              <a:t>dir</a:t>
            </a:r>
            <a:r>
              <a:rPr lang="fr-FR" altLang="fr-FR" dirty="0"/>
              <a:t>.), </a:t>
            </a:r>
            <a:r>
              <a:rPr lang="fr-FR" altLang="fr-FR" i="1" dirty="0"/>
              <a:t>Le cri de Gaïa. Penser avec Bruno Latour</a:t>
            </a:r>
            <a:r>
              <a:rPr lang="fr-FR" altLang="fr-FR" dirty="0"/>
              <a:t>, Paris, La découverte, coll. «  Les empêcheurs de penser en rond », 2021.</a:t>
            </a:r>
          </a:p>
          <a:p>
            <a:pPr marL="171450" marR="0" lvl="0" indent="-171450" algn="l" defTabSz="914400" rtl="0" eaLnBrk="1" latinLnBrk="0" hangingPunct="1">
              <a:lnSpc>
                <a:spcPct val="100000"/>
              </a:lnSpc>
              <a:spcBef>
                <a:spcPts val="0"/>
              </a:spcBef>
              <a:spcAft>
                <a:spcPts val="0"/>
              </a:spcAft>
              <a:buClrTx/>
              <a:buSzTx/>
              <a:buFontTx/>
              <a:buChar char="-"/>
              <a:tabLst/>
              <a:defRPr/>
            </a:pPr>
            <a:endParaRPr lang="fr-FR" altLang="fr-FR" dirty="0"/>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Bruno Latour s’est beaucoup nourri du dialogue avec l’anthropologie.</a:t>
            </a:r>
          </a:p>
          <a:p>
            <a:pPr marL="0" marR="0" lvl="0" indent="0" algn="l" defTabSz="914400" rtl="0" eaLnBrk="1" latinLnBrk="0" hangingPunct="1">
              <a:lnSpc>
                <a:spcPct val="100000"/>
              </a:lnSpc>
              <a:spcBef>
                <a:spcPts val="0"/>
              </a:spcBef>
              <a:spcAft>
                <a:spcPts val="0"/>
              </a:spcAft>
              <a:buClrTx/>
              <a:buSzTx/>
              <a:buFontTx/>
              <a:buNone/>
              <a:tabLst/>
              <a:defRPr/>
            </a:pPr>
            <a:r>
              <a:rPr lang="fr-FR" altLang="fr-FR" dirty="0"/>
              <a:t>- Voir un dialogue avec Philippe Descola :: https://vancouver.consulfrance.org/Philippe-Descola-et-Bruno-Latour </a:t>
            </a:r>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75</a:t>
            </a:fld>
            <a:endParaRPr lang="fr-FR" altLang="fr-FR"/>
          </a:p>
        </p:txBody>
      </p:sp>
    </p:spTree>
    <p:extLst>
      <p:ext uri="{BB962C8B-B14F-4D97-AF65-F5344CB8AC3E}">
        <p14:creationId xmlns:p14="http://schemas.microsoft.com/office/powerpoint/2010/main" val="10041989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endParaRPr lang="fr-FR" altLang="fr-FR" dirty="0"/>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76</a:t>
            </a:fld>
            <a:endParaRPr lang="fr-FR" altLang="fr-FR"/>
          </a:p>
        </p:txBody>
      </p:sp>
    </p:spTree>
    <p:extLst>
      <p:ext uri="{BB962C8B-B14F-4D97-AF65-F5344CB8AC3E}">
        <p14:creationId xmlns:p14="http://schemas.microsoft.com/office/powerpoint/2010/main" val="6344119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numCol="1"/>
          <a:lstStyle/>
          <a:p>
            <a:endParaRPr lang="fr-FR" altLang="fr-FR" dirty="0"/>
          </a:p>
        </p:txBody>
      </p:sp>
      <p:sp>
        <p:nvSpPr>
          <p:cNvPr id="4" name="Espace réservé du numéro de diapositive 3"/>
          <p:cNvSpPr>
            <a:spLocks noGrp="1"/>
          </p:cNvSpPr>
          <p:nvPr>
            <p:ph type="sldNum" sz="quarter" idx="5"/>
          </p:nvPr>
        </p:nvSpPr>
        <p:spPr/>
        <p:txBody>
          <a:bodyPr numCol="1"/>
          <a:lstStyle/>
          <a:p>
            <a:fld id="{6DF1160C-CE2F-426B-8608-ED458F59F52B}" type="slidenum">
              <a:rPr lang="fr-FR" altLang="fr-FR" smtClean="0"/>
              <a:t>77</a:t>
            </a:fld>
            <a:endParaRPr lang="fr-FR" altLang="fr-FR"/>
          </a:p>
        </p:txBody>
      </p:sp>
    </p:spTree>
    <p:extLst>
      <p:ext uri="{BB962C8B-B14F-4D97-AF65-F5344CB8AC3E}">
        <p14:creationId xmlns:p14="http://schemas.microsoft.com/office/powerpoint/2010/main" val="648493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3BAC73-6B24-42C1-B453-8619AAE34752}"/>
              </a:ext>
            </a:extLst>
          </p:cNvPr>
          <p:cNvSpPr>
            <a:spLocks noGrp="1"/>
          </p:cNvSpPr>
          <p:nvPr>
            <p:ph type="ctrTitle"/>
          </p:nvPr>
        </p:nvSpPr>
        <p:spPr>
          <a:xfrm>
            <a:off x="1524000" y="1122363"/>
            <a:ext cx="9144000" cy="2387600"/>
          </a:xfrm>
        </p:spPr>
        <p:txBody>
          <a:bodyPr numCol="1" anchor="b"/>
          <a:lstStyle>
            <a:lvl1pPr algn="ctr">
              <a:defRPr sz="6000"/>
            </a:lvl1pPr>
          </a:lstStyle>
          <a:p>
            <a:r>
              <a:rPr lang="fr-FR" altLang="fr-FR"/>
              <a:t>Modifiez le style du titre</a:t>
            </a:r>
          </a:p>
        </p:txBody>
      </p:sp>
      <p:sp>
        <p:nvSpPr>
          <p:cNvPr id="3" name="Sous-titre 2">
            <a:extLst>
              <a:ext uri="{FF2B5EF4-FFF2-40B4-BE49-F238E27FC236}">
                <a16:creationId xmlns:a16="http://schemas.microsoft.com/office/drawing/2014/main" id="{745E31B6-26D9-4B8E-9702-9DF867FC119D}"/>
              </a:ext>
            </a:extLst>
          </p:cNvPr>
          <p:cNvSpPr>
            <a:spLocks noGrp="1"/>
          </p:cNvSpPr>
          <p:nvPr>
            <p:ph type="subTitle" idx="1"/>
          </p:nvPr>
        </p:nvSpPr>
        <p:spPr>
          <a:xfrm>
            <a:off x="1524000" y="3602038"/>
            <a:ext cx="9144000" cy="1655762"/>
          </a:xfrm>
        </p:spPr>
        <p:txBody>
          <a:bodyPr numCol="1"/>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ltLang="fr-FR"/>
              <a:t>Modifiez le style des sous-titres du masque</a:t>
            </a:r>
          </a:p>
        </p:txBody>
      </p:sp>
      <p:sp>
        <p:nvSpPr>
          <p:cNvPr id="4" name="Espace réservé de la date 3">
            <a:extLst>
              <a:ext uri="{FF2B5EF4-FFF2-40B4-BE49-F238E27FC236}">
                <a16:creationId xmlns:a16="http://schemas.microsoft.com/office/drawing/2014/main" id="{EAAF2AC4-BF14-4B62-A29B-DF79BAB3E536}"/>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5" name="Espace réservé du pied de page 4">
            <a:extLst>
              <a:ext uri="{FF2B5EF4-FFF2-40B4-BE49-F238E27FC236}">
                <a16:creationId xmlns:a16="http://schemas.microsoft.com/office/drawing/2014/main" id="{6B75CF5C-2D18-4A9A-A892-FB07A4544572}"/>
              </a:ext>
            </a:extLst>
          </p:cNvPr>
          <p:cNvSpPr>
            <a:spLocks noGrp="1"/>
          </p:cNvSpPr>
          <p:nvPr>
            <p:ph type="ftr" sz="quarter" idx="11"/>
          </p:nvPr>
        </p:nvSpPr>
        <p:spPr/>
        <p:txBody>
          <a:bodyPr numCol="1"/>
          <a:lstStyle/>
          <a:p>
            <a:endParaRPr lang="fr-FR" altLang="fr-FR"/>
          </a:p>
        </p:txBody>
      </p:sp>
      <p:sp>
        <p:nvSpPr>
          <p:cNvPr id="6" name="Espace réservé du numéro de diapositive 5">
            <a:extLst>
              <a:ext uri="{FF2B5EF4-FFF2-40B4-BE49-F238E27FC236}">
                <a16:creationId xmlns:a16="http://schemas.microsoft.com/office/drawing/2014/main" id="{050DE7EC-C25F-47C0-A928-4AD4AF3CAD47}"/>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1663000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1111B3-D896-40AF-BC24-B57311AC086A}"/>
              </a:ext>
            </a:extLst>
          </p:cNvPr>
          <p:cNvSpPr>
            <a:spLocks noGrp="1"/>
          </p:cNvSpPr>
          <p:nvPr>
            <p:ph type="title"/>
          </p:nvPr>
        </p:nvSpPr>
        <p:spPr/>
        <p:txBody>
          <a:bodyPr numCol="1"/>
          <a:lstStyle/>
          <a:p>
            <a:r>
              <a:rPr lang="fr-FR" altLang="fr-FR"/>
              <a:t>Modifiez le style du titre</a:t>
            </a:r>
          </a:p>
        </p:txBody>
      </p:sp>
      <p:sp>
        <p:nvSpPr>
          <p:cNvPr id="3" name="Espace réservé du contenu 2">
            <a:extLst>
              <a:ext uri="{FF2B5EF4-FFF2-40B4-BE49-F238E27FC236}">
                <a16:creationId xmlns:a16="http://schemas.microsoft.com/office/drawing/2014/main" id="{0FA00B1D-A94E-47F7-BA19-E237C23906E5}"/>
              </a:ext>
            </a:extLst>
          </p:cNvPr>
          <p:cNvSpPr>
            <a:spLocks noGrp="1"/>
          </p:cNvSpPr>
          <p:nvPr>
            <p:ph idx="1"/>
          </p:nvPr>
        </p:nvSpPr>
        <p:spPr/>
        <p:txBody>
          <a:bodyPr numCol="1"/>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4" name="Espace réservé de la date 3">
            <a:extLst>
              <a:ext uri="{FF2B5EF4-FFF2-40B4-BE49-F238E27FC236}">
                <a16:creationId xmlns:a16="http://schemas.microsoft.com/office/drawing/2014/main" id="{BE0D05BD-71E6-4457-A51B-BC0602A1AA6A}"/>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5" name="Espace réservé du pied de page 4">
            <a:extLst>
              <a:ext uri="{FF2B5EF4-FFF2-40B4-BE49-F238E27FC236}">
                <a16:creationId xmlns:a16="http://schemas.microsoft.com/office/drawing/2014/main" id="{B1B82BF7-7096-4F28-B330-F1651AEB14A3}"/>
              </a:ext>
            </a:extLst>
          </p:cNvPr>
          <p:cNvSpPr>
            <a:spLocks noGrp="1"/>
          </p:cNvSpPr>
          <p:nvPr>
            <p:ph type="ftr" sz="quarter" idx="11"/>
          </p:nvPr>
        </p:nvSpPr>
        <p:spPr/>
        <p:txBody>
          <a:bodyPr numCol="1"/>
          <a:lstStyle/>
          <a:p>
            <a:endParaRPr lang="fr-FR" altLang="fr-FR"/>
          </a:p>
        </p:txBody>
      </p:sp>
      <p:sp>
        <p:nvSpPr>
          <p:cNvPr id="6" name="Espace réservé du numéro de diapositive 5">
            <a:extLst>
              <a:ext uri="{FF2B5EF4-FFF2-40B4-BE49-F238E27FC236}">
                <a16:creationId xmlns:a16="http://schemas.microsoft.com/office/drawing/2014/main" id="{D5085D7A-9922-4B6F-879D-812E35EBE37F}"/>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2437143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181522-EA02-4D0F-B949-DA794A8C53FC}"/>
              </a:ext>
            </a:extLst>
          </p:cNvPr>
          <p:cNvSpPr>
            <a:spLocks noGrp="1"/>
          </p:cNvSpPr>
          <p:nvPr>
            <p:ph type="title"/>
          </p:nvPr>
        </p:nvSpPr>
        <p:spPr>
          <a:xfrm>
            <a:off x="831850" y="1709738"/>
            <a:ext cx="10515600" cy="2852737"/>
          </a:xfrm>
        </p:spPr>
        <p:txBody>
          <a:bodyPr numCol="1" anchor="b"/>
          <a:lstStyle>
            <a:lvl1pPr>
              <a:defRPr sz="6000"/>
            </a:lvl1pPr>
          </a:lstStyle>
          <a:p>
            <a:r>
              <a:rPr lang="fr-FR" altLang="fr-FR"/>
              <a:t>Modifiez le style du titre</a:t>
            </a:r>
          </a:p>
        </p:txBody>
      </p:sp>
      <p:sp>
        <p:nvSpPr>
          <p:cNvPr id="3" name="Espace réservé du texte 2">
            <a:extLst>
              <a:ext uri="{FF2B5EF4-FFF2-40B4-BE49-F238E27FC236}">
                <a16:creationId xmlns:a16="http://schemas.microsoft.com/office/drawing/2014/main" id="{D9F14CA2-14D5-420F-96AC-66126EA41F68}"/>
              </a:ext>
            </a:extLst>
          </p:cNvPr>
          <p:cNvSpPr>
            <a:spLocks noGrp="1"/>
          </p:cNvSpPr>
          <p:nvPr>
            <p:ph type="body" idx="1"/>
          </p:nvPr>
        </p:nvSpPr>
        <p:spPr>
          <a:xfrm>
            <a:off x="831850" y="4589463"/>
            <a:ext cx="10515600" cy="1500187"/>
          </a:xfrm>
        </p:spPr>
        <p:txBody>
          <a:bodyPr numCol="1"/>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ltLang="fr-FR"/>
              <a:t>Cliquez pour modifier les styles du texte du masque</a:t>
            </a:r>
          </a:p>
        </p:txBody>
      </p:sp>
      <p:sp>
        <p:nvSpPr>
          <p:cNvPr id="4" name="Espace réservé de la date 3">
            <a:extLst>
              <a:ext uri="{FF2B5EF4-FFF2-40B4-BE49-F238E27FC236}">
                <a16:creationId xmlns:a16="http://schemas.microsoft.com/office/drawing/2014/main" id="{BA30B114-8B51-496E-B9D8-D22AD8305020}"/>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5" name="Espace réservé du pied de page 4">
            <a:extLst>
              <a:ext uri="{FF2B5EF4-FFF2-40B4-BE49-F238E27FC236}">
                <a16:creationId xmlns:a16="http://schemas.microsoft.com/office/drawing/2014/main" id="{6544A3C8-BD0B-4437-8173-00A163085E13}"/>
              </a:ext>
            </a:extLst>
          </p:cNvPr>
          <p:cNvSpPr>
            <a:spLocks noGrp="1"/>
          </p:cNvSpPr>
          <p:nvPr>
            <p:ph type="ftr" sz="quarter" idx="11"/>
          </p:nvPr>
        </p:nvSpPr>
        <p:spPr/>
        <p:txBody>
          <a:bodyPr numCol="1"/>
          <a:lstStyle/>
          <a:p>
            <a:endParaRPr lang="fr-FR" altLang="fr-FR"/>
          </a:p>
        </p:txBody>
      </p:sp>
      <p:sp>
        <p:nvSpPr>
          <p:cNvPr id="6" name="Espace réservé du numéro de diapositive 5">
            <a:extLst>
              <a:ext uri="{FF2B5EF4-FFF2-40B4-BE49-F238E27FC236}">
                <a16:creationId xmlns:a16="http://schemas.microsoft.com/office/drawing/2014/main" id="{177566FB-8F7A-4E4B-861C-88D479C9378A}"/>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3058318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F0014D-6EC6-480E-BF76-1AF65E4D1251}"/>
              </a:ext>
            </a:extLst>
          </p:cNvPr>
          <p:cNvSpPr>
            <a:spLocks noGrp="1"/>
          </p:cNvSpPr>
          <p:nvPr>
            <p:ph type="title"/>
          </p:nvPr>
        </p:nvSpPr>
        <p:spPr/>
        <p:txBody>
          <a:bodyPr numCol="1"/>
          <a:lstStyle/>
          <a:p>
            <a:r>
              <a:rPr lang="fr-FR" altLang="fr-FR"/>
              <a:t>Modifiez le style du titre</a:t>
            </a:r>
          </a:p>
        </p:txBody>
      </p:sp>
      <p:sp>
        <p:nvSpPr>
          <p:cNvPr id="3" name="Espace réservé du contenu 2">
            <a:extLst>
              <a:ext uri="{FF2B5EF4-FFF2-40B4-BE49-F238E27FC236}">
                <a16:creationId xmlns:a16="http://schemas.microsoft.com/office/drawing/2014/main" id="{B00BB8CC-D7AD-4839-8AC1-E094593CDCC4}"/>
              </a:ext>
            </a:extLst>
          </p:cNvPr>
          <p:cNvSpPr>
            <a:spLocks noGrp="1"/>
          </p:cNvSpPr>
          <p:nvPr>
            <p:ph sz="half" idx="1"/>
          </p:nvPr>
        </p:nvSpPr>
        <p:spPr>
          <a:xfrm>
            <a:off x="838200" y="1825625"/>
            <a:ext cx="5181600" cy="4351338"/>
          </a:xfrm>
        </p:spPr>
        <p:txBody>
          <a:bodyPr numCol="1"/>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4" name="Espace réservé du contenu 3">
            <a:extLst>
              <a:ext uri="{FF2B5EF4-FFF2-40B4-BE49-F238E27FC236}">
                <a16:creationId xmlns:a16="http://schemas.microsoft.com/office/drawing/2014/main" id="{CF4A2C75-10C6-4E9B-977E-B90C8E9BFFE9}"/>
              </a:ext>
            </a:extLst>
          </p:cNvPr>
          <p:cNvSpPr>
            <a:spLocks noGrp="1"/>
          </p:cNvSpPr>
          <p:nvPr>
            <p:ph sz="half" idx="2"/>
          </p:nvPr>
        </p:nvSpPr>
        <p:spPr>
          <a:xfrm>
            <a:off x="6172200" y="1825625"/>
            <a:ext cx="5181600" cy="4351338"/>
          </a:xfrm>
        </p:spPr>
        <p:txBody>
          <a:bodyPr numCol="1"/>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5" name="Espace réservé de la date 4">
            <a:extLst>
              <a:ext uri="{FF2B5EF4-FFF2-40B4-BE49-F238E27FC236}">
                <a16:creationId xmlns:a16="http://schemas.microsoft.com/office/drawing/2014/main" id="{9337BA84-2552-4A5B-B7DF-F3BFAD5C5BDA}"/>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6" name="Espace réservé du pied de page 5">
            <a:extLst>
              <a:ext uri="{FF2B5EF4-FFF2-40B4-BE49-F238E27FC236}">
                <a16:creationId xmlns:a16="http://schemas.microsoft.com/office/drawing/2014/main" id="{62555085-F980-41E8-A0AF-D13BAB6CB990}"/>
              </a:ext>
            </a:extLst>
          </p:cNvPr>
          <p:cNvSpPr>
            <a:spLocks noGrp="1"/>
          </p:cNvSpPr>
          <p:nvPr>
            <p:ph type="ftr" sz="quarter" idx="11"/>
          </p:nvPr>
        </p:nvSpPr>
        <p:spPr/>
        <p:txBody>
          <a:bodyPr numCol="1"/>
          <a:lstStyle/>
          <a:p>
            <a:endParaRPr lang="fr-FR" altLang="fr-FR"/>
          </a:p>
        </p:txBody>
      </p:sp>
      <p:sp>
        <p:nvSpPr>
          <p:cNvPr id="7" name="Espace réservé du numéro de diapositive 6">
            <a:extLst>
              <a:ext uri="{FF2B5EF4-FFF2-40B4-BE49-F238E27FC236}">
                <a16:creationId xmlns:a16="http://schemas.microsoft.com/office/drawing/2014/main" id="{D3DE1B42-C072-41EB-A15D-7E6FD09D82C2}"/>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3017887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6D6517-E40E-488C-8874-AC10CC0BCAFE}"/>
              </a:ext>
            </a:extLst>
          </p:cNvPr>
          <p:cNvSpPr>
            <a:spLocks noGrp="1"/>
          </p:cNvSpPr>
          <p:nvPr>
            <p:ph type="title"/>
          </p:nvPr>
        </p:nvSpPr>
        <p:spPr>
          <a:xfrm>
            <a:off x="839788" y="365125"/>
            <a:ext cx="10515600" cy="1325563"/>
          </a:xfrm>
        </p:spPr>
        <p:txBody>
          <a:bodyPr numCol="1"/>
          <a:lstStyle/>
          <a:p>
            <a:r>
              <a:rPr lang="fr-FR" altLang="fr-FR"/>
              <a:t>Modifiez le style du titre</a:t>
            </a:r>
          </a:p>
        </p:txBody>
      </p:sp>
      <p:sp>
        <p:nvSpPr>
          <p:cNvPr id="3" name="Espace réservé du texte 2">
            <a:extLst>
              <a:ext uri="{FF2B5EF4-FFF2-40B4-BE49-F238E27FC236}">
                <a16:creationId xmlns:a16="http://schemas.microsoft.com/office/drawing/2014/main" id="{533E0384-C52F-4CDB-B4EC-3EBAA78CB0D5}"/>
              </a:ext>
            </a:extLst>
          </p:cNvPr>
          <p:cNvSpPr>
            <a:spLocks noGrp="1"/>
          </p:cNvSpPr>
          <p:nvPr>
            <p:ph type="body" idx="1"/>
          </p:nvPr>
        </p:nvSpPr>
        <p:spPr>
          <a:xfrm>
            <a:off x="839788" y="1681163"/>
            <a:ext cx="5157787" cy="823912"/>
          </a:xfrm>
        </p:spPr>
        <p:txBody>
          <a:bodyPr numCol="1"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ltLang="fr-FR"/>
              <a:t>Cliquez pour modifier les styles du texte du masque</a:t>
            </a:r>
          </a:p>
        </p:txBody>
      </p:sp>
      <p:sp>
        <p:nvSpPr>
          <p:cNvPr id="4" name="Espace réservé du contenu 3">
            <a:extLst>
              <a:ext uri="{FF2B5EF4-FFF2-40B4-BE49-F238E27FC236}">
                <a16:creationId xmlns:a16="http://schemas.microsoft.com/office/drawing/2014/main" id="{38D00470-BA19-46F0-ADB3-FBC62CFC64FE}"/>
              </a:ext>
            </a:extLst>
          </p:cNvPr>
          <p:cNvSpPr>
            <a:spLocks noGrp="1"/>
          </p:cNvSpPr>
          <p:nvPr>
            <p:ph sz="half" idx="2"/>
          </p:nvPr>
        </p:nvSpPr>
        <p:spPr>
          <a:xfrm>
            <a:off x="839788" y="2505075"/>
            <a:ext cx="5157787" cy="3684588"/>
          </a:xfrm>
        </p:spPr>
        <p:txBody>
          <a:bodyPr numCol="1"/>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5" name="Espace réservé du texte 4">
            <a:extLst>
              <a:ext uri="{FF2B5EF4-FFF2-40B4-BE49-F238E27FC236}">
                <a16:creationId xmlns:a16="http://schemas.microsoft.com/office/drawing/2014/main" id="{A9CCAA98-DD22-4B4B-89BC-5F49F682B150}"/>
              </a:ext>
            </a:extLst>
          </p:cNvPr>
          <p:cNvSpPr>
            <a:spLocks noGrp="1"/>
          </p:cNvSpPr>
          <p:nvPr>
            <p:ph type="body" sz="quarter" idx="3"/>
          </p:nvPr>
        </p:nvSpPr>
        <p:spPr>
          <a:xfrm>
            <a:off x="6172200" y="1681163"/>
            <a:ext cx="5183188" cy="823912"/>
          </a:xfrm>
        </p:spPr>
        <p:txBody>
          <a:bodyPr numCol="1"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ltLang="fr-FR"/>
              <a:t>Cliquez pour modifier les styles du texte du masque</a:t>
            </a:r>
          </a:p>
        </p:txBody>
      </p:sp>
      <p:sp>
        <p:nvSpPr>
          <p:cNvPr id="6" name="Espace réservé du contenu 5">
            <a:extLst>
              <a:ext uri="{FF2B5EF4-FFF2-40B4-BE49-F238E27FC236}">
                <a16:creationId xmlns:a16="http://schemas.microsoft.com/office/drawing/2014/main" id="{BF01E76F-DE65-49D3-A808-329040E47D12}"/>
              </a:ext>
            </a:extLst>
          </p:cNvPr>
          <p:cNvSpPr>
            <a:spLocks noGrp="1"/>
          </p:cNvSpPr>
          <p:nvPr>
            <p:ph sz="quarter" idx="4"/>
          </p:nvPr>
        </p:nvSpPr>
        <p:spPr>
          <a:xfrm>
            <a:off x="6172200" y="2505075"/>
            <a:ext cx="5183188" cy="3684588"/>
          </a:xfrm>
        </p:spPr>
        <p:txBody>
          <a:bodyPr numCol="1"/>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7" name="Espace réservé de la date 6">
            <a:extLst>
              <a:ext uri="{FF2B5EF4-FFF2-40B4-BE49-F238E27FC236}">
                <a16:creationId xmlns:a16="http://schemas.microsoft.com/office/drawing/2014/main" id="{B78D439D-35CE-4C9E-A358-02D35A1D85B4}"/>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8" name="Espace réservé du pied de page 7">
            <a:extLst>
              <a:ext uri="{FF2B5EF4-FFF2-40B4-BE49-F238E27FC236}">
                <a16:creationId xmlns:a16="http://schemas.microsoft.com/office/drawing/2014/main" id="{F7427550-7B8C-4FE8-8395-29392348F61D}"/>
              </a:ext>
            </a:extLst>
          </p:cNvPr>
          <p:cNvSpPr>
            <a:spLocks noGrp="1"/>
          </p:cNvSpPr>
          <p:nvPr>
            <p:ph type="ftr" sz="quarter" idx="11"/>
          </p:nvPr>
        </p:nvSpPr>
        <p:spPr/>
        <p:txBody>
          <a:bodyPr numCol="1"/>
          <a:lstStyle/>
          <a:p>
            <a:endParaRPr lang="fr-FR" altLang="fr-FR"/>
          </a:p>
        </p:txBody>
      </p:sp>
      <p:sp>
        <p:nvSpPr>
          <p:cNvPr id="9" name="Espace réservé du numéro de diapositive 8">
            <a:extLst>
              <a:ext uri="{FF2B5EF4-FFF2-40B4-BE49-F238E27FC236}">
                <a16:creationId xmlns:a16="http://schemas.microsoft.com/office/drawing/2014/main" id="{A96FC46E-1FB7-495D-BB23-3F1300EA8517}"/>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1830639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ADAD6B-E27B-4D46-A40C-601662FF6247}"/>
              </a:ext>
            </a:extLst>
          </p:cNvPr>
          <p:cNvSpPr>
            <a:spLocks noGrp="1"/>
          </p:cNvSpPr>
          <p:nvPr>
            <p:ph type="title"/>
          </p:nvPr>
        </p:nvSpPr>
        <p:spPr/>
        <p:txBody>
          <a:bodyPr numCol="1"/>
          <a:lstStyle/>
          <a:p>
            <a:r>
              <a:rPr lang="fr-FR" altLang="fr-FR"/>
              <a:t>Modifiez le style du titre</a:t>
            </a:r>
          </a:p>
        </p:txBody>
      </p:sp>
      <p:sp>
        <p:nvSpPr>
          <p:cNvPr id="3" name="Espace réservé de la date 2">
            <a:extLst>
              <a:ext uri="{FF2B5EF4-FFF2-40B4-BE49-F238E27FC236}">
                <a16:creationId xmlns:a16="http://schemas.microsoft.com/office/drawing/2014/main" id="{37C2434C-E6A0-406E-9508-07E65C0A4ED3}"/>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4" name="Espace réservé du pied de page 3">
            <a:extLst>
              <a:ext uri="{FF2B5EF4-FFF2-40B4-BE49-F238E27FC236}">
                <a16:creationId xmlns:a16="http://schemas.microsoft.com/office/drawing/2014/main" id="{3A985A26-3152-4199-B251-0F5529A24B7D}"/>
              </a:ext>
            </a:extLst>
          </p:cNvPr>
          <p:cNvSpPr>
            <a:spLocks noGrp="1"/>
          </p:cNvSpPr>
          <p:nvPr>
            <p:ph type="ftr" sz="quarter" idx="11"/>
          </p:nvPr>
        </p:nvSpPr>
        <p:spPr/>
        <p:txBody>
          <a:bodyPr numCol="1"/>
          <a:lstStyle/>
          <a:p>
            <a:endParaRPr lang="fr-FR" altLang="fr-FR"/>
          </a:p>
        </p:txBody>
      </p:sp>
      <p:sp>
        <p:nvSpPr>
          <p:cNvPr id="5" name="Espace réservé du numéro de diapositive 4">
            <a:extLst>
              <a:ext uri="{FF2B5EF4-FFF2-40B4-BE49-F238E27FC236}">
                <a16:creationId xmlns:a16="http://schemas.microsoft.com/office/drawing/2014/main" id="{EF106FBE-0749-4265-985C-F4D4801B59F9}"/>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4063999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89A9955-355A-45CF-A964-70D20A1102E2}"/>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3" name="Espace réservé du pied de page 2">
            <a:extLst>
              <a:ext uri="{FF2B5EF4-FFF2-40B4-BE49-F238E27FC236}">
                <a16:creationId xmlns:a16="http://schemas.microsoft.com/office/drawing/2014/main" id="{415EAEEB-4480-46D5-9B6B-C9691CF2F177}"/>
              </a:ext>
            </a:extLst>
          </p:cNvPr>
          <p:cNvSpPr>
            <a:spLocks noGrp="1"/>
          </p:cNvSpPr>
          <p:nvPr>
            <p:ph type="ftr" sz="quarter" idx="11"/>
          </p:nvPr>
        </p:nvSpPr>
        <p:spPr/>
        <p:txBody>
          <a:bodyPr numCol="1"/>
          <a:lstStyle/>
          <a:p>
            <a:endParaRPr lang="fr-FR" altLang="fr-FR"/>
          </a:p>
        </p:txBody>
      </p:sp>
      <p:sp>
        <p:nvSpPr>
          <p:cNvPr id="4" name="Espace réservé du numéro de diapositive 3">
            <a:extLst>
              <a:ext uri="{FF2B5EF4-FFF2-40B4-BE49-F238E27FC236}">
                <a16:creationId xmlns:a16="http://schemas.microsoft.com/office/drawing/2014/main" id="{A9BDFCF6-23DB-4CBF-AE49-62C228EE2AE1}"/>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1826505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491AF0-E883-4A9B-AE32-28EDD853E7E0}"/>
              </a:ext>
            </a:extLst>
          </p:cNvPr>
          <p:cNvSpPr>
            <a:spLocks noGrp="1"/>
          </p:cNvSpPr>
          <p:nvPr>
            <p:ph type="title"/>
          </p:nvPr>
        </p:nvSpPr>
        <p:spPr>
          <a:xfrm>
            <a:off x="839788" y="457200"/>
            <a:ext cx="3932237" cy="1600200"/>
          </a:xfrm>
        </p:spPr>
        <p:txBody>
          <a:bodyPr numCol="1" anchor="b"/>
          <a:lstStyle>
            <a:lvl1pPr>
              <a:defRPr sz="3200"/>
            </a:lvl1pPr>
          </a:lstStyle>
          <a:p>
            <a:r>
              <a:rPr lang="fr-FR" altLang="fr-FR"/>
              <a:t>Modifiez le style du titre</a:t>
            </a:r>
          </a:p>
        </p:txBody>
      </p:sp>
      <p:sp>
        <p:nvSpPr>
          <p:cNvPr id="3" name="Espace réservé du contenu 2">
            <a:extLst>
              <a:ext uri="{FF2B5EF4-FFF2-40B4-BE49-F238E27FC236}">
                <a16:creationId xmlns:a16="http://schemas.microsoft.com/office/drawing/2014/main" id="{AB2189F0-AC00-4C78-91D8-62D81204E2F2}"/>
              </a:ext>
            </a:extLst>
          </p:cNvPr>
          <p:cNvSpPr>
            <a:spLocks noGrp="1"/>
          </p:cNvSpPr>
          <p:nvPr>
            <p:ph idx="1"/>
          </p:nvPr>
        </p:nvSpPr>
        <p:spPr>
          <a:xfrm>
            <a:off x="5183188" y="987425"/>
            <a:ext cx="6172200" cy="4873625"/>
          </a:xfrm>
        </p:spPr>
        <p:txBody>
          <a:bodyPr numCol="1"/>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4" name="Espace réservé du texte 3">
            <a:extLst>
              <a:ext uri="{FF2B5EF4-FFF2-40B4-BE49-F238E27FC236}">
                <a16:creationId xmlns:a16="http://schemas.microsoft.com/office/drawing/2014/main" id="{575A0729-6FF9-4F2D-855E-1A245AB190A8}"/>
              </a:ext>
            </a:extLst>
          </p:cNvPr>
          <p:cNvSpPr>
            <a:spLocks noGrp="1"/>
          </p:cNvSpPr>
          <p:nvPr>
            <p:ph type="body" sz="half" idx="2"/>
          </p:nvPr>
        </p:nvSpPr>
        <p:spPr>
          <a:xfrm>
            <a:off x="839788" y="2057400"/>
            <a:ext cx="3932237" cy="3811588"/>
          </a:xfrm>
        </p:spPr>
        <p:txBody>
          <a:bodyPr numCol="1"/>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ltLang="fr-FR"/>
              <a:t>Cliquez pour modifier les styles du texte du masque</a:t>
            </a:r>
          </a:p>
        </p:txBody>
      </p:sp>
      <p:sp>
        <p:nvSpPr>
          <p:cNvPr id="5" name="Espace réservé de la date 4">
            <a:extLst>
              <a:ext uri="{FF2B5EF4-FFF2-40B4-BE49-F238E27FC236}">
                <a16:creationId xmlns:a16="http://schemas.microsoft.com/office/drawing/2014/main" id="{F0393986-A664-4552-A4B4-56AB5993F124}"/>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6" name="Espace réservé du pied de page 5">
            <a:extLst>
              <a:ext uri="{FF2B5EF4-FFF2-40B4-BE49-F238E27FC236}">
                <a16:creationId xmlns:a16="http://schemas.microsoft.com/office/drawing/2014/main" id="{023C998F-AC15-40B3-B6CA-2BC266654F79}"/>
              </a:ext>
            </a:extLst>
          </p:cNvPr>
          <p:cNvSpPr>
            <a:spLocks noGrp="1"/>
          </p:cNvSpPr>
          <p:nvPr>
            <p:ph type="ftr" sz="quarter" idx="11"/>
          </p:nvPr>
        </p:nvSpPr>
        <p:spPr/>
        <p:txBody>
          <a:bodyPr numCol="1"/>
          <a:lstStyle/>
          <a:p>
            <a:endParaRPr lang="fr-FR" altLang="fr-FR"/>
          </a:p>
        </p:txBody>
      </p:sp>
      <p:sp>
        <p:nvSpPr>
          <p:cNvPr id="7" name="Espace réservé du numéro de diapositive 6">
            <a:extLst>
              <a:ext uri="{FF2B5EF4-FFF2-40B4-BE49-F238E27FC236}">
                <a16:creationId xmlns:a16="http://schemas.microsoft.com/office/drawing/2014/main" id="{ACDAA5B6-7563-4742-A5F7-7DDB9E01562D}"/>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3873117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8EE4BA-F739-42F1-9E0F-0E9FB1A28015}"/>
              </a:ext>
            </a:extLst>
          </p:cNvPr>
          <p:cNvSpPr>
            <a:spLocks noGrp="1"/>
          </p:cNvSpPr>
          <p:nvPr>
            <p:ph type="title"/>
          </p:nvPr>
        </p:nvSpPr>
        <p:spPr>
          <a:xfrm>
            <a:off x="839788" y="457200"/>
            <a:ext cx="3932237" cy="1600200"/>
          </a:xfrm>
        </p:spPr>
        <p:txBody>
          <a:bodyPr numCol="1" anchor="b"/>
          <a:lstStyle>
            <a:lvl1pPr>
              <a:defRPr sz="3200"/>
            </a:lvl1pPr>
          </a:lstStyle>
          <a:p>
            <a:r>
              <a:rPr lang="fr-FR" altLang="fr-FR"/>
              <a:t>Modifiez le style du titre</a:t>
            </a:r>
          </a:p>
        </p:txBody>
      </p:sp>
      <p:sp>
        <p:nvSpPr>
          <p:cNvPr id="3" name="Espace réservé pour une image  2">
            <a:extLst>
              <a:ext uri="{FF2B5EF4-FFF2-40B4-BE49-F238E27FC236}">
                <a16:creationId xmlns:a16="http://schemas.microsoft.com/office/drawing/2014/main" id="{40A416EE-642C-4B06-8679-B44EC6BDCE82}"/>
              </a:ext>
            </a:extLst>
          </p:cNvPr>
          <p:cNvSpPr>
            <a:spLocks noGrp="1"/>
          </p:cNvSpPr>
          <p:nvPr>
            <p:ph type="pic" idx="1"/>
          </p:nvPr>
        </p:nvSpPr>
        <p:spPr>
          <a:xfrm>
            <a:off x="5183188" y="987425"/>
            <a:ext cx="6172200" cy="4873625"/>
          </a:xfrm>
        </p:spPr>
        <p:txBody>
          <a:bodyPr numCol="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ltLang="fr-FR"/>
          </a:p>
        </p:txBody>
      </p:sp>
      <p:sp>
        <p:nvSpPr>
          <p:cNvPr id="4" name="Espace réservé du texte 3">
            <a:extLst>
              <a:ext uri="{FF2B5EF4-FFF2-40B4-BE49-F238E27FC236}">
                <a16:creationId xmlns:a16="http://schemas.microsoft.com/office/drawing/2014/main" id="{361B277E-48BC-4255-B4B7-286F1BBC7B58}"/>
              </a:ext>
            </a:extLst>
          </p:cNvPr>
          <p:cNvSpPr>
            <a:spLocks noGrp="1"/>
          </p:cNvSpPr>
          <p:nvPr>
            <p:ph type="body" sz="half" idx="2"/>
          </p:nvPr>
        </p:nvSpPr>
        <p:spPr>
          <a:xfrm>
            <a:off x="839788" y="2057400"/>
            <a:ext cx="3932237" cy="3811588"/>
          </a:xfrm>
        </p:spPr>
        <p:txBody>
          <a:bodyPr numCol="1"/>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ltLang="fr-FR"/>
              <a:t>Cliquez pour modifier les styles du texte du masque</a:t>
            </a:r>
          </a:p>
        </p:txBody>
      </p:sp>
      <p:sp>
        <p:nvSpPr>
          <p:cNvPr id="5" name="Espace réservé de la date 4">
            <a:extLst>
              <a:ext uri="{FF2B5EF4-FFF2-40B4-BE49-F238E27FC236}">
                <a16:creationId xmlns:a16="http://schemas.microsoft.com/office/drawing/2014/main" id="{4D4FB1AE-507C-462A-9E8E-5E70816EF5B9}"/>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6" name="Espace réservé du pied de page 5">
            <a:extLst>
              <a:ext uri="{FF2B5EF4-FFF2-40B4-BE49-F238E27FC236}">
                <a16:creationId xmlns:a16="http://schemas.microsoft.com/office/drawing/2014/main" id="{FA30F922-A2F8-4BB9-B08E-B80FA413D177}"/>
              </a:ext>
            </a:extLst>
          </p:cNvPr>
          <p:cNvSpPr>
            <a:spLocks noGrp="1"/>
          </p:cNvSpPr>
          <p:nvPr>
            <p:ph type="ftr" sz="quarter" idx="11"/>
          </p:nvPr>
        </p:nvSpPr>
        <p:spPr/>
        <p:txBody>
          <a:bodyPr numCol="1"/>
          <a:lstStyle/>
          <a:p>
            <a:endParaRPr lang="fr-FR" altLang="fr-FR"/>
          </a:p>
        </p:txBody>
      </p:sp>
      <p:sp>
        <p:nvSpPr>
          <p:cNvPr id="7" name="Espace réservé du numéro de diapositive 6">
            <a:extLst>
              <a:ext uri="{FF2B5EF4-FFF2-40B4-BE49-F238E27FC236}">
                <a16:creationId xmlns:a16="http://schemas.microsoft.com/office/drawing/2014/main" id="{A9098307-AE6A-4390-98B4-96DF5C466F6C}"/>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85986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4C242E-193A-494C-A61A-0B2F98AF8904}"/>
              </a:ext>
            </a:extLst>
          </p:cNvPr>
          <p:cNvSpPr>
            <a:spLocks noGrp="1"/>
          </p:cNvSpPr>
          <p:nvPr>
            <p:ph type="title"/>
          </p:nvPr>
        </p:nvSpPr>
        <p:spPr/>
        <p:txBody>
          <a:bodyPr numCol="1"/>
          <a:lstStyle/>
          <a:p>
            <a:r>
              <a:rPr lang="fr-FR" altLang="fr-FR"/>
              <a:t>Modifiez le style du titre</a:t>
            </a:r>
          </a:p>
        </p:txBody>
      </p:sp>
      <p:sp>
        <p:nvSpPr>
          <p:cNvPr id="3" name="Espace réservé du texte vertical 2">
            <a:extLst>
              <a:ext uri="{FF2B5EF4-FFF2-40B4-BE49-F238E27FC236}">
                <a16:creationId xmlns:a16="http://schemas.microsoft.com/office/drawing/2014/main" id="{E0866577-C254-4BC3-BF5B-BBB72130DCD8}"/>
              </a:ext>
            </a:extLst>
          </p:cNvPr>
          <p:cNvSpPr>
            <a:spLocks noGrp="1"/>
          </p:cNvSpPr>
          <p:nvPr>
            <p:ph type="body" orient="vert" idx="1"/>
          </p:nvPr>
        </p:nvSpPr>
        <p:spPr/>
        <p:txBody>
          <a:bodyPr vert="eaVert" numCol="1"/>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4" name="Espace réservé de la date 3">
            <a:extLst>
              <a:ext uri="{FF2B5EF4-FFF2-40B4-BE49-F238E27FC236}">
                <a16:creationId xmlns:a16="http://schemas.microsoft.com/office/drawing/2014/main" id="{A5F99C6E-1A3E-4773-87D1-14B323C5C4E5}"/>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5" name="Espace réservé du pied de page 4">
            <a:extLst>
              <a:ext uri="{FF2B5EF4-FFF2-40B4-BE49-F238E27FC236}">
                <a16:creationId xmlns:a16="http://schemas.microsoft.com/office/drawing/2014/main" id="{63B72673-8500-4517-B7E7-53BF5FCC62C8}"/>
              </a:ext>
            </a:extLst>
          </p:cNvPr>
          <p:cNvSpPr>
            <a:spLocks noGrp="1"/>
          </p:cNvSpPr>
          <p:nvPr>
            <p:ph type="ftr" sz="quarter" idx="11"/>
          </p:nvPr>
        </p:nvSpPr>
        <p:spPr/>
        <p:txBody>
          <a:bodyPr numCol="1"/>
          <a:lstStyle/>
          <a:p>
            <a:endParaRPr lang="fr-FR" altLang="fr-FR"/>
          </a:p>
        </p:txBody>
      </p:sp>
      <p:sp>
        <p:nvSpPr>
          <p:cNvPr id="6" name="Espace réservé du numéro de diapositive 5">
            <a:extLst>
              <a:ext uri="{FF2B5EF4-FFF2-40B4-BE49-F238E27FC236}">
                <a16:creationId xmlns:a16="http://schemas.microsoft.com/office/drawing/2014/main" id="{DD54C668-C515-460D-9694-E8C0A86F9CF5}"/>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2928864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D137FD4-F883-4721-94A1-DA52014D18CE}"/>
              </a:ext>
            </a:extLst>
          </p:cNvPr>
          <p:cNvSpPr>
            <a:spLocks noGrp="1"/>
          </p:cNvSpPr>
          <p:nvPr>
            <p:ph type="title" orient="vert"/>
          </p:nvPr>
        </p:nvSpPr>
        <p:spPr>
          <a:xfrm>
            <a:off x="8724900" y="365125"/>
            <a:ext cx="2628900" cy="5811838"/>
          </a:xfrm>
        </p:spPr>
        <p:txBody>
          <a:bodyPr vert="eaVert" numCol="1"/>
          <a:lstStyle/>
          <a:p>
            <a:r>
              <a:rPr lang="fr-FR" altLang="fr-FR"/>
              <a:t>Modifiez le style du titre</a:t>
            </a:r>
          </a:p>
        </p:txBody>
      </p:sp>
      <p:sp>
        <p:nvSpPr>
          <p:cNvPr id="3" name="Espace réservé du texte vertical 2">
            <a:extLst>
              <a:ext uri="{FF2B5EF4-FFF2-40B4-BE49-F238E27FC236}">
                <a16:creationId xmlns:a16="http://schemas.microsoft.com/office/drawing/2014/main" id="{11727378-3DC0-44B9-A7AF-DAB4A99DCD08}"/>
              </a:ext>
            </a:extLst>
          </p:cNvPr>
          <p:cNvSpPr>
            <a:spLocks noGrp="1"/>
          </p:cNvSpPr>
          <p:nvPr>
            <p:ph type="body" orient="vert" idx="1"/>
          </p:nvPr>
        </p:nvSpPr>
        <p:spPr>
          <a:xfrm>
            <a:off x="838200" y="365125"/>
            <a:ext cx="7734300" cy="5811838"/>
          </a:xfrm>
        </p:spPr>
        <p:txBody>
          <a:bodyPr vert="eaVert" numCol="1"/>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4" name="Espace réservé de la date 3">
            <a:extLst>
              <a:ext uri="{FF2B5EF4-FFF2-40B4-BE49-F238E27FC236}">
                <a16:creationId xmlns:a16="http://schemas.microsoft.com/office/drawing/2014/main" id="{5DCCC90F-C6CD-4735-AB32-34ACB5720DD7}"/>
              </a:ext>
            </a:extLst>
          </p:cNvPr>
          <p:cNvSpPr>
            <a:spLocks noGrp="1"/>
          </p:cNvSpPr>
          <p:nvPr>
            <p:ph type="dt" sz="half" idx="10"/>
          </p:nvPr>
        </p:nvSpPr>
        <p:spPr/>
        <p:txBody>
          <a:bodyPr numCol="1"/>
          <a:lstStyle/>
          <a:p>
            <a:fld id="{774E9BC4-ED02-4B8E-910C-752F5365BA8B}" type="datetimeFigureOut">
              <a:rPr lang="fr-FR" altLang="fr-FR" smtClean="0"/>
              <a:t>27/10/2023</a:t>
            </a:fld>
            <a:endParaRPr lang="fr-FR" altLang="fr-FR"/>
          </a:p>
        </p:txBody>
      </p:sp>
      <p:sp>
        <p:nvSpPr>
          <p:cNvPr id="5" name="Espace réservé du pied de page 4">
            <a:extLst>
              <a:ext uri="{FF2B5EF4-FFF2-40B4-BE49-F238E27FC236}">
                <a16:creationId xmlns:a16="http://schemas.microsoft.com/office/drawing/2014/main" id="{5914E22C-C432-4597-B88F-DDCB74440789}"/>
              </a:ext>
            </a:extLst>
          </p:cNvPr>
          <p:cNvSpPr>
            <a:spLocks noGrp="1"/>
          </p:cNvSpPr>
          <p:nvPr>
            <p:ph type="ftr" sz="quarter" idx="11"/>
          </p:nvPr>
        </p:nvSpPr>
        <p:spPr/>
        <p:txBody>
          <a:bodyPr numCol="1"/>
          <a:lstStyle/>
          <a:p>
            <a:endParaRPr lang="fr-FR" altLang="fr-FR"/>
          </a:p>
        </p:txBody>
      </p:sp>
      <p:sp>
        <p:nvSpPr>
          <p:cNvPr id="6" name="Espace réservé du numéro de diapositive 5">
            <a:extLst>
              <a:ext uri="{FF2B5EF4-FFF2-40B4-BE49-F238E27FC236}">
                <a16:creationId xmlns:a16="http://schemas.microsoft.com/office/drawing/2014/main" id="{42761CC2-1E1E-4EEB-86D1-434AB4BEAD44}"/>
              </a:ext>
            </a:extLst>
          </p:cNvPr>
          <p:cNvSpPr>
            <a:spLocks noGrp="1"/>
          </p:cNvSpPr>
          <p:nvPr>
            <p:ph type="sldNum" sz="quarter" idx="12"/>
          </p:nvPr>
        </p:nvSpPr>
        <p:spPr/>
        <p:txBody>
          <a:bodyPr numCol="1"/>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412623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sitive de titre" type="title">
  <p:cSld name="Diapositive de titr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2550348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contenu" type="obj">
  <p:cSld name="Titre et contenu">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2063139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de section" type="secHead">
  <p:cSld name="Titre de section">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1515201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ux contenus" type="twoObj">
  <p:cSld name="Deux contenu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2230871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ison" type="twoTxTwoObj">
  <p:cSld name="Comparaison">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28730713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re seul" type="titleOnly">
  <p:cSld name="Titre seul">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28993233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u avec légende" type="objTx">
  <p:cSld name="Contenu avec légende">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8000760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mage avec légende" type="picTx">
  <p:cSld name="Image avec légende">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34872400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re et texte vertical" type="vertTx">
  <p:cSld name="Titre et texte vertical">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1419673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Titre vertical et texte">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1721024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287C60E-D5D1-4D55-B14D-0BD0E03083BB}"/>
              </a:ext>
            </a:extLst>
          </p:cNvPr>
          <p:cNvSpPr>
            <a:spLocks noGrp="1"/>
          </p:cNvSpPr>
          <p:nvPr>
            <p:ph type="title"/>
          </p:nvPr>
        </p:nvSpPr>
        <p:spPr>
          <a:xfrm>
            <a:off x="838200" y="365125"/>
            <a:ext cx="10515600" cy="1325563"/>
          </a:xfrm>
          <a:prstGeom prst="rect">
            <a:avLst/>
          </a:prstGeom>
        </p:spPr>
        <p:txBody>
          <a:bodyPr vert="horz" lIns="91440" tIns="45720" rIns="91440" bIns="45720" numCol="1" rtlCol="0" anchor="ctr">
            <a:normAutofit/>
          </a:bodyPr>
          <a:lstStyle/>
          <a:p>
            <a:r>
              <a:rPr lang="fr-FR" altLang="fr-FR"/>
              <a:t>Modifiez le style du titre</a:t>
            </a:r>
          </a:p>
        </p:txBody>
      </p:sp>
      <p:sp>
        <p:nvSpPr>
          <p:cNvPr id="3" name="Espace réservé du texte 2">
            <a:extLst>
              <a:ext uri="{FF2B5EF4-FFF2-40B4-BE49-F238E27FC236}">
                <a16:creationId xmlns:a16="http://schemas.microsoft.com/office/drawing/2014/main" id="{4BE0D95E-2CB4-4F39-8ABC-050C3FC31A31}"/>
              </a:ext>
            </a:extLst>
          </p:cNvPr>
          <p:cNvSpPr>
            <a:spLocks noGrp="1"/>
          </p:cNvSpPr>
          <p:nvPr>
            <p:ph type="body" idx="1"/>
          </p:nvPr>
        </p:nvSpPr>
        <p:spPr>
          <a:xfrm>
            <a:off x="838200" y="1825625"/>
            <a:ext cx="10515600" cy="4351338"/>
          </a:xfrm>
          <a:prstGeom prst="rect">
            <a:avLst/>
          </a:prstGeom>
        </p:spPr>
        <p:txBody>
          <a:bodyPr vert="horz" lIns="91440" tIns="45720" rIns="91440" bIns="45720" numCol="1" rtlCol="0">
            <a:normAutofit/>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4" name="Espace réservé de la date 3">
            <a:extLst>
              <a:ext uri="{FF2B5EF4-FFF2-40B4-BE49-F238E27FC236}">
                <a16:creationId xmlns:a16="http://schemas.microsoft.com/office/drawing/2014/main" id="{2D428BF3-D825-4CED-ADC1-F7154766A1F9}"/>
              </a:ext>
            </a:extLst>
          </p:cNvPr>
          <p:cNvSpPr>
            <a:spLocks noGrp="1"/>
          </p:cNvSpPr>
          <p:nvPr>
            <p:ph type="dt" sz="half" idx="2"/>
          </p:nvPr>
        </p:nvSpPr>
        <p:spPr>
          <a:xfrm>
            <a:off x="838200" y="6356350"/>
            <a:ext cx="2743200" cy="365125"/>
          </a:xfrm>
          <a:prstGeom prst="rect">
            <a:avLst/>
          </a:prstGeom>
        </p:spPr>
        <p:txBody>
          <a:bodyPr vert="horz" lIns="91440" tIns="45720" rIns="91440" bIns="45720" numCol="1" rtlCol="0" anchor="ctr"/>
          <a:lstStyle>
            <a:lvl1pPr algn="l">
              <a:defRPr sz="1200">
                <a:solidFill>
                  <a:schemeClr val="tx1">
                    <a:tint val="75000"/>
                  </a:schemeClr>
                </a:solidFill>
              </a:defRPr>
            </a:lvl1pPr>
          </a:lstStyle>
          <a:p>
            <a:fld id="{774E9BC4-ED02-4B8E-910C-752F5365BA8B}" type="datetimeFigureOut">
              <a:rPr lang="fr-FR" altLang="fr-FR" smtClean="0"/>
              <a:t>27/10/2023</a:t>
            </a:fld>
            <a:endParaRPr lang="fr-FR" altLang="fr-FR"/>
          </a:p>
        </p:txBody>
      </p:sp>
      <p:sp>
        <p:nvSpPr>
          <p:cNvPr id="5" name="Espace réservé du pied de page 4">
            <a:extLst>
              <a:ext uri="{FF2B5EF4-FFF2-40B4-BE49-F238E27FC236}">
                <a16:creationId xmlns:a16="http://schemas.microsoft.com/office/drawing/2014/main" id="{0BDECD59-ED0F-4FAF-9C2C-8B25403BF949}"/>
              </a:ext>
            </a:extLst>
          </p:cNvPr>
          <p:cNvSpPr>
            <a:spLocks noGrp="1"/>
          </p:cNvSpPr>
          <p:nvPr>
            <p:ph type="ftr" sz="quarter" idx="3"/>
          </p:nvPr>
        </p:nvSpPr>
        <p:spPr>
          <a:xfrm>
            <a:off x="4038600" y="6356350"/>
            <a:ext cx="4114800" cy="365125"/>
          </a:xfrm>
          <a:prstGeom prst="rect">
            <a:avLst/>
          </a:prstGeom>
        </p:spPr>
        <p:txBody>
          <a:bodyPr vert="horz" lIns="91440" tIns="45720" rIns="91440" bIns="45720" numCol="1" rtlCol="0" anchor="ctr"/>
          <a:lstStyle>
            <a:lvl1pPr algn="ctr">
              <a:defRPr sz="1200">
                <a:solidFill>
                  <a:schemeClr val="tx1">
                    <a:tint val="75000"/>
                  </a:schemeClr>
                </a:solidFill>
              </a:defRPr>
            </a:lvl1pPr>
          </a:lstStyle>
          <a:p>
            <a:endParaRPr lang="fr-FR" altLang="fr-FR"/>
          </a:p>
        </p:txBody>
      </p:sp>
      <p:sp>
        <p:nvSpPr>
          <p:cNvPr id="6" name="Espace réservé du numéro de diapositive 5">
            <a:extLst>
              <a:ext uri="{FF2B5EF4-FFF2-40B4-BE49-F238E27FC236}">
                <a16:creationId xmlns:a16="http://schemas.microsoft.com/office/drawing/2014/main" id="{483334E0-AD17-44EC-8AF3-0E6380F2BC32}"/>
              </a:ext>
            </a:extLst>
          </p:cNvPr>
          <p:cNvSpPr>
            <a:spLocks noGrp="1"/>
          </p:cNvSpPr>
          <p:nvPr>
            <p:ph type="sldNum" sz="quarter" idx="4"/>
          </p:nvPr>
        </p:nvSpPr>
        <p:spPr>
          <a:xfrm>
            <a:off x="8610600" y="6356350"/>
            <a:ext cx="2743200" cy="365125"/>
          </a:xfrm>
          <a:prstGeom prst="rect">
            <a:avLst/>
          </a:prstGeom>
        </p:spPr>
        <p:txBody>
          <a:bodyPr vert="horz" lIns="91440" tIns="45720" rIns="91440" bIns="45720" numCol="1" rtlCol="0" anchor="ctr"/>
          <a:lstStyle>
            <a:lvl1pPr algn="r">
              <a:defRPr sz="1200">
                <a:solidFill>
                  <a:schemeClr val="tx1">
                    <a:tint val="75000"/>
                  </a:schemeClr>
                </a:solidFill>
              </a:defRPr>
            </a:lvl1pPr>
          </a:lstStyle>
          <a:p>
            <a:fld id="{07FE1796-8D30-441E-A7E7-F9807F0F3325}" type="slidenum">
              <a:rPr lang="fr-FR" altLang="fr-FR" smtClean="0"/>
              <a:t>‹N°›</a:t>
            </a:fld>
            <a:endParaRPr lang="fr-FR" altLang="fr-FR"/>
          </a:p>
        </p:txBody>
      </p:sp>
    </p:spTree>
    <p:extLst>
      <p:ext uri="{BB962C8B-B14F-4D97-AF65-F5344CB8AC3E}">
        <p14:creationId xmlns:p14="http://schemas.microsoft.com/office/powerpoint/2010/main" val="3333499455"/>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lt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extLst>
      <p:ext uri="{BB962C8B-B14F-4D97-AF65-F5344CB8AC3E}">
        <p14:creationId xmlns:p14="http://schemas.microsoft.com/office/powerpoint/2010/main" val="71740661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fr.wikipedia.org/wiki/Diagramme_de_Venn"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 Target="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reporterre.net/Le-rechauffement-climatique-constitue-une-menace-majeure-pour-la-sante-humaine"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www.lancetcountdown.org/" TargetMode="Externa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www.ecomodernism.org/francai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www.ecomodernism.org/francai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7D4567-8DBB-46A3-9C97-3D96ED401555}"/>
              </a:ext>
            </a:extLst>
          </p:cNvPr>
          <p:cNvSpPr>
            <a:spLocks noGrp="1"/>
          </p:cNvSpPr>
          <p:nvPr>
            <p:ph type="ctrTitle"/>
          </p:nvPr>
        </p:nvSpPr>
        <p:spPr>
          <a:xfrm>
            <a:off x="68144" y="1865948"/>
            <a:ext cx="7096745" cy="1088033"/>
          </a:xfrm>
        </p:spPr>
        <p:txBody>
          <a:bodyPr numCol="1">
            <a:normAutofit fontScale="90000"/>
          </a:bodyPr>
          <a:lstStyle/>
          <a:p>
            <a:r>
              <a:rPr lang="fr-FR" altLang="fr-FR" spc="-240" dirty="0">
                <a:solidFill>
                  <a:schemeClr val="accent5">
                    <a:lumMod val="75000"/>
                  </a:schemeClr>
                </a:solidFill>
                <a:latin typeface="Gotham Medium" pitchFamily="50" charset="0"/>
                <a:cs typeface="Gotham Medium" pitchFamily="50" charset="0"/>
              </a:rPr>
              <a:t>Ethique,</a:t>
            </a:r>
            <a:br>
              <a:rPr lang="fr-FR" altLang="fr-FR" spc="-240" dirty="0">
                <a:solidFill>
                  <a:schemeClr val="accent5">
                    <a:lumMod val="75000"/>
                  </a:schemeClr>
                </a:solidFill>
                <a:latin typeface="Gotham Medium" pitchFamily="50" charset="0"/>
                <a:cs typeface="Gotham Medium" pitchFamily="50" charset="0"/>
              </a:rPr>
            </a:br>
            <a:r>
              <a:rPr lang="fr-FR" altLang="fr-FR" spc="-240" dirty="0">
                <a:solidFill>
                  <a:schemeClr val="accent5">
                    <a:lumMod val="75000"/>
                  </a:schemeClr>
                </a:solidFill>
                <a:latin typeface="Gotham Medium" pitchFamily="50" charset="0"/>
                <a:cs typeface="Gotham Medium" pitchFamily="50" charset="0"/>
              </a:rPr>
              <a:t>sciences &amp; techniques</a:t>
            </a:r>
            <a:endParaRPr lang="fr-FR" altLang="fr-FR" dirty="0"/>
          </a:p>
        </p:txBody>
      </p:sp>
      <p:sp>
        <p:nvSpPr>
          <p:cNvPr id="3" name="Sous-titre 2">
            <a:extLst>
              <a:ext uri="{FF2B5EF4-FFF2-40B4-BE49-F238E27FC236}">
                <a16:creationId xmlns:a16="http://schemas.microsoft.com/office/drawing/2014/main" id="{15CB9F1F-90D8-4337-92B9-62B870F07501}"/>
              </a:ext>
            </a:extLst>
          </p:cNvPr>
          <p:cNvSpPr>
            <a:spLocks noGrp="1"/>
          </p:cNvSpPr>
          <p:nvPr>
            <p:ph type="subTitle" idx="1"/>
          </p:nvPr>
        </p:nvSpPr>
        <p:spPr>
          <a:xfrm>
            <a:off x="68145" y="3091551"/>
            <a:ext cx="7096744" cy="2112081"/>
          </a:xfrm>
        </p:spPr>
        <p:txBody>
          <a:bodyPr numCol="1">
            <a:normAutofit/>
          </a:bodyPr>
          <a:lstStyle/>
          <a:p>
            <a:r>
              <a:rPr lang="fr-FR" altLang="fr-FR" sz="4000" dirty="0"/>
              <a:t>CM 3</a:t>
            </a:r>
          </a:p>
          <a:p>
            <a:r>
              <a:rPr lang="fr-FR" altLang="fr-FR" sz="4000" dirty="0"/>
              <a:t>Introduction à l’éthique environnementale</a:t>
            </a:r>
          </a:p>
        </p:txBody>
      </p:sp>
      <p:sp>
        <p:nvSpPr>
          <p:cNvPr id="5" name="object 10">
            <a:extLst>
              <a:ext uri="{FF2B5EF4-FFF2-40B4-BE49-F238E27FC236}">
                <a16:creationId xmlns:a16="http://schemas.microsoft.com/office/drawing/2014/main" id="{B4C51465-F063-42E8-8BE5-5ED8418DF661}"/>
              </a:ext>
            </a:extLst>
          </p:cNvPr>
          <p:cNvSpPr txBox="1">
            <a:spLocks noGrp="1"/>
          </p:cNvSpPr>
          <p:nvPr>
            <p:ph type="ftr" sz="quarter" idx="11"/>
          </p:nvPr>
        </p:nvSpPr>
        <p:spPr>
          <a:xfrm>
            <a:off x="4041374" y="6472450"/>
            <a:ext cx="4114800" cy="189796"/>
          </a:xfrm>
          <a:prstGeom prst="rect">
            <a:avLst/>
          </a:prstGeom>
        </p:spPr>
        <p:txBody>
          <a:bodyPr vert="horz" wrap="square" lIns="0" tIns="5080" rIns="0" bIns="0" numCol="1" rtlCol="0" anchor="ctr">
            <a:spAutoFit/>
          </a:bodyPr>
          <a:lstStyle/>
          <a:p>
            <a:pPr marL="12700">
              <a:spcBef>
                <a:spcPts val="40"/>
              </a:spcBef>
            </a:pPr>
            <a:r>
              <a:rPr lang="fr-FR" altLang="fr-FR" spc="-60" dirty="0">
                <a:solidFill>
                  <a:srgbClr val="002060"/>
                </a:solidFill>
              </a:rPr>
              <a:t>Pole Humanités Design Département des Relations Humaines</a:t>
            </a:r>
            <a:endParaRPr spc="-100" dirty="0">
              <a:solidFill>
                <a:srgbClr val="002060"/>
              </a:solidFill>
            </a:endParaRPr>
          </a:p>
        </p:txBody>
      </p:sp>
      <p:pic>
        <p:nvPicPr>
          <p:cNvPr id="6" name="Image 5">
            <a:extLst>
              <a:ext uri="{FF2B5EF4-FFF2-40B4-BE49-F238E27FC236}">
                <a16:creationId xmlns:a16="http://schemas.microsoft.com/office/drawing/2014/main" id="{1AE8901F-1C30-4BD4-99BE-A97180C497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pic>
        <p:nvPicPr>
          <p:cNvPr id="7" name="Image 6">
            <a:extLst>
              <a:ext uri="{FF2B5EF4-FFF2-40B4-BE49-F238E27FC236}">
                <a16:creationId xmlns:a16="http://schemas.microsoft.com/office/drawing/2014/main" id="{19B2A249-BD17-436B-8AC0-2FCE0FB6D4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72600" y="6123941"/>
            <a:ext cx="1938531" cy="640149"/>
          </a:xfrm>
          <a:prstGeom prst="rect">
            <a:avLst/>
          </a:prstGeom>
        </p:spPr>
      </p:pic>
      <p:sp>
        <p:nvSpPr>
          <p:cNvPr id="4" name="Espace réservé du numéro de diapositive 3">
            <a:extLst>
              <a:ext uri="{FF2B5EF4-FFF2-40B4-BE49-F238E27FC236}">
                <a16:creationId xmlns:a16="http://schemas.microsoft.com/office/drawing/2014/main" id="{9FB88A0B-84AF-4D3E-B14B-4E381B23E586}"/>
              </a:ext>
            </a:extLst>
          </p:cNvPr>
          <p:cNvSpPr>
            <a:spLocks noGrp="1"/>
          </p:cNvSpPr>
          <p:nvPr>
            <p:ph type="sldNum" sz="quarter" idx="12"/>
          </p:nvPr>
        </p:nvSpPr>
        <p:spPr/>
        <p:txBody>
          <a:bodyPr numCol="1"/>
          <a:lstStyle/>
          <a:p>
            <a:fld id="{788DAB52-6294-4F97-81DD-ABD852645FBC}" type="slidenum">
              <a:rPr lang="fr-FR" altLang="fr-FR" smtClean="0"/>
              <a:t>1</a:t>
            </a:fld>
            <a:endParaRPr lang="fr-FR" altLang="fr-FR"/>
          </a:p>
        </p:txBody>
      </p:sp>
      <p:pic>
        <p:nvPicPr>
          <p:cNvPr id="8" name="Image 7">
            <a:extLst>
              <a:ext uri="{FF2B5EF4-FFF2-40B4-BE49-F238E27FC236}">
                <a16:creationId xmlns:a16="http://schemas.microsoft.com/office/drawing/2014/main" id="{F81309B8-DE4D-C1D2-E7DC-D17573BEAFCD}"/>
              </a:ext>
            </a:extLst>
          </p:cNvPr>
          <p:cNvPicPr>
            <a:picLocks noChangeAspect="1"/>
          </p:cNvPicPr>
          <p:nvPr/>
        </p:nvPicPr>
        <p:blipFill>
          <a:blip r:embed="rId5"/>
          <a:stretch>
            <a:fillRect/>
          </a:stretch>
        </p:blipFill>
        <p:spPr>
          <a:xfrm>
            <a:off x="7291663" y="894578"/>
            <a:ext cx="4512030" cy="4489470"/>
          </a:xfrm>
          <a:prstGeom prst="rect">
            <a:avLst/>
          </a:prstGeom>
        </p:spPr>
      </p:pic>
      <p:sp>
        <p:nvSpPr>
          <p:cNvPr id="10" name="ZoneTexte 9">
            <a:extLst>
              <a:ext uri="{FF2B5EF4-FFF2-40B4-BE49-F238E27FC236}">
                <a16:creationId xmlns:a16="http://schemas.microsoft.com/office/drawing/2014/main" id="{27FA6A77-C61E-671A-72C6-FA188948C040}"/>
              </a:ext>
            </a:extLst>
          </p:cNvPr>
          <p:cNvSpPr txBox="1"/>
          <p:nvPr/>
        </p:nvSpPr>
        <p:spPr>
          <a:xfrm>
            <a:off x="7278087" y="5416621"/>
            <a:ext cx="4525606" cy="246221"/>
          </a:xfrm>
          <a:prstGeom prst="rect">
            <a:avLst/>
          </a:prstGeom>
          <a:noFill/>
        </p:spPr>
        <p:txBody>
          <a:bodyPr wrap="square">
            <a:spAutoFit/>
          </a:bodyPr>
          <a:lstStyle/>
          <a:p>
            <a:r>
              <a:rPr lang="fr-FR" sz="1000" dirty="0"/>
              <a:t>https://www.encyclopedie-environnement.org/zoom/ethique-de-lenvironnement/</a:t>
            </a:r>
          </a:p>
        </p:txBody>
      </p:sp>
    </p:spTree>
    <p:extLst>
      <p:ext uri="{BB962C8B-B14F-4D97-AF65-F5344CB8AC3E}">
        <p14:creationId xmlns:p14="http://schemas.microsoft.com/office/powerpoint/2010/main" val="1009352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63C6F94D-0F62-EBD9-267F-04E7268593E4}"/>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1200" b="0" i="0" u="none" strike="noStrike" kern="0" cap="none" spc="0" normalizeH="0" baseline="0" noProof="0" smtClean="0">
                <a:ln>
                  <a:noFill/>
                </a:ln>
                <a:solidFill>
                  <a:srgbClr val="888888"/>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lang="fr-FR" sz="1200" b="0" i="0" u="none" strike="noStrike" kern="0" cap="none" spc="0" normalizeH="0" baseline="0" noProof="0">
              <a:ln>
                <a:noFill/>
              </a:ln>
              <a:solidFill>
                <a:srgbClr val="888888"/>
              </a:solidFill>
              <a:effectLst/>
              <a:uLnTx/>
              <a:uFillTx/>
              <a:latin typeface="Calibri"/>
              <a:cs typeface="Calibri"/>
              <a:sym typeface="Calibri"/>
            </a:endParaRPr>
          </a:p>
        </p:txBody>
      </p:sp>
      <p:graphicFrame>
        <p:nvGraphicFramePr>
          <p:cNvPr id="5" name="Tableau 4">
            <a:extLst>
              <a:ext uri="{FF2B5EF4-FFF2-40B4-BE49-F238E27FC236}">
                <a16:creationId xmlns:a16="http://schemas.microsoft.com/office/drawing/2014/main" id="{A7841C71-3A59-6A70-5053-29FF03E2281C}"/>
              </a:ext>
            </a:extLst>
          </p:cNvPr>
          <p:cNvGraphicFramePr>
            <a:graphicFrameLocks noGrp="1"/>
          </p:cNvGraphicFramePr>
          <p:nvPr>
            <p:extLst/>
          </p:nvPr>
        </p:nvGraphicFramePr>
        <p:xfrm>
          <a:off x="355600" y="452577"/>
          <a:ext cx="11480800" cy="5765177"/>
        </p:xfrm>
        <a:graphic>
          <a:graphicData uri="http://schemas.openxmlformats.org/drawingml/2006/table">
            <a:tbl>
              <a:tblPr firstRow="1" firstCol="1" bandRow="1"/>
              <a:tblGrid>
                <a:gridCol w="827341">
                  <a:extLst>
                    <a:ext uri="{9D8B030D-6E8A-4147-A177-3AD203B41FA5}">
                      <a16:colId xmlns:a16="http://schemas.microsoft.com/office/drawing/2014/main" val="77634025"/>
                    </a:ext>
                  </a:extLst>
                </a:gridCol>
                <a:gridCol w="10653459">
                  <a:extLst>
                    <a:ext uri="{9D8B030D-6E8A-4147-A177-3AD203B41FA5}">
                      <a16:colId xmlns:a16="http://schemas.microsoft.com/office/drawing/2014/main" val="3120620256"/>
                    </a:ext>
                  </a:extLst>
                </a:gridCol>
              </a:tblGrid>
              <a:tr h="28556">
                <a:tc>
                  <a:txBody>
                    <a:bodyPr/>
                    <a:lstStyle/>
                    <a:p>
                      <a:endParaRPr lang="fr-FR" sz="100" dirty="0"/>
                    </a:p>
                  </a:txBody>
                  <a:tcPr marL="68580" marR="68580" marT="0" marB="0"/>
                </a:tc>
                <a:tc>
                  <a:txBody>
                    <a:bodyPr/>
                    <a:lstStyle/>
                    <a:p>
                      <a:endParaRPr lang="fr-FR" sz="100" dirty="0"/>
                    </a:p>
                  </a:txBody>
                  <a:tcPr marL="68580" marR="68580" marT="0" marB="0">
                    <a:solidFill>
                      <a:schemeClr val="bg1">
                        <a:lumMod val="95000"/>
                      </a:schemeClr>
                    </a:solidFill>
                  </a:tcPr>
                </a:tc>
                <a:extLst>
                  <a:ext uri="{0D108BD9-81ED-4DB2-BD59-A6C34878D82A}">
                    <a16:rowId xmlns:a16="http://schemas.microsoft.com/office/drawing/2014/main" val="3866777545"/>
                  </a:ext>
                </a:extLst>
              </a:tr>
              <a:tr h="420498">
                <a:tc>
                  <a:txBody>
                    <a:bodyPr/>
                    <a:lstStyle/>
                    <a:p>
                      <a:pPr algn="l">
                        <a:lnSpc>
                          <a:spcPct val="107000"/>
                        </a:lnSpc>
                        <a:spcAft>
                          <a:spcPts val="800"/>
                        </a:spcAft>
                      </a:pPr>
                      <a:r>
                        <a:rPr lang="fr-FR" sz="2400" kern="100" dirty="0">
                          <a:effectLst/>
                        </a:rPr>
                        <a:t>CM1</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b="0" i="0" u="none" strike="noStrike" kern="100" cap="none" dirty="0">
                          <a:solidFill>
                            <a:schemeClr val="dk1"/>
                          </a:solidFill>
                          <a:effectLst/>
                          <a:latin typeface="Calibri"/>
                          <a:cs typeface="Calibri"/>
                          <a:sym typeface="Arial"/>
                        </a:rPr>
                        <a:t>Introduction à l’éthique des sciences et des techniques : quels grands enjeux ?</a:t>
                      </a:r>
                      <a:endParaRPr lang="fr-FR" sz="2400" b="0" i="0" u="none" strike="noStrike" kern="100" cap="none" dirty="0">
                        <a:solidFill>
                          <a:schemeClr val="dk1"/>
                        </a:solidFill>
                        <a:effectLst/>
                        <a:latin typeface="Calibri"/>
                        <a:ea typeface="Calibri" panose="020F0502020204030204" pitchFamily="34" charset="0"/>
                        <a:cs typeface="Calibri"/>
                        <a:sym typeface="Arial"/>
                      </a:endParaRPr>
                    </a:p>
                  </a:txBody>
                  <a:tcPr marL="68580" marR="68580" marT="0" marB="0"/>
                </a:tc>
                <a:extLst>
                  <a:ext uri="{0D108BD9-81ED-4DB2-BD59-A6C34878D82A}">
                    <a16:rowId xmlns:a16="http://schemas.microsoft.com/office/drawing/2014/main" val="2445218869"/>
                  </a:ext>
                </a:extLst>
              </a:tr>
              <a:tr h="420498">
                <a:tc>
                  <a:txBody>
                    <a:bodyPr/>
                    <a:lstStyle/>
                    <a:p>
                      <a:pPr algn="l">
                        <a:lnSpc>
                          <a:spcPct val="107000"/>
                        </a:lnSpc>
                        <a:spcAft>
                          <a:spcPts val="800"/>
                        </a:spcAft>
                      </a:pPr>
                      <a:r>
                        <a:rPr lang="fr-FR" sz="2400" kern="100" dirty="0">
                          <a:effectLst/>
                        </a:rPr>
                        <a:t>CM2</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dirty="0">
                          <a:effectLst/>
                        </a:rPr>
                        <a:t>Une brève histoire de l’idée de progrès</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9661622"/>
                  </a:ext>
                </a:extLst>
              </a:tr>
              <a:tr h="420498">
                <a:tc>
                  <a:txBody>
                    <a:bodyPr/>
                    <a:lstStyle/>
                    <a:p>
                      <a:pPr algn="l">
                        <a:lnSpc>
                          <a:spcPct val="107000"/>
                        </a:lnSpc>
                        <a:spcAft>
                          <a:spcPts val="800"/>
                        </a:spcAft>
                      </a:pPr>
                      <a:r>
                        <a:rPr lang="fr-FR" sz="2400" kern="100">
                          <a:effectLst/>
                        </a:rPr>
                        <a:t>CM3</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dirty="0">
                          <a:effectLst/>
                        </a:rPr>
                        <a:t>Introduction à l’éthique environnementale</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66623084"/>
                  </a:ext>
                </a:extLst>
              </a:tr>
              <a:tr h="420498">
                <a:tc>
                  <a:txBody>
                    <a:bodyPr/>
                    <a:lstStyle/>
                    <a:p>
                      <a:pPr algn="l">
                        <a:lnSpc>
                          <a:spcPct val="107000"/>
                        </a:lnSpc>
                        <a:spcAft>
                          <a:spcPts val="800"/>
                        </a:spcAft>
                      </a:pPr>
                      <a:r>
                        <a:rPr lang="fr-FR" sz="2400" kern="100">
                          <a:effectLst/>
                        </a:rPr>
                        <a:t>CM4</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dirty="0">
                          <a:effectLst/>
                        </a:rPr>
                        <a:t>Introduction à l’éthique de la technique : les implications du numérique</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6116588"/>
                  </a:ext>
                </a:extLst>
              </a:tr>
              <a:tr h="420498">
                <a:tc>
                  <a:txBody>
                    <a:bodyPr/>
                    <a:lstStyle/>
                    <a:p>
                      <a:pPr algn="l">
                        <a:lnSpc>
                          <a:spcPct val="107000"/>
                        </a:lnSpc>
                        <a:spcAft>
                          <a:spcPts val="800"/>
                        </a:spcAft>
                      </a:pPr>
                      <a:r>
                        <a:rPr lang="fr-FR" sz="2400" kern="100">
                          <a:effectLst/>
                        </a:rPr>
                        <a:t>CM5</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dirty="0">
                          <a:effectLst/>
                        </a:rPr>
                        <a:t>Introduction à l’éthique médicale et à la bioéthique</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03436392"/>
                  </a:ext>
                </a:extLst>
              </a:tr>
              <a:tr h="509090">
                <a:tc>
                  <a:txBody>
                    <a:bodyPr/>
                    <a:lstStyle/>
                    <a:p>
                      <a:pPr algn="l">
                        <a:lnSpc>
                          <a:spcPct val="107000"/>
                        </a:lnSpc>
                        <a:spcAft>
                          <a:spcPts val="800"/>
                        </a:spcAft>
                      </a:pPr>
                      <a:r>
                        <a:rPr lang="fr-FR" sz="2400" kern="100">
                          <a:effectLst/>
                        </a:rPr>
                        <a:t>CM6</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dirty="0">
                          <a:effectLst/>
                        </a:rPr>
                        <a:t>Introduction à l’éthique des sciences sociales </a:t>
                      </a:r>
                      <a:r>
                        <a:rPr lang="fr-FR" sz="2400" kern="100">
                          <a:effectLst/>
                        </a:rPr>
                        <a:t>: l’expérience </a:t>
                      </a:r>
                      <a:r>
                        <a:rPr lang="fr-FR" sz="2400" kern="100" dirty="0">
                          <a:effectLst/>
                        </a:rPr>
                        <a:t>de Milgram</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45931366"/>
                  </a:ext>
                </a:extLst>
              </a:tr>
              <a:tr h="555644">
                <a:tc>
                  <a:txBody>
                    <a:bodyPr/>
                    <a:lstStyle/>
                    <a:p>
                      <a:pPr algn="l">
                        <a:lnSpc>
                          <a:spcPct val="107000"/>
                        </a:lnSpc>
                        <a:spcAft>
                          <a:spcPts val="800"/>
                        </a:spcAft>
                      </a:pPr>
                      <a:r>
                        <a:rPr lang="fr-FR" sz="2400" kern="100">
                          <a:effectLst/>
                        </a:rPr>
                        <a:t>CM7</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a:effectLst/>
                        </a:rPr>
                        <a:t>Le </a:t>
                      </a:r>
                      <a:r>
                        <a:rPr lang="fr-FR" sz="2400" kern="100" dirty="0">
                          <a:effectLst/>
                        </a:rPr>
                        <a:t>statut éthique de l’ingénieur en démocratie.</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84196207"/>
                  </a:ext>
                </a:extLst>
              </a:tr>
              <a:tr h="420498">
                <a:tc gridSpan="2">
                  <a:txBody>
                    <a:bodyPr/>
                    <a:lstStyle/>
                    <a:p>
                      <a:pPr algn="ctr">
                        <a:lnSpc>
                          <a:spcPct val="107000"/>
                        </a:lnSpc>
                        <a:spcAft>
                          <a:spcPts val="800"/>
                        </a:spcAft>
                      </a:pPr>
                      <a:r>
                        <a:rPr lang="fr-FR" sz="2400" kern="100" dirty="0">
                          <a:effectLst/>
                        </a:rPr>
                        <a:t>DST de fin de premier semestre</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fr-FR"/>
                    </a:p>
                  </a:txBody>
                  <a:tcPr/>
                </a:tc>
                <a:extLst>
                  <a:ext uri="{0D108BD9-81ED-4DB2-BD59-A6C34878D82A}">
                    <a16:rowId xmlns:a16="http://schemas.microsoft.com/office/drawing/2014/main" val="1337098187"/>
                  </a:ext>
                </a:extLst>
              </a:tr>
              <a:tr h="420498">
                <a:tc>
                  <a:txBody>
                    <a:bodyPr/>
                    <a:lstStyle/>
                    <a:p>
                      <a:pPr algn="l">
                        <a:lnSpc>
                          <a:spcPct val="107000"/>
                        </a:lnSpc>
                        <a:spcAft>
                          <a:spcPts val="800"/>
                        </a:spcAft>
                      </a:pPr>
                      <a:r>
                        <a:rPr lang="fr-FR" sz="2400" kern="100">
                          <a:effectLst/>
                        </a:rPr>
                        <a:t>TD1</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a:effectLst/>
                        </a:rPr>
                        <a:t>Introduction à l’éthique de la recherche</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43075093"/>
                  </a:ext>
                </a:extLst>
              </a:tr>
              <a:tr h="420498">
                <a:tc>
                  <a:txBody>
                    <a:bodyPr/>
                    <a:lstStyle/>
                    <a:p>
                      <a:pPr algn="l">
                        <a:lnSpc>
                          <a:spcPct val="107000"/>
                        </a:lnSpc>
                        <a:spcAft>
                          <a:spcPts val="800"/>
                        </a:spcAft>
                      </a:pPr>
                      <a:r>
                        <a:rPr lang="fr-FR" sz="2400" kern="100">
                          <a:effectLst/>
                        </a:rPr>
                        <a:t>TD2</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a:effectLst/>
                        </a:rPr>
                        <a:t>L’éthique de l’IA : le cas des véhicules autonomes</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0141331"/>
                  </a:ext>
                </a:extLst>
              </a:tr>
              <a:tr h="420498">
                <a:tc>
                  <a:txBody>
                    <a:bodyPr/>
                    <a:lstStyle/>
                    <a:p>
                      <a:pPr algn="l">
                        <a:lnSpc>
                          <a:spcPct val="107000"/>
                        </a:lnSpc>
                        <a:spcAft>
                          <a:spcPts val="800"/>
                        </a:spcAft>
                      </a:pPr>
                      <a:r>
                        <a:rPr lang="fr-FR" sz="2400" kern="100">
                          <a:effectLst/>
                        </a:rPr>
                        <a:t>TD3</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a:effectLst/>
                        </a:rPr>
                        <a:t>Introduction à l’éthique animale</a:t>
                      </a:r>
                      <a:endParaRPr lang="fr-FR"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7951291"/>
                  </a:ext>
                </a:extLst>
              </a:tr>
              <a:tr h="420498">
                <a:tc>
                  <a:txBody>
                    <a:bodyPr/>
                    <a:lstStyle/>
                    <a:p>
                      <a:pPr algn="l">
                        <a:lnSpc>
                          <a:spcPct val="107000"/>
                        </a:lnSpc>
                        <a:spcAft>
                          <a:spcPts val="800"/>
                        </a:spcAft>
                      </a:pPr>
                      <a:r>
                        <a:rPr lang="fr-FR" sz="2400" kern="100" dirty="0">
                          <a:effectLst/>
                        </a:rPr>
                        <a:t>TD4</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800"/>
                        </a:spcAft>
                      </a:pPr>
                      <a:r>
                        <a:rPr lang="fr-FR" sz="2400" kern="100" dirty="0">
                          <a:effectLst/>
                        </a:rPr>
                        <a:t>Réflexion éthique sur la notion de « transhumanisme »</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4991068"/>
                  </a:ext>
                </a:extLst>
              </a:tr>
              <a:tr h="466907">
                <a:tc gridSpan="2">
                  <a:txBody>
                    <a:bodyPr/>
                    <a:lstStyle/>
                    <a:p>
                      <a:pPr algn="ctr">
                        <a:lnSpc>
                          <a:spcPct val="107000"/>
                        </a:lnSpc>
                        <a:spcAft>
                          <a:spcPts val="800"/>
                        </a:spcAft>
                      </a:pPr>
                      <a:r>
                        <a:rPr lang="fr-FR" sz="2400" kern="100" dirty="0">
                          <a:effectLst/>
                        </a:rPr>
                        <a:t>TD5 à TD8 - Evaluations à l’oral (second semestre)</a:t>
                      </a:r>
                      <a:endParaRPr lang="fr-FR"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fr-FR"/>
                    </a:p>
                  </a:txBody>
                  <a:tcPr/>
                </a:tc>
                <a:extLst>
                  <a:ext uri="{0D108BD9-81ED-4DB2-BD59-A6C34878D82A}">
                    <a16:rowId xmlns:a16="http://schemas.microsoft.com/office/drawing/2014/main" val="2368532336"/>
                  </a:ext>
                </a:extLst>
              </a:tr>
            </a:tbl>
          </a:graphicData>
        </a:graphic>
      </p:graphicFrame>
      <p:sp>
        <p:nvSpPr>
          <p:cNvPr id="2" name="Rectangle : coins arrondis 1">
            <a:extLst>
              <a:ext uri="{FF2B5EF4-FFF2-40B4-BE49-F238E27FC236}">
                <a16:creationId xmlns:a16="http://schemas.microsoft.com/office/drawing/2014/main" id="{8D025E68-EB44-4532-B885-A468086C027E}"/>
              </a:ext>
            </a:extLst>
          </p:cNvPr>
          <p:cNvSpPr/>
          <p:nvPr/>
        </p:nvSpPr>
        <p:spPr>
          <a:xfrm>
            <a:off x="214489" y="1309510"/>
            <a:ext cx="11621911" cy="47413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68920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03F0DFC-1E19-45BD-9D0C-3FCC6EC7253C}"/>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9B7D4567-8DBB-46A3-9C97-3D96ED401555}"/>
              </a:ext>
            </a:extLst>
          </p:cNvPr>
          <p:cNvSpPr>
            <a:spLocks noGrp="1"/>
          </p:cNvSpPr>
          <p:nvPr>
            <p:ph type="ctrTitle"/>
          </p:nvPr>
        </p:nvSpPr>
        <p:spPr>
          <a:xfrm>
            <a:off x="907433" y="425003"/>
            <a:ext cx="10832497" cy="4087831"/>
          </a:xfrm>
        </p:spPr>
        <p:txBody>
          <a:bodyPr numCol="1">
            <a:normAutofit/>
          </a:bodyPr>
          <a:lstStyle/>
          <a:p>
            <a:pPr lvl="0" algn="l">
              <a:spcBef>
                <a:spcPts val="1000"/>
              </a:spcBef>
              <a:defRPr/>
            </a:pPr>
            <a:br>
              <a:rPr lang="fr-FR" altLang="fr-FR" sz="3600" b="1" u="sng" spc="-240" dirty="0">
                <a:solidFill>
                  <a:schemeClr val="bg1"/>
                </a:solidFill>
                <a:latin typeface="+mn-lt"/>
                <a:cs typeface="Gotham Medium" pitchFamily="50" charset="0"/>
                <a:hlinkClick r:id="" action="ppaction://noaction">
                  <a:extLst>
                    <a:ext uri="{A12FA001-AC4F-418D-AE19-62706E023703}">
                      <ahyp:hlinkClr xmlns:ahyp="http://schemas.microsoft.com/office/drawing/2018/hyperlinkcolor" val="tx"/>
                    </a:ext>
                  </a:extLst>
                </a:hlinkClick>
              </a:rPr>
            </a:br>
            <a:r>
              <a:rPr lang="fr-FR" altLang="fr-FR" sz="3600" b="1" u="sng" spc="-240" dirty="0">
                <a:solidFill>
                  <a:schemeClr val="bg1"/>
                </a:solidFill>
                <a:latin typeface="+mn-lt"/>
                <a:cs typeface="Gotham Medium" pitchFamily="50" charset="0"/>
                <a:hlinkClick r:id="" action="ppaction://noaction">
                  <a:extLst>
                    <a:ext uri="{A12FA001-AC4F-418D-AE19-62706E023703}">
                      <ahyp:hlinkClr xmlns:ahyp="http://schemas.microsoft.com/office/drawing/2018/hyperlinkcolor" val="tx"/>
                    </a:ext>
                  </a:extLst>
                </a:hlinkClick>
              </a:rPr>
              <a:t>1) </a:t>
            </a:r>
            <a:r>
              <a:rPr lang="fr-FR" altLang="fr-FR" sz="3600" b="1" u="sng" spc="-240" dirty="0">
                <a:solidFill>
                  <a:schemeClr val="bg1"/>
                </a:solidFill>
                <a:latin typeface="+mn-lt"/>
                <a:cs typeface="Gotham Medium" pitchFamily="50" charset="0"/>
              </a:rPr>
              <a:t>Du développement durable à l’idée d’anthropocène</a:t>
            </a:r>
            <a:br>
              <a:rPr lang="fr-FR" altLang="fr-FR" sz="3600" b="1" u="sng" spc="-240" dirty="0">
                <a:solidFill>
                  <a:schemeClr val="bg1"/>
                </a:solidFill>
                <a:latin typeface="+mn-lt"/>
                <a:cs typeface="Gotham Medium" pitchFamily="50" charset="0"/>
              </a:rPr>
            </a:br>
            <a:r>
              <a:rPr lang="fr-FR" altLang="fr-FR" sz="3600" b="1" u="sng" spc="-240" dirty="0">
                <a:solidFill>
                  <a:schemeClr val="bg1"/>
                </a:solidFill>
                <a:latin typeface="+mn-lt"/>
                <a:cs typeface="Gotham Medium" pitchFamily="50" charset="0"/>
              </a:rPr>
              <a:t>2) Le « monde infini des modernes » : une illusion ?</a:t>
            </a:r>
            <a:br>
              <a:rPr lang="fr-FR" altLang="fr-FR" sz="3600" b="1" u="sng" spc="-240" dirty="0">
                <a:solidFill>
                  <a:schemeClr val="bg1"/>
                </a:solidFill>
                <a:latin typeface="+mn-lt"/>
                <a:cs typeface="Gotham Medium" pitchFamily="50" charset="0"/>
              </a:rPr>
            </a:br>
            <a:r>
              <a:rPr kumimoji="0" lang="fr-FR" altLang="fr-FR" sz="3600" b="1" i="0" u="none" strike="noStrike" kern="1200" cap="none" spc="0" normalizeH="0" baseline="0" noProof="0" dirty="0">
                <a:ln>
                  <a:noFill/>
                </a:ln>
                <a:solidFill>
                  <a:schemeClr val="bg1"/>
                </a:solidFill>
                <a:effectLst/>
                <a:uLnTx/>
                <a:uFillTx/>
                <a:latin typeface="+mn-lt"/>
                <a:ea typeface="+mn-ea"/>
                <a:cs typeface="+mn-cs"/>
                <a:hlinkClick r:id="" action="ppaction://noaction">
                  <a:extLst>
                    <a:ext uri="{A12FA001-AC4F-418D-AE19-62706E023703}">
                      <ahyp:hlinkClr xmlns:ahyp="http://schemas.microsoft.com/office/drawing/2018/hyperlinkcolor" val="tx"/>
                    </a:ext>
                  </a:extLst>
                </a:hlinkClick>
              </a:rPr>
              <a:t>Bibliographie</a:t>
            </a:r>
            <a:br>
              <a:rPr kumimoji="0" lang="fr-FR" altLang="fr-FR" sz="2800" b="1" i="0" u="none" strike="noStrike" kern="1200" cap="none" spc="0" normalizeH="0" baseline="0" noProof="0" dirty="0">
                <a:ln>
                  <a:noFill/>
                </a:ln>
                <a:solidFill>
                  <a:schemeClr val="bg1"/>
                </a:solidFill>
                <a:effectLst/>
                <a:uLnTx/>
                <a:uFillTx/>
                <a:latin typeface="Calibri" panose="020F0502020204030204"/>
                <a:ea typeface="+mn-ea"/>
                <a:cs typeface="+mn-cs"/>
              </a:rPr>
            </a:br>
            <a:endParaRPr lang="fr-FR" altLang="fr-FR" sz="3200" b="1" dirty="0">
              <a:solidFill>
                <a:schemeClr val="bg1"/>
              </a:solidFill>
            </a:endParaRPr>
          </a:p>
        </p:txBody>
      </p:sp>
      <p:sp>
        <p:nvSpPr>
          <p:cNvPr id="5" name="object 10">
            <a:extLst>
              <a:ext uri="{FF2B5EF4-FFF2-40B4-BE49-F238E27FC236}">
                <a16:creationId xmlns:a16="http://schemas.microsoft.com/office/drawing/2014/main" id="{B4C51465-F063-42E8-8BE5-5ED8418DF661}"/>
              </a:ext>
            </a:extLst>
          </p:cNvPr>
          <p:cNvSpPr txBox="1">
            <a:spLocks noGrp="1"/>
          </p:cNvSpPr>
          <p:nvPr>
            <p:ph type="ftr" sz="quarter" idx="11"/>
          </p:nvPr>
        </p:nvSpPr>
        <p:spPr>
          <a:xfrm>
            <a:off x="4041374" y="6472450"/>
            <a:ext cx="4114800" cy="189796"/>
          </a:xfrm>
          <a:prstGeom prst="rect">
            <a:avLst/>
          </a:prstGeom>
        </p:spPr>
        <p:txBody>
          <a:bodyPr vert="horz" wrap="square" lIns="0" tIns="5080" rIns="0" bIns="0" numCol="1" rtlCol="0" anchor="ctr">
            <a:spAutoFit/>
          </a:bodyPr>
          <a:lstStyle/>
          <a:p>
            <a:pPr marL="12700">
              <a:spcBef>
                <a:spcPts val="40"/>
              </a:spcBef>
            </a:pPr>
            <a:r>
              <a:rPr lang="fr-FR" altLang="fr-FR" spc="-60">
                <a:solidFill>
                  <a:srgbClr val="002060"/>
                </a:solidFill>
              </a:rPr>
              <a:t>Pole Humanités Design Département des Relations Humaines</a:t>
            </a:r>
            <a:endParaRPr spc="-100">
              <a:solidFill>
                <a:srgbClr val="002060"/>
              </a:solidFill>
            </a:endParaRPr>
          </a:p>
        </p:txBody>
      </p:sp>
      <p:pic>
        <p:nvPicPr>
          <p:cNvPr id="6" name="Image 5">
            <a:extLst>
              <a:ext uri="{FF2B5EF4-FFF2-40B4-BE49-F238E27FC236}">
                <a16:creationId xmlns:a16="http://schemas.microsoft.com/office/drawing/2014/main" id="{1AE8901F-1C30-4BD4-99BE-A97180C497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pic>
        <p:nvPicPr>
          <p:cNvPr id="7" name="Image 6">
            <a:extLst>
              <a:ext uri="{FF2B5EF4-FFF2-40B4-BE49-F238E27FC236}">
                <a16:creationId xmlns:a16="http://schemas.microsoft.com/office/drawing/2014/main" id="{19B2A249-BD17-436B-8AC0-2FCE0FB6D4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2600" y="6123941"/>
            <a:ext cx="1938531" cy="640149"/>
          </a:xfrm>
          <a:prstGeom prst="rect">
            <a:avLst/>
          </a:prstGeom>
        </p:spPr>
      </p:pic>
      <p:sp>
        <p:nvSpPr>
          <p:cNvPr id="8" name="ZoneTexte 7">
            <a:extLst>
              <a:ext uri="{FF2B5EF4-FFF2-40B4-BE49-F238E27FC236}">
                <a16:creationId xmlns:a16="http://schemas.microsoft.com/office/drawing/2014/main" id="{F73C47AF-B032-43B3-847C-56BF4BCFF8E6}"/>
              </a:ext>
            </a:extLst>
          </p:cNvPr>
          <p:cNvSpPr txBox="1"/>
          <p:nvPr/>
        </p:nvSpPr>
        <p:spPr>
          <a:xfrm>
            <a:off x="3274764" y="1047266"/>
            <a:ext cx="6097836" cy="707886"/>
          </a:xfrm>
          <a:prstGeom prst="rect">
            <a:avLst/>
          </a:prstGeom>
          <a:noFill/>
        </p:spPr>
        <p:txBody>
          <a:bodyPr wrap="square" numCol="1">
            <a:spAutoFit/>
          </a:bodyPr>
          <a:lstStyle/>
          <a:p>
            <a:pPr algn="ctr"/>
            <a:r>
              <a:rPr lang="fr-FR" altLang="fr-FR" sz="4000" u="sng" spc="-240" dirty="0">
                <a:solidFill>
                  <a:schemeClr val="accent5">
                    <a:lumMod val="75000"/>
                  </a:schemeClr>
                </a:solidFill>
                <a:cs typeface="Gotham Medium" pitchFamily="50" charset="0"/>
              </a:rPr>
              <a:t>Plan</a:t>
            </a:r>
            <a:endParaRPr lang="fr-FR" altLang="fr-FR" sz="4000" dirty="0"/>
          </a:p>
        </p:txBody>
      </p:sp>
      <p:sp>
        <p:nvSpPr>
          <p:cNvPr id="4" name="Espace réservé du numéro de diapositive 3">
            <a:extLst>
              <a:ext uri="{FF2B5EF4-FFF2-40B4-BE49-F238E27FC236}">
                <a16:creationId xmlns:a16="http://schemas.microsoft.com/office/drawing/2014/main" id="{083A6003-ACF1-4A27-8577-185A4A278541}"/>
              </a:ext>
            </a:extLst>
          </p:cNvPr>
          <p:cNvSpPr>
            <a:spLocks noGrp="1"/>
          </p:cNvSpPr>
          <p:nvPr>
            <p:ph type="sldNum" sz="quarter" idx="12"/>
          </p:nvPr>
        </p:nvSpPr>
        <p:spPr/>
        <p:txBody>
          <a:bodyPr numCol="1"/>
          <a:lstStyle/>
          <a:p>
            <a:fld id="{788DAB52-6294-4F97-81DD-ABD852645FBC}" type="slidenum">
              <a:rPr lang="fr-FR" altLang="fr-FR" smtClean="0"/>
              <a:t>3</a:t>
            </a:fld>
            <a:endParaRPr lang="fr-FR" altLang="fr-FR"/>
          </a:p>
        </p:txBody>
      </p:sp>
    </p:spTree>
    <p:extLst>
      <p:ext uri="{BB962C8B-B14F-4D97-AF65-F5344CB8AC3E}">
        <p14:creationId xmlns:p14="http://schemas.microsoft.com/office/powerpoint/2010/main" val="619931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03F0DFC-1E19-45BD-9D0C-3FCC6EC7253C}"/>
              </a:ext>
            </a:extLst>
          </p:cNvPr>
          <p:cNvSpPr/>
          <p:nvPr/>
        </p:nvSpPr>
        <p:spPr>
          <a:xfrm>
            <a:off x="0" y="3209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9B7D4567-8DBB-46A3-9C97-3D96ED401555}"/>
              </a:ext>
            </a:extLst>
          </p:cNvPr>
          <p:cNvSpPr>
            <a:spLocks noGrp="1"/>
          </p:cNvSpPr>
          <p:nvPr>
            <p:ph type="ctrTitle"/>
          </p:nvPr>
        </p:nvSpPr>
        <p:spPr>
          <a:xfrm>
            <a:off x="1435390" y="425003"/>
            <a:ext cx="10304540" cy="4070797"/>
          </a:xfrm>
        </p:spPr>
        <p:txBody>
          <a:bodyPr numCol="1">
            <a:normAutofit/>
          </a:bodyPr>
          <a:lstStyle/>
          <a:p>
            <a:pPr lvl="0" algn="l">
              <a:spcBef>
                <a:spcPts val="1000"/>
              </a:spcBef>
              <a:defRPr/>
            </a:pPr>
            <a:r>
              <a:rPr lang="fr-FR" altLang="fr-FR" sz="3600" b="1" u="sng" spc="-240" dirty="0">
                <a:solidFill>
                  <a:schemeClr val="bg1"/>
                </a:solidFill>
                <a:latin typeface="+mn-lt"/>
                <a:cs typeface="Gotham Medium" pitchFamily="50" charset="0"/>
                <a:hlinkClick r:id="" action="ppaction://noaction">
                  <a:extLst>
                    <a:ext uri="{A12FA001-AC4F-418D-AE19-62706E023703}">
                      <ahyp:hlinkClr xmlns:ahyp="http://schemas.microsoft.com/office/drawing/2018/hyperlinkcolor" val="tx"/>
                    </a:ext>
                  </a:extLst>
                </a:hlinkClick>
              </a:rPr>
              <a:t>1</a:t>
            </a:r>
            <a:r>
              <a:rPr lang="fr-FR" altLang="fr-FR" sz="3600" b="1" u="sng" spc="-240" dirty="0">
                <a:solidFill>
                  <a:schemeClr val="bg1"/>
                </a:solidFill>
                <a:latin typeface="+mn-lt"/>
                <a:hlinkClick r:id="" action="ppaction://noaction">
                  <a:extLst>
                    <a:ext uri="{A12FA001-AC4F-418D-AE19-62706E023703}">
                      <ahyp:hlinkClr xmlns:ahyp="http://schemas.microsoft.com/office/drawing/2018/hyperlinkcolor" val="tx"/>
                    </a:ext>
                  </a:extLst>
                </a:hlinkClick>
              </a:rPr>
              <a:t>) </a:t>
            </a:r>
            <a:r>
              <a:rPr lang="fr-FR" altLang="fr-FR" sz="3600" b="1" u="sng" spc="-240" dirty="0">
                <a:solidFill>
                  <a:schemeClr val="bg1"/>
                </a:solidFill>
                <a:latin typeface="+mn-lt"/>
              </a:rPr>
              <a:t>Du développement durable à l’idée d’anthropocène</a:t>
            </a:r>
            <a:br>
              <a:rPr lang="fr-FR" altLang="fr-FR" sz="3600" b="1" u="sng" spc="-240" dirty="0">
                <a:solidFill>
                  <a:schemeClr val="accent1">
                    <a:lumMod val="60000"/>
                    <a:lumOff val="40000"/>
                  </a:schemeClr>
                </a:solidFill>
                <a:latin typeface="+mn-lt"/>
                <a:cs typeface="Gotham Medium" pitchFamily="50" charset="0"/>
              </a:rPr>
            </a:br>
            <a:r>
              <a:rPr lang="fr-FR" altLang="fr-FR" sz="3600" b="1" u="sng" spc="-240" dirty="0">
                <a:solidFill>
                  <a:schemeClr val="accent1">
                    <a:lumMod val="60000"/>
                    <a:lumOff val="40000"/>
                  </a:schemeClr>
                </a:solidFill>
                <a:latin typeface="+mn-lt"/>
                <a:cs typeface="Gotham Medium" pitchFamily="50" charset="0"/>
              </a:rPr>
              <a:t>2) Le « monde infini des modernes » : une illusion ?</a:t>
            </a:r>
            <a:br>
              <a:rPr lang="fr-FR" altLang="fr-FR" sz="3600" b="1" u="sng" spc="-240" dirty="0">
                <a:solidFill>
                  <a:schemeClr val="accent1">
                    <a:lumMod val="60000"/>
                    <a:lumOff val="40000"/>
                  </a:schemeClr>
                </a:solidFill>
                <a:latin typeface="+mn-lt"/>
                <a:cs typeface="Gotham Medium" pitchFamily="50" charset="0"/>
              </a:rPr>
            </a:br>
            <a:r>
              <a:rPr kumimoji="0" lang="fr-FR" altLang="fr-FR" sz="3600" b="1" i="0" u="none" strike="noStrike" kern="1200" cap="none" spc="0" normalizeH="0" baseline="0" noProof="0" dirty="0">
                <a:ln>
                  <a:noFill/>
                </a:ln>
                <a:solidFill>
                  <a:schemeClr val="accent1">
                    <a:lumMod val="60000"/>
                    <a:lumOff val="40000"/>
                  </a:schemeClr>
                </a:solidFill>
                <a:effectLst/>
                <a:uLnTx/>
                <a:uFillTx/>
                <a:latin typeface="+mn-lt"/>
                <a:ea typeface="+mn-ea"/>
                <a:cs typeface="+mn-cs"/>
                <a:hlinkClick r:id="" action="ppaction://noaction">
                  <a:extLst>
                    <a:ext uri="{A12FA001-AC4F-418D-AE19-62706E023703}">
                      <ahyp:hlinkClr xmlns:ahyp="http://schemas.microsoft.com/office/drawing/2018/hyperlinkcolor" val="tx"/>
                    </a:ext>
                  </a:extLst>
                </a:hlinkClick>
              </a:rPr>
              <a:t>Bibliographie</a:t>
            </a:r>
            <a:br>
              <a:rPr kumimoji="0" lang="fr-FR" altLang="fr-FR" sz="2800" b="1" i="0" u="none" strike="noStrike" kern="1200" cap="none" spc="0" normalizeH="0" baseline="0" noProof="0" dirty="0">
                <a:ln>
                  <a:noFill/>
                </a:ln>
                <a:solidFill>
                  <a:schemeClr val="bg1"/>
                </a:solidFill>
                <a:effectLst/>
                <a:uLnTx/>
                <a:uFillTx/>
                <a:latin typeface="Calibri" panose="020F0502020204030204"/>
                <a:ea typeface="+mn-ea"/>
                <a:cs typeface="+mn-cs"/>
              </a:rPr>
            </a:br>
            <a:endParaRPr lang="fr-FR" altLang="fr-FR" sz="3200" b="1" dirty="0">
              <a:solidFill>
                <a:schemeClr val="bg1"/>
              </a:solidFill>
            </a:endParaRPr>
          </a:p>
        </p:txBody>
      </p:sp>
      <p:sp>
        <p:nvSpPr>
          <p:cNvPr id="5" name="object 10">
            <a:extLst>
              <a:ext uri="{FF2B5EF4-FFF2-40B4-BE49-F238E27FC236}">
                <a16:creationId xmlns:a16="http://schemas.microsoft.com/office/drawing/2014/main" id="{B4C51465-F063-42E8-8BE5-5ED8418DF661}"/>
              </a:ext>
            </a:extLst>
          </p:cNvPr>
          <p:cNvSpPr txBox="1">
            <a:spLocks noGrp="1"/>
          </p:cNvSpPr>
          <p:nvPr>
            <p:ph type="ftr" sz="quarter" idx="11"/>
          </p:nvPr>
        </p:nvSpPr>
        <p:spPr>
          <a:xfrm>
            <a:off x="4041374" y="6472450"/>
            <a:ext cx="4114800" cy="189796"/>
          </a:xfrm>
          <a:prstGeom prst="rect">
            <a:avLst/>
          </a:prstGeom>
        </p:spPr>
        <p:txBody>
          <a:bodyPr vert="horz" wrap="square" lIns="0" tIns="5080" rIns="0" bIns="0" numCol="1" rtlCol="0" anchor="ctr">
            <a:spAutoFit/>
          </a:bodyPr>
          <a:lstStyle/>
          <a:p>
            <a:pPr marL="12700">
              <a:spcBef>
                <a:spcPts val="40"/>
              </a:spcBef>
            </a:pPr>
            <a:r>
              <a:rPr lang="fr-FR" altLang="fr-FR" spc="-60">
                <a:solidFill>
                  <a:srgbClr val="002060"/>
                </a:solidFill>
              </a:rPr>
              <a:t>Pole Humanités Design Département des Relations Humaines</a:t>
            </a:r>
            <a:endParaRPr spc="-100">
              <a:solidFill>
                <a:srgbClr val="002060"/>
              </a:solidFill>
            </a:endParaRPr>
          </a:p>
        </p:txBody>
      </p:sp>
      <p:pic>
        <p:nvPicPr>
          <p:cNvPr id="6" name="Image 5">
            <a:extLst>
              <a:ext uri="{FF2B5EF4-FFF2-40B4-BE49-F238E27FC236}">
                <a16:creationId xmlns:a16="http://schemas.microsoft.com/office/drawing/2014/main" id="{1AE8901F-1C30-4BD4-99BE-A97180C497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pic>
        <p:nvPicPr>
          <p:cNvPr id="7" name="Image 6">
            <a:extLst>
              <a:ext uri="{FF2B5EF4-FFF2-40B4-BE49-F238E27FC236}">
                <a16:creationId xmlns:a16="http://schemas.microsoft.com/office/drawing/2014/main" id="{19B2A249-BD17-436B-8AC0-2FCE0FB6D4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2600" y="6123941"/>
            <a:ext cx="1938531" cy="640149"/>
          </a:xfrm>
          <a:prstGeom prst="rect">
            <a:avLst/>
          </a:prstGeom>
        </p:spPr>
      </p:pic>
      <p:sp>
        <p:nvSpPr>
          <p:cNvPr id="8" name="ZoneTexte 7">
            <a:extLst>
              <a:ext uri="{FF2B5EF4-FFF2-40B4-BE49-F238E27FC236}">
                <a16:creationId xmlns:a16="http://schemas.microsoft.com/office/drawing/2014/main" id="{F73C47AF-B032-43B3-847C-56BF4BCFF8E6}"/>
              </a:ext>
            </a:extLst>
          </p:cNvPr>
          <p:cNvSpPr txBox="1"/>
          <p:nvPr/>
        </p:nvSpPr>
        <p:spPr>
          <a:xfrm>
            <a:off x="3274764" y="1047266"/>
            <a:ext cx="6097836" cy="707886"/>
          </a:xfrm>
          <a:prstGeom prst="rect">
            <a:avLst/>
          </a:prstGeom>
          <a:noFill/>
        </p:spPr>
        <p:txBody>
          <a:bodyPr wrap="square" numCol="1">
            <a:spAutoFit/>
          </a:bodyPr>
          <a:lstStyle/>
          <a:p>
            <a:pPr algn="ctr"/>
            <a:r>
              <a:rPr lang="fr-FR" altLang="fr-FR" sz="4000" u="sng" spc="-240" dirty="0">
                <a:solidFill>
                  <a:schemeClr val="accent5">
                    <a:lumMod val="75000"/>
                  </a:schemeClr>
                </a:solidFill>
                <a:cs typeface="Gotham Medium" pitchFamily="50" charset="0"/>
              </a:rPr>
              <a:t>Plan</a:t>
            </a:r>
            <a:endParaRPr lang="fr-FR" altLang="fr-FR" sz="4000" dirty="0"/>
          </a:p>
        </p:txBody>
      </p:sp>
      <p:sp>
        <p:nvSpPr>
          <p:cNvPr id="4" name="Espace réservé du numéro de diapositive 3">
            <a:extLst>
              <a:ext uri="{FF2B5EF4-FFF2-40B4-BE49-F238E27FC236}">
                <a16:creationId xmlns:a16="http://schemas.microsoft.com/office/drawing/2014/main" id="{083A6003-ACF1-4A27-8577-185A4A278541}"/>
              </a:ext>
            </a:extLst>
          </p:cNvPr>
          <p:cNvSpPr>
            <a:spLocks noGrp="1"/>
          </p:cNvSpPr>
          <p:nvPr>
            <p:ph type="sldNum" sz="quarter" idx="12"/>
          </p:nvPr>
        </p:nvSpPr>
        <p:spPr/>
        <p:txBody>
          <a:bodyPr numCol="1"/>
          <a:lstStyle/>
          <a:p>
            <a:fld id="{788DAB52-6294-4F97-81DD-ABD852645FBC}" type="slidenum">
              <a:rPr lang="fr-FR" altLang="fr-FR" smtClean="0"/>
              <a:t>4</a:t>
            </a:fld>
            <a:endParaRPr lang="fr-FR" altLang="fr-FR"/>
          </a:p>
        </p:txBody>
      </p:sp>
      <p:sp>
        <p:nvSpPr>
          <p:cNvPr id="9" name="Flèche : droite 8">
            <a:extLst>
              <a:ext uri="{FF2B5EF4-FFF2-40B4-BE49-F238E27FC236}">
                <a16:creationId xmlns:a16="http://schemas.microsoft.com/office/drawing/2014/main" id="{43E0C11C-AC7B-F56D-2FC2-9D36DE5F93D7}"/>
              </a:ext>
            </a:extLst>
          </p:cNvPr>
          <p:cNvSpPr/>
          <p:nvPr/>
        </p:nvSpPr>
        <p:spPr>
          <a:xfrm>
            <a:off x="753425" y="2460401"/>
            <a:ext cx="681965" cy="68675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23203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03F0DFC-1E19-45BD-9D0C-3FCC6EC7253C}"/>
              </a:ext>
            </a:extLst>
          </p:cNvPr>
          <p:cNvSpPr/>
          <p:nvPr/>
        </p:nvSpPr>
        <p:spPr>
          <a:xfrm>
            <a:off x="0" y="3209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9B7D4567-8DBB-46A3-9C97-3D96ED401555}"/>
              </a:ext>
            </a:extLst>
          </p:cNvPr>
          <p:cNvSpPr>
            <a:spLocks noGrp="1"/>
          </p:cNvSpPr>
          <p:nvPr>
            <p:ph type="ctrTitle"/>
          </p:nvPr>
        </p:nvSpPr>
        <p:spPr>
          <a:xfrm>
            <a:off x="1435390" y="425003"/>
            <a:ext cx="10304540" cy="4070797"/>
          </a:xfrm>
        </p:spPr>
        <p:txBody>
          <a:bodyPr numCol="1">
            <a:normAutofit/>
          </a:bodyPr>
          <a:lstStyle/>
          <a:p>
            <a:pPr lvl="0" algn="l">
              <a:spcBef>
                <a:spcPts val="1000"/>
              </a:spcBef>
              <a:defRPr/>
            </a:pPr>
            <a:r>
              <a:rPr lang="fr-FR" altLang="fr-FR" sz="3600" b="1" u="sng" spc="-240" dirty="0">
                <a:solidFill>
                  <a:schemeClr val="bg1"/>
                </a:solidFill>
                <a:latin typeface="+mn-lt"/>
                <a:cs typeface="Gotham Medium" pitchFamily="50" charset="0"/>
                <a:hlinkClick r:id="" action="ppaction://noaction">
                  <a:extLst>
                    <a:ext uri="{A12FA001-AC4F-418D-AE19-62706E023703}">
                      <ahyp:hlinkClr xmlns:ahyp="http://schemas.microsoft.com/office/drawing/2018/hyperlinkcolor" val="tx"/>
                    </a:ext>
                  </a:extLst>
                </a:hlinkClick>
              </a:rPr>
              <a:t>1</a:t>
            </a:r>
            <a:r>
              <a:rPr lang="fr-FR" altLang="fr-FR" sz="3600" b="1" u="sng" spc="-240" dirty="0">
                <a:solidFill>
                  <a:schemeClr val="bg1"/>
                </a:solidFill>
                <a:latin typeface="+mn-lt"/>
                <a:hlinkClick r:id="" action="ppaction://noaction">
                  <a:extLst>
                    <a:ext uri="{A12FA001-AC4F-418D-AE19-62706E023703}">
                      <ahyp:hlinkClr xmlns:ahyp="http://schemas.microsoft.com/office/drawing/2018/hyperlinkcolor" val="tx"/>
                    </a:ext>
                  </a:extLst>
                </a:hlinkClick>
              </a:rPr>
              <a:t>) </a:t>
            </a:r>
            <a:r>
              <a:rPr lang="fr-FR" altLang="fr-FR" sz="3600" b="1" u="sng" spc="-240" dirty="0">
                <a:solidFill>
                  <a:schemeClr val="bg1"/>
                </a:solidFill>
                <a:latin typeface="+mn-lt"/>
              </a:rPr>
              <a:t>Du développement durable à l’idée d’anthropocène</a:t>
            </a:r>
            <a:br>
              <a:rPr lang="fr-FR" altLang="fr-FR" sz="3600" b="1" u="sng" spc="-240" dirty="0">
                <a:solidFill>
                  <a:schemeClr val="accent1">
                    <a:lumMod val="60000"/>
                    <a:lumOff val="40000"/>
                  </a:schemeClr>
                </a:solidFill>
                <a:latin typeface="+mn-lt"/>
                <a:cs typeface="Gotham Medium" pitchFamily="50" charset="0"/>
              </a:rPr>
            </a:br>
            <a:r>
              <a:rPr lang="fr-FR" altLang="fr-FR" sz="3600" b="1" u="sng" spc="-240" dirty="0">
                <a:solidFill>
                  <a:schemeClr val="accent1">
                    <a:lumMod val="60000"/>
                    <a:lumOff val="40000"/>
                  </a:schemeClr>
                </a:solidFill>
                <a:latin typeface="+mn-lt"/>
                <a:cs typeface="Gotham Medium" pitchFamily="50" charset="0"/>
              </a:rPr>
              <a:t>2) Le « monde infini des modernes » : une illusion ?</a:t>
            </a:r>
            <a:br>
              <a:rPr lang="fr-FR" altLang="fr-FR" sz="3600" b="1" u="sng" spc="-240" dirty="0">
                <a:solidFill>
                  <a:schemeClr val="accent1">
                    <a:lumMod val="60000"/>
                    <a:lumOff val="40000"/>
                  </a:schemeClr>
                </a:solidFill>
                <a:latin typeface="+mn-lt"/>
                <a:cs typeface="Gotham Medium" pitchFamily="50" charset="0"/>
              </a:rPr>
            </a:br>
            <a:r>
              <a:rPr kumimoji="0" lang="fr-FR" altLang="fr-FR" sz="3600" b="1" i="0" u="none" strike="noStrike" kern="1200" cap="none" spc="0" normalizeH="0" baseline="0" noProof="0" dirty="0">
                <a:ln>
                  <a:noFill/>
                </a:ln>
                <a:solidFill>
                  <a:schemeClr val="accent1">
                    <a:lumMod val="60000"/>
                    <a:lumOff val="40000"/>
                  </a:schemeClr>
                </a:solidFill>
                <a:effectLst/>
                <a:uLnTx/>
                <a:uFillTx/>
                <a:latin typeface="+mn-lt"/>
                <a:ea typeface="+mn-ea"/>
                <a:cs typeface="+mn-cs"/>
                <a:hlinkClick r:id="" action="ppaction://noaction">
                  <a:extLst>
                    <a:ext uri="{A12FA001-AC4F-418D-AE19-62706E023703}">
                      <ahyp:hlinkClr xmlns:ahyp="http://schemas.microsoft.com/office/drawing/2018/hyperlinkcolor" val="tx"/>
                    </a:ext>
                  </a:extLst>
                </a:hlinkClick>
              </a:rPr>
              <a:t>Bibliographie</a:t>
            </a:r>
            <a:br>
              <a:rPr kumimoji="0" lang="fr-FR" altLang="fr-FR" sz="2800" b="1" i="0" u="none" strike="noStrike" kern="1200" cap="none" spc="0" normalizeH="0" baseline="0" noProof="0" dirty="0">
                <a:ln>
                  <a:noFill/>
                </a:ln>
                <a:solidFill>
                  <a:schemeClr val="bg1"/>
                </a:solidFill>
                <a:effectLst/>
                <a:uLnTx/>
                <a:uFillTx/>
                <a:latin typeface="Calibri" panose="020F0502020204030204"/>
                <a:ea typeface="+mn-ea"/>
                <a:cs typeface="+mn-cs"/>
              </a:rPr>
            </a:br>
            <a:endParaRPr lang="fr-FR" altLang="fr-FR" sz="3200" b="1" dirty="0">
              <a:solidFill>
                <a:schemeClr val="bg1"/>
              </a:solidFill>
            </a:endParaRPr>
          </a:p>
        </p:txBody>
      </p:sp>
      <p:sp>
        <p:nvSpPr>
          <p:cNvPr id="5" name="object 10">
            <a:extLst>
              <a:ext uri="{FF2B5EF4-FFF2-40B4-BE49-F238E27FC236}">
                <a16:creationId xmlns:a16="http://schemas.microsoft.com/office/drawing/2014/main" id="{B4C51465-F063-42E8-8BE5-5ED8418DF661}"/>
              </a:ext>
            </a:extLst>
          </p:cNvPr>
          <p:cNvSpPr txBox="1">
            <a:spLocks noGrp="1"/>
          </p:cNvSpPr>
          <p:nvPr>
            <p:ph type="ftr" sz="quarter" idx="11"/>
          </p:nvPr>
        </p:nvSpPr>
        <p:spPr>
          <a:xfrm>
            <a:off x="4041374" y="6472450"/>
            <a:ext cx="4114800" cy="189796"/>
          </a:xfrm>
          <a:prstGeom prst="rect">
            <a:avLst/>
          </a:prstGeom>
        </p:spPr>
        <p:txBody>
          <a:bodyPr vert="horz" wrap="square" lIns="0" tIns="5080" rIns="0" bIns="0" numCol="1" rtlCol="0" anchor="ctr">
            <a:spAutoFit/>
          </a:bodyPr>
          <a:lstStyle/>
          <a:p>
            <a:pPr marL="12700">
              <a:spcBef>
                <a:spcPts val="40"/>
              </a:spcBef>
            </a:pPr>
            <a:r>
              <a:rPr lang="fr-FR" altLang="fr-FR" spc="-60">
                <a:solidFill>
                  <a:srgbClr val="002060"/>
                </a:solidFill>
              </a:rPr>
              <a:t>Pole Humanités Design Département des Relations Humaines</a:t>
            </a:r>
            <a:endParaRPr spc="-100">
              <a:solidFill>
                <a:srgbClr val="002060"/>
              </a:solidFill>
            </a:endParaRPr>
          </a:p>
        </p:txBody>
      </p:sp>
      <p:pic>
        <p:nvPicPr>
          <p:cNvPr id="6" name="Image 5">
            <a:extLst>
              <a:ext uri="{FF2B5EF4-FFF2-40B4-BE49-F238E27FC236}">
                <a16:creationId xmlns:a16="http://schemas.microsoft.com/office/drawing/2014/main" id="{1AE8901F-1C30-4BD4-99BE-A97180C497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pic>
        <p:nvPicPr>
          <p:cNvPr id="7" name="Image 6">
            <a:extLst>
              <a:ext uri="{FF2B5EF4-FFF2-40B4-BE49-F238E27FC236}">
                <a16:creationId xmlns:a16="http://schemas.microsoft.com/office/drawing/2014/main" id="{19B2A249-BD17-436B-8AC0-2FCE0FB6D4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2600" y="6123941"/>
            <a:ext cx="1938531" cy="640149"/>
          </a:xfrm>
          <a:prstGeom prst="rect">
            <a:avLst/>
          </a:prstGeom>
        </p:spPr>
      </p:pic>
      <p:sp>
        <p:nvSpPr>
          <p:cNvPr id="8" name="ZoneTexte 7">
            <a:extLst>
              <a:ext uri="{FF2B5EF4-FFF2-40B4-BE49-F238E27FC236}">
                <a16:creationId xmlns:a16="http://schemas.microsoft.com/office/drawing/2014/main" id="{F73C47AF-B032-43B3-847C-56BF4BCFF8E6}"/>
              </a:ext>
            </a:extLst>
          </p:cNvPr>
          <p:cNvSpPr txBox="1"/>
          <p:nvPr/>
        </p:nvSpPr>
        <p:spPr>
          <a:xfrm>
            <a:off x="3274764" y="1047266"/>
            <a:ext cx="6097836" cy="707886"/>
          </a:xfrm>
          <a:prstGeom prst="rect">
            <a:avLst/>
          </a:prstGeom>
          <a:noFill/>
        </p:spPr>
        <p:txBody>
          <a:bodyPr wrap="square" numCol="1">
            <a:spAutoFit/>
          </a:bodyPr>
          <a:lstStyle/>
          <a:p>
            <a:pPr algn="ctr"/>
            <a:r>
              <a:rPr lang="fr-FR" altLang="fr-FR" sz="4000" u="sng" spc="-240" dirty="0">
                <a:solidFill>
                  <a:schemeClr val="accent5">
                    <a:lumMod val="75000"/>
                  </a:schemeClr>
                </a:solidFill>
                <a:cs typeface="Gotham Medium" pitchFamily="50" charset="0"/>
              </a:rPr>
              <a:t>Plan</a:t>
            </a:r>
            <a:endParaRPr lang="fr-FR" altLang="fr-FR" sz="4000" dirty="0"/>
          </a:p>
        </p:txBody>
      </p:sp>
      <p:sp>
        <p:nvSpPr>
          <p:cNvPr id="4" name="Espace réservé du numéro de diapositive 3">
            <a:extLst>
              <a:ext uri="{FF2B5EF4-FFF2-40B4-BE49-F238E27FC236}">
                <a16:creationId xmlns:a16="http://schemas.microsoft.com/office/drawing/2014/main" id="{083A6003-ACF1-4A27-8577-185A4A278541}"/>
              </a:ext>
            </a:extLst>
          </p:cNvPr>
          <p:cNvSpPr>
            <a:spLocks noGrp="1"/>
          </p:cNvSpPr>
          <p:nvPr>
            <p:ph type="sldNum" sz="quarter" idx="12"/>
          </p:nvPr>
        </p:nvSpPr>
        <p:spPr/>
        <p:txBody>
          <a:bodyPr numCol="1"/>
          <a:lstStyle/>
          <a:p>
            <a:fld id="{788DAB52-6294-4F97-81DD-ABD852645FBC}" type="slidenum">
              <a:rPr lang="fr-FR" altLang="fr-FR" smtClean="0"/>
              <a:t>5</a:t>
            </a:fld>
            <a:endParaRPr lang="fr-FR" altLang="fr-FR"/>
          </a:p>
        </p:txBody>
      </p:sp>
      <p:sp>
        <p:nvSpPr>
          <p:cNvPr id="9" name="Flèche : droite 8">
            <a:extLst>
              <a:ext uri="{FF2B5EF4-FFF2-40B4-BE49-F238E27FC236}">
                <a16:creationId xmlns:a16="http://schemas.microsoft.com/office/drawing/2014/main" id="{43E0C11C-AC7B-F56D-2FC2-9D36DE5F93D7}"/>
              </a:ext>
            </a:extLst>
          </p:cNvPr>
          <p:cNvSpPr/>
          <p:nvPr/>
        </p:nvSpPr>
        <p:spPr>
          <a:xfrm>
            <a:off x="753425" y="2460401"/>
            <a:ext cx="681965" cy="68675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98196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24C169-2822-40F6-8697-60E8EDDA4AEF}"/>
              </a:ext>
            </a:extLst>
          </p:cNvPr>
          <p:cNvSpPr>
            <a:spLocks noGrp="1"/>
          </p:cNvSpPr>
          <p:nvPr>
            <p:ph type="title"/>
          </p:nvPr>
        </p:nvSpPr>
        <p:spPr>
          <a:xfrm>
            <a:off x="838200" y="2322714"/>
            <a:ext cx="10515600" cy="1325563"/>
          </a:xfrm>
          <a:ln>
            <a:solidFill>
              <a:schemeClr val="accent1"/>
            </a:solidFill>
          </a:ln>
          <a:effectLst>
            <a:outerShdw blurRad="63500" sx="102000" sy="102000" algn="ctr" rotWithShape="0">
              <a:prstClr val="black">
                <a:alpha val="40000"/>
              </a:prstClr>
            </a:outerShdw>
          </a:effectLst>
        </p:spPr>
        <p:txBody>
          <a:bodyPr vert="horz" lIns="91440" tIns="45720" rIns="91440" bIns="45720" numCol="1" rtlCol="0" anchor="ctr">
            <a:normAutofit/>
          </a:bodyPr>
          <a:lstStyle/>
          <a:p>
            <a:pPr algn="ctr"/>
            <a:r>
              <a:rPr lang="fr-FR" dirty="0">
                <a:solidFill>
                  <a:srgbClr val="0070C0"/>
                </a:solidFill>
              </a:rPr>
              <a:t>L’idée de « développement durable » :</a:t>
            </a:r>
            <a:br>
              <a:rPr lang="fr-FR" dirty="0">
                <a:solidFill>
                  <a:srgbClr val="0070C0"/>
                </a:solidFill>
              </a:rPr>
            </a:br>
            <a:r>
              <a:rPr lang="fr-FR" dirty="0">
                <a:solidFill>
                  <a:srgbClr val="0070C0"/>
                </a:solidFill>
              </a:rPr>
              <a:t>un prolongement de celle de progrès ?</a:t>
            </a:r>
          </a:p>
        </p:txBody>
      </p:sp>
    </p:spTree>
    <p:extLst>
      <p:ext uri="{BB962C8B-B14F-4D97-AF65-F5344CB8AC3E}">
        <p14:creationId xmlns:p14="http://schemas.microsoft.com/office/powerpoint/2010/main" val="1276287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9407D14-B17A-4EBA-9227-0BB7A2D8F090}"/>
              </a:ext>
            </a:extLst>
          </p:cNvPr>
          <p:cNvSpPr>
            <a:spLocks noGrp="1"/>
          </p:cNvSpPr>
          <p:nvPr>
            <p:ph idx="1"/>
          </p:nvPr>
        </p:nvSpPr>
        <p:spPr>
          <a:xfrm>
            <a:off x="979062" y="2543424"/>
            <a:ext cx="10515600" cy="1339646"/>
          </a:xfrm>
          <a:solidFill>
            <a:schemeClr val="accent1">
              <a:lumMod val="20000"/>
              <a:lumOff val="80000"/>
            </a:schemeClr>
          </a:solidFill>
          <a:ln>
            <a:solidFill>
              <a:srgbClr val="0070C0"/>
            </a:solidFill>
          </a:ln>
        </p:spPr>
        <p:txBody>
          <a:bodyPr>
            <a:normAutofit/>
          </a:bodyPr>
          <a:lstStyle/>
          <a:p>
            <a:pPr marL="0" indent="0" algn="ctr">
              <a:buNone/>
            </a:pPr>
            <a:r>
              <a:rPr lang="fr-FR" sz="3500" dirty="0">
                <a:solidFill>
                  <a:srgbClr val="0070C0"/>
                </a:solidFill>
              </a:rPr>
              <a:t>Qu’est-ce que le « développement durable » ? </a:t>
            </a:r>
          </a:p>
          <a:p>
            <a:pPr marL="0" indent="0" algn="ctr">
              <a:buNone/>
            </a:pPr>
            <a:r>
              <a:rPr lang="fr-FR" altLang="fr-FR" sz="3500" dirty="0">
                <a:solidFill>
                  <a:srgbClr val="0070C0"/>
                </a:solidFill>
                <a:effectLst/>
                <a:ea typeface="Calibri" panose="020F0502020204030204" pitchFamily="34" charset="0"/>
                <a:cs typeface="Times New Roman" panose="02020603050405020304" pitchFamily="18" charset="0"/>
              </a:rPr>
              <a:t>Quels liens avec l’idée de progrès ?</a:t>
            </a:r>
          </a:p>
        </p:txBody>
      </p:sp>
      <p:sp>
        <p:nvSpPr>
          <p:cNvPr id="2" name="Ellipse 1">
            <a:extLst>
              <a:ext uri="{FF2B5EF4-FFF2-40B4-BE49-F238E27FC236}">
                <a16:creationId xmlns:a16="http://schemas.microsoft.com/office/drawing/2014/main" id="{D8DB5C71-2424-E5F7-44A4-F899639DC25F}"/>
              </a:ext>
            </a:extLst>
          </p:cNvPr>
          <p:cNvSpPr/>
          <p:nvPr/>
        </p:nvSpPr>
        <p:spPr>
          <a:xfrm>
            <a:off x="179448" y="2557507"/>
            <a:ext cx="79961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3834266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F1C4AF7-923F-4961-A6CF-168058F9BC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238500" y="838257"/>
            <a:ext cx="6089460" cy="5798208"/>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BE53F5F-E811-4A50-A0A4-AF6DA62724D6}"/>
              </a:ext>
            </a:extLst>
          </p:cNvPr>
          <p:cNvSpPr txBox="1"/>
          <p:nvPr/>
        </p:nvSpPr>
        <p:spPr>
          <a:xfrm>
            <a:off x="407774" y="207887"/>
            <a:ext cx="11652422" cy="830997"/>
          </a:xfrm>
          <a:prstGeom prst="rect">
            <a:avLst/>
          </a:prstGeom>
          <a:noFill/>
        </p:spPr>
        <p:txBody>
          <a:bodyPr wrap="square" numCol="1">
            <a:spAutoFit/>
          </a:bodyPr>
          <a:lstStyle/>
          <a:p>
            <a:pPr algn="ctr"/>
            <a:r>
              <a:rPr lang="fr-FR" altLang="fr-FR" sz="2400" b="0" i="0" u="none" strike="noStrike" dirty="0">
                <a:solidFill>
                  <a:srgbClr val="0645AD"/>
                </a:solidFill>
                <a:effectLst/>
                <a:hlinkClick r:id="rId3" tooltip="Diagramme de Venn"/>
              </a:rPr>
              <a:t>Diagramme de </a:t>
            </a:r>
            <a:r>
              <a:rPr lang="fr-FR" altLang="fr-FR" sz="2400" b="0" i="0" u="none" strike="noStrike" dirty="0" err="1">
                <a:solidFill>
                  <a:srgbClr val="0645AD"/>
                </a:solidFill>
                <a:effectLst/>
                <a:hlinkClick r:id="rId3" tooltip="Diagramme de Venn"/>
              </a:rPr>
              <a:t>Venn</a:t>
            </a:r>
            <a:r>
              <a:rPr lang="fr-FR" altLang="fr-FR" sz="2400" b="0" i="0" dirty="0">
                <a:solidFill>
                  <a:srgbClr val="202122"/>
                </a:solidFill>
                <a:effectLst/>
              </a:rPr>
              <a:t> du développement durable à l'intersection de trois préoccupations, dites « les trois piliers du développement durable ».  (Source : Wikipédia)</a:t>
            </a:r>
            <a:endParaRPr lang="fr-FR" altLang="fr-FR" sz="2400" dirty="0"/>
          </a:p>
        </p:txBody>
      </p:sp>
    </p:spTree>
    <p:extLst>
      <p:ext uri="{BB962C8B-B14F-4D97-AF65-F5344CB8AC3E}">
        <p14:creationId xmlns:p14="http://schemas.microsoft.com/office/powerpoint/2010/main" val="3046452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3F28BB-8F05-4904-B747-63FA83365857}"/>
              </a:ext>
            </a:extLst>
          </p:cNvPr>
          <p:cNvSpPr>
            <a:spLocks noGrp="1"/>
          </p:cNvSpPr>
          <p:nvPr>
            <p:ph type="title"/>
          </p:nvPr>
        </p:nvSpPr>
        <p:spPr>
          <a:xfrm>
            <a:off x="381486" y="130346"/>
            <a:ext cx="11429025" cy="1325563"/>
          </a:xfrm>
        </p:spPr>
        <p:txBody>
          <a:bodyPr numCol="1">
            <a:normAutofit/>
          </a:bodyPr>
          <a:lstStyle/>
          <a:p>
            <a:pPr algn="ctr">
              <a:lnSpc>
                <a:spcPct val="80000"/>
              </a:lnSpc>
            </a:pPr>
            <a:r>
              <a:rPr lang="fr-FR" altLang="fr-FR" dirty="0"/>
              <a:t>L’actualité du « développement durable » en question</a:t>
            </a:r>
            <a:endParaRPr lang="fr-FR" altLang="fr-FR" sz="2800" i="1" dirty="0"/>
          </a:p>
        </p:txBody>
      </p:sp>
      <p:sp>
        <p:nvSpPr>
          <p:cNvPr id="3" name="Espace réservé du contenu 2">
            <a:extLst>
              <a:ext uri="{FF2B5EF4-FFF2-40B4-BE49-F238E27FC236}">
                <a16:creationId xmlns:a16="http://schemas.microsoft.com/office/drawing/2014/main" id="{2A98D00F-FAE4-41A8-9258-A4F6285008DC}"/>
              </a:ext>
            </a:extLst>
          </p:cNvPr>
          <p:cNvSpPr>
            <a:spLocks noGrp="1"/>
          </p:cNvSpPr>
          <p:nvPr>
            <p:ph idx="1"/>
          </p:nvPr>
        </p:nvSpPr>
        <p:spPr>
          <a:xfrm>
            <a:off x="381486" y="1786108"/>
            <a:ext cx="11429025" cy="804692"/>
          </a:xfrm>
        </p:spPr>
        <p:txBody>
          <a:bodyPr numCol="1">
            <a:noAutofit/>
          </a:bodyPr>
          <a:lstStyle/>
          <a:p>
            <a:pPr>
              <a:lnSpc>
                <a:spcPct val="80000"/>
              </a:lnSpc>
            </a:pPr>
            <a:r>
              <a:rPr lang="fr-FR" altLang="fr-FR" dirty="0"/>
              <a:t>En 2002, le philosophe Dominique Bourg écrivait : </a:t>
            </a:r>
            <a:r>
              <a:rPr lang="fr-FR" altLang="fr-FR" i="1" dirty="0">
                <a:solidFill>
                  <a:srgbClr val="0070C0"/>
                </a:solidFill>
              </a:rPr>
              <a:t>« Tout le monde parle du développement durable ».</a:t>
            </a:r>
          </a:p>
        </p:txBody>
      </p:sp>
      <p:sp>
        <p:nvSpPr>
          <p:cNvPr id="4" name="ZoneTexte 3">
            <a:extLst>
              <a:ext uri="{FF2B5EF4-FFF2-40B4-BE49-F238E27FC236}">
                <a16:creationId xmlns:a16="http://schemas.microsoft.com/office/drawing/2014/main" id="{337B297C-9061-D88D-EBF5-E26AD8E4536F}"/>
              </a:ext>
            </a:extLst>
          </p:cNvPr>
          <p:cNvSpPr txBox="1"/>
          <p:nvPr/>
        </p:nvSpPr>
        <p:spPr>
          <a:xfrm>
            <a:off x="1181100" y="3329543"/>
            <a:ext cx="10274300" cy="1815882"/>
          </a:xfrm>
          <a:prstGeom prst="rect">
            <a:avLst/>
          </a:prstGeom>
          <a:solidFill>
            <a:schemeClr val="accent1">
              <a:lumMod val="20000"/>
              <a:lumOff val="80000"/>
            </a:schemeClr>
          </a:solidFill>
          <a:ln>
            <a:solidFill>
              <a:schemeClr val="accent1"/>
            </a:solidFill>
          </a:ln>
        </p:spPr>
        <p:txBody>
          <a:bodyPr wrap="square" rtlCol="0">
            <a:spAutoFit/>
          </a:bodyPr>
          <a:lstStyle/>
          <a:p>
            <a:pPr marL="457200" indent="-457200">
              <a:buFont typeface="Arial" panose="020B0604020202020204" pitchFamily="34" charset="0"/>
              <a:buChar char="•"/>
            </a:pPr>
            <a:r>
              <a:rPr lang="fr-FR" sz="2800" dirty="0">
                <a:solidFill>
                  <a:srgbClr val="0070C0"/>
                </a:solidFill>
              </a:rPr>
              <a:t>Vous semble-t-il qu’on puisse le formuler de la même manière aujourd’hui ?</a:t>
            </a:r>
          </a:p>
          <a:p>
            <a:pPr marL="457200" indent="-457200">
              <a:buFont typeface="Arial" panose="020B0604020202020204" pitchFamily="34" charset="0"/>
              <a:buChar char="•"/>
            </a:pPr>
            <a:r>
              <a:rPr lang="fr-FR" sz="2800" dirty="0">
                <a:solidFill>
                  <a:srgbClr val="0070C0"/>
                </a:solidFill>
              </a:rPr>
              <a:t>Quels autres termes interviennent dans les discours publics sur l’environnement ?</a:t>
            </a:r>
          </a:p>
        </p:txBody>
      </p:sp>
      <p:sp>
        <p:nvSpPr>
          <p:cNvPr id="5" name="Ellipse 4">
            <a:extLst>
              <a:ext uri="{FF2B5EF4-FFF2-40B4-BE49-F238E27FC236}">
                <a16:creationId xmlns:a16="http://schemas.microsoft.com/office/drawing/2014/main" id="{59F5BE93-EA66-9D7A-E9A0-5A4F8D75923F}"/>
              </a:ext>
            </a:extLst>
          </p:cNvPr>
          <p:cNvSpPr/>
          <p:nvPr/>
        </p:nvSpPr>
        <p:spPr>
          <a:xfrm>
            <a:off x="381486" y="3574703"/>
            <a:ext cx="79961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1675770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A98D00F-FAE4-41A8-9258-A4F6285008DC}"/>
              </a:ext>
            </a:extLst>
          </p:cNvPr>
          <p:cNvSpPr>
            <a:spLocks noGrp="1"/>
          </p:cNvSpPr>
          <p:nvPr>
            <p:ph idx="1"/>
          </p:nvPr>
        </p:nvSpPr>
        <p:spPr>
          <a:xfrm>
            <a:off x="939801" y="490708"/>
            <a:ext cx="10629900" cy="4944891"/>
          </a:xfrm>
        </p:spPr>
        <p:txBody>
          <a:bodyPr numCol="1">
            <a:noAutofit/>
          </a:bodyPr>
          <a:lstStyle/>
          <a:p>
            <a:pPr>
              <a:lnSpc>
                <a:spcPct val="80000"/>
              </a:lnSpc>
            </a:pPr>
            <a:r>
              <a:rPr lang="fr-FR" altLang="fr-FR" dirty="0"/>
              <a:t>Avec </a:t>
            </a:r>
            <a:r>
              <a:rPr lang="fr-FR" altLang="fr-FR" b="1" dirty="0"/>
              <a:t>l’accroissement de la conscience de la catastrophe écologique </a:t>
            </a:r>
            <a:r>
              <a:rPr lang="fr-FR" altLang="fr-FR" dirty="0"/>
              <a:t>et le </a:t>
            </a:r>
            <a:r>
              <a:rPr lang="fr-FR" altLang="fr-FR" b="1" dirty="0"/>
              <a:t>covid-19</a:t>
            </a:r>
            <a:r>
              <a:rPr lang="fr-FR" altLang="fr-FR" dirty="0"/>
              <a:t>, on parle aussi de</a:t>
            </a:r>
          </a:p>
          <a:p>
            <a:pPr lvl="1">
              <a:lnSpc>
                <a:spcPct val="80000"/>
              </a:lnSpc>
              <a:buFont typeface="Calibri" panose="020F0502020204030204" pitchFamily="34" charset="0"/>
              <a:buChar char="-"/>
            </a:pPr>
            <a:r>
              <a:rPr lang="fr-FR" altLang="fr-FR" sz="2800" dirty="0"/>
              <a:t>de « </a:t>
            </a:r>
            <a:r>
              <a:rPr lang="fr-FR" altLang="fr-FR" sz="2800" b="1" dirty="0"/>
              <a:t>transition écologique </a:t>
            </a:r>
            <a:r>
              <a:rPr lang="fr-FR" altLang="fr-FR" sz="2800" dirty="0"/>
              <a:t>»,</a:t>
            </a:r>
          </a:p>
          <a:p>
            <a:pPr lvl="1">
              <a:lnSpc>
                <a:spcPct val="80000"/>
              </a:lnSpc>
              <a:buFont typeface="Calibri" panose="020F0502020204030204" pitchFamily="34" charset="0"/>
              <a:buChar char="-"/>
            </a:pPr>
            <a:r>
              <a:rPr lang="fr-FR" altLang="fr-FR" sz="2800" dirty="0"/>
              <a:t>d’« </a:t>
            </a:r>
            <a:r>
              <a:rPr lang="fr-FR" altLang="fr-FR" sz="2800" b="1" dirty="0"/>
              <a:t>anthropocène</a:t>
            </a:r>
            <a:r>
              <a:rPr lang="fr-FR" altLang="fr-FR" sz="2800" dirty="0"/>
              <a:t> »</a:t>
            </a:r>
          </a:p>
          <a:p>
            <a:pPr lvl="1">
              <a:lnSpc>
                <a:spcPct val="80000"/>
              </a:lnSpc>
              <a:buFont typeface="Calibri" panose="020F0502020204030204" pitchFamily="34" charset="0"/>
              <a:buChar char="-"/>
            </a:pPr>
            <a:r>
              <a:rPr lang="fr-FR" altLang="fr-FR" sz="2800" dirty="0"/>
              <a:t>voire de « </a:t>
            </a:r>
            <a:r>
              <a:rPr lang="fr-FR" altLang="fr-FR" sz="2800" b="1" dirty="0"/>
              <a:t>collapsologie</a:t>
            </a:r>
            <a:r>
              <a:rPr lang="fr-FR" altLang="fr-FR" sz="2800" dirty="0"/>
              <a:t> ».</a:t>
            </a:r>
          </a:p>
          <a:p>
            <a:pPr>
              <a:lnSpc>
                <a:spcPct val="80000"/>
              </a:lnSpc>
            </a:pPr>
            <a:endParaRPr lang="fr-FR" altLang="fr-FR" dirty="0"/>
          </a:p>
          <a:p>
            <a:pPr marL="0" indent="0" algn="ctr">
              <a:lnSpc>
                <a:spcPct val="80000"/>
              </a:lnSpc>
              <a:buNone/>
            </a:pPr>
            <a:r>
              <a:rPr lang="fr-FR" altLang="fr-FR" b="1" dirty="0">
                <a:sym typeface="Wingdings" panose="05000000000000000000" pitchFamily="2" charset="2"/>
              </a:rPr>
              <a:t> </a:t>
            </a:r>
            <a:r>
              <a:rPr lang="fr-FR" altLang="fr-FR" b="1" dirty="0"/>
              <a:t>Cette évolution du vocabulaire est remarquable. Ces tendances pourraient être étudiées dans chaque langue.</a:t>
            </a:r>
          </a:p>
        </p:txBody>
      </p:sp>
    </p:spTree>
    <p:extLst>
      <p:ext uri="{BB962C8B-B14F-4D97-AF65-F5344CB8AC3E}">
        <p14:creationId xmlns:p14="http://schemas.microsoft.com/office/powerpoint/2010/main" val="1879354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A98D00F-FAE4-41A8-9258-A4F6285008DC}"/>
              </a:ext>
            </a:extLst>
          </p:cNvPr>
          <p:cNvSpPr>
            <a:spLocks noGrp="1"/>
          </p:cNvSpPr>
          <p:nvPr>
            <p:ph idx="1"/>
          </p:nvPr>
        </p:nvSpPr>
        <p:spPr>
          <a:xfrm>
            <a:off x="381486" y="1455908"/>
            <a:ext cx="11429025" cy="4944891"/>
          </a:xfrm>
        </p:spPr>
        <p:txBody>
          <a:bodyPr numCol="1">
            <a:noAutofit/>
          </a:bodyPr>
          <a:lstStyle/>
          <a:p>
            <a:pPr>
              <a:lnSpc>
                <a:spcPct val="80000"/>
              </a:lnSpc>
            </a:pPr>
            <a:r>
              <a:rPr lang="fr-FR" altLang="fr-FR" dirty="0"/>
              <a:t>L’expression « développement durable » témoignait donc d’un certain état de la conscience écologique peut-être aujourd’hui dépassé, car </a:t>
            </a:r>
            <a:r>
              <a:rPr lang="fr-FR" altLang="fr-FR" b="1" dirty="0"/>
              <a:t>le niveau d’urgence semble s’être accru</a:t>
            </a:r>
            <a:r>
              <a:rPr lang="fr-FR" altLang="fr-FR" sz="2400" dirty="0"/>
              <a:t>. </a:t>
            </a:r>
          </a:p>
          <a:p>
            <a:pPr>
              <a:lnSpc>
                <a:spcPct val="80000"/>
              </a:lnSpc>
            </a:pPr>
            <a:endParaRPr lang="fr-FR" altLang="fr-FR" sz="2400" dirty="0"/>
          </a:p>
          <a:p>
            <a:pPr>
              <a:lnSpc>
                <a:spcPct val="80000"/>
              </a:lnSpc>
            </a:pPr>
            <a:r>
              <a:rPr lang="fr-FR" altLang="fr-FR" i="1" dirty="0">
                <a:solidFill>
                  <a:srgbClr val="0070C0"/>
                </a:solidFill>
              </a:rPr>
              <a:t>« L'humanité a le choix : coopérer ou périr. Il s'agit soit d'un pacte de solidarité climatique, soit d'un pacte de suicide collectif », </a:t>
            </a:r>
            <a:r>
              <a:rPr lang="fr-FR" altLang="fr-FR" dirty="0"/>
              <a:t>a déclaré le chef de l'ONU à plus de 100 dirigeants mondiaux réunis pour la première séance plénière officielle de la COP27 (2022). </a:t>
            </a:r>
          </a:p>
        </p:txBody>
      </p:sp>
    </p:spTree>
    <p:extLst>
      <p:ext uri="{BB962C8B-B14F-4D97-AF65-F5344CB8AC3E}">
        <p14:creationId xmlns:p14="http://schemas.microsoft.com/office/powerpoint/2010/main" val="1220321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3685886-90BF-4E83-B84E-6FB5E4BC9921}"/>
              </a:ext>
            </a:extLst>
          </p:cNvPr>
          <p:cNvSpPr>
            <a:spLocks noGrp="1"/>
          </p:cNvSpPr>
          <p:nvPr>
            <p:ph idx="1"/>
          </p:nvPr>
        </p:nvSpPr>
        <p:spPr>
          <a:xfrm>
            <a:off x="136478" y="1212892"/>
            <a:ext cx="11781202" cy="4915913"/>
          </a:xfrm>
        </p:spPr>
        <p:txBody>
          <a:bodyPr numCol="1">
            <a:normAutofit/>
          </a:bodyPr>
          <a:lstStyle/>
          <a:p>
            <a:pPr marL="571500" indent="-342900" algn="just"/>
            <a:r>
              <a:rPr lang="fr-FR" altLang="fr-FR" dirty="0">
                <a:cs typeface="Times New Roman" panose="02020603050405020304" pitchFamily="18" charset="0"/>
              </a:rPr>
              <a:t>Selon la définition donnée dans le rapport de la Commission mondiale sur l'environnement et le développement de l'Organisation des Nations unies, dit rapport Brundtland, où cette expression est apparue pour la première fois en 1987, </a:t>
            </a:r>
            <a:r>
              <a:rPr lang="fr-FR" altLang="fr-FR" i="1" dirty="0">
                <a:solidFill>
                  <a:srgbClr val="0070C0"/>
                </a:solidFill>
                <a:cs typeface="Times New Roman" panose="02020603050405020304" pitchFamily="18" charset="0"/>
              </a:rPr>
              <a:t>« le </a:t>
            </a:r>
            <a:r>
              <a:rPr lang="fr-FR" altLang="fr-FR" b="1" i="1" dirty="0">
                <a:solidFill>
                  <a:srgbClr val="0070C0"/>
                </a:solidFill>
                <a:cs typeface="Times New Roman" panose="02020603050405020304" pitchFamily="18" charset="0"/>
              </a:rPr>
              <a:t>développement durable </a:t>
            </a:r>
            <a:r>
              <a:rPr lang="fr-FR" altLang="fr-FR" i="1" dirty="0">
                <a:solidFill>
                  <a:srgbClr val="0070C0"/>
                </a:solidFill>
                <a:cs typeface="Times New Roman" panose="02020603050405020304" pitchFamily="18" charset="0"/>
              </a:rPr>
              <a:t>est un développement qui répond aux besoins du présent sans compromettre la capacité des générations futures de répondre aux leurs ».</a:t>
            </a:r>
          </a:p>
          <a:p>
            <a:pPr marL="571500" indent="-342900" algn="just"/>
            <a:r>
              <a:rPr lang="fr-FR" altLang="fr-FR" dirty="0"/>
              <a:t>Cette notion de « développement durable » implique un </a:t>
            </a:r>
            <a:r>
              <a:rPr lang="fr-FR" altLang="fr-FR" b="1" dirty="0"/>
              <a:t>souci d’équité entre les générations, </a:t>
            </a:r>
            <a:r>
              <a:rPr lang="fr-FR" altLang="fr-FR" b="0" dirty="0"/>
              <a:t>tout en préservant un dynamisme économique et social. Notion de « </a:t>
            </a:r>
            <a:r>
              <a:rPr lang="fr-FR" altLang="fr-FR" b="1" dirty="0"/>
              <a:t>responsabilité prospective </a:t>
            </a:r>
            <a:r>
              <a:rPr lang="fr-FR" altLang="fr-FR" b="0" dirty="0"/>
              <a:t>».</a:t>
            </a:r>
          </a:p>
          <a:p>
            <a:pPr marL="571500" indent="-342900" algn="just"/>
            <a:r>
              <a:rPr lang="fr-FR" altLang="fr-FR" dirty="0">
                <a:cs typeface="Times New Roman" panose="02020603050405020304" pitchFamily="18" charset="0"/>
              </a:rPr>
              <a:t>Il n’est donc plus question de déployer la puissance technique humaine sans considération pour l’environnement.</a:t>
            </a:r>
          </a:p>
          <a:p>
            <a:pPr indent="270510" algn="just">
              <a:lnSpc>
                <a:spcPct val="150000"/>
              </a:lnSpc>
              <a:spcAft>
                <a:spcPts val="800"/>
              </a:spcAft>
            </a:pPr>
            <a:endParaRPr lang="fr-FR" alt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altLang="fr-FR" dirty="0"/>
          </a:p>
        </p:txBody>
      </p:sp>
      <p:sp>
        <p:nvSpPr>
          <p:cNvPr id="6" name="Titre 1">
            <a:extLst>
              <a:ext uri="{FF2B5EF4-FFF2-40B4-BE49-F238E27FC236}">
                <a16:creationId xmlns:a16="http://schemas.microsoft.com/office/drawing/2014/main" id="{277C58AC-30D7-4B45-87E0-CEB9BF5C8DA2}"/>
              </a:ext>
            </a:extLst>
          </p:cNvPr>
          <p:cNvSpPr>
            <a:spLocks noGrp="1"/>
          </p:cNvSpPr>
          <p:nvPr>
            <p:ph type="title"/>
          </p:nvPr>
        </p:nvSpPr>
        <p:spPr>
          <a:xfrm>
            <a:off x="1043600" y="322594"/>
            <a:ext cx="10515600" cy="890298"/>
          </a:xfrm>
        </p:spPr>
        <p:txBody>
          <a:bodyPr numCol="1">
            <a:normAutofit/>
          </a:bodyPr>
          <a:lstStyle/>
          <a:p>
            <a:pPr algn="ctr"/>
            <a:r>
              <a:rPr lang="fr-FR" altLang="fr-FR" dirty="0"/>
              <a:t>L’idée de « développement durable »</a:t>
            </a:r>
            <a:endParaRPr lang="fr-FR" altLang="fr-FR" dirty="0">
              <a:latin typeface="+mn-lt"/>
            </a:endParaRPr>
          </a:p>
        </p:txBody>
      </p:sp>
      <p:sp>
        <p:nvSpPr>
          <p:cNvPr id="7" name="Espace réservé du pied de page 6">
            <a:extLst>
              <a:ext uri="{FF2B5EF4-FFF2-40B4-BE49-F238E27FC236}">
                <a16:creationId xmlns:a16="http://schemas.microsoft.com/office/drawing/2014/main" id="{FA925CDB-7BA9-41A7-B00B-BD9F401C4AD7}"/>
              </a:ext>
            </a:extLst>
          </p:cNvPr>
          <p:cNvSpPr>
            <a:spLocks noGrp="1"/>
          </p:cNvSpPr>
          <p:nvPr>
            <p:ph type="ftr" sz="quarter" idx="11"/>
          </p:nvPr>
        </p:nvSpPr>
        <p:spPr/>
        <p:txBody>
          <a:bodyPr numCol="1"/>
          <a:lstStyle/>
          <a:p>
            <a:r>
              <a:rPr lang="fr-FR" altLang="fr-FR"/>
              <a:t>Pole Humanités Design Département des Relations Humaines</a:t>
            </a:r>
          </a:p>
        </p:txBody>
      </p:sp>
      <p:sp>
        <p:nvSpPr>
          <p:cNvPr id="8" name="Espace réservé du numéro de diapositive 7">
            <a:extLst>
              <a:ext uri="{FF2B5EF4-FFF2-40B4-BE49-F238E27FC236}">
                <a16:creationId xmlns:a16="http://schemas.microsoft.com/office/drawing/2014/main" id="{BA25CF44-3F98-4F84-9B0E-154A30CCAB90}"/>
              </a:ext>
            </a:extLst>
          </p:cNvPr>
          <p:cNvSpPr>
            <a:spLocks noGrp="1"/>
          </p:cNvSpPr>
          <p:nvPr>
            <p:ph type="sldNum" sz="quarter" idx="12"/>
          </p:nvPr>
        </p:nvSpPr>
        <p:spPr>
          <a:xfrm>
            <a:off x="9174480" y="6356350"/>
            <a:ext cx="2743200" cy="365125"/>
          </a:xfrm>
        </p:spPr>
        <p:txBody>
          <a:bodyPr numCol="1"/>
          <a:lstStyle/>
          <a:p>
            <a:fld id="{788DAB52-6294-4F97-81DD-ABD852645FBC}" type="slidenum">
              <a:rPr lang="fr-FR" altLang="fr-FR" smtClean="0"/>
              <a:t>12</a:t>
            </a:fld>
            <a:endParaRPr lang="fr-FR" altLang="fr-FR" dirty="0"/>
          </a:p>
        </p:txBody>
      </p:sp>
    </p:spTree>
    <p:extLst>
      <p:ext uri="{BB962C8B-B14F-4D97-AF65-F5344CB8AC3E}">
        <p14:creationId xmlns:p14="http://schemas.microsoft.com/office/powerpoint/2010/main" val="4029140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BA737F8-13E1-4143-B9F7-C3517FBC7EC2}"/>
              </a:ext>
            </a:extLst>
          </p:cNvPr>
          <p:cNvSpPr>
            <a:spLocks noGrp="1"/>
          </p:cNvSpPr>
          <p:nvPr>
            <p:ph idx="1"/>
          </p:nvPr>
        </p:nvSpPr>
        <p:spPr>
          <a:xfrm>
            <a:off x="666974" y="939801"/>
            <a:ext cx="11144923" cy="3301999"/>
          </a:xfrm>
        </p:spPr>
        <p:txBody>
          <a:bodyPr numCol="1">
            <a:normAutofit/>
          </a:bodyPr>
          <a:lstStyle/>
          <a:p>
            <a:pPr marL="0" indent="0" algn="ctr">
              <a:buNone/>
            </a:pPr>
            <a:r>
              <a:rPr lang="fr-FR" altLang="fr-FR" dirty="0"/>
              <a:t>Comme l’expliquait Dominique Bourg (en 1997) :</a:t>
            </a:r>
          </a:p>
          <a:p>
            <a:pPr marL="0" indent="0">
              <a:buNone/>
            </a:pPr>
            <a:r>
              <a:rPr lang="fr-FR" altLang="fr-FR" dirty="0">
                <a:solidFill>
                  <a:srgbClr val="0070C0"/>
                </a:solidFill>
              </a:rPr>
              <a:t>« Cette notion fournit le cadre d’une </a:t>
            </a:r>
            <a:r>
              <a:rPr lang="fr-FR" altLang="fr-FR" b="1" dirty="0">
                <a:solidFill>
                  <a:srgbClr val="0070C0"/>
                </a:solidFill>
              </a:rPr>
              <a:t>reconstruction de l’idée de progrès </a:t>
            </a:r>
            <a:r>
              <a:rPr lang="fr-FR" altLang="fr-FR" dirty="0">
                <a:solidFill>
                  <a:srgbClr val="0070C0"/>
                </a:solidFill>
              </a:rPr>
              <a:t>: elle cherche en effet à concilier le meilleur de l’héritage occidental, à savoir la volonté d’épanouissement de la personne humaine et l'existence des institutions démocratiques, et la juste répartition des richesses à l’échelle de la planète ainsi que le souci des générations futures dans le respect biosphère ».</a:t>
            </a:r>
          </a:p>
        </p:txBody>
      </p:sp>
      <p:sp>
        <p:nvSpPr>
          <p:cNvPr id="4" name="Espace réservé du pied de page 3">
            <a:extLst>
              <a:ext uri="{FF2B5EF4-FFF2-40B4-BE49-F238E27FC236}">
                <a16:creationId xmlns:a16="http://schemas.microsoft.com/office/drawing/2014/main" id="{54730BA4-2E40-46BF-BE02-CCF6D335EF36}"/>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A614EEEB-EF1C-4F91-A888-F38546C94A0F}"/>
              </a:ext>
            </a:extLst>
          </p:cNvPr>
          <p:cNvSpPr>
            <a:spLocks noGrp="1"/>
          </p:cNvSpPr>
          <p:nvPr>
            <p:ph type="sldNum" sz="quarter" idx="12"/>
          </p:nvPr>
        </p:nvSpPr>
        <p:spPr/>
        <p:txBody>
          <a:bodyPr numCol="1"/>
          <a:lstStyle/>
          <a:p>
            <a:fld id="{788DAB52-6294-4F97-81DD-ABD852645FBC}" type="slidenum">
              <a:rPr lang="fr-FR" altLang="fr-FR" smtClean="0"/>
              <a:t>13</a:t>
            </a:fld>
            <a:endParaRPr lang="fr-FR" altLang="fr-FR"/>
          </a:p>
        </p:txBody>
      </p:sp>
    </p:spTree>
    <p:extLst>
      <p:ext uri="{BB962C8B-B14F-4D97-AF65-F5344CB8AC3E}">
        <p14:creationId xmlns:p14="http://schemas.microsoft.com/office/powerpoint/2010/main" val="1009582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BA737F8-13E1-4143-B9F7-C3517FBC7EC2}"/>
              </a:ext>
            </a:extLst>
          </p:cNvPr>
          <p:cNvSpPr>
            <a:spLocks noGrp="1"/>
          </p:cNvSpPr>
          <p:nvPr>
            <p:ph idx="1"/>
          </p:nvPr>
        </p:nvSpPr>
        <p:spPr>
          <a:xfrm>
            <a:off x="699095" y="1034399"/>
            <a:ext cx="11144923" cy="710004"/>
          </a:xfrm>
        </p:spPr>
        <p:txBody>
          <a:bodyPr numCol="1">
            <a:normAutofit/>
          </a:bodyPr>
          <a:lstStyle/>
          <a:p>
            <a:pPr algn="ctr"/>
            <a:r>
              <a:rPr lang="fr-FR" altLang="fr-FR" dirty="0"/>
              <a:t>D’où ce questionnement : </a:t>
            </a:r>
          </a:p>
        </p:txBody>
      </p:sp>
      <p:sp>
        <p:nvSpPr>
          <p:cNvPr id="5" name="ZoneTexte 4">
            <a:extLst>
              <a:ext uri="{FF2B5EF4-FFF2-40B4-BE49-F238E27FC236}">
                <a16:creationId xmlns:a16="http://schemas.microsoft.com/office/drawing/2014/main" id="{53A9D541-920F-4C2C-912A-22E326F7B3E1}"/>
              </a:ext>
            </a:extLst>
          </p:cNvPr>
          <p:cNvSpPr txBox="1"/>
          <p:nvPr/>
        </p:nvSpPr>
        <p:spPr>
          <a:xfrm>
            <a:off x="1526689" y="2090170"/>
            <a:ext cx="9827111" cy="2677656"/>
          </a:xfrm>
          <a:prstGeom prst="rect">
            <a:avLst/>
          </a:prstGeom>
          <a:solidFill>
            <a:schemeClr val="accent1">
              <a:lumMod val="20000"/>
              <a:lumOff val="80000"/>
            </a:schemeClr>
          </a:solidFill>
          <a:ln>
            <a:solidFill>
              <a:schemeClr val="accent1"/>
            </a:solidFill>
          </a:ln>
        </p:spPr>
        <p:txBody>
          <a:bodyPr wrap="square" rtlCol="0">
            <a:spAutoFit/>
          </a:bodyPr>
          <a:lstStyle>
            <a:defPPr>
              <a:defRPr lang="fr-FR" altLang="fr-FR"/>
            </a:defPPr>
            <a:lvl1pPr algn="ctr">
              <a:defRPr sz="2800">
                <a:solidFill>
                  <a:srgbClr val="0070C0"/>
                </a:solidFill>
              </a:defRPr>
            </a:lvl1pPr>
          </a:lstStyle>
          <a:p>
            <a:pPr marL="457200" indent="-457200" algn="l">
              <a:buFont typeface="Arial" panose="020B0604020202020204" pitchFamily="34" charset="0"/>
              <a:buChar char="•"/>
            </a:pPr>
            <a:r>
              <a:rPr lang="fr-FR" altLang="fr-FR" dirty="0"/>
              <a:t>La notion de « développement durable » prolonge-t-elle l’idée de progrès, telle que la modernité a fait naître et porté cette idée ?</a:t>
            </a:r>
          </a:p>
          <a:p>
            <a:pPr marL="457200" indent="-457200" algn="l">
              <a:buFont typeface="Arial" panose="020B0604020202020204" pitchFamily="34" charset="0"/>
              <a:buChar char="•"/>
            </a:pPr>
            <a:r>
              <a:rPr lang="fr-FR" altLang="fr-FR" dirty="0"/>
              <a:t>Ou bien cette notion bouleverse-t-elle cette idée ?</a:t>
            </a:r>
          </a:p>
          <a:p>
            <a:pPr marL="457200" indent="-457200" algn="l">
              <a:buFont typeface="Arial" panose="020B0604020202020204" pitchFamily="34" charset="0"/>
              <a:buChar char="•"/>
            </a:pPr>
            <a:r>
              <a:rPr lang="fr-FR" altLang="fr-FR" dirty="0"/>
              <a:t>Quel rapport entre l’idée de progrès et le « développement durable » ?</a:t>
            </a:r>
          </a:p>
        </p:txBody>
      </p:sp>
      <p:sp>
        <p:nvSpPr>
          <p:cNvPr id="10" name="Espace réservé du pied de page 9">
            <a:extLst>
              <a:ext uri="{FF2B5EF4-FFF2-40B4-BE49-F238E27FC236}">
                <a16:creationId xmlns:a16="http://schemas.microsoft.com/office/drawing/2014/main" id="{FFFD4D95-1240-4782-A3EC-C90D918848B9}"/>
              </a:ext>
            </a:extLst>
          </p:cNvPr>
          <p:cNvSpPr>
            <a:spLocks noGrp="1"/>
          </p:cNvSpPr>
          <p:nvPr>
            <p:ph type="ftr" sz="quarter" idx="11"/>
          </p:nvPr>
        </p:nvSpPr>
        <p:spPr/>
        <p:txBody>
          <a:bodyPr numCol="1"/>
          <a:lstStyle/>
          <a:p>
            <a:r>
              <a:rPr lang="fr-FR" altLang="fr-FR"/>
              <a:t>Pole Humanités Design Département des Relations Humaines</a:t>
            </a:r>
          </a:p>
        </p:txBody>
      </p:sp>
      <p:sp>
        <p:nvSpPr>
          <p:cNvPr id="11" name="Espace réservé du numéro de diapositive 10">
            <a:extLst>
              <a:ext uri="{FF2B5EF4-FFF2-40B4-BE49-F238E27FC236}">
                <a16:creationId xmlns:a16="http://schemas.microsoft.com/office/drawing/2014/main" id="{EE8A2E3D-2172-4141-B825-36D32513F9F9}"/>
              </a:ext>
            </a:extLst>
          </p:cNvPr>
          <p:cNvSpPr>
            <a:spLocks noGrp="1"/>
          </p:cNvSpPr>
          <p:nvPr>
            <p:ph type="sldNum" sz="quarter" idx="12"/>
          </p:nvPr>
        </p:nvSpPr>
        <p:spPr/>
        <p:txBody>
          <a:bodyPr numCol="1"/>
          <a:lstStyle/>
          <a:p>
            <a:fld id="{788DAB52-6294-4F97-81DD-ABD852645FBC}" type="slidenum">
              <a:rPr lang="fr-FR" altLang="fr-FR" smtClean="0"/>
              <a:t>14</a:t>
            </a:fld>
            <a:endParaRPr lang="fr-FR" altLang="fr-FR"/>
          </a:p>
        </p:txBody>
      </p:sp>
      <p:sp>
        <p:nvSpPr>
          <p:cNvPr id="4" name="Ellipse 3">
            <a:extLst>
              <a:ext uri="{FF2B5EF4-FFF2-40B4-BE49-F238E27FC236}">
                <a16:creationId xmlns:a16="http://schemas.microsoft.com/office/drawing/2014/main" id="{C79BEA8B-15B7-2CC2-565D-CF73C07A9E26}"/>
              </a:ext>
            </a:extLst>
          </p:cNvPr>
          <p:cNvSpPr/>
          <p:nvPr/>
        </p:nvSpPr>
        <p:spPr>
          <a:xfrm>
            <a:off x="727075" y="2766217"/>
            <a:ext cx="79961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2010185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24C169-2822-40F6-8697-60E8EDDA4AEF}"/>
              </a:ext>
            </a:extLst>
          </p:cNvPr>
          <p:cNvSpPr>
            <a:spLocks noGrp="1"/>
          </p:cNvSpPr>
          <p:nvPr>
            <p:ph type="title"/>
          </p:nvPr>
        </p:nvSpPr>
        <p:spPr>
          <a:xfrm>
            <a:off x="838200" y="2322714"/>
            <a:ext cx="10515600" cy="1325563"/>
          </a:xfrm>
          <a:ln>
            <a:solidFill>
              <a:schemeClr val="accent1"/>
            </a:solidFill>
          </a:ln>
          <a:effectLst>
            <a:outerShdw blurRad="63500" sx="102000" sy="102000" algn="ctr" rotWithShape="0">
              <a:prstClr val="black">
                <a:alpha val="40000"/>
              </a:prstClr>
            </a:outerShdw>
          </a:effectLst>
        </p:spPr>
        <p:txBody>
          <a:bodyPr vert="horz" lIns="91440" tIns="45720" rIns="91440" bIns="45720" numCol="1" rtlCol="0" anchor="ctr">
            <a:normAutofit/>
          </a:bodyPr>
          <a:lstStyle/>
          <a:p>
            <a:pPr algn="ctr"/>
            <a:r>
              <a:rPr lang="fr-FR" dirty="0">
                <a:solidFill>
                  <a:srgbClr val="0070C0"/>
                </a:solidFill>
              </a:rPr>
              <a:t>Notre ambivalence à l’égard de l’idée de progrès</a:t>
            </a:r>
          </a:p>
        </p:txBody>
      </p:sp>
    </p:spTree>
    <p:extLst>
      <p:ext uri="{BB962C8B-B14F-4D97-AF65-F5344CB8AC3E}">
        <p14:creationId xmlns:p14="http://schemas.microsoft.com/office/powerpoint/2010/main" val="1681623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AED3566-0689-46F8-B916-ACC029B046F1}"/>
              </a:ext>
            </a:extLst>
          </p:cNvPr>
          <p:cNvSpPr/>
          <p:nvPr/>
        </p:nvSpPr>
        <p:spPr>
          <a:xfrm>
            <a:off x="701040" y="0"/>
            <a:ext cx="11490960" cy="1411111"/>
          </a:xfrm>
          <a:prstGeom prst="rect">
            <a:avLst/>
          </a:prstGeom>
        </p:spPr>
        <p:txBody>
          <a:bodyPr vert="horz" lIns="91440" tIns="45720" rIns="91440" bIns="45720" numCol="1" rtlCol="0" anchor="ctr">
            <a:normAutofit fontScale="97500"/>
          </a:bodyPr>
          <a:lstStyle/>
          <a:p>
            <a:pPr algn="ctr">
              <a:lnSpc>
                <a:spcPct val="90000"/>
              </a:lnSpc>
              <a:spcBef>
                <a:spcPct val="0"/>
              </a:spcBef>
            </a:pPr>
            <a:endParaRPr lang="fr-FR" altLang="fr-FR" sz="4400">
              <a:solidFill>
                <a:schemeClr val="tx1"/>
              </a:solidFill>
              <a:latin typeface="+mj-lt"/>
              <a:ea typeface="+mj-ea"/>
              <a:cs typeface="+mj-cs"/>
            </a:endParaRPr>
          </a:p>
        </p:txBody>
      </p:sp>
      <p:sp>
        <p:nvSpPr>
          <p:cNvPr id="3" name="Espace réservé du contenu 2">
            <a:extLst>
              <a:ext uri="{FF2B5EF4-FFF2-40B4-BE49-F238E27FC236}">
                <a16:creationId xmlns:a16="http://schemas.microsoft.com/office/drawing/2014/main" id="{73685886-90BF-4E83-B84E-6FB5E4BC9921}"/>
              </a:ext>
            </a:extLst>
          </p:cNvPr>
          <p:cNvSpPr>
            <a:spLocks noGrp="1"/>
          </p:cNvSpPr>
          <p:nvPr>
            <p:ph idx="1"/>
          </p:nvPr>
        </p:nvSpPr>
        <p:spPr>
          <a:xfrm>
            <a:off x="432665" y="1411111"/>
            <a:ext cx="11326670" cy="3492500"/>
          </a:xfrm>
        </p:spPr>
        <p:txBody>
          <a:bodyPr numCol="1" anchor="t">
            <a:noAutofit/>
          </a:bodyPr>
          <a:lstStyle/>
          <a:p>
            <a:pPr marL="358775" lvl="1" indent="-358775" algn="just">
              <a:lnSpc>
                <a:spcPct val="80000"/>
              </a:lnSpc>
              <a:spcBef>
                <a:spcPts val="1000"/>
              </a:spcBef>
            </a:pPr>
            <a:r>
              <a:rPr lang="fr-FR" altLang="fr-FR" sz="2800" dirty="0">
                <a:ea typeface="Calibri" panose="020F0502020204030204" pitchFamily="34" charset="0"/>
                <a:cs typeface="Times New Roman" panose="02020603050405020304" pitchFamily="18" charset="0"/>
              </a:rPr>
              <a:t>Pendant une longue période, nous avons cru que le progrès technique était immanquablement associé au progrès en un sens plus général, le Progrès (avec un « P » majuscule) : c’était là la grande idée, héritière de la </a:t>
            </a:r>
            <a:r>
              <a:rPr lang="fr-FR" altLang="fr-FR" sz="2800" b="1" dirty="0">
                <a:ea typeface="Calibri" panose="020F0502020204030204" pitchFamily="34" charset="0"/>
                <a:cs typeface="Times New Roman" panose="02020603050405020304" pitchFamily="18" charset="0"/>
              </a:rPr>
              <a:t>modernité</a:t>
            </a:r>
            <a:r>
              <a:rPr lang="fr-FR" altLang="fr-FR" sz="2800" dirty="0">
                <a:ea typeface="Calibri" panose="020F0502020204030204" pitchFamily="34" charset="0"/>
                <a:cs typeface="Times New Roman" panose="02020603050405020304" pitchFamily="18" charset="0"/>
              </a:rPr>
              <a:t> et des </a:t>
            </a:r>
            <a:r>
              <a:rPr lang="fr-FR" altLang="fr-FR" sz="2800" b="1" dirty="0">
                <a:ea typeface="Calibri" panose="020F0502020204030204" pitchFamily="34" charset="0"/>
                <a:cs typeface="Times New Roman" panose="02020603050405020304" pitchFamily="18" charset="0"/>
              </a:rPr>
              <a:t>Lumières, </a:t>
            </a:r>
            <a:r>
              <a:rPr lang="fr-FR" altLang="fr-FR" sz="2800" dirty="0">
                <a:ea typeface="Calibri" panose="020F0502020204030204" pitchFamily="34" charset="0"/>
                <a:cs typeface="Times New Roman" panose="02020603050405020304" pitchFamily="18" charset="0"/>
              </a:rPr>
              <a:t>devenue presque un dogme à la fin </a:t>
            </a:r>
            <a:r>
              <a:rPr lang="fr-FR" altLang="fr-FR" sz="2800" cap="small" dirty="0" err="1">
                <a:ea typeface="Calibri" panose="020F0502020204030204" pitchFamily="34" charset="0"/>
                <a:cs typeface="Times New Roman" panose="02020603050405020304" pitchFamily="18" charset="0"/>
              </a:rPr>
              <a:t>xix</a:t>
            </a:r>
            <a:r>
              <a:rPr lang="fr-FR" altLang="fr-FR" sz="2800" baseline="30000" dirty="0" err="1">
                <a:ea typeface="Calibri" panose="020F0502020204030204" pitchFamily="34" charset="0"/>
                <a:cs typeface="Times New Roman" panose="02020603050405020304" pitchFamily="18" charset="0"/>
              </a:rPr>
              <a:t>e</a:t>
            </a:r>
            <a:r>
              <a:rPr lang="fr-FR" altLang="fr-FR" sz="2800" dirty="0">
                <a:ea typeface="Calibri" panose="020F0502020204030204" pitchFamily="34" charset="0"/>
                <a:cs typeface="Times New Roman" panose="02020603050405020304" pitchFamily="18" charset="0"/>
              </a:rPr>
              <a:t> siècle, époque du </a:t>
            </a:r>
            <a:r>
              <a:rPr lang="fr-FR" altLang="fr-FR" sz="2800" b="1" dirty="0">
                <a:ea typeface="Calibri" panose="020F0502020204030204" pitchFamily="34" charset="0"/>
                <a:cs typeface="Times New Roman" panose="02020603050405020304" pitchFamily="18" charset="0"/>
              </a:rPr>
              <a:t>positivisme</a:t>
            </a:r>
            <a:r>
              <a:rPr lang="fr-FR" altLang="fr-FR" sz="2800" dirty="0">
                <a:ea typeface="Calibri" panose="020F0502020204030204" pitchFamily="34" charset="0"/>
                <a:cs typeface="Times New Roman" panose="02020603050405020304" pitchFamily="18" charset="0"/>
              </a:rPr>
              <a:t>.</a:t>
            </a:r>
          </a:p>
          <a:p>
            <a:pPr marL="358775" lvl="1" indent="-358775" algn="just">
              <a:lnSpc>
                <a:spcPct val="80000"/>
              </a:lnSpc>
              <a:spcBef>
                <a:spcPts val="1000"/>
              </a:spcBef>
            </a:pPr>
            <a:endParaRPr lang="fr-FR" altLang="fr-FR" sz="2800" dirty="0">
              <a:ea typeface="Calibri" panose="020F0502020204030204" pitchFamily="34" charset="0"/>
              <a:cs typeface="Times New Roman" panose="02020603050405020304" pitchFamily="18" charset="0"/>
            </a:endParaRPr>
          </a:p>
          <a:p>
            <a:pPr marL="358775" lvl="1" indent="-358775" algn="just">
              <a:lnSpc>
                <a:spcPct val="80000"/>
              </a:lnSpc>
              <a:spcBef>
                <a:spcPts val="1000"/>
              </a:spcBef>
            </a:pPr>
            <a:r>
              <a:rPr lang="fr-FR" altLang="fr-FR" sz="2800" dirty="0">
                <a:ea typeface="Calibri" panose="020F0502020204030204" pitchFamily="34" charset="0"/>
                <a:cs typeface="Times New Roman" panose="02020603050405020304" pitchFamily="18" charset="0"/>
              </a:rPr>
              <a:t>Nous réexaminons depuis plus d’un siècle le rôle du progrès technique et scientifique : c’est un paramètre de l’équation, mais </a:t>
            </a:r>
            <a:r>
              <a:rPr lang="fr-FR" altLang="fr-FR" sz="2800" b="1" dirty="0">
                <a:ea typeface="Calibri" panose="020F0502020204030204" pitchFamily="34" charset="0"/>
                <a:cs typeface="Times New Roman" panose="02020603050405020304" pitchFamily="18" charset="0"/>
              </a:rPr>
              <a:t>la technique est ambivalente </a:t>
            </a:r>
            <a:r>
              <a:rPr lang="fr-FR" altLang="fr-FR" sz="2800" dirty="0">
                <a:ea typeface="Calibri" panose="020F0502020204030204" pitchFamily="34" charset="0"/>
                <a:cs typeface="Times New Roman" panose="02020603050405020304" pitchFamily="18" charset="0"/>
              </a:rPr>
              <a:t>(</a:t>
            </a:r>
            <a:r>
              <a:rPr lang="fr-FR" altLang="fr-FR" sz="2800" i="1" dirty="0" err="1">
                <a:ea typeface="Calibri" panose="020F0502020204030204" pitchFamily="34" charset="0"/>
                <a:cs typeface="Times New Roman" panose="02020603050405020304" pitchFamily="18" charset="0"/>
              </a:rPr>
              <a:t>pharmakon</a:t>
            </a:r>
            <a:r>
              <a:rPr lang="fr-FR" altLang="fr-FR" sz="2800" dirty="0">
                <a:ea typeface="Calibri" panose="020F0502020204030204" pitchFamily="34" charset="0"/>
                <a:cs typeface="Times New Roman" panose="02020603050405020304" pitchFamily="18" charset="0"/>
              </a:rPr>
              <a:t>), elle est partie de la solution, mais aussi du problème.</a:t>
            </a:r>
          </a:p>
          <a:p>
            <a:pPr marL="358775" lvl="1" indent="-358775" algn="just">
              <a:lnSpc>
                <a:spcPct val="80000"/>
              </a:lnSpc>
              <a:spcBef>
                <a:spcPts val="1000"/>
              </a:spcBef>
            </a:pPr>
            <a:endParaRPr lang="fr-FR" altLang="fr-FR" dirty="0">
              <a:effectLst/>
              <a:ea typeface="Calibri" panose="020F0502020204030204" pitchFamily="34" charset="0"/>
              <a:cs typeface="Times New Roman" panose="02020603050405020304" pitchFamily="18" charset="0"/>
            </a:endParaRPr>
          </a:p>
          <a:p>
            <a:pPr marL="571500" indent="-342900" algn="just">
              <a:lnSpc>
                <a:spcPct val="100000"/>
              </a:lnSpc>
              <a:spcAft>
                <a:spcPts val="800"/>
              </a:spcAft>
            </a:pPr>
            <a:endParaRPr lang="fr-FR" altLang="fr-FR" sz="2400" dirty="0">
              <a:effectLst/>
              <a:ea typeface="Calibri" panose="020F0502020204030204" pitchFamily="34" charset="0"/>
              <a:cs typeface="Times New Roman" panose="02020603050405020304" pitchFamily="18" charset="0"/>
            </a:endParaRPr>
          </a:p>
        </p:txBody>
      </p:sp>
      <p:sp>
        <p:nvSpPr>
          <p:cNvPr id="11" name="Espace réservé du pied de page 10">
            <a:extLst>
              <a:ext uri="{FF2B5EF4-FFF2-40B4-BE49-F238E27FC236}">
                <a16:creationId xmlns:a16="http://schemas.microsoft.com/office/drawing/2014/main" id="{32E00B60-6E07-4EB9-A18B-C8729A7755B5}"/>
              </a:ext>
            </a:extLst>
          </p:cNvPr>
          <p:cNvSpPr>
            <a:spLocks noGrp="1"/>
          </p:cNvSpPr>
          <p:nvPr>
            <p:ph type="ftr" sz="quarter" idx="11"/>
          </p:nvPr>
        </p:nvSpPr>
        <p:spPr/>
        <p:txBody>
          <a:bodyPr numCol="1"/>
          <a:lstStyle/>
          <a:p>
            <a:r>
              <a:rPr lang="fr-FR" altLang="fr-FR"/>
              <a:t>Pole Humanités Design Département des Relations Humaines</a:t>
            </a:r>
          </a:p>
        </p:txBody>
      </p:sp>
      <p:sp>
        <p:nvSpPr>
          <p:cNvPr id="12" name="Espace réservé du numéro de diapositive 11">
            <a:extLst>
              <a:ext uri="{FF2B5EF4-FFF2-40B4-BE49-F238E27FC236}">
                <a16:creationId xmlns:a16="http://schemas.microsoft.com/office/drawing/2014/main" id="{EA23BE3A-A6BB-437C-8B2C-3E4A5D2807D8}"/>
              </a:ext>
            </a:extLst>
          </p:cNvPr>
          <p:cNvSpPr>
            <a:spLocks noGrp="1"/>
          </p:cNvSpPr>
          <p:nvPr>
            <p:ph type="sldNum" sz="quarter" idx="12"/>
          </p:nvPr>
        </p:nvSpPr>
        <p:spPr/>
        <p:txBody>
          <a:bodyPr numCol="1"/>
          <a:lstStyle/>
          <a:p>
            <a:fld id="{788DAB52-6294-4F97-81DD-ABD852645FBC}" type="slidenum">
              <a:rPr lang="fr-FR" altLang="fr-FR" smtClean="0"/>
              <a:t>16</a:t>
            </a:fld>
            <a:endParaRPr lang="fr-FR" altLang="fr-FR"/>
          </a:p>
        </p:txBody>
      </p:sp>
    </p:spTree>
    <p:extLst>
      <p:ext uri="{BB962C8B-B14F-4D97-AF65-F5344CB8AC3E}">
        <p14:creationId xmlns:p14="http://schemas.microsoft.com/office/powerpoint/2010/main" val="3844942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AED3566-0689-46F8-B916-ACC029B046F1}"/>
              </a:ext>
            </a:extLst>
          </p:cNvPr>
          <p:cNvSpPr/>
          <p:nvPr/>
        </p:nvSpPr>
        <p:spPr>
          <a:xfrm>
            <a:off x="701040" y="0"/>
            <a:ext cx="11490960" cy="1411111"/>
          </a:xfrm>
          <a:prstGeom prst="rect">
            <a:avLst/>
          </a:prstGeom>
        </p:spPr>
        <p:txBody>
          <a:bodyPr vert="horz" lIns="91440" tIns="45720" rIns="91440" bIns="45720" numCol="1" rtlCol="0" anchor="ctr">
            <a:normAutofit fontScale="97500"/>
          </a:bodyPr>
          <a:lstStyle/>
          <a:p>
            <a:pPr algn="ctr">
              <a:lnSpc>
                <a:spcPct val="90000"/>
              </a:lnSpc>
              <a:spcBef>
                <a:spcPct val="0"/>
              </a:spcBef>
            </a:pPr>
            <a:endParaRPr lang="fr-FR" altLang="fr-FR" sz="4400">
              <a:solidFill>
                <a:schemeClr val="tx1"/>
              </a:solidFill>
              <a:latin typeface="+mj-lt"/>
              <a:ea typeface="+mj-ea"/>
              <a:cs typeface="+mj-cs"/>
            </a:endParaRPr>
          </a:p>
        </p:txBody>
      </p:sp>
      <p:sp>
        <p:nvSpPr>
          <p:cNvPr id="3" name="Espace réservé du contenu 2">
            <a:extLst>
              <a:ext uri="{FF2B5EF4-FFF2-40B4-BE49-F238E27FC236}">
                <a16:creationId xmlns:a16="http://schemas.microsoft.com/office/drawing/2014/main" id="{73685886-90BF-4E83-B84E-6FB5E4BC9921}"/>
              </a:ext>
            </a:extLst>
          </p:cNvPr>
          <p:cNvSpPr>
            <a:spLocks noGrp="1"/>
          </p:cNvSpPr>
          <p:nvPr>
            <p:ph idx="1"/>
          </p:nvPr>
        </p:nvSpPr>
        <p:spPr>
          <a:xfrm>
            <a:off x="432665" y="1308101"/>
            <a:ext cx="11326670" cy="2476500"/>
          </a:xfrm>
        </p:spPr>
        <p:txBody>
          <a:bodyPr numCol="1" anchor="t">
            <a:noAutofit/>
          </a:bodyPr>
          <a:lstStyle/>
          <a:p>
            <a:pPr marL="358775" lvl="1" indent="-358775" algn="just">
              <a:lnSpc>
                <a:spcPct val="80000"/>
              </a:lnSpc>
              <a:spcBef>
                <a:spcPts val="1000"/>
              </a:spcBef>
            </a:pPr>
            <a:r>
              <a:rPr lang="fr-FR" altLang="fr-FR" sz="2800" dirty="0">
                <a:effectLst/>
                <a:ea typeface="Calibri" panose="020F0502020204030204" pitchFamily="34" charset="0"/>
                <a:cs typeface="Times New Roman" panose="02020603050405020304" pitchFamily="18" charset="0"/>
              </a:rPr>
              <a:t>Nous considérons que ce progrès est loin d’être assuré : il n’est plus la clé d’une « philosophie de l’histoire » (comme chez </a:t>
            </a:r>
            <a:r>
              <a:rPr lang="fr-FR" altLang="fr-FR" sz="2800" b="1" dirty="0">
                <a:effectLst/>
                <a:ea typeface="Calibri" panose="020F0502020204030204" pitchFamily="34" charset="0"/>
                <a:cs typeface="Times New Roman" panose="02020603050405020304" pitchFamily="18" charset="0"/>
              </a:rPr>
              <a:t>Hegel</a:t>
            </a:r>
            <a:r>
              <a:rPr lang="fr-FR" altLang="fr-FR" sz="2800" dirty="0">
                <a:effectLst/>
                <a:ea typeface="Calibri" panose="020F0502020204030204" pitchFamily="34" charset="0"/>
                <a:cs typeface="Times New Roman" panose="02020603050405020304" pitchFamily="18" charset="0"/>
              </a:rPr>
              <a:t>, </a:t>
            </a:r>
            <a:r>
              <a:rPr lang="fr-FR" altLang="fr-FR" sz="2800" b="1" dirty="0">
                <a:effectLst/>
                <a:ea typeface="Calibri" panose="020F0502020204030204" pitchFamily="34" charset="0"/>
                <a:cs typeface="Times New Roman" panose="02020603050405020304" pitchFamily="18" charset="0"/>
              </a:rPr>
              <a:t>Comte</a:t>
            </a:r>
            <a:r>
              <a:rPr lang="fr-FR" altLang="fr-FR" sz="2800" dirty="0">
                <a:effectLst/>
                <a:ea typeface="Calibri" panose="020F0502020204030204" pitchFamily="34" charset="0"/>
                <a:cs typeface="Times New Roman" panose="02020603050405020304" pitchFamily="18" charset="0"/>
              </a:rPr>
              <a:t>, ou </a:t>
            </a:r>
            <a:r>
              <a:rPr lang="fr-FR" altLang="fr-FR" sz="2800" b="1" dirty="0">
                <a:effectLst/>
                <a:ea typeface="Calibri" panose="020F0502020204030204" pitchFamily="34" charset="0"/>
                <a:cs typeface="Times New Roman" panose="02020603050405020304" pitchFamily="18" charset="0"/>
              </a:rPr>
              <a:t>Marx</a:t>
            </a:r>
            <a:r>
              <a:rPr lang="fr-FR" altLang="fr-FR" sz="2800" dirty="0">
                <a:effectLst/>
                <a:ea typeface="Calibri" panose="020F0502020204030204" pitchFamily="34" charset="0"/>
                <a:cs typeface="Times New Roman" panose="02020603050405020304" pitchFamily="18" charset="0"/>
              </a:rPr>
              <a:t>).</a:t>
            </a:r>
          </a:p>
          <a:p>
            <a:pPr marL="358775" lvl="1" indent="-358775" algn="just">
              <a:lnSpc>
                <a:spcPct val="80000"/>
              </a:lnSpc>
              <a:spcBef>
                <a:spcPts val="1000"/>
              </a:spcBef>
            </a:pPr>
            <a:endParaRPr lang="fr-FR" altLang="fr-FR" sz="2800" dirty="0">
              <a:effectLst/>
              <a:ea typeface="Calibri" panose="020F0502020204030204" pitchFamily="34" charset="0"/>
              <a:cs typeface="Times New Roman" panose="02020603050405020304" pitchFamily="18" charset="0"/>
            </a:endParaRPr>
          </a:p>
          <a:p>
            <a:pPr marL="358775" lvl="1" indent="-358775" algn="just">
              <a:lnSpc>
                <a:spcPct val="80000"/>
              </a:lnSpc>
              <a:spcBef>
                <a:spcPts val="1000"/>
              </a:spcBef>
            </a:pPr>
            <a:r>
              <a:rPr lang="fr-FR" altLang="fr-FR" sz="2800" dirty="0">
                <a:ea typeface="Calibri" panose="020F0502020204030204" pitchFamily="34" charset="0"/>
                <a:cs typeface="Times New Roman" panose="02020603050405020304" pitchFamily="18" charset="0"/>
              </a:rPr>
              <a:t>Nous considérons également qu’il existe des modalités plurielles du progrès, s’inscrivant dans des évolutions complexes, non linéaires, multifactorielles.</a:t>
            </a:r>
          </a:p>
          <a:p>
            <a:pPr marL="358775" lvl="1" indent="-358775" algn="just">
              <a:lnSpc>
                <a:spcPct val="80000"/>
              </a:lnSpc>
              <a:spcBef>
                <a:spcPts val="1000"/>
              </a:spcBef>
            </a:pPr>
            <a:endParaRPr lang="fr-FR" altLang="fr-FR" dirty="0">
              <a:effectLst/>
              <a:ea typeface="Calibri" panose="020F0502020204030204" pitchFamily="34" charset="0"/>
              <a:cs typeface="Times New Roman" panose="02020603050405020304" pitchFamily="18" charset="0"/>
            </a:endParaRPr>
          </a:p>
          <a:p>
            <a:pPr marL="571500" indent="-342900" algn="just">
              <a:lnSpc>
                <a:spcPct val="100000"/>
              </a:lnSpc>
              <a:spcAft>
                <a:spcPts val="800"/>
              </a:spcAft>
            </a:pPr>
            <a:endParaRPr lang="fr-FR" altLang="fr-FR" sz="2400" dirty="0">
              <a:effectLst/>
              <a:ea typeface="Calibri" panose="020F0502020204030204" pitchFamily="34" charset="0"/>
              <a:cs typeface="Times New Roman" panose="02020603050405020304" pitchFamily="18" charset="0"/>
            </a:endParaRPr>
          </a:p>
        </p:txBody>
      </p:sp>
      <p:sp>
        <p:nvSpPr>
          <p:cNvPr id="11" name="Espace réservé du pied de page 10">
            <a:extLst>
              <a:ext uri="{FF2B5EF4-FFF2-40B4-BE49-F238E27FC236}">
                <a16:creationId xmlns:a16="http://schemas.microsoft.com/office/drawing/2014/main" id="{32E00B60-6E07-4EB9-A18B-C8729A7755B5}"/>
              </a:ext>
            </a:extLst>
          </p:cNvPr>
          <p:cNvSpPr>
            <a:spLocks noGrp="1"/>
          </p:cNvSpPr>
          <p:nvPr>
            <p:ph type="ftr" sz="quarter" idx="11"/>
          </p:nvPr>
        </p:nvSpPr>
        <p:spPr/>
        <p:txBody>
          <a:bodyPr numCol="1"/>
          <a:lstStyle/>
          <a:p>
            <a:r>
              <a:rPr lang="fr-FR" altLang="fr-FR"/>
              <a:t>Pole Humanités Design Département des Relations Humaines</a:t>
            </a:r>
          </a:p>
        </p:txBody>
      </p:sp>
      <p:sp>
        <p:nvSpPr>
          <p:cNvPr id="12" name="Espace réservé du numéro de diapositive 11">
            <a:extLst>
              <a:ext uri="{FF2B5EF4-FFF2-40B4-BE49-F238E27FC236}">
                <a16:creationId xmlns:a16="http://schemas.microsoft.com/office/drawing/2014/main" id="{EA23BE3A-A6BB-437C-8B2C-3E4A5D2807D8}"/>
              </a:ext>
            </a:extLst>
          </p:cNvPr>
          <p:cNvSpPr>
            <a:spLocks noGrp="1"/>
          </p:cNvSpPr>
          <p:nvPr>
            <p:ph type="sldNum" sz="quarter" idx="12"/>
          </p:nvPr>
        </p:nvSpPr>
        <p:spPr/>
        <p:txBody>
          <a:bodyPr numCol="1"/>
          <a:lstStyle/>
          <a:p>
            <a:fld id="{788DAB52-6294-4F97-81DD-ABD852645FBC}" type="slidenum">
              <a:rPr lang="fr-FR" altLang="fr-FR" smtClean="0"/>
              <a:t>17</a:t>
            </a:fld>
            <a:endParaRPr lang="fr-FR" altLang="fr-FR"/>
          </a:p>
        </p:txBody>
      </p:sp>
    </p:spTree>
    <p:extLst>
      <p:ext uri="{BB962C8B-B14F-4D97-AF65-F5344CB8AC3E}">
        <p14:creationId xmlns:p14="http://schemas.microsoft.com/office/powerpoint/2010/main" val="3092669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3685886-90BF-4E83-B84E-6FB5E4BC9921}"/>
              </a:ext>
            </a:extLst>
          </p:cNvPr>
          <p:cNvSpPr>
            <a:spLocks noGrp="1"/>
          </p:cNvSpPr>
          <p:nvPr>
            <p:ph idx="1"/>
          </p:nvPr>
        </p:nvSpPr>
        <p:spPr>
          <a:xfrm>
            <a:off x="424249" y="1091259"/>
            <a:ext cx="11343502" cy="4882503"/>
          </a:xfrm>
        </p:spPr>
        <p:txBody>
          <a:bodyPr numCol="1" anchor="t">
            <a:noAutofit/>
          </a:bodyPr>
          <a:lstStyle/>
          <a:p>
            <a:pPr marL="542925" indent="-314325" algn="just">
              <a:lnSpc>
                <a:spcPct val="80000"/>
              </a:lnSpc>
            </a:pPr>
            <a:r>
              <a:rPr lang="fr-FR" altLang="fr-FR" dirty="0">
                <a:effectLst/>
                <a:ea typeface="Calibri" panose="020F0502020204030204" pitchFamily="34" charset="0"/>
                <a:cs typeface="Times New Roman" panose="02020603050405020304" pitchFamily="18" charset="0"/>
              </a:rPr>
              <a:t>Nous considérons aujourd’hui que la marche de l’histoire n’a pas de direction assurée, qu’elle n’est pas orientée selon une fin (téléologique), c’est pourquoi le « développement » doit être piloté au mieux par des </a:t>
            </a:r>
            <a:r>
              <a:rPr lang="fr-FR" altLang="fr-FR" b="1" dirty="0">
                <a:effectLst/>
                <a:ea typeface="Calibri" panose="020F0502020204030204" pitchFamily="34" charset="0"/>
                <a:cs typeface="Times New Roman" panose="02020603050405020304" pitchFamily="18" charset="0"/>
              </a:rPr>
              <a:t>objectifs partagés</a:t>
            </a:r>
            <a:r>
              <a:rPr lang="fr-FR" altLang="fr-FR" dirty="0">
                <a:effectLst/>
                <a:ea typeface="Calibri" panose="020F0502020204030204" pitchFamily="34" charset="0"/>
                <a:cs typeface="Times New Roman" panose="02020603050405020304" pitchFamily="18" charset="0"/>
              </a:rPr>
              <a:t>.</a:t>
            </a:r>
          </a:p>
          <a:p>
            <a:pPr marL="542925" indent="-314325" algn="just">
              <a:lnSpc>
                <a:spcPct val="80000"/>
              </a:lnSpc>
            </a:pPr>
            <a:endParaRPr lang="fr-FR" altLang="fr-FR" dirty="0">
              <a:effectLst/>
              <a:ea typeface="Calibri" panose="020F0502020204030204" pitchFamily="34" charset="0"/>
              <a:cs typeface="Times New Roman" panose="02020603050405020304" pitchFamily="18" charset="0"/>
            </a:endParaRPr>
          </a:p>
          <a:p>
            <a:pPr marL="542925" indent="-314325" algn="just">
              <a:lnSpc>
                <a:spcPct val="80000"/>
              </a:lnSpc>
            </a:pPr>
            <a:r>
              <a:rPr lang="fr-FR" altLang="fr-FR" dirty="0">
                <a:ea typeface="Calibri" panose="020F0502020204030204" pitchFamily="34" charset="0"/>
                <a:cs typeface="Times New Roman" panose="02020603050405020304" pitchFamily="18" charset="0"/>
              </a:rPr>
              <a:t>Il n’est pas l’apanage de l’Occident, dans une monde devenu </a:t>
            </a:r>
            <a:r>
              <a:rPr lang="fr-FR" altLang="fr-FR" b="1" dirty="0">
                <a:ea typeface="Calibri" panose="020F0502020204030204" pitchFamily="34" charset="0"/>
                <a:cs typeface="Times New Roman" panose="02020603050405020304" pitchFamily="18" charset="0"/>
              </a:rPr>
              <a:t>multipolaire</a:t>
            </a:r>
            <a:r>
              <a:rPr lang="fr-FR" altLang="fr-FR" dirty="0">
                <a:ea typeface="Calibri" panose="020F0502020204030204" pitchFamily="34" charset="0"/>
                <a:cs typeface="Times New Roman" panose="02020603050405020304" pitchFamily="18" charset="0"/>
              </a:rPr>
              <a:t>, </a:t>
            </a:r>
            <a:r>
              <a:rPr lang="fr-FR" altLang="fr-FR" b="1" dirty="0">
                <a:ea typeface="Calibri" panose="020F0502020204030204" pitchFamily="34" charset="0"/>
                <a:cs typeface="Times New Roman" panose="02020603050405020304" pitchFamily="18" charset="0"/>
              </a:rPr>
              <a:t>réticulaire</a:t>
            </a:r>
            <a:r>
              <a:rPr lang="fr-FR" altLang="fr-FR" dirty="0">
                <a:ea typeface="Calibri" panose="020F0502020204030204" pitchFamily="34" charset="0"/>
                <a:cs typeface="Times New Roman" panose="02020603050405020304" pitchFamily="18" charset="0"/>
              </a:rPr>
              <a:t> et </a:t>
            </a:r>
            <a:r>
              <a:rPr lang="fr-FR" altLang="fr-FR" b="1" dirty="0">
                <a:ea typeface="Calibri" panose="020F0502020204030204" pitchFamily="34" charset="0"/>
                <a:cs typeface="Times New Roman" panose="02020603050405020304" pitchFamily="18" charset="0"/>
              </a:rPr>
              <a:t>mondialisé</a:t>
            </a:r>
            <a:r>
              <a:rPr lang="fr-FR" altLang="fr-FR" dirty="0">
                <a:ea typeface="Calibri" panose="020F0502020204030204" pitchFamily="34" charset="0"/>
                <a:cs typeface="Times New Roman" panose="02020603050405020304" pitchFamily="18" charset="0"/>
              </a:rPr>
              <a:t>.</a:t>
            </a:r>
          </a:p>
          <a:p>
            <a:pPr marL="542925" indent="-314325" algn="just">
              <a:lnSpc>
                <a:spcPct val="80000"/>
              </a:lnSpc>
            </a:pPr>
            <a:endParaRPr lang="fr-FR" altLang="fr-FR" dirty="0">
              <a:ea typeface="Calibri" panose="020F0502020204030204" pitchFamily="34" charset="0"/>
              <a:cs typeface="Times New Roman" panose="02020603050405020304" pitchFamily="18" charset="0"/>
            </a:endParaRPr>
          </a:p>
          <a:p>
            <a:pPr marL="542925" indent="-314325" algn="just">
              <a:lnSpc>
                <a:spcPct val="80000"/>
              </a:lnSpc>
            </a:pPr>
            <a:r>
              <a:rPr lang="fr-FR" altLang="fr-FR" dirty="0">
                <a:effectLst/>
                <a:ea typeface="Calibri" panose="020F0502020204030204" pitchFamily="34" charset="0"/>
                <a:cs typeface="Times New Roman" panose="02020603050405020304" pitchFamily="18" charset="0"/>
              </a:rPr>
              <a:t>Il relève de dynamiques complexes, dont les acteurs </a:t>
            </a:r>
            <a:r>
              <a:rPr lang="fr-FR" altLang="fr-FR" dirty="0">
                <a:ea typeface="Calibri" panose="020F0502020204030204" pitchFamily="34" charset="0"/>
                <a:cs typeface="Times New Roman" panose="02020603050405020304" pitchFamily="18" charset="0"/>
              </a:rPr>
              <a:t>sont eux-mêmes pluriels, étatiques ou issus de la société civile : </a:t>
            </a:r>
            <a:r>
              <a:rPr lang="fr-FR" altLang="fr-FR" dirty="0">
                <a:effectLst/>
                <a:ea typeface="Calibri" panose="020F0502020204030204" pitchFamily="34" charset="0"/>
                <a:cs typeface="Times New Roman" panose="02020603050405020304" pitchFamily="18" charset="0"/>
              </a:rPr>
              <a:t>les instances supranationales, les </a:t>
            </a:r>
            <a:r>
              <a:rPr lang="fr-FR" altLang="fr-FR" dirty="0">
                <a:ea typeface="Calibri" panose="020F0502020204030204" pitchFamily="34" charset="0"/>
                <a:cs typeface="Times New Roman" panose="02020603050405020304" pitchFamily="18" charset="0"/>
              </a:rPr>
              <a:t>Etats, les entreprises, les ONG, etc.</a:t>
            </a:r>
            <a:endParaRPr lang="fr-FR" altLang="fr-FR" dirty="0">
              <a:effectLst/>
              <a:ea typeface="Calibri" panose="020F0502020204030204" pitchFamily="34" charset="0"/>
              <a:cs typeface="Times New Roman" panose="02020603050405020304" pitchFamily="18" charset="0"/>
            </a:endParaRPr>
          </a:p>
          <a:p>
            <a:pPr marL="571500" indent="-342900" algn="just">
              <a:lnSpc>
                <a:spcPct val="80000"/>
              </a:lnSpc>
            </a:pPr>
            <a:endParaRPr lang="fr-FR" altLang="fr-FR" sz="2400" dirty="0">
              <a:effectLst/>
              <a:ea typeface="Calibri" panose="020F0502020204030204" pitchFamily="34" charset="0"/>
              <a:cs typeface="Times New Roman" panose="02020603050405020304" pitchFamily="18" charset="0"/>
            </a:endParaRPr>
          </a:p>
        </p:txBody>
      </p:sp>
      <p:sp>
        <p:nvSpPr>
          <p:cNvPr id="4" name="Espace réservé du pied de page 3">
            <a:extLst>
              <a:ext uri="{FF2B5EF4-FFF2-40B4-BE49-F238E27FC236}">
                <a16:creationId xmlns:a16="http://schemas.microsoft.com/office/drawing/2014/main" id="{4F8DF74A-8A17-4856-BFA2-606117464AA6}"/>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E1BAAAFA-C82A-4E61-B11B-53B92421AEE8}"/>
              </a:ext>
            </a:extLst>
          </p:cNvPr>
          <p:cNvSpPr>
            <a:spLocks noGrp="1"/>
          </p:cNvSpPr>
          <p:nvPr>
            <p:ph type="sldNum" sz="quarter" idx="12"/>
          </p:nvPr>
        </p:nvSpPr>
        <p:spPr/>
        <p:txBody>
          <a:bodyPr numCol="1"/>
          <a:lstStyle/>
          <a:p>
            <a:fld id="{788DAB52-6294-4F97-81DD-ABD852645FBC}" type="slidenum">
              <a:rPr lang="fr-FR" altLang="fr-FR" smtClean="0"/>
              <a:t>18</a:t>
            </a:fld>
            <a:endParaRPr lang="fr-FR" altLang="fr-FR"/>
          </a:p>
        </p:txBody>
      </p:sp>
    </p:spTree>
    <p:extLst>
      <p:ext uri="{BB962C8B-B14F-4D97-AF65-F5344CB8AC3E}">
        <p14:creationId xmlns:p14="http://schemas.microsoft.com/office/powerpoint/2010/main" val="1144230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3685886-90BF-4E83-B84E-6FB5E4BC9921}"/>
              </a:ext>
            </a:extLst>
          </p:cNvPr>
          <p:cNvSpPr>
            <a:spLocks noGrp="1"/>
          </p:cNvSpPr>
          <p:nvPr>
            <p:ph idx="1"/>
          </p:nvPr>
        </p:nvSpPr>
        <p:spPr>
          <a:xfrm>
            <a:off x="292101" y="170281"/>
            <a:ext cx="11366385" cy="846971"/>
          </a:xfrm>
        </p:spPr>
        <p:txBody>
          <a:bodyPr numCol="1" anchor="t">
            <a:normAutofit/>
          </a:bodyPr>
          <a:lstStyle/>
          <a:p>
            <a:pPr marL="571500" indent="-342900" algn="just">
              <a:lnSpc>
                <a:spcPct val="100000"/>
              </a:lnSpc>
              <a:spcAft>
                <a:spcPts val="800"/>
              </a:spcAft>
            </a:pPr>
            <a:r>
              <a:rPr lang="fr-FR" altLang="fr-FR" sz="2400" dirty="0">
                <a:effectLst/>
                <a:ea typeface="Calibri" panose="020F0502020204030204" pitchFamily="34" charset="0"/>
                <a:cs typeface="Times New Roman" panose="02020603050405020304" pitchFamily="18" charset="0"/>
              </a:rPr>
              <a:t>Les opinions à l’égard du progrès se distribuent sur un spectre fortement polarisé.</a:t>
            </a:r>
          </a:p>
        </p:txBody>
      </p:sp>
      <p:sp>
        <p:nvSpPr>
          <p:cNvPr id="5" name="ZoneTexte 4">
            <a:extLst>
              <a:ext uri="{FF2B5EF4-FFF2-40B4-BE49-F238E27FC236}">
                <a16:creationId xmlns:a16="http://schemas.microsoft.com/office/drawing/2014/main" id="{1437F3A7-17F0-46E9-97EB-53AB48BAD6D4}"/>
              </a:ext>
            </a:extLst>
          </p:cNvPr>
          <p:cNvSpPr txBox="1"/>
          <p:nvPr/>
        </p:nvSpPr>
        <p:spPr>
          <a:xfrm>
            <a:off x="412807" y="2608030"/>
            <a:ext cx="5511800" cy="3046988"/>
          </a:xfrm>
          <a:prstGeom prst="rect">
            <a:avLst/>
          </a:prstGeom>
          <a:noFill/>
        </p:spPr>
        <p:txBody>
          <a:bodyPr wrap="square" numCol="1">
            <a:spAutoFit/>
          </a:bodyPr>
          <a:lstStyle/>
          <a:p>
            <a:pPr indent="270510">
              <a:lnSpc>
                <a:spcPct val="100000"/>
              </a:lnSpc>
              <a:spcAft>
                <a:spcPts val="800"/>
              </a:spcAft>
            </a:pPr>
            <a:r>
              <a:rPr lang="fr-FR" altLang="fr-FR" sz="2400" dirty="0">
                <a:effectLst/>
                <a:ea typeface="Calibri" panose="020F0502020204030204" pitchFamily="34" charset="0"/>
                <a:cs typeface="Times New Roman" panose="02020603050405020304" pitchFamily="18" charset="0"/>
              </a:rPr>
              <a:t>La « </a:t>
            </a:r>
            <a:r>
              <a:rPr lang="fr-FR" altLang="fr-FR" sz="2400" b="1" dirty="0">
                <a:effectLst/>
                <a:ea typeface="Calibri" panose="020F0502020204030204" pitchFamily="34" charset="0"/>
                <a:cs typeface="Times New Roman" panose="02020603050405020304" pitchFamily="18" charset="0"/>
              </a:rPr>
              <a:t>collapsologie</a:t>
            </a:r>
            <a:r>
              <a:rPr lang="fr-FR" altLang="fr-FR" sz="2400" dirty="0">
                <a:effectLst/>
                <a:ea typeface="Calibri" panose="020F0502020204030204" pitchFamily="34" charset="0"/>
                <a:cs typeface="Times New Roman" panose="02020603050405020304" pitchFamily="18" charset="0"/>
              </a:rPr>
              <a:t> » prend acte de l’entrée de l’Homme dans l’« </a:t>
            </a:r>
            <a:r>
              <a:rPr lang="fr-FR" altLang="fr-FR" sz="2400" b="1" dirty="0">
                <a:effectLst/>
                <a:ea typeface="Calibri" panose="020F0502020204030204" pitchFamily="34" charset="0"/>
                <a:cs typeface="Times New Roman" panose="02020603050405020304" pitchFamily="18" charset="0"/>
              </a:rPr>
              <a:t>anthropocène</a:t>
            </a:r>
            <a:r>
              <a:rPr lang="fr-FR" altLang="fr-FR" sz="2400" dirty="0">
                <a:effectLst/>
                <a:ea typeface="Calibri" panose="020F0502020204030204" pitchFamily="34" charset="0"/>
                <a:cs typeface="Times New Roman" panose="02020603050405020304" pitchFamily="18" charset="0"/>
              </a:rPr>
              <a:t> » et des catastrophes environnementales qui le guettent. Elle prend au sérieux la possibilité d’un effondrement général, si notre réaction n’est pas forte et rapide. (Cf. « </a:t>
            </a:r>
            <a:r>
              <a:rPr lang="fr-FR" altLang="fr-FR" sz="2400" dirty="0">
                <a:effectLst/>
                <a:ea typeface="Calibri" panose="020F0502020204030204" pitchFamily="34" charset="0"/>
                <a:cs typeface="Times New Roman" panose="02020603050405020304" pitchFamily="18" charset="0"/>
                <a:hlinkClick r:id="" action="ppaction://noaction"/>
              </a:rPr>
              <a:t>tableau de bord de l’anthropocène </a:t>
            </a:r>
            <a:r>
              <a:rPr lang="fr-FR" altLang="fr-FR" sz="2400" dirty="0">
                <a:effectLst/>
                <a:ea typeface="Calibri" panose="020F0502020204030204" pitchFamily="34" charset="0"/>
                <a:cs typeface="Times New Roman" panose="02020603050405020304" pitchFamily="18" charset="0"/>
              </a:rPr>
              <a:t>»)</a:t>
            </a:r>
          </a:p>
        </p:txBody>
      </p:sp>
      <p:sp>
        <p:nvSpPr>
          <p:cNvPr id="6" name="ZoneTexte 5">
            <a:extLst>
              <a:ext uri="{FF2B5EF4-FFF2-40B4-BE49-F238E27FC236}">
                <a16:creationId xmlns:a16="http://schemas.microsoft.com/office/drawing/2014/main" id="{69E68D78-89CA-4D89-89E1-ED9A3048D259}"/>
              </a:ext>
            </a:extLst>
          </p:cNvPr>
          <p:cNvSpPr txBox="1"/>
          <p:nvPr/>
        </p:nvSpPr>
        <p:spPr>
          <a:xfrm>
            <a:off x="6686607" y="2526875"/>
            <a:ext cx="5041900" cy="3416320"/>
          </a:xfrm>
          <a:prstGeom prst="rect">
            <a:avLst/>
          </a:prstGeom>
          <a:noFill/>
        </p:spPr>
        <p:txBody>
          <a:bodyPr wrap="square" numCol="1">
            <a:spAutoFit/>
          </a:bodyPr>
          <a:lstStyle/>
          <a:p>
            <a:pPr indent="270510">
              <a:lnSpc>
                <a:spcPct val="100000"/>
              </a:lnSpc>
              <a:spcAft>
                <a:spcPts val="800"/>
              </a:spcAft>
            </a:pPr>
            <a:r>
              <a:rPr lang="fr-FR" altLang="fr-FR" sz="2400" dirty="0">
                <a:effectLst/>
                <a:ea typeface="Calibri" panose="020F0502020204030204" pitchFamily="34" charset="0"/>
                <a:cs typeface="Times New Roman" panose="02020603050405020304" pitchFamily="18" charset="0"/>
              </a:rPr>
              <a:t>L’autre grand récit, à l’inverse, réactive la notion de progrès qu’avaient discréditée les tragédies du </a:t>
            </a:r>
            <a:r>
              <a:rPr lang="fr-FR" altLang="fr-FR" sz="2400" dirty="0" err="1">
                <a:effectLst/>
                <a:ea typeface="Calibri" panose="020F0502020204030204" pitchFamily="34" charset="0"/>
                <a:cs typeface="Times New Roman" panose="02020603050405020304" pitchFamily="18" charset="0"/>
              </a:rPr>
              <a:t>xx</a:t>
            </a:r>
            <a:r>
              <a:rPr lang="fr-FR" altLang="fr-FR" sz="2400" baseline="30000" dirty="0" err="1">
                <a:effectLst/>
                <a:ea typeface="Calibri" panose="020F0502020204030204" pitchFamily="34" charset="0"/>
                <a:cs typeface="Times New Roman" panose="02020603050405020304" pitchFamily="18" charset="0"/>
              </a:rPr>
              <a:t>e</a:t>
            </a:r>
            <a:r>
              <a:rPr lang="fr-FR" altLang="fr-FR" sz="2400" dirty="0">
                <a:effectLst/>
                <a:ea typeface="Calibri" panose="020F0502020204030204" pitchFamily="34" charset="0"/>
                <a:cs typeface="Times New Roman" panose="02020603050405020304" pitchFamily="18" charset="0"/>
              </a:rPr>
              <a:t> siècle et la menace atomique, du côté d’un « </a:t>
            </a:r>
            <a:r>
              <a:rPr lang="fr-FR" altLang="fr-FR" sz="2400" b="1" dirty="0">
                <a:effectLst/>
                <a:ea typeface="Calibri" panose="020F0502020204030204" pitchFamily="34" charset="0"/>
                <a:cs typeface="Times New Roman" panose="02020603050405020304" pitchFamily="18" charset="0"/>
              </a:rPr>
              <a:t>transhumanisme</a:t>
            </a:r>
            <a:r>
              <a:rPr lang="fr-FR" altLang="fr-FR" sz="2400" dirty="0">
                <a:effectLst/>
                <a:ea typeface="Calibri" panose="020F0502020204030204" pitchFamily="34" charset="0"/>
                <a:cs typeface="Times New Roman" panose="02020603050405020304" pitchFamily="18" charset="0"/>
              </a:rPr>
              <a:t> ». C’est la croyance dans le fait que la convergence des technologies de pointe finira par transformer l’humanité.</a:t>
            </a:r>
          </a:p>
        </p:txBody>
      </p:sp>
      <p:sp>
        <p:nvSpPr>
          <p:cNvPr id="7" name="ZoneTexte 6">
            <a:extLst>
              <a:ext uri="{FF2B5EF4-FFF2-40B4-BE49-F238E27FC236}">
                <a16:creationId xmlns:a16="http://schemas.microsoft.com/office/drawing/2014/main" id="{FCF0CFB1-7EFE-485C-8068-DC4E7A5E682E}"/>
              </a:ext>
            </a:extLst>
          </p:cNvPr>
          <p:cNvSpPr txBox="1"/>
          <p:nvPr/>
        </p:nvSpPr>
        <p:spPr>
          <a:xfrm>
            <a:off x="1591328" y="2094917"/>
            <a:ext cx="2786231" cy="461665"/>
          </a:xfrm>
          <a:prstGeom prst="rect">
            <a:avLst/>
          </a:prstGeom>
          <a:solidFill>
            <a:srgbClr val="0070C0"/>
          </a:solidFill>
        </p:spPr>
        <p:txBody>
          <a:bodyPr wrap="square" numCol="1" rtlCol="0">
            <a:spAutoFit/>
          </a:bodyPr>
          <a:lstStyle>
            <a:defPPr>
              <a:defRPr lang="fr-FR" altLang="fr-FR"/>
            </a:defPPr>
            <a:lvl1pPr algn="ctr">
              <a:defRPr sz="2400" b="1">
                <a:solidFill>
                  <a:schemeClr val="bg1"/>
                </a:solidFill>
                <a:cs typeface="Times New Roman" panose="02020603050405020304" pitchFamily="18" charset="0"/>
              </a:defRPr>
            </a:lvl1pPr>
          </a:lstStyle>
          <a:p>
            <a:r>
              <a:rPr lang="fr-FR" altLang="fr-FR" dirty="0"/>
              <a:t>Collapsologie</a:t>
            </a:r>
          </a:p>
        </p:txBody>
      </p:sp>
      <p:sp>
        <p:nvSpPr>
          <p:cNvPr id="8" name="ZoneTexte 7">
            <a:extLst>
              <a:ext uri="{FF2B5EF4-FFF2-40B4-BE49-F238E27FC236}">
                <a16:creationId xmlns:a16="http://schemas.microsoft.com/office/drawing/2014/main" id="{A3F7B937-144D-44A1-AAEF-5C05AEF256DD}"/>
              </a:ext>
            </a:extLst>
          </p:cNvPr>
          <p:cNvSpPr txBox="1"/>
          <p:nvPr/>
        </p:nvSpPr>
        <p:spPr>
          <a:xfrm>
            <a:off x="4702884" y="3773370"/>
            <a:ext cx="2786231" cy="461665"/>
          </a:xfrm>
          <a:prstGeom prst="rect">
            <a:avLst/>
          </a:prstGeom>
          <a:noFill/>
        </p:spPr>
        <p:txBody>
          <a:bodyPr wrap="square" numCol="1" rtlCol="0">
            <a:spAutoFit/>
          </a:bodyPr>
          <a:lstStyle/>
          <a:p>
            <a:pPr algn="ctr"/>
            <a:r>
              <a:rPr lang="fr-FR" altLang="fr-FR" sz="2400" b="1" i="1" dirty="0">
                <a:cs typeface="Times New Roman" panose="02020603050405020304" pitchFamily="18" charset="0"/>
              </a:rPr>
              <a:t>Vs</a:t>
            </a:r>
            <a:r>
              <a:rPr lang="fr-FR" altLang="fr-FR" sz="2400" b="1" dirty="0">
                <a:cs typeface="Times New Roman" panose="02020603050405020304" pitchFamily="18" charset="0"/>
              </a:rPr>
              <a:t>.</a:t>
            </a:r>
          </a:p>
        </p:txBody>
      </p:sp>
      <p:sp>
        <p:nvSpPr>
          <p:cNvPr id="9" name="ZoneTexte 8">
            <a:extLst>
              <a:ext uri="{FF2B5EF4-FFF2-40B4-BE49-F238E27FC236}">
                <a16:creationId xmlns:a16="http://schemas.microsoft.com/office/drawing/2014/main" id="{9C437A55-54AE-4B91-A20D-29C672A91EFF}"/>
              </a:ext>
            </a:extLst>
          </p:cNvPr>
          <p:cNvSpPr txBox="1"/>
          <p:nvPr/>
        </p:nvSpPr>
        <p:spPr>
          <a:xfrm>
            <a:off x="7814441" y="2077910"/>
            <a:ext cx="2786231" cy="461665"/>
          </a:xfrm>
          <a:prstGeom prst="rect">
            <a:avLst/>
          </a:prstGeom>
          <a:solidFill>
            <a:srgbClr val="0070C0"/>
          </a:solidFill>
        </p:spPr>
        <p:txBody>
          <a:bodyPr wrap="square" numCol="1" rtlCol="0">
            <a:spAutoFit/>
          </a:bodyPr>
          <a:lstStyle/>
          <a:p>
            <a:pPr algn="ctr"/>
            <a:r>
              <a:rPr lang="fr-FR" altLang="fr-FR" sz="2400" b="1" dirty="0">
                <a:solidFill>
                  <a:schemeClr val="bg1"/>
                </a:solidFill>
                <a:cs typeface="Times New Roman" panose="02020603050405020304" pitchFamily="18" charset="0"/>
              </a:rPr>
              <a:t>Transhumanisme</a:t>
            </a:r>
          </a:p>
        </p:txBody>
      </p:sp>
      <p:sp>
        <p:nvSpPr>
          <p:cNvPr id="10" name="Espace réservé du pied de page 9">
            <a:extLst>
              <a:ext uri="{FF2B5EF4-FFF2-40B4-BE49-F238E27FC236}">
                <a16:creationId xmlns:a16="http://schemas.microsoft.com/office/drawing/2014/main" id="{AD8E2916-1310-45A3-BF72-A970CA177DD2}"/>
              </a:ext>
            </a:extLst>
          </p:cNvPr>
          <p:cNvSpPr>
            <a:spLocks noGrp="1"/>
          </p:cNvSpPr>
          <p:nvPr>
            <p:ph type="ftr" sz="quarter" idx="11"/>
          </p:nvPr>
        </p:nvSpPr>
        <p:spPr/>
        <p:txBody>
          <a:bodyPr numCol="1"/>
          <a:lstStyle/>
          <a:p>
            <a:r>
              <a:rPr lang="fr-FR" altLang="fr-FR"/>
              <a:t>Pole Humanités Design Département des Relations Humaines</a:t>
            </a:r>
          </a:p>
        </p:txBody>
      </p:sp>
      <p:sp>
        <p:nvSpPr>
          <p:cNvPr id="11" name="Espace réservé du numéro de diapositive 10">
            <a:extLst>
              <a:ext uri="{FF2B5EF4-FFF2-40B4-BE49-F238E27FC236}">
                <a16:creationId xmlns:a16="http://schemas.microsoft.com/office/drawing/2014/main" id="{3AFC7E6F-FE2B-4439-BC62-005E64495802}"/>
              </a:ext>
            </a:extLst>
          </p:cNvPr>
          <p:cNvSpPr>
            <a:spLocks noGrp="1"/>
          </p:cNvSpPr>
          <p:nvPr>
            <p:ph type="sldNum" sz="quarter" idx="12"/>
          </p:nvPr>
        </p:nvSpPr>
        <p:spPr/>
        <p:txBody>
          <a:bodyPr numCol="1"/>
          <a:lstStyle/>
          <a:p>
            <a:fld id="{788DAB52-6294-4F97-81DD-ABD852645FBC}" type="slidenum">
              <a:rPr lang="fr-FR" altLang="fr-FR" smtClean="0"/>
              <a:t>19</a:t>
            </a:fld>
            <a:endParaRPr lang="fr-FR" altLang="fr-FR"/>
          </a:p>
        </p:txBody>
      </p:sp>
      <p:sp>
        <p:nvSpPr>
          <p:cNvPr id="13" name="Flèche : double flèche horizontale 12">
            <a:extLst>
              <a:ext uri="{FF2B5EF4-FFF2-40B4-BE49-F238E27FC236}">
                <a16:creationId xmlns:a16="http://schemas.microsoft.com/office/drawing/2014/main" id="{8BB7F686-AAFC-8443-2490-5DAFD256D27E}"/>
              </a:ext>
            </a:extLst>
          </p:cNvPr>
          <p:cNvSpPr/>
          <p:nvPr/>
        </p:nvSpPr>
        <p:spPr>
          <a:xfrm>
            <a:off x="454110" y="914805"/>
            <a:ext cx="11274397" cy="1149635"/>
          </a:xfrm>
          <a:prstGeom prst="leftRightArrow">
            <a:avLst>
              <a:gd name="adj1" fmla="val 67675"/>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60BC4A23-F3DA-EE46-971B-8963A60D1FF0}"/>
              </a:ext>
            </a:extLst>
          </p:cNvPr>
          <p:cNvSpPr txBox="1"/>
          <p:nvPr/>
        </p:nvSpPr>
        <p:spPr>
          <a:xfrm>
            <a:off x="795170" y="1088429"/>
            <a:ext cx="2786231" cy="830997"/>
          </a:xfrm>
          <a:prstGeom prst="rect">
            <a:avLst/>
          </a:prstGeom>
          <a:noFill/>
        </p:spPr>
        <p:txBody>
          <a:bodyPr wrap="square" rtlCol="0">
            <a:spAutoFit/>
          </a:bodyPr>
          <a:lstStyle/>
          <a:p>
            <a:pPr algn="ctr"/>
            <a:r>
              <a:rPr lang="fr-FR" sz="2400" dirty="0">
                <a:solidFill>
                  <a:schemeClr val="bg1"/>
                </a:solidFill>
              </a:rPr>
              <a:t>Défiance à l’égard du progrès</a:t>
            </a:r>
          </a:p>
        </p:txBody>
      </p:sp>
      <p:sp>
        <p:nvSpPr>
          <p:cNvPr id="15" name="ZoneTexte 14">
            <a:extLst>
              <a:ext uri="{FF2B5EF4-FFF2-40B4-BE49-F238E27FC236}">
                <a16:creationId xmlns:a16="http://schemas.microsoft.com/office/drawing/2014/main" id="{0942E2D3-3959-D89E-3A3D-766C550B80E9}"/>
              </a:ext>
            </a:extLst>
          </p:cNvPr>
          <p:cNvSpPr txBox="1"/>
          <p:nvPr/>
        </p:nvSpPr>
        <p:spPr>
          <a:xfrm>
            <a:off x="8610600" y="1074123"/>
            <a:ext cx="2786231" cy="830997"/>
          </a:xfrm>
          <a:prstGeom prst="rect">
            <a:avLst/>
          </a:prstGeom>
          <a:noFill/>
        </p:spPr>
        <p:txBody>
          <a:bodyPr wrap="square" rtlCol="0">
            <a:spAutoFit/>
          </a:bodyPr>
          <a:lstStyle/>
          <a:p>
            <a:pPr algn="ctr"/>
            <a:r>
              <a:rPr lang="fr-FR" sz="2400" dirty="0">
                <a:solidFill>
                  <a:schemeClr val="bg1"/>
                </a:solidFill>
              </a:rPr>
              <a:t>Confiance dans le progrès</a:t>
            </a:r>
          </a:p>
        </p:txBody>
      </p:sp>
      <p:sp>
        <p:nvSpPr>
          <p:cNvPr id="16" name="Rectangle : coins arrondis 15">
            <a:extLst>
              <a:ext uri="{FF2B5EF4-FFF2-40B4-BE49-F238E27FC236}">
                <a16:creationId xmlns:a16="http://schemas.microsoft.com/office/drawing/2014/main" id="{4007E65B-48B7-7A3B-1B25-8EDD9D11B47D}"/>
              </a:ext>
            </a:extLst>
          </p:cNvPr>
          <p:cNvSpPr/>
          <p:nvPr/>
        </p:nvSpPr>
        <p:spPr>
          <a:xfrm>
            <a:off x="292101" y="2556582"/>
            <a:ext cx="5410200" cy="3416320"/>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 coins arrondis 16">
            <a:extLst>
              <a:ext uri="{FF2B5EF4-FFF2-40B4-BE49-F238E27FC236}">
                <a16:creationId xmlns:a16="http://schemas.microsoft.com/office/drawing/2014/main" id="{94D8BBCC-CFF5-A194-5D17-2E5EA2A2E349}"/>
              </a:ext>
            </a:extLst>
          </p:cNvPr>
          <p:cNvSpPr/>
          <p:nvPr/>
        </p:nvSpPr>
        <p:spPr>
          <a:xfrm>
            <a:off x="6464300" y="2556582"/>
            <a:ext cx="5410200" cy="3416320"/>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43317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09F7CC4B-6B0A-4E83-B465-7D411D75ED91}"/>
              </a:ext>
            </a:extLst>
          </p:cNvPr>
          <p:cNvSpPr txBox="1"/>
          <p:nvPr/>
        </p:nvSpPr>
        <p:spPr>
          <a:xfrm>
            <a:off x="1299416" y="937387"/>
            <a:ext cx="10054384" cy="4632037"/>
          </a:xfrm>
          <a:prstGeom prst="rect">
            <a:avLst/>
          </a:prstGeom>
          <a:solidFill>
            <a:schemeClr val="accent1"/>
          </a:solidFill>
        </p:spPr>
        <p:txBody>
          <a:bodyPr wrap="square" numCol="1">
            <a:spAutoFit/>
          </a:bodyPr>
          <a:lstStyle/>
          <a:p>
            <a:pPr marL="285750" indent="-285750">
              <a:spcAft>
                <a:spcPts val="600"/>
              </a:spcAft>
              <a:buFont typeface="Arial" panose="020B0604020202020204" pitchFamily="34" charset="0"/>
              <a:buChar char="•"/>
            </a:pPr>
            <a:r>
              <a:rPr lang="fr-FR" altLang="fr-FR" sz="2800" b="1" dirty="0">
                <a:solidFill>
                  <a:schemeClr val="bg1"/>
                </a:solidFill>
                <a:effectLst/>
                <a:ea typeface="Calibri" panose="020F0502020204030204" pitchFamily="34" charset="0"/>
              </a:rPr>
              <a:t>Les sociétés occidentales ont connu une longue période de croyance dans l’idée de progrès, qu’on a appelée « modernité ».</a:t>
            </a:r>
          </a:p>
          <a:p>
            <a:pPr marL="285750" indent="-285750">
              <a:spcAft>
                <a:spcPts val="600"/>
              </a:spcAft>
              <a:buFont typeface="Arial" panose="020B0604020202020204" pitchFamily="34" charset="0"/>
              <a:buChar char="•"/>
            </a:pPr>
            <a:r>
              <a:rPr lang="fr-FR" altLang="fr-FR" sz="2800" b="1" dirty="0">
                <a:solidFill>
                  <a:schemeClr val="bg1"/>
                </a:solidFill>
                <a:ea typeface="Calibri" panose="020F0502020204030204" pitchFamily="34" charset="0"/>
              </a:rPr>
              <a:t>Aujourd’hui, nous entretenons à l’égard de cette idée une profonde ambivalence.</a:t>
            </a:r>
          </a:p>
          <a:p>
            <a:pPr marL="285750" indent="-285750">
              <a:spcAft>
                <a:spcPts val="600"/>
              </a:spcAft>
              <a:buFont typeface="Arial" panose="020B0604020202020204" pitchFamily="34" charset="0"/>
              <a:buChar char="•"/>
            </a:pPr>
            <a:r>
              <a:rPr lang="fr-FR" altLang="fr-FR" sz="2800" b="1" dirty="0">
                <a:solidFill>
                  <a:schemeClr val="bg1"/>
                </a:solidFill>
              </a:rPr>
              <a:t>La notion de « développement durable » semble montrer que nous n’avons toutefois pas renoncé à cette idée, mais manifeste une forme de prudence.</a:t>
            </a:r>
          </a:p>
          <a:p>
            <a:pPr marL="285750" indent="-285750">
              <a:spcAft>
                <a:spcPts val="600"/>
              </a:spcAft>
              <a:buFont typeface="Arial" panose="020B0604020202020204" pitchFamily="34" charset="0"/>
              <a:buChar char="•"/>
            </a:pPr>
            <a:r>
              <a:rPr lang="fr-FR" altLang="fr-FR" sz="2800" b="1" dirty="0">
                <a:solidFill>
                  <a:schemeClr val="bg1"/>
                </a:solidFill>
              </a:rPr>
              <a:t>Elle se distingue de la défiance plus grande de la « collapsologie », comme du techno-optimisme des « transhumanistes »</a:t>
            </a:r>
          </a:p>
        </p:txBody>
      </p:sp>
      <p:sp>
        <p:nvSpPr>
          <p:cNvPr id="5" name="Flèche : droite 4">
            <a:extLst>
              <a:ext uri="{FF2B5EF4-FFF2-40B4-BE49-F238E27FC236}">
                <a16:creationId xmlns:a16="http://schemas.microsoft.com/office/drawing/2014/main" id="{C47760A6-C8D7-42DA-B917-249AC81213E8}"/>
              </a:ext>
            </a:extLst>
          </p:cNvPr>
          <p:cNvSpPr/>
          <p:nvPr/>
        </p:nvSpPr>
        <p:spPr>
          <a:xfrm>
            <a:off x="547277" y="1801844"/>
            <a:ext cx="752139" cy="26776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fr-FR" altLang="fr-FR"/>
          </a:p>
        </p:txBody>
      </p:sp>
      <p:sp>
        <p:nvSpPr>
          <p:cNvPr id="6" name="Espace réservé du pied de page 5">
            <a:extLst>
              <a:ext uri="{FF2B5EF4-FFF2-40B4-BE49-F238E27FC236}">
                <a16:creationId xmlns:a16="http://schemas.microsoft.com/office/drawing/2014/main" id="{BE096591-9108-4BBA-BE96-4539A0800CEC}"/>
              </a:ext>
            </a:extLst>
          </p:cNvPr>
          <p:cNvSpPr>
            <a:spLocks noGrp="1"/>
          </p:cNvSpPr>
          <p:nvPr>
            <p:ph type="ftr" sz="quarter" idx="11"/>
          </p:nvPr>
        </p:nvSpPr>
        <p:spPr/>
        <p:txBody>
          <a:bodyPr numCol="1"/>
          <a:lstStyle/>
          <a:p>
            <a:r>
              <a:rPr lang="fr-FR" altLang="fr-FR"/>
              <a:t>Pole Humanités Design Département des Relations Humaines</a:t>
            </a:r>
          </a:p>
        </p:txBody>
      </p:sp>
      <p:sp>
        <p:nvSpPr>
          <p:cNvPr id="7" name="Espace réservé du numéro de diapositive 6">
            <a:extLst>
              <a:ext uri="{FF2B5EF4-FFF2-40B4-BE49-F238E27FC236}">
                <a16:creationId xmlns:a16="http://schemas.microsoft.com/office/drawing/2014/main" id="{F563AF7F-0994-4E82-8856-9899F558078D}"/>
              </a:ext>
            </a:extLst>
          </p:cNvPr>
          <p:cNvSpPr>
            <a:spLocks noGrp="1"/>
          </p:cNvSpPr>
          <p:nvPr>
            <p:ph type="sldNum" sz="quarter" idx="12"/>
          </p:nvPr>
        </p:nvSpPr>
        <p:spPr/>
        <p:txBody>
          <a:bodyPr numCol="1"/>
          <a:lstStyle/>
          <a:p>
            <a:fld id="{788DAB52-6294-4F97-81DD-ABD852645FBC}" type="slidenum">
              <a:rPr lang="fr-FR" altLang="fr-FR" smtClean="0"/>
              <a:t>20</a:t>
            </a:fld>
            <a:endParaRPr lang="fr-FR" altLang="fr-FR"/>
          </a:p>
        </p:txBody>
      </p:sp>
    </p:spTree>
    <p:extLst>
      <p:ext uri="{BB962C8B-B14F-4D97-AF65-F5344CB8AC3E}">
        <p14:creationId xmlns:p14="http://schemas.microsoft.com/office/powerpoint/2010/main" val="695274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24C169-2822-40F6-8697-60E8EDDA4AEF}"/>
              </a:ext>
            </a:extLst>
          </p:cNvPr>
          <p:cNvSpPr>
            <a:spLocks noGrp="1"/>
          </p:cNvSpPr>
          <p:nvPr>
            <p:ph type="title"/>
          </p:nvPr>
        </p:nvSpPr>
        <p:spPr>
          <a:xfrm>
            <a:off x="838200" y="2322714"/>
            <a:ext cx="10515600" cy="1325563"/>
          </a:xfrm>
          <a:ln>
            <a:solidFill>
              <a:schemeClr val="accent1"/>
            </a:solidFill>
          </a:ln>
          <a:effectLst>
            <a:outerShdw blurRad="63500" sx="102000" sy="102000" algn="ctr" rotWithShape="0">
              <a:prstClr val="black">
                <a:alpha val="40000"/>
              </a:prstClr>
            </a:outerShdw>
          </a:effectLst>
        </p:spPr>
        <p:txBody>
          <a:bodyPr vert="horz" lIns="91440" tIns="45720" rIns="91440" bIns="45720" numCol="1" rtlCol="0" anchor="ctr">
            <a:normAutofit fontScale="90000"/>
          </a:bodyPr>
          <a:lstStyle/>
          <a:p>
            <a:pPr algn="ctr"/>
            <a:r>
              <a:rPr lang="fr-FR" dirty="0">
                <a:solidFill>
                  <a:srgbClr val="0070C0"/>
                </a:solidFill>
              </a:rPr>
              <a:t>De la naissance de la conscience environnementale à l’idée d’ « anthropocène »</a:t>
            </a:r>
          </a:p>
        </p:txBody>
      </p:sp>
    </p:spTree>
    <p:extLst>
      <p:ext uri="{BB962C8B-B14F-4D97-AF65-F5344CB8AC3E}">
        <p14:creationId xmlns:p14="http://schemas.microsoft.com/office/powerpoint/2010/main" val="392811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B6126E-A3D1-5B88-029E-4722D47B27C6}"/>
              </a:ext>
            </a:extLst>
          </p:cNvPr>
          <p:cNvSpPr>
            <a:spLocks noGrp="1"/>
          </p:cNvSpPr>
          <p:nvPr>
            <p:ph type="title"/>
          </p:nvPr>
        </p:nvSpPr>
        <p:spPr/>
        <p:txBody>
          <a:bodyPr/>
          <a:lstStyle/>
          <a:p>
            <a:pPr algn="ctr"/>
            <a:r>
              <a:rPr lang="fr-FR" dirty="0"/>
              <a:t>Une préoccupation (au moins) aussi ancienne que la révolution industrielle…</a:t>
            </a:r>
          </a:p>
        </p:txBody>
      </p:sp>
      <p:sp>
        <p:nvSpPr>
          <p:cNvPr id="6" name="Espace réservé du contenu 5">
            <a:extLst>
              <a:ext uri="{FF2B5EF4-FFF2-40B4-BE49-F238E27FC236}">
                <a16:creationId xmlns:a16="http://schemas.microsoft.com/office/drawing/2014/main" id="{5EB4E23D-A701-298F-6ACD-220DB4571390}"/>
              </a:ext>
            </a:extLst>
          </p:cNvPr>
          <p:cNvSpPr>
            <a:spLocks noGrp="1"/>
          </p:cNvSpPr>
          <p:nvPr>
            <p:ph idx="1"/>
          </p:nvPr>
        </p:nvSpPr>
        <p:spPr>
          <a:xfrm>
            <a:off x="838200" y="2329313"/>
            <a:ext cx="10515600" cy="2754315"/>
          </a:xfrm>
        </p:spPr>
        <p:txBody>
          <a:bodyPr/>
          <a:lstStyle/>
          <a:p>
            <a:pPr marL="0" indent="0">
              <a:buNone/>
            </a:pPr>
            <a:r>
              <a:rPr lang="fr-FR" dirty="0">
                <a:solidFill>
                  <a:srgbClr val="0070C0"/>
                </a:solidFill>
              </a:rPr>
              <a:t>« Dans cent ou deux cents ans le monde, étant sillonné de chemins de fer, de bateaux à vapeur, étant couvert d’usines, de fabriques, dégagera des billions de mètres cubes d’acide carbonique et d’oxyde de carbone, et comme les forêts auront été détruites, ces centaines de billions d’acide carbonique et d’oxyde de carbone pourront bien troubler un peu l’harmonie du monde » (Eugène </a:t>
            </a:r>
            <a:r>
              <a:rPr lang="fr-FR" dirty="0" err="1">
                <a:solidFill>
                  <a:srgbClr val="0070C0"/>
                </a:solidFill>
              </a:rPr>
              <a:t>Huzar</a:t>
            </a:r>
            <a:r>
              <a:rPr lang="fr-FR" dirty="0">
                <a:solidFill>
                  <a:srgbClr val="0070C0"/>
                </a:solidFill>
              </a:rPr>
              <a:t>, 1857).</a:t>
            </a:r>
          </a:p>
        </p:txBody>
      </p:sp>
    </p:spTree>
    <p:extLst>
      <p:ext uri="{BB962C8B-B14F-4D97-AF65-F5344CB8AC3E}">
        <p14:creationId xmlns:p14="http://schemas.microsoft.com/office/powerpoint/2010/main" val="2006934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AFCD3-9ACC-476D-9662-FA8EEA770A2E}"/>
              </a:ext>
            </a:extLst>
          </p:cNvPr>
          <p:cNvSpPr>
            <a:spLocks noGrp="1"/>
          </p:cNvSpPr>
          <p:nvPr>
            <p:ph type="title"/>
          </p:nvPr>
        </p:nvSpPr>
        <p:spPr>
          <a:xfrm>
            <a:off x="404446" y="167060"/>
            <a:ext cx="11383107" cy="922704"/>
          </a:xfrm>
        </p:spPr>
        <p:txBody>
          <a:bodyPr numCol="1">
            <a:normAutofit fontScale="90000"/>
          </a:bodyPr>
          <a:lstStyle/>
          <a:p>
            <a:pPr algn="ctr"/>
            <a:r>
              <a:rPr lang="fr-FR" altLang="fr-FR" dirty="0"/>
              <a:t>Mais surtout relancée à partir des années 1970</a:t>
            </a:r>
            <a:br>
              <a:rPr lang="fr-FR" altLang="fr-FR" dirty="0"/>
            </a:br>
            <a:r>
              <a:rPr lang="fr-FR" altLang="fr-FR" dirty="0"/>
              <a:t>Quelques repères chronologiques</a:t>
            </a:r>
          </a:p>
        </p:txBody>
      </p:sp>
      <p:sp>
        <p:nvSpPr>
          <p:cNvPr id="3" name="Espace réservé du contenu 2">
            <a:extLst>
              <a:ext uri="{FF2B5EF4-FFF2-40B4-BE49-F238E27FC236}">
                <a16:creationId xmlns:a16="http://schemas.microsoft.com/office/drawing/2014/main" id="{6216B5F4-24EF-4052-A028-85E1ABA10B2C}"/>
              </a:ext>
            </a:extLst>
          </p:cNvPr>
          <p:cNvSpPr>
            <a:spLocks noGrp="1"/>
          </p:cNvSpPr>
          <p:nvPr>
            <p:ph idx="1"/>
          </p:nvPr>
        </p:nvSpPr>
        <p:spPr>
          <a:xfrm>
            <a:off x="838200" y="1427966"/>
            <a:ext cx="11056535" cy="5114347"/>
          </a:xfrm>
          <a:ln w="38100">
            <a:solidFill>
              <a:srgbClr val="0070C0"/>
            </a:solidFill>
          </a:ln>
        </p:spPr>
        <p:txBody>
          <a:bodyPr numCol="1">
            <a:noAutofit/>
          </a:bodyPr>
          <a:lstStyle/>
          <a:p>
            <a:pPr>
              <a:lnSpc>
                <a:spcPct val="80000"/>
              </a:lnSpc>
              <a:spcBef>
                <a:spcPts val="600"/>
              </a:spcBef>
            </a:pPr>
            <a:r>
              <a:rPr lang="fr-FR" altLang="fr-FR" sz="2600" dirty="0"/>
              <a:t>Rapport du Club de Rome de 1972, alertant sur </a:t>
            </a:r>
            <a:r>
              <a:rPr lang="fr-FR" altLang="fr-FR" sz="2600" b="1" dirty="0"/>
              <a:t>l’impossibilité d’une croissance infinie</a:t>
            </a:r>
            <a:r>
              <a:rPr lang="fr-FR" altLang="fr-FR" sz="2600" dirty="0"/>
              <a:t>.</a:t>
            </a:r>
          </a:p>
          <a:p>
            <a:pPr>
              <a:lnSpc>
                <a:spcPct val="80000"/>
              </a:lnSpc>
              <a:spcBef>
                <a:spcPts val="600"/>
              </a:spcBef>
            </a:pPr>
            <a:r>
              <a:rPr lang="fr-FR" altLang="fr-FR" sz="2600" dirty="0"/>
              <a:t>1</a:t>
            </a:r>
            <a:r>
              <a:rPr lang="fr-FR" altLang="fr-FR" sz="2600" baseline="30000" dirty="0"/>
              <a:t>ère</a:t>
            </a:r>
            <a:r>
              <a:rPr lang="fr-FR" altLang="fr-FR" sz="2600" dirty="0"/>
              <a:t> Conférence internationale sur l’environnement, à Stockholm, en 1972.</a:t>
            </a:r>
          </a:p>
          <a:p>
            <a:pPr>
              <a:lnSpc>
                <a:spcPct val="80000"/>
              </a:lnSpc>
              <a:spcBef>
                <a:spcPts val="600"/>
              </a:spcBef>
            </a:pPr>
            <a:r>
              <a:rPr lang="fr-FR" altLang="fr-FR" sz="2600" dirty="0"/>
              <a:t>La Charte de la Nature des Nations unies, en 1982, proclame que </a:t>
            </a:r>
            <a:r>
              <a:rPr lang="fr-FR" altLang="fr-FR" sz="2600" i="1" dirty="0">
                <a:solidFill>
                  <a:srgbClr val="0070C0"/>
                </a:solidFill>
              </a:rPr>
              <a:t>« toute forme de vie est unique, et mérite le respect, indépendamment de ce qu’elle vaut pour l’homme ».</a:t>
            </a:r>
          </a:p>
          <a:p>
            <a:pPr>
              <a:lnSpc>
                <a:spcPct val="80000"/>
              </a:lnSpc>
              <a:spcBef>
                <a:spcPts val="600"/>
              </a:spcBef>
            </a:pPr>
            <a:r>
              <a:rPr lang="fr-FR" altLang="fr-FR" sz="2600" dirty="0"/>
              <a:t>En 1984, catastrophe de Bhopal.</a:t>
            </a:r>
          </a:p>
          <a:p>
            <a:pPr>
              <a:lnSpc>
                <a:spcPct val="80000"/>
              </a:lnSpc>
              <a:spcBef>
                <a:spcPts val="600"/>
              </a:spcBef>
            </a:pPr>
            <a:r>
              <a:rPr lang="fr-FR" altLang="fr-FR" sz="2600" dirty="0"/>
              <a:t>Convention de Vienne sur la </a:t>
            </a:r>
            <a:r>
              <a:rPr lang="fr-FR" altLang="fr-FR" sz="2600" b="1" dirty="0"/>
              <a:t>protection de la couche d’ozone </a:t>
            </a:r>
            <a:r>
              <a:rPr lang="fr-FR" altLang="fr-FR" sz="2600" dirty="0"/>
              <a:t>en 1985, qui sera suivi par le</a:t>
            </a:r>
            <a:r>
              <a:rPr lang="fr-FR" altLang="fr-FR" sz="2600" b="1" dirty="0"/>
              <a:t> protocole de Montréal</a:t>
            </a:r>
            <a:r>
              <a:rPr lang="fr-FR" altLang="fr-FR" sz="2600" dirty="0"/>
              <a:t>, pionnier (1987) qui a atteint ses objectifs.</a:t>
            </a:r>
          </a:p>
          <a:p>
            <a:pPr>
              <a:lnSpc>
                <a:spcPct val="80000"/>
              </a:lnSpc>
              <a:spcBef>
                <a:spcPts val="600"/>
              </a:spcBef>
            </a:pPr>
            <a:r>
              <a:rPr lang="fr-FR" altLang="fr-FR" sz="2600" dirty="0"/>
              <a:t>En 1986, catastrophe nucléaire de Tchernobyl.</a:t>
            </a:r>
          </a:p>
          <a:p>
            <a:pPr>
              <a:lnSpc>
                <a:spcPct val="80000"/>
              </a:lnSpc>
              <a:spcBef>
                <a:spcPts val="600"/>
              </a:spcBef>
            </a:pPr>
            <a:r>
              <a:rPr lang="fr-FR" altLang="fr-FR" sz="2600" dirty="0"/>
              <a:t>Définition de la notion de </a:t>
            </a:r>
            <a:r>
              <a:rPr lang="fr-FR" altLang="fr-FR" sz="2600" b="1" dirty="0"/>
              <a:t>développement durable</a:t>
            </a:r>
            <a:r>
              <a:rPr lang="fr-FR" altLang="fr-FR" sz="2600" dirty="0"/>
              <a:t>, selon le </a:t>
            </a:r>
            <a:r>
              <a:rPr lang="fr-FR" altLang="fr-FR" sz="2600" dirty="0">
                <a:cs typeface="Times New Roman" panose="02020603050405020304" pitchFamily="18" charset="0"/>
              </a:rPr>
              <a:t>rapport Brundtland (1987) : </a:t>
            </a:r>
            <a:r>
              <a:rPr lang="fr-FR" altLang="fr-FR" sz="2600" i="1" dirty="0">
                <a:solidFill>
                  <a:srgbClr val="0070C0"/>
                </a:solidFill>
                <a:cs typeface="Times New Roman" panose="02020603050405020304" pitchFamily="18" charset="0"/>
              </a:rPr>
              <a:t>« le </a:t>
            </a:r>
            <a:r>
              <a:rPr lang="fr-FR" altLang="fr-FR" sz="2600" b="1" i="1" dirty="0">
                <a:solidFill>
                  <a:srgbClr val="0070C0"/>
                </a:solidFill>
                <a:cs typeface="Times New Roman" panose="02020603050405020304" pitchFamily="18" charset="0"/>
              </a:rPr>
              <a:t>développement durable </a:t>
            </a:r>
            <a:r>
              <a:rPr lang="fr-FR" altLang="fr-FR" sz="2600" i="1" dirty="0">
                <a:solidFill>
                  <a:srgbClr val="0070C0"/>
                </a:solidFill>
                <a:cs typeface="Times New Roman" panose="02020603050405020304" pitchFamily="18" charset="0"/>
              </a:rPr>
              <a:t>est un développement qui répond aux besoins du présent sans compromettre la capacité des générations futures de répondre aux leurs ».</a:t>
            </a:r>
            <a:r>
              <a:rPr lang="fr-FR" altLang="fr-FR" sz="2600" dirty="0"/>
              <a:t> </a:t>
            </a:r>
          </a:p>
          <a:p>
            <a:pPr marL="0" indent="0">
              <a:buNone/>
            </a:pPr>
            <a:endParaRPr lang="fr-FR" altLang="fr-FR" sz="2400" dirty="0"/>
          </a:p>
          <a:p>
            <a:endParaRPr lang="fr-FR" altLang="fr-FR" sz="2400" dirty="0"/>
          </a:p>
        </p:txBody>
      </p:sp>
      <p:sp>
        <p:nvSpPr>
          <p:cNvPr id="4" name="Espace réservé du pied de page 3">
            <a:extLst>
              <a:ext uri="{FF2B5EF4-FFF2-40B4-BE49-F238E27FC236}">
                <a16:creationId xmlns:a16="http://schemas.microsoft.com/office/drawing/2014/main" id="{8B408DF4-5AE7-4AAA-8D9C-BE44FDC28C2E}"/>
              </a:ext>
            </a:extLst>
          </p:cNvPr>
          <p:cNvSpPr>
            <a:spLocks noGrp="1"/>
          </p:cNvSpPr>
          <p:nvPr>
            <p:ph type="ftr" sz="quarter" idx="11"/>
          </p:nvPr>
        </p:nvSpPr>
        <p:spPr/>
        <p:txBody>
          <a:bodyPr numCol="1"/>
          <a:lstStyle/>
          <a:p>
            <a:r>
              <a:rPr lang="fr-FR" altLang="fr-FR" dirty="0"/>
              <a:t>Pole Humanités Design Département des Relations Humaines</a:t>
            </a:r>
          </a:p>
        </p:txBody>
      </p:sp>
      <p:sp>
        <p:nvSpPr>
          <p:cNvPr id="5" name="Espace réservé du numéro de diapositive 4">
            <a:extLst>
              <a:ext uri="{FF2B5EF4-FFF2-40B4-BE49-F238E27FC236}">
                <a16:creationId xmlns:a16="http://schemas.microsoft.com/office/drawing/2014/main" id="{F55DF613-8124-40A7-BA36-1CA1E138DF1A}"/>
              </a:ext>
            </a:extLst>
          </p:cNvPr>
          <p:cNvSpPr>
            <a:spLocks noGrp="1"/>
          </p:cNvSpPr>
          <p:nvPr>
            <p:ph type="sldNum" sz="quarter" idx="12"/>
          </p:nvPr>
        </p:nvSpPr>
        <p:spPr/>
        <p:txBody>
          <a:bodyPr numCol="1"/>
          <a:lstStyle/>
          <a:p>
            <a:fld id="{788DAB52-6294-4F97-81DD-ABD852645FBC}" type="slidenum">
              <a:rPr lang="fr-FR" altLang="fr-FR" smtClean="0"/>
              <a:t>23</a:t>
            </a:fld>
            <a:endParaRPr lang="fr-FR" altLang="fr-FR"/>
          </a:p>
        </p:txBody>
      </p:sp>
      <p:sp>
        <p:nvSpPr>
          <p:cNvPr id="6" name="Flèche : bas 5">
            <a:extLst>
              <a:ext uri="{FF2B5EF4-FFF2-40B4-BE49-F238E27FC236}">
                <a16:creationId xmlns:a16="http://schemas.microsoft.com/office/drawing/2014/main" id="{D3EC7467-105F-4BC8-AC75-191D880FD1FF}"/>
              </a:ext>
            </a:extLst>
          </p:cNvPr>
          <p:cNvSpPr/>
          <p:nvPr/>
        </p:nvSpPr>
        <p:spPr>
          <a:xfrm>
            <a:off x="101600" y="1424565"/>
            <a:ext cx="677496" cy="51143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97109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216B5F4-24EF-4052-A028-85E1ABA10B2C}"/>
              </a:ext>
            </a:extLst>
          </p:cNvPr>
          <p:cNvSpPr>
            <a:spLocks noGrp="1"/>
          </p:cNvSpPr>
          <p:nvPr>
            <p:ph idx="1"/>
          </p:nvPr>
        </p:nvSpPr>
        <p:spPr>
          <a:xfrm>
            <a:off x="939800" y="571500"/>
            <a:ext cx="10756900" cy="5784850"/>
          </a:xfrm>
          <a:ln w="38100">
            <a:solidFill>
              <a:srgbClr val="0070C0"/>
            </a:solidFill>
          </a:ln>
        </p:spPr>
        <p:txBody>
          <a:bodyPr numCol="1">
            <a:noAutofit/>
          </a:bodyPr>
          <a:lstStyle/>
          <a:p>
            <a:pPr>
              <a:lnSpc>
                <a:spcPct val="80000"/>
              </a:lnSpc>
              <a:spcBef>
                <a:spcPts val="600"/>
              </a:spcBef>
            </a:pPr>
            <a:r>
              <a:rPr lang="fr-FR" altLang="fr-FR" sz="2600" dirty="0"/>
              <a:t>Sommet de la Terre de Rio en juin 1992 : </a:t>
            </a:r>
            <a:r>
              <a:rPr lang="fr-FR" altLang="fr-FR" sz="2600" b="1" dirty="0"/>
              <a:t>reconnaissance officielle mondiale de la problématique environnementale</a:t>
            </a:r>
            <a:r>
              <a:rPr lang="fr-FR" altLang="fr-FR" sz="2600" dirty="0"/>
              <a:t>.</a:t>
            </a:r>
          </a:p>
          <a:p>
            <a:pPr>
              <a:lnSpc>
                <a:spcPct val="80000"/>
              </a:lnSpc>
              <a:spcBef>
                <a:spcPts val="600"/>
              </a:spcBef>
            </a:pPr>
            <a:r>
              <a:rPr lang="fr-FR" altLang="fr-FR" sz="2600" dirty="0"/>
              <a:t>En 1997 à Kyoto, </a:t>
            </a:r>
            <a:r>
              <a:rPr lang="fr-FR" altLang="fr-FR" sz="2600" b="1" dirty="0"/>
              <a:t>protocole de limitation des gaz à effet de serre</a:t>
            </a:r>
            <a:r>
              <a:rPr lang="fr-FR" altLang="fr-FR" sz="2600" dirty="0"/>
              <a:t>.</a:t>
            </a:r>
          </a:p>
          <a:p>
            <a:pPr>
              <a:lnSpc>
                <a:spcPct val="80000"/>
              </a:lnSpc>
              <a:spcBef>
                <a:spcPts val="600"/>
              </a:spcBef>
            </a:pPr>
            <a:r>
              <a:rPr lang="fr-FR" altLang="fr-FR" sz="2600" dirty="0"/>
              <a:t>2002 Sommet mondial sur le développement durable de Johannesburg.</a:t>
            </a:r>
          </a:p>
          <a:p>
            <a:pPr>
              <a:lnSpc>
                <a:spcPct val="80000"/>
              </a:lnSpc>
              <a:spcBef>
                <a:spcPts val="600"/>
              </a:spcBef>
            </a:pPr>
            <a:r>
              <a:rPr lang="fr-FR" altLang="fr-FR" sz="2600" dirty="0"/>
              <a:t>Catastrophe de Fukushima, en 2011.</a:t>
            </a:r>
          </a:p>
          <a:p>
            <a:pPr>
              <a:lnSpc>
                <a:spcPct val="80000"/>
              </a:lnSpc>
              <a:spcBef>
                <a:spcPts val="600"/>
              </a:spcBef>
            </a:pPr>
            <a:r>
              <a:rPr lang="fr-FR" altLang="fr-FR" sz="2600" b="1" dirty="0"/>
              <a:t>COP21 de Paris en 2015</a:t>
            </a:r>
            <a:r>
              <a:rPr lang="fr-FR" altLang="fr-FR" sz="2600" dirty="0"/>
              <a:t>, passage d’une logique de coopération à une logique de coordination. </a:t>
            </a:r>
            <a:r>
              <a:rPr lang="fr-FR" altLang="fr-FR" sz="2600" b="1" dirty="0"/>
              <a:t>Agenda 2030 du développement durable </a:t>
            </a:r>
            <a:r>
              <a:rPr lang="fr-FR" altLang="fr-FR" sz="2600" dirty="0"/>
              <a:t>avec les </a:t>
            </a:r>
            <a:r>
              <a:rPr lang="fr-FR" altLang="fr-FR" sz="2600" b="1" dirty="0"/>
              <a:t>17 ODD</a:t>
            </a:r>
            <a:r>
              <a:rPr lang="fr-FR" altLang="fr-FR" sz="2600" dirty="0"/>
              <a:t>.</a:t>
            </a:r>
          </a:p>
          <a:p>
            <a:pPr>
              <a:lnSpc>
                <a:spcPct val="80000"/>
              </a:lnSpc>
              <a:spcBef>
                <a:spcPts val="600"/>
              </a:spcBef>
            </a:pPr>
            <a:r>
              <a:rPr lang="fr-FR" altLang="fr-FR" sz="2600" dirty="0"/>
              <a:t>2017, Prix Nobel de la Paix attribué au </a:t>
            </a:r>
            <a:r>
              <a:rPr lang="fr-FR" altLang="fr-FR" sz="2600" b="1" dirty="0"/>
              <a:t>GIEC</a:t>
            </a:r>
            <a:r>
              <a:rPr lang="fr-FR" altLang="fr-FR" sz="2600" dirty="0"/>
              <a:t> et à Al Gore.</a:t>
            </a:r>
          </a:p>
          <a:p>
            <a:pPr>
              <a:lnSpc>
                <a:spcPct val="80000"/>
              </a:lnSpc>
              <a:spcBef>
                <a:spcPts val="600"/>
              </a:spcBef>
            </a:pPr>
            <a:r>
              <a:rPr lang="fr-FR" altLang="fr-FR" sz="2600" dirty="0"/>
              <a:t>2018, fondation du mouvement Extinction Rébellion, popularisé par Greta </a:t>
            </a:r>
            <a:r>
              <a:rPr lang="fr-FR" altLang="fr-FR" sz="2600" dirty="0" err="1"/>
              <a:t>Thunberg</a:t>
            </a:r>
            <a:endParaRPr lang="fr-FR" altLang="fr-FR" sz="2600" dirty="0"/>
          </a:p>
          <a:p>
            <a:pPr>
              <a:lnSpc>
                <a:spcPct val="80000"/>
              </a:lnSpc>
              <a:spcBef>
                <a:spcPts val="600"/>
              </a:spcBef>
            </a:pPr>
            <a:r>
              <a:rPr lang="fr-FR" altLang="fr-FR" sz="2600" dirty="0"/>
              <a:t>2020, début de la pandémie du Covid-19.</a:t>
            </a:r>
          </a:p>
          <a:p>
            <a:pPr>
              <a:lnSpc>
                <a:spcPct val="80000"/>
              </a:lnSpc>
              <a:spcBef>
                <a:spcPts val="600"/>
              </a:spcBef>
            </a:pPr>
            <a:r>
              <a:rPr lang="fr-FR" altLang="fr-FR" sz="2600" dirty="0"/>
              <a:t>Evénements climatiques extrêmes, avec inondations en Allemagne et Belgique à la mi-juillet 2021.</a:t>
            </a:r>
          </a:p>
          <a:p>
            <a:pPr>
              <a:lnSpc>
                <a:spcPct val="80000"/>
              </a:lnSpc>
              <a:spcBef>
                <a:spcPts val="600"/>
              </a:spcBef>
            </a:pPr>
            <a:r>
              <a:rPr lang="fr-FR" altLang="fr-FR" sz="2600" dirty="0"/>
              <a:t>COP27 en Egypte, discussions sur le mécanisme « </a:t>
            </a:r>
            <a:r>
              <a:rPr lang="fr-FR" altLang="fr-FR" sz="2600" b="1" dirty="0"/>
              <a:t>pertes et dommages </a:t>
            </a:r>
            <a:r>
              <a:rPr lang="fr-FR" altLang="fr-FR" sz="2600" dirty="0"/>
              <a:t>» (2022).</a:t>
            </a:r>
          </a:p>
          <a:p>
            <a:endParaRPr lang="fr-FR" altLang="fr-FR" sz="2400" dirty="0"/>
          </a:p>
          <a:p>
            <a:endParaRPr lang="fr-FR" altLang="fr-FR" sz="2400" dirty="0"/>
          </a:p>
          <a:p>
            <a:endParaRPr lang="fr-FR" altLang="fr-FR" sz="2400" dirty="0"/>
          </a:p>
        </p:txBody>
      </p:sp>
      <p:sp>
        <p:nvSpPr>
          <p:cNvPr id="4" name="Espace réservé du pied de page 3">
            <a:extLst>
              <a:ext uri="{FF2B5EF4-FFF2-40B4-BE49-F238E27FC236}">
                <a16:creationId xmlns:a16="http://schemas.microsoft.com/office/drawing/2014/main" id="{8B408DF4-5AE7-4AAA-8D9C-BE44FDC28C2E}"/>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F55DF613-8124-40A7-BA36-1CA1E138DF1A}"/>
              </a:ext>
            </a:extLst>
          </p:cNvPr>
          <p:cNvSpPr>
            <a:spLocks noGrp="1"/>
          </p:cNvSpPr>
          <p:nvPr>
            <p:ph type="sldNum" sz="quarter" idx="12"/>
          </p:nvPr>
        </p:nvSpPr>
        <p:spPr/>
        <p:txBody>
          <a:bodyPr numCol="1"/>
          <a:lstStyle/>
          <a:p>
            <a:fld id="{788DAB52-6294-4F97-81DD-ABD852645FBC}" type="slidenum">
              <a:rPr lang="fr-FR" altLang="fr-FR" smtClean="0"/>
              <a:t>24</a:t>
            </a:fld>
            <a:endParaRPr lang="fr-FR" altLang="fr-FR"/>
          </a:p>
        </p:txBody>
      </p:sp>
      <p:sp>
        <p:nvSpPr>
          <p:cNvPr id="8" name="Flèche : bas 7">
            <a:extLst>
              <a:ext uri="{FF2B5EF4-FFF2-40B4-BE49-F238E27FC236}">
                <a16:creationId xmlns:a16="http://schemas.microsoft.com/office/drawing/2014/main" id="{A837C79A-BB85-336F-AC22-8A39D5D153BF}"/>
              </a:ext>
            </a:extLst>
          </p:cNvPr>
          <p:cNvSpPr/>
          <p:nvPr/>
        </p:nvSpPr>
        <p:spPr>
          <a:xfrm>
            <a:off x="101600" y="571501"/>
            <a:ext cx="677496" cy="578484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067962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D7AD90-D8A9-4DCB-80D3-0A37B93EB801}"/>
              </a:ext>
            </a:extLst>
          </p:cNvPr>
          <p:cNvSpPr>
            <a:spLocks noGrp="1"/>
          </p:cNvSpPr>
          <p:nvPr>
            <p:ph type="title"/>
          </p:nvPr>
        </p:nvSpPr>
        <p:spPr>
          <a:xfrm>
            <a:off x="838200" y="83771"/>
            <a:ext cx="10515600" cy="772013"/>
          </a:xfrm>
        </p:spPr>
        <p:txBody>
          <a:bodyPr numCol="1"/>
          <a:lstStyle/>
          <a:p>
            <a:pPr algn="ctr"/>
            <a:r>
              <a:rPr lang="fr-FR" altLang="fr-FR" dirty="0"/>
              <a:t>Enjeux et controverses</a:t>
            </a:r>
          </a:p>
        </p:txBody>
      </p:sp>
      <p:sp>
        <p:nvSpPr>
          <p:cNvPr id="3" name="Espace réservé du contenu 2">
            <a:extLst>
              <a:ext uri="{FF2B5EF4-FFF2-40B4-BE49-F238E27FC236}">
                <a16:creationId xmlns:a16="http://schemas.microsoft.com/office/drawing/2014/main" id="{40D2AA26-E15F-456D-A340-E9054BD00FCE}"/>
              </a:ext>
            </a:extLst>
          </p:cNvPr>
          <p:cNvSpPr>
            <a:spLocks noGrp="1"/>
          </p:cNvSpPr>
          <p:nvPr>
            <p:ph idx="1"/>
          </p:nvPr>
        </p:nvSpPr>
        <p:spPr>
          <a:xfrm>
            <a:off x="615950" y="1612900"/>
            <a:ext cx="10960100" cy="2501900"/>
          </a:xfrm>
        </p:spPr>
        <p:txBody>
          <a:bodyPr numCol="1">
            <a:normAutofit/>
          </a:bodyPr>
          <a:lstStyle/>
          <a:p>
            <a:r>
              <a:rPr lang="fr-FR" altLang="fr-FR" b="1" dirty="0"/>
              <a:t>Prise en compte du caractère global des enjeux </a:t>
            </a:r>
            <a:r>
              <a:rPr lang="fr-FR" altLang="fr-FR" dirty="0"/>
              <a:t>(ex : la couche d’ozone, Tchernobyl et le paradigme du « développement durable »).</a:t>
            </a:r>
          </a:p>
          <a:p>
            <a:r>
              <a:rPr lang="fr-FR" altLang="fr-FR" dirty="0"/>
              <a:t>Mise </a:t>
            </a:r>
            <a:r>
              <a:rPr lang="fr-FR" altLang="fr-FR"/>
              <a:t>en place </a:t>
            </a:r>
            <a:r>
              <a:rPr lang="fr-FR" altLang="fr-FR" dirty="0"/>
              <a:t>d’une </a:t>
            </a:r>
            <a:r>
              <a:rPr lang="fr-FR" altLang="fr-FR" b="1" dirty="0"/>
              <a:t>gouvernance internationale</a:t>
            </a:r>
            <a:r>
              <a:rPr lang="fr-FR" altLang="fr-FR" dirty="0"/>
              <a:t>, sur le principe de </a:t>
            </a:r>
            <a:r>
              <a:rPr lang="fr-FR" altLang="fr-FR" b="1" dirty="0"/>
              <a:t>responsabilités communes mais différenciées</a:t>
            </a:r>
            <a:r>
              <a:rPr lang="fr-FR" altLang="fr-FR" dirty="0"/>
              <a:t>, selon les responsabilités des pays et les besoins spécifiques des pays émergents.</a:t>
            </a:r>
          </a:p>
          <a:p>
            <a:endParaRPr lang="fr-FR" altLang="fr-FR" dirty="0"/>
          </a:p>
        </p:txBody>
      </p:sp>
    </p:spTree>
    <p:extLst>
      <p:ext uri="{BB962C8B-B14F-4D97-AF65-F5344CB8AC3E}">
        <p14:creationId xmlns:p14="http://schemas.microsoft.com/office/powerpoint/2010/main" val="3916671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0D2AA26-E15F-456D-A340-E9054BD00FCE}"/>
              </a:ext>
            </a:extLst>
          </p:cNvPr>
          <p:cNvSpPr>
            <a:spLocks noGrp="1"/>
          </p:cNvSpPr>
          <p:nvPr>
            <p:ph idx="1"/>
          </p:nvPr>
        </p:nvSpPr>
        <p:spPr>
          <a:xfrm>
            <a:off x="410307" y="705338"/>
            <a:ext cx="11371385" cy="5035062"/>
          </a:xfrm>
        </p:spPr>
        <p:txBody>
          <a:bodyPr numCol="1">
            <a:normAutofit/>
          </a:bodyPr>
          <a:lstStyle/>
          <a:p>
            <a:r>
              <a:rPr lang="fr-FR" altLang="fr-FR" dirty="0"/>
              <a:t>Cette conscience écologique croissante n’est pas allée sans controverses :</a:t>
            </a:r>
          </a:p>
          <a:p>
            <a:pPr lvl="1">
              <a:buFont typeface="Calibri" panose="020F0502020204030204" pitchFamily="34" charset="0"/>
              <a:buChar char="­"/>
            </a:pPr>
            <a:r>
              <a:rPr lang="fr-FR" altLang="fr-FR" sz="2800" dirty="0"/>
              <a:t>En 1992, en réaction au sommet de Rio, « l’appel de Heidelberg » : le </a:t>
            </a:r>
            <a:r>
              <a:rPr lang="fr-FR" altLang="fr-FR" sz="2800" b="1" dirty="0"/>
              <a:t>refus de freins au progrès scientifique et technique</a:t>
            </a:r>
            <a:r>
              <a:rPr lang="fr-FR" altLang="fr-FR" sz="2800" dirty="0"/>
              <a:t>, témoignant d’une </a:t>
            </a:r>
            <a:r>
              <a:rPr lang="fr-FR" altLang="fr-FR" sz="2800" b="1" dirty="0"/>
              <a:t>défiance initiale de certains milieux scientifiques à l’égard de l’écologie</a:t>
            </a:r>
            <a:r>
              <a:rPr lang="fr-FR" altLang="fr-FR" sz="2800" dirty="0"/>
              <a:t>.</a:t>
            </a:r>
          </a:p>
          <a:p>
            <a:pPr lvl="1">
              <a:buFont typeface="Calibri" panose="020F0502020204030204" pitchFamily="34" charset="0"/>
              <a:buChar char="­"/>
            </a:pPr>
            <a:r>
              <a:rPr lang="fr-FR" altLang="fr-FR" sz="2800" dirty="0"/>
              <a:t>L’expression de </a:t>
            </a:r>
            <a:r>
              <a:rPr lang="fr-FR" altLang="fr-FR" sz="2800" b="1" dirty="0"/>
              <a:t>crainte d’un antihumanisme de certaines tendances écologiques</a:t>
            </a:r>
            <a:r>
              <a:rPr lang="fr-FR" altLang="fr-FR" sz="2800" dirty="0"/>
              <a:t> (voir </a:t>
            </a:r>
            <a:r>
              <a:rPr lang="fr-FR" altLang="fr-FR" sz="2800" i="1" dirty="0"/>
              <a:t>Le nouvel ordre écologique </a:t>
            </a:r>
            <a:r>
              <a:rPr lang="fr-FR" altLang="fr-FR" sz="2800" dirty="0"/>
              <a:t>de Luc Ferry), en opposition à « La Charte de la Nature des Nations Unies » qui proclame que </a:t>
            </a:r>
            <a:r>
              <a:rPr lang="fr-FR" altLang="fr-FR" sz="2800" i="1" dirty="0">
                <a:solidFill>
                  <a:srgbClr val="0070C0"/>
                </a:solidFill>
              </a:rPr>
              <a:t>« toute forme de vie est unique, mérite le respect, indépendamment de ce qu’elle vaut pour l’homme ».</a:t>
            </a:r>
          </a:p>
          <a:p>
            <a:endParaRPr lang="fr-FR" altLang="fr-FR" dirty="0"/>
          </a:p>
        </p:txBody>
      </p:sp>
    </p:spTree>
    <p:extLst>
      <p:ext uri="{BB962C8B-B14F-4D97-AF65-F5344CB8AC3E}">
        <p14:creationId xmlns:p14="http://schemas.microsoft.com/office/powerpoint/2010/main" val="1420545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0D2AA26-E15F-456D-A340-E9054BD00FCE}"/>
              </a:ext>
            </a:extLst>
          </p:cNvPr>
          <p:cNvSpPr>
            <a:spLocks noGrp="1"/>
          </p:cNvSpPr>
          <p:nvPr>
            <p:ph idx="1"/>
          </p:nvPr>
        </p:nvSpPr>
        <p:spPr>
          <a:xfrm>
            <a:off x="939801" y="1640132"/>
            <a:ext cx="10718799" cy="2564805"/>
          </a:xfrm>
          <a:solidFill>
            <a:schemeClr val="accent1">
              <a:lumMod val="20000"/>
              <a:lumOff val="80000"/>
            </a:schemeClr>
          </a:solidFill>
          <a:ln>
            <a:solidFill>
              <a:schemeClr val="accent1"/>
            </a:solidFill>
          </a:ln>
        </p:spPr>
        <p:txBody>
          <a:bodyPr wrap="square" rtlCol="0">
            <a:spAutoFit/>
          </a:bodyPr>
          <a:lstStyle/>
          <a:p>
            <a:pPr marL="406400" indent="-406400"/>
            <a:r>
              <a:rPr lang="fr-FR" altLang="fr-FR" sz="3200" dirty="0">
                <a:solidFill>
                  <a:srgbClr val="0070C0"/>
                </a:solidFill>
              </a:rPr>
              <a:t>Défendre la nature, est-ce nécessairement faire déchoir l’être humain de son statut, de son privilège ? </a:t>
            </a:r>
          </a:p>
          <a:p>
            <a:pPr marL="406400" indent="-406400"/>
            <a:r>
              <a:rPr lang="fr-FR" altLang="fr-FR" sz="3200" dirty="0">
                <a:solidFill>
                  <a:srgbClr val="0070C0"/>
                </a:solidFill>
              </a:rPr>
              <a:t>La nature peut-elle avoir des droits ? Est-ce la même chose de dire que l’être humain a des devoirs à son égard ?</a:t>
            </a:r>
          </a:p>
          <a:p>
            <a:pPr marL="406400" indent="-406400"/>
            <a:r>
              <a:rPr lang="fr-FR" altLang="fr-FR" sz="3200" dirty="0">
                <a:solidFill>
                  <a:srgbClr val="0070C0"/>
                </a:solidFill>
              </a:rPr>
              <a:t>Et, après tout, que signifie encore la notion de « nature »? </a:t>
            </a:r>
          </a:p>
        </p:txBody>
      </p:sp>
      <p:sp>
        <p:nvSpPr>
          <p:cNvPr id="4" name="Ellipse 3">
            <a:extLst>
              <a:ext uri="{FF2B5EF4-FFF2-40B4-BE49-F238E27FC236}">
                <a16:creationId xmlns:a16="http://schemas.microsoft.com/office/drawing/2014/main" id="{AD613E90-743D-5606-C051-7DDCD53C9A92}"/>
              </a:ext>
            </a:extLst>
          </p:cNvPr>
          <p:cNvSpPr/>
          <p:nvPr/>
        </p:nvSpPr>
        <p:spPr>
          <a:xfrm>
            <a:off x="140187" y="2121254"/>
            <a:ext cx="79961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3176097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EA463EE3-EAE9-A009-90ED-B678432088F5}"/>
              </a:ext>
            </a:extLst>
          </p:cNvPr>
          <p:cNvSpPr txBox="1"/>
          <p:nvPr/>
        </p:nvSpPr>
        <p:spPr>
          <a:xfrm>
            <a:off x="730250" y="1839436"/>
            <a:ext cx="10731500" cy="2246769"/>
          </a:xfrm>
          <a:prstGeom prst="rect">
            <a:avLst/>
          </a:prstGeom>
          <a:noFill/>
        </p:spPr>
        <p:txBody>
          <a:bodyPr wrap="square">
            <a:spAutoFit/>
          </a:bodyPr>
          <a:lstStyle/>
          <a:p>
            <a:pPr marL="457200" indent="-457200">
              <a:buFont typeface="Arial" panose="020B0604020202020204" pitchFamily="34" charset="0"/>
              <a:buChar char="•"/>
            </a:pPr>
            <a:r>
              <a:rPr lang="fr-FR" altLang="fr-FR" sz="2800" dirty="0"/>
              <a:t>Autant de questions qui témoignent de la </a:t>
            </a:r>
            <a:r>
              <a:rPr lang="fr-FR" altLang="fr-FR" sz="2800" b="1" dirty="0"/>
              <a:t>difficulté d’une réflexion philosophique sur l’environnement</a:t>
            </a:r>
            <a:r>
              <a:rPr lang="fr-FR" altLang="fr-FR" sz="2800" dirty="0"/>
              <a:t>.</a:t>
            </a:r>
          </a:p>
          <a:p>
            <a:pPr marL="457200" indent="-457200">
              <a:buFont typeface="Arial" panose="020B0604020202020204" pitchFamily="34" charset="0"/>
              <a:buChar char="•"/>
            </a:pPr>
            <a:r>
              <a:rPr lang="fr-FR" altLang="fr-FR" sz="2800" dirty="0"/>
              <a:t>L’enjeu pourrait consister à élaborer une voie qui préserve </a:t>
            </a:r>
            <a:r>
              <a:rPr lang="fr-FR" altLang="fr-FR" sz="2800" b="1" dirty="0"/>
              <a:t>un certain humanisme</a:t>
            </a:r>
            <a:r>
              <a:rPr lang="fr-FR" altLang="fr-FR" sz="2800" dirty="0"/>
              <a:t>, tout en </a:t>
            </a:r>
            <a:r>
              <a:rPr lang="fr-FR" altLang="fr-FR" sz="2800" b="1" dirty="0"/>
              <a:t>intégrant fortement la problématique écologique.</a:t>
            </a:r>
          </a:p>
        </p:txBody>
      </p:sp>
    </p:spTree>
    <p:extLst>
      <p:ext uri="{BB962C8B-B14F-4D97-AF65-F5344CB8AC3E}">
        <p14:creationId xmlns:p14="http://schemas.microsoft.com/office/powerpoint/2010/main" val="1655686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24C169-2822-40F6-8697-60E8EDDA4AEF}"/>
              </a:ext>
            </a:extLst>
          </p:cNvPr>
          <p:cNvSpPr>
            <a:spLocks noGrp="1"/>
          </p:cNvSpPr>
          <p:nvPr>
            <p:ph type="title"/>
          </p:nvPr>
        </p:nvSpPr>
        <p:spPr>
          <a:xfrm>
            <a:off x="838200" y="2322714"/>
            <a:ext cx="10515600" cy="1325563"/>
          </a:xfrm>
          <a:ln>
            <a:solidFill>
              <a:schemeClr val="accent1"/>
            </a:solidFill>
          </a:ln>
          <a:effectLst>
            <a:outerShdw blurRad="63500" sx="102000" sy="102000" algn="ctr" rotWithShape="0">
              <a:prstClr val="black">
                <a:alpha val="40000"/>
              </a:prstClr>
            </a:outerShdw>
          </a:effectLst>
        </p:spPr>
        <p:txBody>
          <a:bodyPr vert="horz" lIns="91440" tIns="45720" rIns="91440" bIns="45720" numCol="1" rtlCol="0" anchor="ctr">
            <a:normAutofit/>
          </a:bodyPr>
          <a:lstStyle/>
          <a:p>
            <a:pPr algn="ctr"/>
            <a:r>
              <a:rPr lang="fr-FR" dirty="0">
                <a:solidFill>
                  <a:srgbClr val="0070C0"/>
                </a:solidFill>
              </a:rPr>
              <a:t>L’ « anthropocène » :</a:t>
            </a:r>
            <a:br>
              <a:rPr lang="fr-FR" dirty="0">
                <a:solidFill>
                  <a:srgbClr val="0070C0"/>
                </a:solidFill>
              </a:rPr>
            </a:br>
            <a:r>
              <a:rPr lang="fr-FR" dirty="0">
                <a:solidFill>
                  <a:srgbClr val="0070C0"/>
                </a:solidFill>
              </a:rPr>
              <a:t>un changement de paradigme</a:t>
            </a:r>
          </a:p>
        </p:txBody>
      </p:sp>
    </p:spTree>
    <p:extLst>
      <p:ext uri="{BB962C8B-B14F-4D97-AF65-F5344CB8AC3E}">
        <p14:creationId xmlns:p14="http://schemas.microsoft.com/office/powerpoint/2010/main" val="2656296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91C2EB-4129-51EC-7B2E-9D89EBA29DAA}"/>
              </a:ext>
            </a:extLst>
          </p:cNvPr>
          <p:cNvSpPr/>
          <p:nvPr/>
        </p:nvSpPr>
        <p:spPr>
          <a:xfrm>
            <a:off x="0" y="0"/>
            <a:ext cx="121920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BF833DE2-331A-F5D1-5044-B2966A0A2B79}"/>
              </a:ext>
            </a:extLst>
          </p:cNvPr>
          <p:cNvSpPr txBox="1"/>
          <p:nvPr/>
        </p:nvSpPr>
        <p:spPr>
          <a:xfrm>
            <a:off x="774700" y="1477680"/>
            <a:ext cx="10642600" cy="3647793"/>
          </a:xfrm>
          <a:prstGeom prst="rect">
            <a:avLst/>
          </a:prstGeom>
          <a:noFill/>
        </p:spPr>
        <p:txBody>
          <a:bodyPr wrap="square">
            <a:spAutoFit/>
          </a:bodyPr>
          <a:lstStyle/>
          <a:p>
            <a:pPr>
              <a:lnSpc>
                <a:spcPct val="80000"/>
              </a:lnSpc>
            </a:pPr>
            <a:r>
              <a:rPr lang="fr-FR" altLang="fr-FR" sz="3200" dirty="0">
                <a:solidFill>
                  <a:srgbClr val="0070C0"/>
                </a:solidFill>
              </a:rPr>
              <a:t>« Si, pour beaucoup, le développement durable s’est révélé décevant, c’est bien parce qu’il s’est borné à </a:t>
            </a:r>
            <a:r>
              <a:rPr lang="fr-FR" altLang="fr-FR" sz="3200" b="1" dirty="0">
                <a:solidFill>
                  <a:srgbClr val="0070C0"/>
                </a:solidFill>
              </a:rPr>
              <a:t>rajouter des contraintes environnementales à une voie déjà tracée</a:t>
            </a:r>
            <a:r>
              <a:rPr lang="fr-FR" altLang="fr-FR" sz="3200" dirty="0">
                <a:solidFill>
                  <a:srgbClr val="0070C0"/>
                </a:solidFill>
              </a:rPr>
              <a:t>, alors que la gravité des questions environnementales demande que l’on </a:t>
            </a:r>
            <a:r>
              <a:rPr lang="fr-FR" altLang="fr-FR" sz="3200" b="1" dirty="0">
                <a:solidFill>
                  <a:srgbClr val="0070C0"/>
                </a:solidFill>
              </a:rPr>
              <a:t>requalifie globalement la situation</a:t>
            </a:r>
            <a:r>
              <a:rPr lang="fr-FR" altLang="fr-FR" sz="3200" dirty="0">
                <a:solidFill>
                  <a:srgbClr val="0070C0"/>
                </a:solidFill>
              </a:rPr>
              <a:t>, pas que l’on se contente de prendre en considération une caractéristique supplémentaire. »</a:t>
            </a:r>
          </a:p>
          <a:p>
            <a:pPr>
              <a:lnSpc>
                <a:spcPct val="80000"/>
              </a:lnSpc>
            </a:pPr>
            <a:r>
              <a:rPr lang="fr-FR" altLang="fr-FR" sz="3200" dirty="0">
                <a:solidFill>
                  <a:srgbClr val="0070C0"/>
                </a:solidFill>
              </a:rPr>
              <a:t>(</a:t>
            </a:r>
            <a:r>
              <a:rPr lang="fr-FR" altLang="fr-FR" sz="3200" dirty="0" err="1">
                <a:solidFill>
                  <a:srgbClr val="0070C0"/>
                </a:solidFill>
              </a:rPr>
              <a:t>Larrère</a:t>
            </a:r>
            <a:r>
              <a:rPr lang="fr-FR" altLang="fr-FR" sz="3200" dirty="0">
                <a:solidFill>
                  <a:srgbClr val="0070C0"/>
                </a:solidFill>
              </a:rPr>
              <a:t> Catherine, Beau Rémi, « Conclusion », dans : Rémi Beau éd., </a:t>
            </a:r>
            <a:r>
              <a:rPr lang="fr-FR" altLang="fr-FR" sz="3200" i="1" dirty="0">
                <a:solidFill>
                  <a:srgbClr val="0070C0"/>
                </a:solidFill>
              </a:rPr>
              <a:t>Penser l’Anthropocène</a:t>
            </a:r>
            <a:r>
              <a:rPr lang="fr-FR" altLang="fr-FR" sz="3200" dirty="0">
                <a:solidFill>
                  <a:srgbClr val="0070C0"/>
                </a:solidFill>
              </a:rPr>
              <a:t>)</a:t>
            </a:r>
          </a:p>
        </p:txBody>
      </p:sp>
    </p:spTree>
    <p:extLst>
      <p:ext uri="{BB962C8B-B14F-4D97-AF65-F5344CB8AC3E}">
        <p14:creationId xmlns:p14="http://schemas.microsoft.com/office/powerpoint/2010/main" val="801693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D61921-FA87-4203-9583-EF8ED75EEA2B}"/>
              </a:ext>
            </a:extLst>
          </p:cNvPr>
          <p:cNvSpPr>
            <a:spLocks noGrp="1"/>
          </p:cNvSpPr>
          <p:nvPr>
            <p:ph idx="1"/>
          </p:nvPr>
        </p:nvSpPr>
        <p:spPr>
          <a:xfrm>
            <a:off x="417773" y="1210615"/>
            <a:ext cx="11563212" cy="3272486"/>
          </a:xfrm>
        </p:spPr>
        <p:txBody>
          <a:bodyPr numCol="1">
            <a:normAutofit/>
          </a:bodyPr>
          <a:lstStyle/>
          <a:p>
            <a:pPr>
              <a:lnSpc>
                <a:spcPct val="80000"/>
              </a:lnSpc>
            </a:pPr>
            <a:r>
              <a:rPr lang="fr-FR" altLang="fr-FR" dirty="0"/>
              <a:t>« L'</a:t>
            </a:r>
            <a:r>
              <a:rPr lang="fr-FR" altLang="fr-FR" b="1" dirty="0"/>
              <a:t>Anthropocène</a:t>
            </a:r>
            <a:r>
              <a:rPr lang="fr-FR" altLang="fr-FR" dirty="0"/>
              <a:t> serait la période durant laquelle l'influence de l'être humain sur la biosphère a atteint un tel niveau qu'elle est devenue une "force géologique" majeure capable de marquer la lithosphère. » (popularisée aux débuts des années 2000 par le géochimiste Paul </a:t>
            </a:r>
            <a:r>
              <a:rPr lang="fr-FR" altLang="fr-FR" dirty="0" err="1"/>
              <a:t>Crutzen</a:t>
            </a:r>
            <a:r>
              <a:rPr lang="fr-FR" altLang="fr-FR" dirty="0"/>
              <a:t>).</a:t>
            </a:r>
          </a:p>
          <a:p>
            <a:pPr>
              <a:lnSpc>
                <a:spcPct val="80000"/>
              </a:lnSpc>
            </a:pPr>
            <a:r>
              <a:rPr lang="fr-FR" altLang="fr-FR" dirty="0"/>
              <a:t>La </a:t>
            </a:r>
            <a:r>
              <a:rPr lang="fr-FR" altLang="fr-FR" b="1" dirty="0"/>
              <a:t>biosphère</a:t>
            </a:r>
            <a:r>
              <a:rPr lang="fr-FR" altLang="fr-FR" dirty="0"/>
              <a:t> est la couche superficielle de la Terre où la vie a pu s’épanouir, dans laquelle les </a:t>
            </a:r>
            <a:r>
              <a:rPr lang="fr-FR" altLang="fr-FR" b="1" dirty="0"/>
              <a:t>écosystèmes</a:t>
            </a:r>
            <a:r>
              <a:rPr lang="fr-FR" altLang="fr-FR" dirty="0"/>
              <a:t> sont en interdépendance.</a:t>
            </a:r>
          </a:p>
        </p:txBody>
      </p:sp>
      <p:sp>
        <p:nvSpPr>
          <p:cNvPr id="4" name="Espace réservé du pied de page 3">
            <a:extLst>
              <a:ext uri="{FF2B5EF4-FFF2-40B4-BE49-F238E27FC236}">
                <a16:creationId xmlns:a16="http://schemas.microsoft.com/office/drawing/2014/main" id="{231F9362-3873-4F0D-B564-513B4E64CB64}"/>
              </a:ext>
            </a:extLst>
          </p:cNvPr>
          <p:cNvSpPr>
            <a:spLocks noGrp="1"/>
          </p:cNvSpPr>
          <p:nvPr>
            <p:ph type="ftr" sz="quarter" idx="11"/>
          </p:nvPr>
        </p:nvSpPr>
        <p:spPr/>
        <p:txBody>
          <a:bodyPr numCol="1"/>
          <a:lstStyle/>
          <a:p>
            <a:r>
              <a:rPr lang="fr-FR" altLang="fr-FR" dirty="0"/>
              <a:t>Pole Humanités Design Département des Relations Humaines</a:t>
            </a:r>
          </a:p>
        </p:txBody>
      </p:sp>
      <p:sp>
        <p:nvSpPr>
          <p:cNvPr id="5" name="Espace réservé du numéro de diapositive 4">
            <a:extLst>
              <a:ext uri="{FF2B5EF4-FFF2-40B4-BE49-F238E27FC236}">
                <a16:creationId xmlns:a16="http://schemas.microsoft.com/office/drawing/2014/main" id="{444B91AB-AC1C-42D2-A02C-68FDF2EA51C7}"/>
              </a:ext>
            </a:extLst>
          </p:cNvPr>
          <p:cNvSpPr>
            <a:spLocks noGrp="1"/>
          </p:cNvSpPr>
          <p:nvPr>
            <p:ph type="sldNum" sz="quarter" idx="12"/>
          </p:nvPr>
        </p:nvSpPr>
        <p:spPr/>
        <p:txBody>
          <a:bodyPr numCol="1"/>
          <a:lstStyle/>
          <a:p>
            <a:fld id="{788DAB52-6294-4F97-81DD-ABD852645FBC}" type="slidenum">
              <a:rPr lang="fr-FR" altLang="fr-FR" smtClean="0"/>
              <a:t>31</a:t>
            </a:fld>
            <a:endParaRPr lang="fr-FR" altLang="fr-FR"/>
          </a:p>
        </p:txBody>
      </p:sp>
    </p:spTree>
    <p:extLst>
      <p:ext uri="{BB962C8B-B14F-4D97-AF65-F5344CB8AC3E}">
        <p14:creationId xmlns:p14="http://schemas.microsoft.com/office/powerpoint/2010/main" val="1341291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D61921-FA87-4203-9583-EF8ED75EEA2B}"/>
              </a:ext>
            </a:extLst>
          </p:cNvPr>
          <p:cNvSpPr>
            <a:spLocks noGrp="1"/>
          </p:cNvSpPr>
          <p:nvPr>
            <p:ph idx="1"/>
          </p:nvPr>
        </p:nvSpPr>
        <p:spPr>
          <a:xfrm>
            <a:off x="417773" y="737273"/>
            <a:ext cx="11563212" cy="5801639"/>
          </a:xfrm>
        </p:spPr>
        <p:txBody>
          <a:bodyPr numCol="1">
            <a:normAutofit/>
          </a:bodyPr>
          <a:lstStyle/>
          <a:p>
            <a:pPr>
              <a:lnSpc>
                <a:spcPct val="80000"/>
              </a:lnSpc>
            </a:pPr>
            <a:r>
              <a:rPr lang="fr-FR" altLang="fr-FR" dirty="0"/>
              <a:t>L’humanité serait devenue l’équivalent d’une </a:t>
            </a:r>
            <a:r>
              <a:rPr lang="fr-FR" altLang="fr-FR" b="1" dirty="0"/>
              <a:t>force géologique </a:t>
            </a:r>
            <a:r>
              <a:rPr lang="fr-FR" altLang="fr-FR" dirty="0"/>
              <a:t>elle-même, faisant sortir la Terre de l’holocène (qui a débuté il y a 11700 ans, qui a permis le développement de </a:t>
            </a:r>
            <a:r>
              <a:rPr lang="fr-FR" altLang="fr-FR" i="1" dirty="0"/>
              <a:t>homo sapiens </a:t>
            </a:r>
            <a:r>
              <a:rPr lang="fr-FR" altLang="fr-FR" dirty="0"/>
              <a:t>après la dernière glaciation, avec naissance de l’agriculture). Mais plutôt que l’humanité, il faudrait préciser que c’est </a:t>
            </a:r>
            <a:r>
              <a:rPr lang="fr-FR" altLang="fr-FR" b="1" dirty="0"/>
              <a:t>un certain mode de vie consumériste </a:t>
            </a:r>
            <a:r>
              <a:rPr lang="fr-FR" altLang="fr-FR" dirty="0"/>
              <a:t>qui ne concerne pas toute l’humanité.</a:t>
            </a:r>
          </a:p>
          <a:p>
            <a:pPr>
              <a:lnSpc>
                <a:spcPct val="80000"/>
              </a:lnSpc>
            </a:pPr>
            <a:r>
              <a:rPr lang="fr-FR" altLang="fr-FR" dirty="0"/>
              <a:t>Cette ère géologique succèderait à l’ « </a:t>
            </a:r>
            <a:r>
              <a:rPr lang="fr-FR" altLang="fr-FR" b="1" dirty="0"/>
              <a:t>holocène</a:t>
            </a:r>
            <a:r>
              <a:rPr lang="fr-FR" altLang="fr-FR" dirty="0"/>
              <a:t> ». D’un point de vue archéologique, l’holocène commence avec le </a:t>
            </a:r>
            <a:r>
              <a:rPr lang="fr-FR" altLang="fr-FR" b="1" dirty="0"/>
              <a:t>mésolithique</a:t>
            </a:r>
            <a:r>
              <a:rPr lang="fr-FR" altLang="fr-FR" dirty="0"/>
              <a:t>. Après des millions d’années de stabilité, il y aurait dans </a:t>
            </a:r>
            <a:r>
              <a:rPr lang="fr-FR" altLang="fr-FR" b="0" i="0" dirty="0">
                <a:solidFill>
                  <a:srgbClr val="323232"/>
                </a:solidFill>
                <a:effectLst/>
              </a:rPr>
              <a:t>l’atmosphère terrestre, une élévation rapide. de la concentration en dioxyde de carbone et en méthane, due aux émissions humaines.</a:t>
            </a:r>
          </a:p>
          <a:p>
            <a:pPr>
              <a:lnSpc>
                <a:spcPct val="80000"/>
              </a:lnSpc>
            </a:pPr>
            <a:r>
              <a:rPr lang="fr-FR" b="0" i="0" dirty="0">
                <a:solidFill>
                  <a:srgbClr val="323232"/>
                </a:solidFill>
              </a:rPr>
              <a:t>Il y a de </a:t>
            </a:r>
            <a:r>
              <a:rPr lang="fr-FR" b="1" i="0" dirty="0">
                <a:solidFill>
                  <a:srgbClr val="323232"/>
                </a:solidFill>
              </a:rPr>
              <a:t>l'irréversible</a:t>
            </a:r>
            <a:r>
              <a:rPr lang="fr-FR" b="0" i="0" dirty="0">
                <a:solidFill>
                  <a:srgbClr val="323232"/>
                </a:solidFill>
              </a:rPr>
              <a:t>, mais ce n'est pas le progrès seulement.</a:t>
            </a:r>
          </a:p>
        </p:txBody>
      </p:sp>
      <p:sp>
        <p:nvSpPr>
          <p:cNvPr id="4" name="Espace réservé du pied de page 3">
            <a:extLst>
              <a:ext uri="{FF2B5EF4-FFF2-40B4-BE49-F238E27FC236}">
                <a16:creationId xmlns:a16="http://schemas.microsoft.com/office/drawing/2014/main" id="{231F9362-3873-4F0D-B564-513B4E64CB64}"/>
              </a:ext>
            </a:extLst>
          </p:cNvPr>
          <p:cNvSpPr>
            <a:spLocks noGrp="1"/>
          </p:cNvSpPr>
          <p:nvPr>
            <p:ph type="ftr" sz="quarter" idx="11"/>
          </p:nvPr>
        </p:nvSpPr>
        <p:spPr/>
        <p:txBody>
          <a:bodyPr numCol="1"/>
          <a:lstStyle/>
          <a:p>
            <a:r>
              <a:rPr lang="fr-FR" altLang="fr-FR" dirty="0"/>
              <a:t>Pole Humanités Design Département des Relations Humaines</a:t>
            </a:r>
          </a:p>
        </p:txBody>
      </p:sp>
      <p:sp>
        <p:nvSpPr>
          <p:cNvPr id="5" name="Espace réservé du numéro de diapositive 4">
            <a:extLst>
              <a:ext uri="{FF2B5EF4-FFF2-40B4-BE49-F238E27FC236}">
                <a16:creationId xmlns:a16="http://schemas.microsoft.com/office/drawing/2014/main" id="{444B91AB-AC1C-42D2-A02C-68FDF2EA51C7}"/>
              </a:ext>
            </a:extLst>
          </p:cNvPr>
          <p:cNvSpPr>
            <a:spLocks noGrp="1"/>
          </p:cNvSpPr>
          <p:nvPr>
            <p:ph type="sldNum" sz="quarter" idx="12"/>
          </p:nvPr>
        </p:nvSpPr>
        <p:spPr/>
        <p:txBody>
          <a:bodyPr numCol="1"/>
          <a:lstStyle/>
          <a:p>
            <a:fld id="{788DAB52-6294-4F97-81DD-ABD852645FBC}" type="slidenum">
              <a:rPr lang="fr-FR" altLang="fr-FR" smtClean="0"/>
              <a:t>32</a:t>
            </a:fld>
            <a:endParaRPr lang="fr-FR" altLang="fr-FR"/>
          </a:p>
        </p:txBody>
      </p:sp>
    </p:spTree>
    <p:extLst>
      <p:ext uri="{BB962C8B-B14F-4D97-AF65-F5344CB8AC3E}">
        <p14:creationId xmlns:p14="http://schemas.microsoft.com/office/powerpoint/2010/main" val="299792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D61921-FA87-4203-9583-EF8ED75EEA2B}"/>
              </a:ext>
            </a:extLst>
          </p:cNvPr>
          <p:cNvSpPr>
            <a:spLocks noGrp="1"/>
          </p:cNvSpPr>
          <p:nvPr>
            <p:ph idx="1"/>
          </p:nvPr>
        </p:nvSpPr>
        <p:spPr>
          <a:xfrm>
            <a:off x="417773" y="476812"/>
            <a:ext cx="11356453" cy="6086826"/>
          </a:xfrm>
        </p:spPr>
        <p:txBody>
          <a:bodyPr numCol="1">
            <a:normAutofit/>
          </a:bodyPr>
          <a:lstStyle/>
          <a:p>
            <a:pPr>
              <a:lnSpc>
                <a:spcPct val="100000"/>
              </a:lnSpc>
              <a:spcBef>
                <a:spcPts val="0"/>
              </a:spcBef>
            </a:pPr>
            <a:r>
              <a:rPr lang="fr-FR" altLang="fr-FR" b="0" i="0" dirty="0">
                <a:solidFill>
                  <a:srgbClr val="323232"/>
                </a:solidFill>
                <a:effectLst/>
              </a:rPr>
              <a:t>Mais </a:t>
            </a:r>
            <a:r>
              <a:rPr lang="fr-FR" altLang="fr-FR" b="1" i="0" dirty="0">
                <a:solidFill>
                  <a:srgbClr val="323232"/>
                </a:solidFill>
                <a:effectLst/>
              </a:rPr>
              <a:t>la question climatique n’est pas la seule</a:t>
            </a:r>
            <a:r>
              <a:rPr lang="fr-FR" altLang="fr-FR" i="0" dirty="0">
                <a:solidFill>
                  <a:srgbClr val="323232"/>
                </a:solidFill>
                <a:effectLst/>
              </a:rPr>
              <a:t>, c’est tout l’enjeu de la notion d’anthropocène que d’élargir le périmètre des préoccupations environnementales</a:t>
            </a:r>
            <a:r>
              <a:rPr lang="fr-FR" altLang="fr-FR" b="1" i="0" dirty="0">
                <a:solidFill>
                  <a:srgbClr val="323232"/>
                </a:solidFill>
                <a:effectLst/>
              </a:rPr>
              <a:t> </a:t>
            </a:r>
            <a:r>
              <a:rPr lang="fr-FR" altLang="fr-FR" dirty="0">
                <a:solidFill>
                  <a:srgbClr val="323232"/>
                </a:solidFill>
              </a:rPr>
              <a:t>:</a:t>
            </a:r>
            <a:r>
              <a:rPr lang="fr-FR" altLang="fr-FR" b="0" i="0" dirty="0">
                <a:solidFill>
                  <a:srgbClr val="323232"/>
                </a:solidFill>
                <a:effectLst/>
              </a:rPr>
              <a:t> d’autres grands paramètres sont à considérer :</a:t>
            </a:r>
          </a:p>
          <a:p>
            <a:pPr marL="901700" lvl="1" indent="-363538">
              <a:lnSpc>
                <a:spcPct val="100000"/>
              </a:lnSpc>
              <a:spcBef>
                <a:spcPts val="0"/>
              </a:spcBef>
              <a:buFont typeface="Calibri" panose="020F0502020204030204" pitchFamily="34" charset="0"/>
              <a:buChar char="-"/>
            </a:pPr>
            <a:r>
              <a:rPr lang="fr-FR" altLang="fr-FR" sz="2800" b="0" i="0" dirty="0">
                <a:solidFill>
                  <a:srgbClr val="323232"/>
                </a:solidFill>
                <a:effectLst/>
              </a:rPr>
              <a:t>dysfonctionnement du cycle de l’azote,</a:t>
            </a:r>
          </a:p>
          <a:p>
            <a:pPr marL="901700" lvl="1" indent="-363538">
              <a:lnSpc>
                <a:spcPct val="100000"/>
              </a:lnSpc>
              <a:spcBef>
                <a:spcPts val="0"/>
              </a:spcBef>
              <a:buFont typeface="Calibri" panose="020F0502020204030204" pitchFamily="34" charset="0"/>
              <a:buChar char="-"/>
            </a:pPr>
            <a:r>
              <a:rPr lang="fr-FR" altLang="fr-FR" sz="2800" b="0" i="0" dirty="0">
                <a:solidFill>
                  <a:srgbClr val="323232"/>
                </a:solidFill>
                <a:effectLst/>
              </a:rPr>
              <a:t>extinction de la biodiversité, surexploitation des ressources piscicoles,</a:t>
            </a:r>
          </a:p>
          <a:p>
            <a:pPr marL="901700" lvl="1" indent="-363538">
              <a:lnSpc>
                <a:spcPct val="100000"/>
              </a:lnSpc>
              <a:spcBef>
                <a:spcPts val="0"/>
              </a:spcBef>
              <a:buFont typeface="Calibri" panose="020F0502020204030204" pitchFamily="34" charset="0"/>
              <a:buChar char="-"/>
            </a:pPr>
            <a:r>
              <a:rPr lang="fr-FR" altLang="fr-FR" sz="2800" b="0" i="0" dirty="0">
                <a:solidFill>
                  <a:srgbClr val="323232"/>
                </a:solidFill>
                <a:effectLst/>
              </a:rPr>
              <a:t>gestion de la ressource en eau.</a:t>
            </a:r>
          </a:p>
          <a:p>
            <a:pPr>
              <a:lnSpc>
                <a:spcPct val="100000"/>
              </a:lnSpc>
            </a:pPr>
            <a:r>
              <a:rPr lang="fr-FR" altLang="fr-FR" dirty="0"/>
              <a:t>Il y aurait donc un choc entre les durées géologiques et l’histoire humaine, bien plus rapide, avec </a:t>
            </a:r>
            <a:r>
              <a:rPr lang="fr-FR" altLang="fr-FR" b="1" dirty="0"/>
              <a:t>perturbations à l’échelle mondiale des cycles biogéochimiques</a:t>
            </a:r>
            <a:r>
              <a:rPr lang="fr-FR" altLang="fr-FR" dirty="0"/>
              <a:t>.</a:t>
            </a:r>
          </a:p>
          <a:p>
            <a:pPr>
              <a:lnSpc>
                <a:spcPct val="100000"/>
              </a:lnSpc>
            </a:pPr>
            <a:r>
              <a:rPr lang="fr-FR" altLang="fr-FR" b="0" i="0" dirty="0">
                <a:solidFill>
                  <a:srgbClr val="323232"/>
                </a:solidFill>
                <a:effectLst/>
              </a:rPr>
              <a:t>Certes, les sociétés anciennes ont toujours transformé leur environnement. La conscience des risques environnementaux est également ancienne.</a:t>
            </a:r>
          </a:p>
          <a:p>
            <a:pPr>
              <a:lnSpc>
                <a:spcPct val="100000"/>
              </a:lnSpc>
            </a:pPr>
            <a:endParaRPr lang="fr-FR" altLang="fr-FR" sz="2400" dirty="0"/>
          </a:p>
        </p:txBody>
      </p:sp>
      <p:sp>
        <p:nvSpPr>
          <p:cNvPr id="4" name="Espace réservé du pied de page 3">
            <a:extLst>
              <a:ext uri="{FF2B5EF4-FFF2-40B4-BE49-F238E27FC236}">
                <a16:creationId xmlns:a16="http://schemas.microsoft.com/office/drawing/2014/main" id="{231F9362-3873-4F0D-B564-513B4E64CB64}"/>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444B91AB-AC1C-42D2-A02C-68FDF2EA51C7}"/>
              </a:ext>
            </a:extLst>
          </p:cNvPr>
          <p:cNvSpPr>
            <a:spLocks noGrp="1"/>
          </p:cNvSpPr>
          <p:nvPr>
            <p:ph type="sldNum" sz="quarter" idx="12"/>
          </p:nvPr>
        </p:nvSpPr>
        <p:spPr/>
        <p:txBody>
          <a:bodyPr numCol="1"/>
          <a:lstStyle/>
          <a:p>
            <a:fld id="{788DAB52-6294-4F97-81DD-ABD852645FBC}" type="slidenum">
              <a:rPr lang="fr-FR" altLang="fr-FR" smtClean="0"/>
              <a:t>33</a:t>
            </a:fld>
            <a:endParaRPr lang="fr-FR" altLang="fr-FR"/>
          </a:p>
        </p:txBody>
      </p:sp>
    </p:spTree>
    <p:extLst>
      <p:ext uri="{BB962C8B-B14F-4D97-AF65-F5344CB8AC3E}">
        <p14:creationId xmlns:p14="http://schemas.microsoft.com/office/powerpoint/2010/main" val="2978359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D61921-FA87-4203-9583-EF8ED75EEA2B}"/>
              </a:ext>
            </a:extLst>
          </p:cNvPr>
          <p:cNvSpPr>
            <a:spLocks noGrp="1"/>
          </p:cNvSpPr>
          <p:nvPr>
            <p:ph idx="1"/>
          </p:nvPr>
        </p:nvSpPr>
        <p:spPr>
          <a:xfrm>
            <a:off x="417773" y="1568150"/>
            <a:ext cx="11356453" cy="3721700"/>
          </a:xfrm>
        </p:spPr>
        <p:txBody>
          <a:bodyPr numCol="1">
            <a:normAutofit lnSpcReduction="10000"/>
          </a:bodyPr>
          <a:lstStyle/>
          <a:p>
            <a:pPr>
              <a:lnSpc>
                <a:spcPct val="100000"/>
              </a:lnSpc>
            </a:pPr>
            <a:r>
              <a:rPr lang="fr-FR" altLang="fr-FR" dirty="0">
                <a:solidFill>
                  <a:srgbClr val="323232"/>
                </a:solidFill>
              </a:rPr>
              <a:t>Ce qui change, c’est le caractère cumulatif de ces changements et l’échelle globale à laquelle ils se déploient, et l’impossibilité de les maîtriser. Notion de « </a:t>
            </a:r>
            <a:r>
              <a:rPr lang="fr-FR" altLang="fr-FR" b="1" dirty="0">
                <a:solidFill>
                  <a:srgbClr val="323232"/>
                </a:solidFill>
              </a:rPr>
              <a:t>Grande Accélération </a:t>
            </a:r>
            <a:r>
              <a:rPr lang="fr-FR" altLang="fr-FR" dirty="0">
                <a:solidFill>
                  <a:srgbClr val="323232"/>
                </a:solidFill>
              </a:rPr>
              <a:t>» depuis les années 1950.</a:t>
            </a:r>
          </a:p>
          <a:p>
            <a:pPr>
              <a:lnSpc>
                <a:spcPct val="100000"/>
              </a:lnSpc>
            </a:pPr>
            <a:r>
              <a:rPr lang="fr-FR" altLang="fr-FR" dirty="0">
                <a:solidFill>
                  <a:srgbClr val="323232"/>
                </a:solidFill>
              </a:rPr>
              <a:t>Cette date correspond également aux essais nucléaires qui ont laissé des traces radioactives.</a:t>
            </a:r>
          </a:p>
          <a:p>
            <a:pPr>
              <a:lnSpc>
                <a:spcPct val="100000"/>
              </a:lnSpc>
            </a:pPr>
            <a:r>
              <a:rPr lang="fr-FR" altLang="fr-FR" dirty="0" err="1">
                <a:solidFill>
                  <a:srgbClr val="323232"/>
                </a:solidFill>
              </a:rPr>
              <a:t>Crutzen</a:t>
            </a:r>
            <a:r>
              <a:rPr lang="fr-FR" altLang="fr-FR" dirty="0">
                <a:solidFill>
                  <a:srgbClr val="323232"/>
                </a:solidFill>
              </a:rPr>
              <a:t> propose la fin du XVIIIe siècle pour l’anthropocène, l’invention de la machine à vapeur et l’augmentation de la concentration en dioxyde de carbone et méthane qu’on retrouve dans les calottes glaciaires.</a:t>
            </a:r>
            <a:endParaRPr lang="fr-FR" altLang="fr-FR" dirty="0"/>
          </a:p>
          <a:p>
            <a:pPr>
              <a:lnSpc>
                <a:spcPct val="100000"/>
              </a:lnSpc>
            </a:pPr>
            <a:endParaRPr lang="fr-FR" altLang="fr-FR" sz="2400" dirty="0"/>
          </a:p>
        </p:txBody>
      </p:sp>
      <p:sp>
        <p:nvSpPr>
          <p:cNvPr id="4" name="Espace réservé du pied de page 3">
            <a:extLst>
              <a:ext uri="{FF2B5EF4-FFF2-40B4-BE49-F238E27FC236}">
                <a16:creationId xmlns:a16="http://schemas.microsoft.com/office/drawing/2014/main" id="{231F9362-3873-4F0D-B564-513B4E64CB64}"/>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444B91AB-AC1C-42D2-A02C-68FDF2EA51C7}"/>
              </a:ext>
            </a:extLst>
          </p:cNvPr>
          <p:cNvSpPr>
            <a:spLocks noGrp="1"/>
          </p:cNvSpPr>
          <p:nvPr>
            <p:ph type="sldNum" sz="quarter" idx="12"/>
          </p:nvPr>
        </p:nvSpPr>
        <p:spPr/>
        <p:txBody>
          <a:bodyPr numCol="1"/>
          <a:lstStyle/>
          <a:p>
            <a:fld id="{788DAB52-6294-4F97-81DD-ABD852645FBC}" type="slidenum">
              <a:rPr lang="fr-FR" altLang="fr-FR" smtClean="0"/>
              <a:t>34</a:t>
            </a:fld>
            <a:endParaRPr lang="fr-FR" altLang="fr-FR"/>
          </a:p>
        </p:txBody>
      </p:sp>
    </p:spTree>
    <p:extLst>
      <p:ext uri="{BB962C8B-B14F-4D97-AF65-F5344CB8AC3E}">
        <p14:creationId xmlns:p14="http://schemas.microsoft.com/office/powerpoint/2010/main" val="665559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D61921-FA87-4203-9583-EF8ED75EEA2B}"/>
              </a:ext>
            </a:extLst>
          </p:cNvPr>
          <p:cNvSpPr>
            <a:spLocks noGrp="1"/>
          </p:cNvSpPr>
          <p:nvPr>
            <p:ph idx="1"/>
          </p:nvPr>
        </p:nvSpPr>
        <p:spPr>
          <a:xfrm>
            <a:off x="427540" y="501042"/>
            <a:ext cx="11356453" cy="5855308"/>
          </a:xfrm>
        </p:spPr>
        <p:txBody>
          <a:bodyPr numCol="1">
            <a:normAutofit/>
          </a:bodyPr>
          <a:lstStyle/>
          <a:p>
            <a:pPr>
              <a:lnSpc>
                <a:spcPct val="100000"/>
              </a:lnSpc>
            </a:pPr>
            <a:r>
              <a:rPr lang="fr-FR" altLang="fr-FR" dirty="0"/>
              <a:t>Avec la popularisation de cette notion d’anthropocène, passage à la considération d’un risque d’effondrement global : notion de « </a:t>
            </a:r>
            <a:r>
              <a:rPr lang="fr-FR" altLang="fr-FR" b="1" dirty="0"/>
              <a:t>collapsologie</a:t>
            </a:r>
            <a:r>
              <a:rPr lang="fr-FR" altLang="fr-FR" dirty="0"/>
              <a:t> » (Servigne, Stevens, 2015).</a:t>
            </a:r>
          </a:p>
          <a:p>
            <a:pPr>
              <a:lnSpc>
                <a:spcPct val="100000"/>
              </a:lnSpc>
            </a:pPr>
            <a:r>
              <a:rPr lang="fr-FR" altLang="fr-FR" dirty="0"/>
              <a:t>Une remise en cause de la possibilité du « développement durable », du fait de l’emballement exponentiel des « tendances du système-Terre », couplé à une </a:t>
            </a:r>
            <a:r>
              <a:rPr lang="fr-FR" altLang="fr-FR" b="1" dirty="0"/>
              <a:t>accélération</a:t>
            </a:r>
            <a:r>
              <a:rPr lang="fr-FR" altLang="fr-FR" dirty="0"/>
              <a:t> des temps techniques et sociaux (Hartmut Rosa) ?</a:t>
            </a:r>
          </a:p>
          <a:p>
            <a:pPr>
              <a:lnSpc>
                <a:spcPct val="100000"/>
              </a:lnSpc>
            </a:pPr>
            <a:r>
              <a:rPr lang="fr-FR" altLang="fr-FR" dirty="0">
                <a:solidFill>
                  <a:srgbClr val="323232"/>
                </a:solidFill>
              </a:rPr>
              <a:t>En déstabilisant le grand récit du Progrès qui est celui de la modernité occidentale, l’anthropologue ouvre un espace pour que, collectivement, d’autres buts que celui de se rendre « comme maître et possesseur de la nature » puissent être proposés.</a:t>
            </a:r>
          </a:p>
          <a:p>
            <a:pPr>
              <a:lnSpc>
                <a:spcPct val="100000"/>
              </a:lnSpc>
            </a:pPr>
            <a:endParaRPr lang="fr-FR" altLang="fr-FR" sz="2400" dirty="0"/>
          </a:p>
        </p:txBody>
      </p:sp>
      <p:sp>
        <p:nvSpPr>
          <p:cNvPr id="4" name="Espace réservé du pied de page 3">
            <a:extLst>
              <a:ext uri="{FF2B5EF4-FFF2-40B4-BE49-F238E27FC236}">
                <a16:creationId xmlns:a16="http://schemas.microsoft.com/office/drawing/2014/main" id="{231F9362-3873-4F0D-B564-513B4E64CB64}"/>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444B91AB-AC1C-42D2-A02C-68FDF2EA51C7}"/>
              </a:ext>
            </a:extLst>
          </p:cNvPr>
          <p:cNvSpPr>
            <a:spLocks noGrp="1"/>
          </p:cNvSpPr>
          <p:nvPr>
            <p:ph type="sldNum" sz="quarter" idx="12"/>
          </p:nvPr>
        </p:nvSpPr>
        <p:spPr/>
        <p:txBody>
          <a:bodyPr numCol="1"/>
          <a:lstStyle/>
          <a:p>
            <a:fld id="{788DAB52-6294-4F97-81DD-ABD852645FBC}" type="slidenum">
              <a:rPr lang="fr-FR" altLang="fr-FR" smtClean="0"/>
              <a:t>35</a:t>
            </a:fld>
            <a:endParaRPr lang="fr-FR" altLang="fr-FR"/>
          </a:p>
        </p:txBody>
      </p:sp>
    </p:spTree>
    <p:extLst>
      <p:ext uri="{BB962C8B-B14F-4D97-AF65-F5344CB8AC3E}">
        <p14:creationId xmlns:p14="http://schemas.microsoft.com/office/powerpoint/2010/main" val="999090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B460AA1-3787-416B-BE21-6150B50654EF}"/>
              </a:ext>
            </a:extLst>
          </p:cNvPr>
          <p:cNvSpPr>
            <a:spLocks noGrp="1"/>
          </p:cNvSpPr>
          <p:nvPr>
            <p:ph idx="1"/>
          </p:nvPr>
        </p:nvSpPr>
        <p:spPr>
          <a:xfrm>
            <a:off x="373487" y="229012"/>
            <a:ext cx="11642502" cy="6352092"/>
          </a:xfrm>
          <a:solidFill>
            <a:schemeClr val="accent1">
              <a:lumMod val="20000"/>
              <a:lumOff val="80000"/>
            </a:schemeClr>
          </a:solidFill>
          <a:effectLst>
            <a:outerShdw blurRad="50800" dist="38100" dir="5400000" algn="t" rotWithShape="0">
              <a:prstClr val="black">
                <a:alpha val="40000"/>
              </a:prstClr>
            </a:outerShdw>
          </a:effectLst>
        </p:spPr>
        <p:txBody>
          <a:bodyPr vert="horz" lIns="91440" tIns="45720" rIns="91440" bIns="45720" numCol="1" rtlCol="0">
            <a:noAutofit/>
          </a:bodyPr>
          <a:lstStyle/>
          <a:p>
            <a:pPr marL="0" indent="0" algn="just">
              <a:buNone/>
            </a:pPr>
            <a:r>
              <a:rPr lang="fr-FR" altLang="fr-FR" sz="2600" dirty="0">
                <a:solidFill>
                  <a:srgbClr val="0070C0"/>
                </a:solidFill>
                <a:cs typeface="Times New Roman" panose="02020603050405020304" pitchFamily="18" charset="0"/>
              </a:rPr>
              <a:t>« Nom d’une époque géologique, l’Anthropocène est soumis, comme toute proposition de nouvelle catégorisation du temps géologique, à l’expertise de la Commission internationale de stratigraphie. Suivant le cours normal du développement des sciences, l’hypothèse est au centre de débats et de controverses opposant les chercheurs en géosciences et qui s’articulent aussi bien autour de la question de la pertinence même de cette nouvelle catégorie que de la difficile question de sa datation. Cependant, si la notion connaît depuis quelques années une popularité qui ne cesse de croître, c’est que la portée de sa capacité déstabilisatrice excède très largement les limites du groupe de la sous-commission du Quaternaire formé pour débattre de son versant stratigraphique. Par sa définition même, l’Anthropocène semble se soustraire aux partages disciplinaires, et en particulier au grand partage entre les sciences de l’homme et les sciences de la nature. </a:t>
            </a:r>
            <a:r>
              <a:rPr lang="fr-FR" altLang="fr-FR" sz="2600" b="1" dirty="0">
                <a:solidFill>
                  <a:srgbClr val="0070C0"/>
                </a:solidFill>
                <a:cs typeface="Times New Roman" panose="02020603050405020304" pitchFamily="18" charset="0"/>
              </a:rPr>
              <a:t>Pour la première fois dans l’histoire de la planète, une époque géologique serait définie par la capacité d’action d’une espèce : l’espèce humaine. C’est ainsi que se dessine le grand récit de la rencontre entre l’histoire sociale des hommes et l’histoire naturelle de la planète</a:t>
            </a:r>
            <a:r>
              <a:rPr lang="fr-FR" altLang="fr-FR" sz="2600" dirty="0">
                <a:solidFill>
                  <a:srgbClr val="0070C0"/>
                </a:solidFill>
                <a:cs typeface="Times New Roman" panose="02020603050405020304" pitchFamily="18" charset="0"/>
              </a:rPr>
              <a:t>. » (Beau Rémi, Larrère Catherine, « Introduction  », dans </a:t>
            </a:r>
            <a:r>
              <a:rPr lang="fr-FR" altLang="fr-FR" sz="2600" i="1" dirty="0">
                <a:solidFill>
                  <a:srgbClr val="0070C0"/>
                </a:solidFill>
                <a:cs typeface="Times New Roman" panose="02020603050405020304" pitchFamily="18" charset="0"/>
              </a:rPr>
              <a:t>Penser l’Anthropocène</a:t>
            </a:r>
            <a:r>
              <a:rPr lang="fr-FR" altLang="fr-FR" sz="2600" dirty="0">
                <a:solidFill>
                  <a:srgbClr val="0070C0"/>
                </a:solidFill>
                <a:cs typeface="Times New Roman" panose="02020603050405020304" pitchFamily="18" charset="0"/>
              </a:rPr>
              <a:t>)</a:t>
            </a:r>
          </a:p>
          <a:p>
            <a:pPr marL="0" indent="0" algn="just">
              <a:buNone/>
            </a:pPr>
            <a:endParaRPr lang="fr-FR" altLang="fr-FR" sz="2400" i="1" dirty="0">
              <a:solidFill>
                <a:srgbClr val="0070C0"/>
              </a:solidFill>
              <a:cs typeface="Times New Roman" panose="02020603050405020304" pitchFamily="18" charset="0"/>
            </a:endParaRPr>
          </a:p>
          <a:p>
            <a:pPr marL="0" indent="0" algn="just">
              <a:buNone/>
            </a:pPr>
            <a:endParaRPr lang="fr-FR" altLang="fr-FR" sz="2400" i="1" dirty="0">
              <a:solidFill>
                <a:srgbClr val="0070C0"/>
              </a:solidFill>
              <a:cs typeface="Times New Roman" panose="02020603050405020304" pitchFamily="18" charset="0"/>
            </a:endParaRPr>
          </a:p>
        </p:txBody>
      </p:sp>
    </p:spTree>
    <p:extLst>
      <p:ext uri="{BB962C8B-B14F-4D97-AF65-F5344CB8AC3E}">
        <p14:creationId xmlns:p14="http://schemas.microsoft.com/office/powerpoint/2010/main" val="1685876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CD956442-E621-44A6-B56B-08CAF076B69F}"/>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1A64A756-7773-472C-B664-FBB8C29F5A92}"/>
              </a:ext>
            </a:extLst>
          </p:cNvPr>
          <p:cNvSpPr>
            <a:spLocks noGrp="1"/>
          </p:cNvSpPr>
          <p:nvPr>
            <p:ph type="sldNum" sz="quarter" idx="12"/>
          </p:nvPr>
        </p:nvSpPr>
        <p:spPr/>
        <p:txBody>
          <a:bodyPr numCol="1"/>
          <a:lstStyle/>
          <a:p>
            <a:fld id="{788DAB52-6294-4F97-81DD-ABD852645FBC}" type="slidenum">
              <a:rPr lang="fr-FR" altLang="fr-FR" smtClean="0"/>
              <a:t>37</a:t>
            </a:fld>
            <a:endParaRPr lang="fr-FR" altLang="fr-FR"/>
          </a:p>
        </p:txBody>
      </p:sp>
      <p:pic>
        <p:nvPicPr>
          <p:cNvPr id="6" name="Image 5">
            <a:extLst>
              <a:ext uri="{FF2B5EF4-FFF2-40B4-BE49-F238E27FC236}">
                <a16:creationId xmlns:a16="http://schemas.microsoft.com/office/drawing/2014/main" id="{B7E34646-D145-405D-A5FB-6BF7DAEA2541}"/>
              </a:ext>
            </a:extLst>
          </p:cNvPr>
          <p:cNvPicPr>
            <a:picLocks noChangeAspect="1"/>
          </p:cNvPicPr>
          <p:nvPr/>
        </p:nvPicPr>
        <p:blipFill rotWithShape="1">
          <a:blip r:embed="rId3"/>
          <a:srcRect t="49222"/>
          <a:stretch/>
        </p:blipFill>
        <p:spPr>
          <a:xfrm>
            <a:off x="120089" y="661587"/>
            <a:ext cx="5823509" cy="4657294"/>
          </a:xfrm>
          <a:prstGeom prst="rect">
            <a:avLst/>
          </a:prstGeom>
        </p:spPr>
      </p:pic>
      <p:sp>
        <p:nvSpPr>
          <p:cNvPr id="9" name="ZoneTexte 8">
            <a:extLst>
              <a:ext uri="{FF2B5EF4-FFF2-40B4-BE49-F238E27FC236}">
                <a16:creationId xmlns:a16="http://schemas.microsoft.com/office/drawing/2014/main" id="{757B9ABB-2B3C-4E57-85B8-3B1A2C47DE62}"/>
              </a:ext>
            </a:extLst>
          </p:cNvPr>
          <p:cNvSpPr txBox="1"/>
          <p:nvPr/>
        </p:nvSpPr>
        <p:spPr>
          <a:xfrm>
            <a:off x="406400" y="6137268"/>
            <a:ext cx="11252199" cy="461665"/>
          </a:xfrm>
          <a:prstGeom prst="rect">
            <a:avLst/>
          </a:prstGeom>
          <a:noFill/>
        </p:spPr>
        <p:txBody>
          <a:bodyPr wrap="square" numCol="1">
            <a:spAutoFit/>
          </a:bodyPr>
          <a:lstStyle/>
          <a:p>
            <a:r>
              <a:rPr lang="fr-FR" altLang="fr-FR" sz="1200" dirty="0"/>
              <a:t>Source des figures 1 et 2 : Will Steffen, Wendy </a:t>
            </a:r>
            <a:r>
              <a:rPr lang="fr-FR" altLang="fr-FR" sz="1200" dirty="0" err="1"/>
              <a:t>Broadgate</a:t>
            </a:r>
            <a:r>
              <a:rPr lang="fr-FR" altLang="fr-FR" sz="1200" dirty="0"/>
              <a:t>, Lisa Deutsch, Owen Gaffney et Cornelia Ludwig, « The </a:t>
            </a:r>
            <a:r>
              <a:rPr lang="fr-FR" altLang="fr-FR" sz="1200" dirty="0" err="1"/>
              <a:t>Trajectory</a:t>
            </a:r>
            <a:r>
              <a:rPr lang="fr-FR" altLang="fr-FR" sz="1200" dirty="0"/>
              <a:t> of the </a:t>
            </a:r>
            <a:r>
              <a:rPr lang="fr-FR" altLang="fr-FR" sz="1200" dirty="0" err="1"/>
              <a:t>Anthropocene</a:t>
            </a:r>
            <a:r>
              <a:rPr lang="fr-FR" altLang="fr-FR" sz="1200" dirty="0"/>
              <a:t>. The Great </a:t>
            </a:r>
            <a:r>
              <a:rPr lang="fr-FR" altLang="fr-FR" sz="1200" dirty="0" err="1"/>
              <a:t>Acceleration</a:t>
            </a:r>
            <a:r>
              <a:rPr lang="fr-FR" altLang="fr-FR" sz="1200" dirty="0"/>
              <a:t> », The </a:t>
            </a:r>
            <a:r>
              <a:rPr lang="fr-FR" altLang="fr-FR" sz="1200" dirty="0" err="1"/>
              <a:t>Anthropocene</a:t>
            </a:r>
            <a:r>
              <a:rPr lang="fr-FR" altLang="fr-FR" sz="1200" dirty="0"/>
              <a:t> </a:t>
            </a:r>
            <a:r>
              <a:rPr lang="fr-FR" altLang="fr-FR" sz="1200" dirty="0" err="1"/>
              <a:t>Review</a:t>
            </a:r>
            <a:r>
              <a:rPr lang="fr-FR" altLang="fr-FR" sz="1200" dirty="0"/>
              <a:t>, janvier 2015, p. 1-18.</a:t>
            </a:r>
          </a:p>
        </p:txBody>
      </p:sp>
      <p:sp>
        <p:nvSpPr>
          <p:cNvPr id="11" name="ZoneTexte 10">
            <a:extLst>
              <a:ext uri="{FF2B5EF4-FFF2-40B4-BE49-F238E27FC236}">
                <a16:creationId xmlns:a16="http://schemas.microsoft.com/office/drawing/2014/main" id="{BA77CC7C-FF86-4521-B424-1C267A68027B}"/>
              </a:ext>
            </a:extLst>
          </p:cNvPr>
          <p:cNvSpPr txBox="1"/>
          <p:nvPr/>
        </p:nvSpPr>
        <p:spPr>
          <a:xfrm>
            <a:off x="406401" y="5734748"/>
            <a:ext cx="11252199" cy="461665"/>
          </a:xfrm>
          <a:prstGeom prst="rect">
            <a:avLst/>
          </a:prstGeom>
          <a:noFill/>
        </p:spPr>
        <p:txBody>
          <a:bodyPr wrap="square" numCol="1">
            <a:spAutoFit/>
          </a:bodyPr>
          <a:lstStyle/>
          <a:p>
            <a:r>
              <a:rPr lang="fr-FR" altLang="fr-FR" sz="1200" dirty="0"/>
              <a:t>Sinaï, A. &amp; </a:t>
            </a:r>
            <a:r>
              <a:rPr lang="fr-FR" altLang="fr-FR" sz="1200" dirty="0" err="1"/>
              <a:t>Szuba</a:t>
            </a:r>
            <a:r>
              <a:rPr lang="fr-FR" altLang="fr-FR" sz="1200" dirty="0"/>
              <a:t>, M. (2017). Introduction. Dans : Agnès Sinaï éd., Gouverner la décroissance: Politiques de l’Anthropocène III (pp. 11-22). Paris: Presses de Sciences Po. https://doi-org.bibdocs.u-cergy.fr/10.3917/scpo.sinai.2017.01.0011"</a:t>
            </a:r>
          </a:p>
        </p:txBody>
      </p:sp>
      <p:sp>
        <p:nvSpPr>
          <p:cNvPr id="13" name="ZoneTexte 12">
            <a:extLst>
              <a:ext uri="{FF2B5EF4-FFF2-40B4-BE49-F238E27FC236}">
                <a16:creationId xmlns:a16="http://schemas.microsoft.com/office/drawing/2014/main" id="{F3989670-F3A9-4EAF-B890-52DDB953D079}"/>
              </a:ext>
            </a:extLst>
          </p:cNvPr>
          <p:cNvSpPr txBox="1"/>
          <p:nvPr/>
        </p:nvSpPr>
        <p:spPr>
          <a:xfrm>
            <a:off x="678890" y="206165"/>
            <a:ext cx="10979709" cy="400110"/>
          </a:xfrm>
          <a:prstGeom prst="rect">
            <a:avLst/>
          </a:prstGeom>
          <a:noFill/>
        </p:spPr>
        <p:txBody>
          <a:bodyPr wrap="square" numCol="1">
            <a:spAutoFit/>
          </a:bodyPr>
          <a:lstStyle/>
          <a:p>
            <a:pPr algn="ctr"/>
            <a:r>
              <a:rPr lang="fr-FR" altLang="fr-FR" sz="2000" b="1" i="0" dirty="0">
                <a:solidFill>
                  <a:srgbClr val="323232"/>
                </a:solidFill>
                <a:effectLst/>
                <a:latin typeface="Alegreya SC"/>
              </a:rPr>
              <a:t>Figure 1 – Indicateurs de fonctionnement du système Terre de 1750 à 2010</a:t>
            </a:r>
          </a:p>
        </p:txBody>
      </p:sp>
      <p:pic>
        <p:nvPicPr>
          <p:cNvPr id="10" name="Image 9">
            <a:extLst>
              <a:ext uri="{FF2B5EF4-FFF2-40B4-BE49-F238E27FC236}">
                <a16:creationId xmlns:a16="http://schemas.microsoft.com/office/drawing/2014/main" id="{8CCC5C73-2673-4CAC-861F-9B082CC14FDF}"/>
              </a:ext>
            </a:extLst>
          </p:cNvPr>
          <p:cNvPicPr>
            <a:picLocks noChangeAspect="1"/>
          </p:cNvPicPr>
          <p:nvPr/>
        </p:nvPicPr>
        <p:blipFill rotWithShape="1">
          <a:blip r:embed="rId3"/>
          <a:srcRect b="50584"/>
          <a:stretch/>
        </p:blipFill>
        <p:spPr>
          <a:xfrm>
            <a:off x="6096000" y="769801"/>
            <a:ext cx="5862144" cy="4562427"/>
          </a:xfrm>
          <a:prstGeom prst="rect">
            <a:avLst/>
          </a:prstGeom>
        </p:spPr>
      </p:pic>
    </p:spTree>
    <p:extLst>
      <p:ext uri="{BB962C8B-B14F-4D97-AF65-F5344CB8AC3E}">
        <p14:creationId xmlns:p14="http://schemas.microsoft.com/office/powerpoint/2010/main" val="3947667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CD956442-E621-44A6-B56B-08CAF076B69F}"/>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1A64A756-7773-472C-B664-FBB8C29F5A92}"/>
              </a:ext>
            </a:extLst>
          </p:cNvPr>
          <p:cNvSpPr>
            <a:spLocks noGrp="1"/>
          </p:cNvSpPr>
          <p:nvPr>
            <p:ph type="sldNum" sz="quarter" idx="12"/>
          </p:nvPr>
        </p:nvSpPr>
        <p:spPr/>
        <p:txBody>
          <a:bodyPr numCol="1"/>
          <a:lstStyle/>
          <a:p>
            <a:fld id="{788DAB52-6294-4F97-81DD-ABD852645FBC}" type="slidenum">
              <a:rPr lang="fr-FR" altLang="fr-FR" smtClean="0"/>
              <a:t>38</a:t>
            </a:fld>
            <a:endParaRPr lang="fr-FR" altLang="fr-FR"/>
          </a:p>
        </p:txBody>
      </p:sp>
      <p:pic>
        <p:nvPicPr>
          <p:cNvPr id="7" name="Image 6">
            <a:extLst>
              <a:ext uri="{FF2B5EF4-FFF2-40B4-BE49-F238E27FC236}">
                <a16:creationId xmlns:a16="http://schemas.microsoft.com/office/drawing/2014/main" id="{A5FBA047-E6D7-4E67-BB1D-569E2C1563C2}"/>
              </a:ext>
            </a:extLst>
          </p:cNvPr>
          <p:cNvPicPr>
            <a:picLocks noChangeAspect="1"/>
          </p:cNvPicPr>
          <p:nvPr/>
        </p:nvPicPr>
        <p:blipFill rotWithShape="1">
          <a:blip r:embed="rId2"/>
          <a:srcRect t="48608"/>
          <a:stretch/>
        </p:blipFill>
        <p:spPr>
          <a:xfrm>
            <a:off x="6175070" y="647414"/>
            <a:ext cx="5808086" cy="4781532"/>
          </a:xfrm>
          <a:prstGeom prst="rect">
            <a:avLst/>
          </a:prstGeom>
        </p:spPr>
      </p:pic>
      <p:sp>
        <p:nvSpPr>
          <p:cNvPr id="9" name="ZoneTexte 8">
            <a:extLst>
              <a:ext uri="{FF2B5EF4-FFF2-40B4-BE49-F238E27FC236}">
                <a16:creationId xmlns:a16="http://schemas.microsoft.com/office/drawing/2014/main" id="{757B9ABB-2B3C-4E57-85B8-3B1A2C47DE62}"/>
              </a:ext>
            </a:extLst>
          </p:cNvPr>
          <p:cNvSpPr txBox="1"/>
          <p:nvPr/>
        </p:nvSpPr>
        <p:spPr>
          <a:xfrm>
            <a:off x="366985" y="5973875"/>
            <a:ext cx="11616171" cy="461665"/>
          </a:xfrm>
          <a:prstGeom prst="rect">
            <a:avLst/>
          </a:prstGeom>
          <a:noFill/>
        </p:spPr>
        <p:txBody>
          <a:bodyPr wrap="square" numCol="1">
            <a:spAutoFit/>
          </a:bodyPr>
          <a:lstStyle/>
          <a:p>
            <a:r>
              <a:rPr lang="fr-FR" altLang="fr-FR" sz="1200" dirty="0"/>
              <a:t>Source des figures 1 et 2 : Will Steffen, Wendy </a:t>
            </a:r>
            <a:r>
              <a:rPr lang="fr-FR" altLang="fr-FR" sz="1200" dirty="0" err="1"/>
              <a:t>Broadgate</a:t>
            </a:r>
            <a:r>
              <a:rPr lang="fr-FR" altLang="fr-FR" sz="1200" dirty="0"/>
              <a:t>, Lisa Deutsch, Owen Gaffney et Cornelia Ludwig, « The </a:t>
            </a:r>
            <a:r>
              <a:rPr lang="fr-FR" altLang="fr-FR" sz="1200" dirty="0" err="1"/>
              <a:t>Trajectory</a:t>
            </a:r>
            <a:r>
              <a:rPr lang="fr-FR" altLang="fr-FR" sz="1200" dirty="0"/>
              <a:t> of the </a:t>
            </a:r>
            <a:r>
              <a:rPr lang="fr-FR" altLang="fr-FR" sz="1200" dirty="0" err="1"/>
              <a:t>Anthropocene</a:t>
            </a:r>
            <a:r>
              <a:rPr lang="fr-FR" altLang="fr-FR" sz="1200" dirty="0"/>
              <a:t>. The Great </a:t>
            </a:r>
            <a:r>
              <a:rPr lang="fr-FR" altLang="fr-FR" sz="1200" dirty="0" err="1"/>
              <a:t>Acceleration</a:t>
            </a:r>
            <a:r>
              <a:rPr lang="fr-FR" altLang="fr-FR" sz="1200" dirty="0"/>
              <a:t> », The </a:t>
            </a:r>
            <a:r>
              <a:rPr lang="fr-FR" altLang="fr-FR" sz="1200" dirty="0" err="1"/>
              <a:t>Anthropocene</a:t>
            </a:r>
            <a:r>
              <a:rPr lang="fr-FR" altLang="fr-FR" sz="1200" dirty="0"/>
              <a:t> </a:t>
            </a:r>
            <a:r>
              <a:rPr lang="fr-FR" altLang="fr-FR" sz="1200" dirty="0" err="1"/>
              <a:t>Review</a:t>
            </a:r>
            <a:r>
              <a:rPr lang="fr-FR" altLang="fr-FR" sz="1200" dirty="0"/>
              <a:t>, janvier 2015, p. 1-18.</a:t>
            </a:r>
          </a:p>
        </p:txBody>
      </p:sp>
      <p:sp>
        <p:nvSpPr>
          <p:cNvPr id="11" name="ZoneTexte 10">
            <a:extLst>
              <a:ext uri="{FF2B5EF4-FFF2-40B4-BE49-F238E27FC236}">
                <a16:creationId xmlns:a16="http://schemas.microsoft.com/office/drawing/2014/main" id="{BA77CC7C-FF86-4521-B424-1C267A68027B}"/>
              </a:ext>
            </a:extLst>
          </p:cNvPr>
          <p:cNvSpPr txBox="1"/>
          <p:nvPr/>
        </p:nvSpPr>
        <p:spPr>
          <a:xfrm>
            <a:off x="366985" y="5512210"/>
            <a:ext cx="11458030" cy="461665"/>
          </a:xfrm>
          <a:prstGeom prst="rect">
            <a:avLst/>
          </a:prstGeom>
          <a:noFill/>
        </p:spPr>
        <p:txBody>
          <a:bodyPr wrap="square" numCol="1">
            <a:spAutoFit/>
          </a:bodyPr>
          <a:lstStyle/>
          <a:p>
            <a:r>
              <a:rPr lang="fr-FR" altLang="fr-FR" sz="1200" dirty="0"/>
              <a:t>Sinaï, A. &amp; </a:t>
            </a:r>
            <a:r>
              <a:rPr lang="fr-FR" altLang="fr-FR" sz="1200" dirty="0" err="1"/>
              <a:t>Szuba</a:t>
            </a:r>
            <a:r>
              <a:rPr lang="fr-FR" altLang="fr-FR" sz="1200" dirty="0"/>
              <a:t>, M. (2017). Introduction. Dans : Agnès Sinaï éd., Gouverner la décroissance: Politiques de l’Anthropocène III (pp. 11-22). Paris: Presses de Sciences Po. https://doi-org.bibdocs.u-cergy.fr/10.3917/scpo.sinai.2017.01.0011"</a:t>
            </a:r>
          </a:p>
        </p:txBody>
      </p:sp>
      <p:sp>
        <p:nvSpPr>
          <p:cNvPr id="15" name="ZoneTexte 14">
            <a:extLst>
              <a:ext uri="{FF2B5EF4-FFF2-40B4-BE49-F238E27FC236}">
                <a16:creationId xmlns:a16="http://schemas.microsoft.com/office/drawing/2014/main" id="{AF406DB2-3C9E-4679-B3C3-BE799EFD3CAC}"/>
              </a:ext>
            </a:extLst>
          </p:cNvPr>
          <p:cNvSpPr txBox="1"/>
          <p:nvPr/>
        </p:nvSpPr>
        <p:spPr>
          <a:xfrm>
            <a:off x="354285" y="207590"/>
            <a:ext cx="11458030" cy="400110"/>
          </a:xfrm>
          <a:prstGeom prst="rect">
            <a:avLst/>
          </a:prstGeom>
          <a:noFill/>
        </p:spPr>
        <p:txBody>
          <a:bodyPr wrap="square" numCol="1">
            <a:spAutoFit/>
          </a:bodyPr>
          <a:lstStyle/>
          <a:p>
            <a:pPr algn="ctr"/>
            <a:r>
              <a:rPr lang="fr-FR" altLang="fr-FR" sz="2000" b="1" i="0" dirty="0">
                <a:solidFill>
                  <a:srgbClr val="323232"/>
                </a:solidFill>
                <a:effectLst/>
                <a:latin typeface="Alegreya SC"/>
              </a:rPr>
              <a:t>Figure 2 – Tendances socio-économiques de 1750 à 2010</a:t>
            </a:r>
            <a:endParaRPr lang="fr-FR" altLang="fr-FR" sz="2000" dirty="0"/>
          </a:p>
        </p:txBody>
      </p:sp>
      <p:pic>
        <p:nvPicPr>
          <p:cNvPr id="10" name="Image 9">
            <a:extLst>
              <a:ext uri="{FF2B5EF4-FFF2-40B4-BE49-F238E27FC236}">
                <a16:creationId xmlns:a16="http://schemas.microsoft.com/office/drawing/2014/main" id="{45EA619F-EF5A-4092-8509-89491B7BF8B4}"/>
              </a:ext>
            </a:extLst>
          </p:cNvPr>
          <p:cNvPicPr>
            <a:picLocks noChangeAspect="1"/>
          </p:cNvPicPr>
          <p:nvPr/>
        </p:nvPicPr>
        <p:blipFill rotWithShape="1">
          <a:blip r:embed="rId2"/>
          <a:srcRect b="51392"/>
          <a:stretch/>
        </p:blipFill>
        <p:spPr>
          <a:xfrm>
            <a:off x="136782" y="712299"/>
            <a:ext cx="5946518" cy="4630294"/>
          </a:xfrm>
          <a:prstGeom prst="rect">
            <a:avLst/>
          </a:prstGeom>
        </p:spPr>
      </p:pic>
    </p:spTree>
    <p:extLst>
      <p:ext uri="{BB962C8B-B14F-4D97-AF65-F5344CB8AC3E}">
        <p14:creationId xmlns:p14="http://schemas.microsoft.com/office/powerpoint/2010/main" val="1891046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71E1BC-C56C-48EB-8758-29FF19BC7FD4}"/>
              </a:ext>
            </a:extLst>
          </p:cNvPr>
          <p:cNvSpPr>
            <a:spLocks noGrp="1"/>
          </p:cNvSpPr>
          <p:nvPr>
            <p:ph type="title"/>
          </p:nvPr>
        </p:nvSpPr>
        <p:spPr>
          <a:xfrm>
            <a:off x="211015" y="20149"/>
            <a:ext cx="11769970" cy="960438"/>
          </a:xfrm>
        </p:spPr>
        <p:txBody>
          <a:bodyPr numCol="1"/>
          <a:lstStyle/>
          <a:p>
            <a:pPr algn="ctr"/>
            <a:r>
              <a:rPr lang="fr-FR" altLang="fr-FR" dirty="0"/>
              <a:t>L’anthropocène : limites et frontières </a:t>
            </a:r>
          </a:p>
        </p:txBody>
      </p:sp>
      <p:sp>
        <p:nvSpPr>
          <p:cNvPr id="3" name="Espace réservé du contenu 2">
            <a:extLst>
              <a:ext uri="{FF2B5EF4-FFF2-40B4-BE49-F238E27FC236}">
                <a16:creationId xmlns:a16="http://schemas.microsoft.com/office/drawing/2014/main" id="{A4991867-9E83-470C-ABEB-2A151346242A}"/>
              </a:ext>
            </a:extLst>
          </p:cNvPr>
          <p:cNvSpPr>
            <a:spLocks noGrp="1"/>
          </p:cNvSpPr>
          <p:nvPr>
            <p:ph idx="1"/>
          </p:nvPr>
        </p:nvSpPr>
        <p:spPr>
          <a:xfrm>
            <a:off x="440498" y="1093422"/>
            <a:ext cx="11371546" cy="5262928"/>
          </a:xfrm>
        </p:spPr>
        <p:txBody>
          <a:bodyPr numCol="1">
            <a:noAutofit/>
          </a:bodyPr>
          <a:lstStyle/>
          <a:p>
            <a:pPr>
              <a:lnSpc>
                <a:spcPct val="80000"/>
              </a:lnSpc>
              <a:spcBef>
                <a:spcPts val="600"/>
              </a:spcBef>
            </a:pPr>
            <a:r>
              <a:rPr lang="fr-FR" altLang="fr-FR" dirty="0"/>
              <a:t>Une distinction conceptuelle : approche des 1) </a:t>
            </a:r>
            <a:r>
              <a:rPr lang="fr-FR" altLang="fr-FR" b="1" dirty="0"/>
              <a:t>limites infranchissables </a:t>
            </a:r>
            <a:r>
              <a:rPr lang="fr-FR" altLang="fr-FR" dirty="0"/>
              <a:t>(l’énergie fossile), et 2) </a:t>
            </a:r>
            <a:r>
              <a:rPr lang="fr-FR" altLang="fr-FR" b="1" dirty="0"/>
              <a:t>dépassements des frontières </a:t>
            </a:r>
            <a:r>
              <a:rPr lang="fr-FR" altLang="fr-FR" dirty="0"/>
              <a:t>(seuils au-delà desquels le système risque de se dérégler)</a:t>
            </a:r>
          </a:p>
          <a:p>
            <a:pPr>
              <a:lnSpc>
                <a:spcPct val="80000"/>
              </a:lnSpc>
              <a:spcBef>
                <a:spcPts val="600"/>
              </a:spcBef>
            </a:pPr>
            <a:endParaRPr lang="fr-FR" altLang="fr-FR" dirty="0"/>
          </a:p>
          <a:p>
            <a:pPr marL="914400" lvl="1" indent="-457200">
              <a:lnSpc>
                <a:spcPct val="80000"/>
              </a:lnSpc>
              <a:spcBef>
                <a:spcPts val="600"/>
              </a:spcBef>
              <a:buAutoNum type="arabicParenR"/>
            </a:pPr>
            <a:r>
              <a:rPr lang="fr-FR" altLang="fr-FR" sz="2800" b="1" dirty="0"/>
              <a:t>Pic de production de pétrole conventionnel </a:t>
            </a:r>
            <a:r>
              <a:rPr lang="fr-FR" altLang="fr-FR" sz="2800" dirty="0"/>
              <a:t>déjà atteint, approche du pic pour les différents métaux, diminution du TRE (taux de retour énergétique) des énergies fossiles.</a:t>
            </a:r>
          </a:p>
          <a:p>
            <a:pPr marL="914400" lvl="1" indent="-457200">
              <a:lnSpc>
                <a:spcPct val="80000"/>
              </a:lnSpc>
              <a:spcBef>
                <a:spcPts val="600"/>
              </a:spcBef>
              <a:buAutoNum type="arabicParenR"/>
            </a:pPr>
            <a:endParaRPr lang="fr-FR" altLang="fr-FR" dirty="0"/>
          </a:p>
        </p:txBody>
      </p:sp>
      <p:sp>
        <p:nvSpPr>
          <p:cNvPr id="4" name="Espace réservé du pied de page 3">
            <a:extLst>
              <a:ext uri="{FF2B5EF4-FFF2-40B4-BE49-F238E27FC236}">
                <a16:creationId xmlns:a16="http://schemas.microsoft.com/office/drawing/2014/main" id="{DB8B306B-594B-46D2-91F0-A5800E3B64C9}"/>
              </a:ext>
            </a:extLst>
          </p:cNvPr>
          <p:cNvSpPr>
            <a:spLocks noGrp="1"/>
          </p:cNvSpPr>
          <p:nvPr>
            <p:ph type="ftr" sz="quarter" idx="11"/>
          </p:nvPr>
        </p:nvSpPr>
        <p:spPr/>
        <p:txBody>
          <a:bodyPr numCol="1"/>
          <a:lstStyle/>
          <a:p>
            <a:r>
              <a:rPr lang="fr-FR" altLang="fr-FR" dirty="0"/>
              <a:t>Pole Humanités Design Département des Relations Humaines</a:t>
            </a:r>
          </a:p>
        </p:txBody>
      </p:sp>
      <p:sp>
        <p:nvSpPr>
          <p:cNvPr id="5" name="Espace réservé du numéro de diapositive 4">
            <a:extLst>
              <a:ext uri="{FF2B5EF4-FFF2-40B4-BE49-F238E27FC236}">
                <a16:creationId xmlns:a16="http://schemas.microsoft.com/office/drawing/2014/main" id="{51461C0D-3B0E-45E3-B13C-02C9F81CAA73}"/>
              </a:ext>
            </a:extLst>
          </p:cNvPr>
          <p:cNvSpPr>
            <a:spLocks noGrp="1"/>
          </p:cNvSpPr>
          <p:nvPr>
            <p:ph type="sldNum" sz="quarter" idx="12"/>
          </p:nvPr>
        </p:nvSpPr>
        <p:spPr/>
        <p:txBody>
          <a:bodyPr numCol="1"/>
          <a:lstStyle/>
          <a:p>
            <a:fld id="{788DAB52-6294-4F97-81DD-ABD852645FBC}" type="slidenum">
              <a:rPr lang="fr-FR" altLang="fr-FR" smtClean="0"/>
              <a:t>39</a:t>
            </a:fld>
            <a:endParaRPr lang="fr-FR" altLang="fr-FR"/>
          </a:p>
        </p:txBody>
      </p:sp>
    </p:spTree>
    <p:extLst>
      <p:ext uri="{BB962C8B-B14F-4D97-AF65-F5344CB8AC3E}">
        <p14:creationId xmlns:p14="http://schemas.microsoft.com/office/powerpoint/2010/main" val="13038129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4991867-9E83-470C-ABEB-2A151346242A}"/>
              </a:ext>
            </a:extLst>
          </p:cNvPr>
          <p:cNvSpPr>
            <a:spLocks noGrp="1"/>
          </p:cNvSpPr>
          <p:nvPr>
            <p:ph idx="1"/>
          </p:nvPr>
        </p:nvSpPr>
        <p:spPr>
          <a:xfrm>
            <a:off x="410227" y="565388"/>
            <a:ext cx="11371546" cy="5262928"/>
          </a:xfrm>
        </p:spPr>
        <p:txBody>
          <a:bodyPr numCol="1">
            <a:noAutofit/>
          </a:bodyPr>
          <a:lstStyle/>
          <a:p>
            <a:pPr marL="914400" lvl="1" indent="-457200">
              <a:lnSpc>
                <a:spcPct val="80000"/>
              </a:lnSpc>
              <a:spcBef>
                <a:spcPts val="600"/>
              </a:spcBef>
              <a:buAutoNum type="arabicParenR"/>
            </a:pPr>
            <a:endParaRPr lang="fr-FR" altLang="fr-FR" dirty="0"/>
          </a:p>
          <a:p>
            <a:pPr marL="457200" lvl="1" indent="0">
              <a:lnSpc>
                <a:spcPct val="80000"/>
              </a:lnSpc>
              <a:spcBef>
                <a:spcPts val="600"/>
              </a:spcBef>
              <a:buNone/>
            </a:pPr>
            <a:r>
              <a:rPr lang="fr-FR" altLang="fr-FR" sz="2800" b="1" dirty="0"/>
              <a:t>2) Frontières :</a:t>
            </a:r>
          </a:p>
          <a:p>
            <a:pPr marL="457200" lvl="1" indent="0">
              <a:lnSpc>
                <a:spcPct val="80000"/>
              </a:lnSpc>
              <a:spcBef>
                <a:spcPts val="600"/>
              </a:spcBef>
              <a:buNone/>
            </a:pPr>
            <a:endParaRPr lang="fr-FR" altLang="fr-FR" sz="2800" b="1" dirty="0"/>
          </a:p>
          <a:p>
            <a:pPr lvl="1">
              <a:lnSpc>
                <a:spcPct val="80000"/>
              </a:lnSpc>
              <a:spcBef>
                <a:spcPts val="600"/>
              </a:spcBef>
              <a:buFont typeface="Calibri" panose="020F0502020204030204" pitchFamily="34" charset="0"/>
              <a:buChar char="­"/>
            </a:pPr>
            <a:r>
              <a:rPr lang="fr-FR" altLang="fr-FR" sz="2800" b="1" dirty="0"/>
              <a:t>réchauffement climatique </a:t>
            </a:r>
            <a:r>
              <a:rPr lang="fr-FR" altLang="fr-FR" sz="2800" dirty="0"/>
              <a:t>(pour limiter la hausse de la température à 2°C, il faudrait une diminution de moitié des émissions de gaz à effet de serre d’ici 2050 ; 25 entreprises sont responsables de 50% des émissions mondiales de gaz à effet de serre)</a:t>
            </a:r>
            <a:r>
              <a:rPr lang="fr-FR" altLang="fr-FR" sz="2800" b="1" dirty="0"/>
              <a:t> ; vagues de chaleur ; fonte des glaces</a:t>
            </a:r>
            <a:r>
              <a:rPr lang="fr-FR" altLang="fr-FR" sz="2800" dirty="0"/>
              <a:t>, hausse du niveau des mers ;</a:t>
            </a:r>
          </a:p>
          <a:p>
            <a:pPr lvl="1">
              <a:lnSpc>
                <a:spcPct val="80000"/>
              </a:lnSpc>
              <a:spcBef>
                <a:spcPts val="600"/>
              </a:spcBef>
              <a:buFont typeface="Calibri" panose="020F0502020204030204" pitchFamily="34" charset="0"/>
              <a:buChar char="­"/>
            </a:pPr>
            <a:r>
              <a:rPr lang="fr-FR" altLang="fr-FR" sz="2800" b="1" dirty="0"/>
              <a:t>acidification des océans ;</a:t>
            </a:r>
          </a:p>
          <a:p>
            <a:pPr lvl="1">
              <a:lnSpc>
                <a:spcPct val="80000"/>
              </a:lnSpc>
              <a:spcBef>
                <a:spcPts val="600"/>
              </a:spcBef>
              <a:buFont typeface="Calibri" panose="020F0502020204030204" pitchFamily="34" charset="0"/>
              <a:buChar char="­"/>
            </a:pPr>
            <a:r>
              <a:rPr lang="fr-FR" altLang="fr-FR" sz="2800" b="1" dirty="0"/>
              <a:t>extinctions d’espèces</a:t>
            </a:r>
            <a:r>
              <a:rPr lang="fr-FR" altLang="fr-FR" sz="2800" dirty="0"/>
              <a:t>, avec début d’une 6</a:t>
            </a:r>
            <a:r>
              <a:rPr lang="fr-FR" altLang="fr-FR" sz="2800" baseline="30000" dirty="0"/>
              <a:t>ème</a:t>
            </a:r>
            <a:r>
              <a:rPr lang="fr-FR" altLang="fr-FR" sz="2800" dirty="0"/>
              <a:t> extinction de masse, </a:t>
            </a:r>
            <a:r>
              <a:rPr lang="fr-FR" altLang="fr-FR" sz="2800" i="1" dirty="0">
                <a:solidFill>
                  <a:srgbClr val="0070C0"/>
                </a:solidFill>
              </a:rPr>
              <a:t>« cette fois, l’astéroïde, ce sont les humains »</a:t>
            </a:r>
            <a:r>
              <a:rPr lang="fr-FR" altLang="fr-FR" sz="2800" dirty="0"/>
              <a:t> (Elizabeth </a:t>
            </a:r>
            <a:r>
              <a:rPr lang="fr-FR" altLang="fr-FR" sz="2800" dirty="0" err="1"/>
              <a:t>Kolbert</a:t>
            </a:r>
            <a:r>
              <a:rPr lang="fr-FR" altLang="fr-FR" sz="2800" dirty="0"/>
              <a:t>), dues aux pesticides, à la surpêche, etc. (« effet pare-brise », pour les insectes, avec baisse de biomasse de 2,5% par an) ;</a:t>
            </a:r>
          </a:p>
        </p:txBody>
      </p:sp>
      <p:sp>
        <p:nvSpPr>
          <p:cNvPr id="4" name="Espace réservé du pied de page 3">
            <a:extLst>
              <a:ext uri="{FF2B5EF4-FFF2-40B4-BE49-F238E27FC236}">
                <a16:creationId xmlns:a16="http://schemas.microsoft.com/office/drawing/2014/main" id="{DB8B306B-594B-46D2-91F0-A5800E3B64C9}"/>
              </a:ext>
            </a:extLst>
          </p:cNvPr>
          <p:cNvSpPr>
            <a:spLocks noGrp="1"/>
          </p:cNvSpPr>
          <p:nvPr>
            <p:ph type="ftr" sz="quarter" idx="11"/>
          </p:nvPr>
        </p:nvSpPr>
        <p:spPr/>
        <p:txBody>
          <a:bodyPr numCol="1"/>
          <a:lstStyle/>
          <a:p>
            <a:r>
              <a:rPr lang="fr-FR" altLang="fr-FR" dirty="0"/>
              <a:t>Pole Humanités Design Département des Relations Humaines</a:t>
            </a:r>
          </a:p>
        </p:txBody>
      </p:sp>
      <p:sp>
        <p:nvSpPr>
          <p:cNvPr id="5" name="Espace réservé du numéro de diapositive 4">
            <a:extLst>
              <a:ext uri="{FF2B5EF4-FFF2-40B4-BE49-F238E27FC236}">
                <a16:creationId xmlns:a16="http://schemas.microsoft.com/office/drawing/2014/main" id="{51461C0D-3B0E-45E3-B13C-02C9F81CAA73}"/>
              </a:ext>
            </a:extLst>
          </p:cNvPr>
          <p:cNvSpPr>
            <a:spLocks noGrp="1"/>
          </p:cNvSpPr>
          <p:nvPr>
            <p:ph type="sldNum" sz="quarter" idx="12"/>
          </p:nvPr>
        </p:nvSpPr>
        <p:spPr/>
        <p:txBody>
          <a:bodyPr numCol="1"/>
          <a:lstStyle/>
          <a:p>
            <a:fld id="{788DAB52-6294-4F97-81DD-ABD852645FBC}" type="slidenum">
              <a:rPr lang="fr-FR" altLang="fr-FR" smtClean="0"/>
              <a:t>40</a:t>
            </a:fld>
            <a:endParaRPr lang="fr-FR" altLang="fr-FR"/>
          </a:p>
        </p:txBody>
      </p:sp>
    </p:spTree>
    <p:extLst>
      <p:ext uri="{BB962C8B-B14F-4D97-AF65-F5344CB8AC3E}">
        <p14:creationId xmlns:p14="http://schemas.microsoft.com/office/powerpoint/2010/main" val="17412505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4991867-9E83-470C-ABEB-2A151346242A}"/>
              </a:ext>
            </a:extLst>
          </p:cNvPr>
          <p:cNvSpPr>
            <a:spLocks noGrp="1"/>
          </p:cNvSpPr>
          <p:nvPr>
            <p:ph idx="1"/>
          </p:nvPr>
        </p:nvSpPr>
        <p:spPr>
          <a:xfrm>
            <a:off x="659704" y="670230"/>
            <a:ext cx="10872592" cy="4777869"/>
          </a:xfrm>
        </p:spPr>
        <p:txBody>
          <a:bodyPr numCol="1">
            <a:noAutofit/>
          </a:bodyPr>
          <a:lstStyle/>
          <a:p>
            <a:pPr lvl="1">
              <a:lnSpc>
                <a:spcPct val="80000"/>
              </a:lnSpc>
              <a:spcBef>
                <a:spcPts val="600"/>
              </a:spcBef>
              <a:buFont typeface="Calibri" panose="020F0502020204030204" pitchFamily="34" charset="0"/>
              <a:buChar char="­"/>
            </a:pPr>
            <a:r>
              <a:rPr lang="fr-FR" altLang="fr-FR" sz="2800" b="1" dirty="0"/>
              <a:t>pénuries d’eau</a:t>
            </a:r>
            <a:r>
              <a:rPr lang="fr-FR" altLang="fr-FR" sz="2800" dirty="0"/>
              <a:t> (de nombreux pays consomment plus d’eau que leur apport naturel), avec risque d’épuisement de l’</a:t>
            </a:r>
            <a:r>
              <a:rPr lang="fr-FR" altLang="fr-FR" sz="2800" b="1" dirty="0"/>
              <a:t>aquifère ;</a:t>
            </a:r>
          </a:p>
          <a:p>
            <a:pPr lvl="1">
              <a:lnSpc>
                <a:spcPct val="80000"/>
              </a:lnSpc>
              <a:spcBef>
                <a:spcPts val="600"/>
              </a:spcBef>
              <a:buFont typeface="Calibri" panose="020F0502020204030204" pitchFamily="34" charset="0"/>
              <a:buChar char="­"/>
            </a:pPr>
            <a:r>
              <a:rPr lang="fr-FR" altLang="fr-FR" sz="2800" b="1" dirty="0"/>
              <a:t>destruction de la couche d’ozone </a:t>
            </a:r>
            <a:r>
              <a:rPr lang="fr-FR" altLang="fr-FR" sz="2800" dirty="0"/>
              <a:t>;</a:t>
            </a:r>
          </a:p>
          <a:p>
            <a:pPr lvl="1">
              <a:lnSpc>
                <a:spcPct val="80000"/>
              </a:lnSpc>
              <a:spcBef>
                <a:spcPts val="600"/>
              </a:spcBef>
              <a:buFont typeface="Calibri" panose="020F0502020204030204" pitchFamily="34" charset="0"/>
              <a:buChar char="­"/>
            </a:pPr>
            <a:r>
              <a:rPr lang="fr-FR" altLang="fr-FR" sz="2800" b="1" dirty="0"/>
              <a:t>Pollution de l’air </a:t>
            </a:r>
            <a:r>
              <a:rPr lang="fr-FR" altLang="fr-FR" sz="2800" dirty="0"/>
              <a:t>et enjeux sanitaires afférents ;</a:t>
            </a:r>
          </a:p>
          <a:p>
            <a:pPr lvl="1">
              <a:lnSpc>
                <a:spcPct val="80000"/>
              </a:lnSpc>
              <a:spcBef>
                <a:spcPts val="600"/>
              </a:spcBef>
              <a:buFont typeface="Calibri" panose="020F0502020204030204" pitchFamily="34" charset="0"/>
              <a:buChar char="­"/>
            </a:pPr>
            <a:r>
              <a:rPr lang="fr-FR" altLang="fr-FR" sz="2800" b="1" dirty="0"/>
              <a:t>accumulation de molécules pathogènes </a:t>
            </a:r>
            <a:r>
              <a:rPr lang="fr-FR" altLang="fr-FR" sz="2800" dirty="0"/>
              <a:t>dans les chaines alimentaires ;</a:t>
            </a:r>
          </a:p>
          <a:p>
            <a:pPr lvl="1">
              <a:lnSpc>
                <a:spcPct val="80000"/>
              </a:lnSpc>
              <a:spcBef>
                <a:spcPts val="600"/>
              </a:spcBef>
              <a:buFont typeface="Calibri" panose="020F0502020204030204" pitchFamily="34" charset="0"/>
              <a:buChar char="­"/>
            </a:pPr>
            <a:r>
              <a:rPr lang="fr-FR" altLang="fr-FR" sz="2800" dirty="0"/>
              <a:t>Pollution des mers, appauvrissement des sols dû à l’agriculture intensive, bouleversement du cycle de l’azote et création de « zones mortes » en mer, etc.</a:t>
            </a:r>
          </a:p>
          <a:p>
            <a:pPr>
              <a:lnSpc>
                <a:spcPct val="80000"/>
              </a:lnSpc>
              <a:spcBef>
                <a:spcPts val="600"/>
              </a:spcBef>
            </a:pPr>
            <a:endParaRPr lang="fr-FR" altLang="fr-FR" dirty="0"/>
          </a:p>
          <a:p>
            <a:pPr marL="0" indent="0" algn="ctr">
              <a:lnSpc>
                <a:spcPct val="80000"/>
              </a:lnSpc>
              <a:spcBef>
                <a:spcPts val="600"/>
              </a:spcBef>
              <a:buNone/>
            </a:pPr>
            <a:r>
              <a:rPr lang="fr-FR" altLang="fr-FR" dirty="0">
                <a:sym typeface="Wingdings" panose="05000000000000000000" pitchFamily="2" charset="2"/>
              </a:rPr>
              <a:t> </a:t>
            </a:r>
            <a:r>
              <a:rPr lang="fr-FR" altLang="fr-FR" dirty="0"/>
              <a:t>Avec déjà des </a:t>
            </a:r>
            <a:r>
              <a:rPr lang="fr-FR" altLang="fr-FR" b="1" dirty="0"/>
              <a:t>conséquences irréversibles</a:t>
            </a:r>
            <a:r>
              <a:rPr lang="fr-FR" altLang="fr-FR" dirty="0"/>
              <a:t>, risques </a:t>
            </a:r>
            <a:r>
              <a:rPr lang="fr-FR" altLang="fr-FR" b="1" dirty="0"/>
              <a:t>sociaux</a:t>
            </a:r>
            <a:r>
              <a:rPr lang="fr-FR" altLang="fr-FR" dirty="0"/>
              <a:t> et </a:t>
            </a:r>
            <a:r>
              <a:rPr lang="fr-FR" altLang="fr-FR" b="1" dirty="0"/>
              <a:t>géopolitiques</a:t>
            </a:r>
            <a:r>
              <a:rPr lang="fr-FR" altLang="fr-FR" dirty="0"/>
              <a:t>, ainsi que </a:t>
            </a:r>
            <a:r>
              <a:rPr lang="fr-FR" altLang="fr-FR" b="1" dirty="0"/>
              <a:t>sanitaires</a:t>
            </a:r>
            <a:r>
              <a:rPr lang="fr-FR" altLang="fr-FR" dirty="0"/>
              <a:t> (migrations climatiques de masse, difficultés agricoles, conflits armés, etc.).</a:t>
            </a:r>
          </a:p>
        </p:txBody>
      </p:sp>
      <p:sp>
        <p:nvSpPr>
          <p:cNvPr id="4" name="Espace réservé du pied de page 3">
            <a:extLst>
              <a:ext uri="{FF2B5EF4-FFF2-40B4-BE49-F238E27FC236}">
                <a16:creationId xmlns:a16="http://schemas.microsoft.com/office/drawing/2014/main" id="{DB8B306B-594B-46D2-91F0-A5800E3B64C9}"/>
              </a:ext>
            </a:extLst>
          </p:cNvPr>
          <p:cNvSpPr>
            <a:spLocks noGrp="1"/>
          </p:cNvSpPr>
          <p:nvPr>
            <p:ph type="ftr" sz="quarter" idx="11"/>
          </p:nvPr>
        </p:nvSpPr>
        <p:spPr/>
        <p:txBody>
          <a:bodyPr numCol="1"/>
          <a:lstStyle/>
          <a:p>
            <a:r>
              <a:rPr lang="fr-FR" altLang="fr-FR" dirty="0"/>
              <a:t>Pole Humanités Design Département des Relations Humaines</a:t>
            </a:r>
          </a:p>
        </p:txBody>
      </p:sp>
      <p:sp>
        <p:nvSpPr>
          <p:cNvPr id="5" name="Espace réservé du numéro de diapositive 4">
            <a:extLst>
              <a:ext uri="{FF2B5EF4-FFF2-40B4-BE49-F238E27FC236}">
                <a16:creationId xmlns:a16="http://schemas.microsoft.com/office/drawing/2014/main" id="{51461C0D-3B0E-45E3-B13C-02C9F81CAA73}"/>
              </a:ext>
            </a:extLst>
          </p:cNvPr>
          <p:cNvSpPr>
            <a:spLocks noGrp="1"/>
          </p:cNvSpPr>
          <p:nvPr>
            <p:ph type="sldNum" sz="quarter" idx="12"/>
          </p:nvPr>
        </p:nvSpPr>
        <p:spPr/>
        <p:txBody>
          <a:bodyPr numCol="1"/>
          <a:lstStyle/>
          <a:p>
            <a:fld id="{788DAB52-6294-4F97-81DD-ABD852645FBC}" type="slidenum">
              <a:rPr lang="fr-FR" altLang="fr-FR" smtClean="0"/>
              <a:t>41</a:t>
            </a:fld>
            <a:endParaRPr lang="fr-FR" altLang="fr-FR"/>
          </a:p>
        </p:txBody>
      </p:sp>
    </p:spTree>
    <p:extLst>
      <p:ext uri="{BB962C8B-B14F-4D97-AF65-F5344CB8AC3E}">
        <p14:creationId xmlns:p14="http://schemas.microsoft.com/office/powerpoint/2010/main" val="29270401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04EEF5D2-E69A-49AF-9D6E-0EDCA8E5E1E2}"/>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C79E4762-E7DD-448D-8A6B-CB2E2F90F77D}"/>
              </a:ext>
            </a:extLst>
          </p:cNvPr>
          <p:cNvSpPr>
            <a:spLocks noGrp="1"/>
          </p:cNvSpPr>
          <p:nvPr>
            <p:ph type="sldNum" sz="quarter" idx="12"/>
          </p:nvPr>
        </p:nvSpPr>
        <p:spPr/>
        <p:txBody>
          <a:bodyPr numCol="1"/>
          <a:lstStyle/>
          <a:p>
            <a:fld id="{788DAB52-6294-4F97-81DD-ABD852645FBC}" type="slidenum">
              <a:rPr lang="fr-FR" altLang="fr-FR" smtClean="0"/>
              <a:t>42</a:t>
            </a:fld>
            <a:endParaRPr lang="fr-FR" altLang="fr-FR"/>
          </a:p>
        </p:txBody>
      </p:sp>
      <p:pic>
        <p:nvPicPr>
          <p:cNvPr id="6" name="Image 5">
            <a:extLst>
              <a:ext uri="{FF2B5EF4-FFF2-40B4-BE49-F238E27FC236}">
                <a16:creationId xmlns:a16="http://schemas.microsoft.com/office/drawing/2014/main" id="{4F261740-7F24-45B7-8ED5-C0C87138E9E1}"/>
              </a:ext>
            </a:extLst>
          </p:cNvPr>
          <p:cNvPicPr>
            <a:picLocks noChangeAspect="1"/>
          </p:cNvPicPr>
          <p:nvPr/>
        </p:nvPicPr>
        <p:blipFill>
          <a:blip r:embed="rId3"/>
          <a:stretch>
            <a:fillRect/>
          </a:stretch>
        </p:blipFill>
        <p:spPr>
          <a:xfrm>
            <a:off x="3001109" y="688820"/>
            <a:ext cx="6506848" cy="5242053"/>
          </a:xfrm>
          <a:prstGeom prst="rect">
            <a:avLst/>
          </a:prstGeom>
        </p:spPr>
      </p:pic>
      <p:sp>
        <p:nvSpPr>
          <p:cNvPr id="8" name="ZoneTexte 7">
            <a:extLst>
              <a:ext uri="{FF2B5EF4-FFF2-40B4-BE49-F238E27FC236}">
                <a16:creationId xmlns:a16="http://schemas.microsoft.com/office/drawing/2014/main" id="{D2D41DB5-98A0-42CE-9424-3049C9990559}"/>
              </a:ext>
            </a:extLst>
          </p:cNvPr>
          <p:cNvSpPr txBox="1"/>
          <p:nvPr/>
        </p:nvSpPr>
        <p:spPr>
          <a:xfrm>
            <a:off x="3167191" y="6213252"/>
            <a:ext cx="6833134" cy="276999"/>
          </a:xfrm>
          <a:prstGeom prst="rect">
            <a:avLst/>
          </a:prstGeom>
          <a:noFill/>
        </p:spPr>
        <p:txBody>
          <a:bodyPr wrap="square" numCol="1">
            <a:spAutoFit/>
          </a:bodyPr>
          <a:lstStyle/>
          <a:p>
            <a:r>
              <a:rPr lang="fr-FR" altLang="fr-FR" sz="1200" dirty="0"/>
              <a:t>https://fr.wikipedia.org/wiki/Limites_plan%C3%A9taires#/media/Fichier:Planetary_Boundaries.png</a:t>
            </a:r>
          </a:p>
        </p:txBody>
      </p:sp>
      <p:sp>
        <p:nvSpPr>
          <p:cNvPr id="10" name="ZoneTexte 9">
            <a:extLst>
              <a:ext uri="{FF2B5EF4-FFF2-40B4-BE49-F238E27FC236}">
                <a16:creationId xmlns:a16="http://schemas.microsoft.com/office/drawing/2014/main" id="{3513A370-449D-439C-B17B-16BA346358CD}"/>
              </a:ext>
            </a:extLst>
          </p:cNvPr>
          <p:cNvSpPr txBox="1"/>
          <p:nvPr/>
        </p:nvSpPr>
        <p:spPr>
          <a:xfrm>
            <a:off x="2835862" y="5930873"/>
            <a:ext cx="7767661" cy="307777"/>
          </a:xfrm>
          <a:prstGeom prst="rect">
            <a:avLst/>
          </a:prstGeom>
          <a:noFill/>
        </p:spPr>
        <p:txBody>
          <a:bodyPr wrap="square" numCol="1">
            <a:spAutoFit/>
          </a:bodyPr>
          <a:lstStyle/>
          <a:p>
            <a:r>
              <a:rPr lang="fr-FR" altLang="fr-FR" sz="1400" dirty="0"/>
              <a:t>"</a:t>
            </a:r>
            <a:r>
              <a:rPr sz="1400" b="1" dirty="0" err="1"/>
              <a:t>Limites</a:t>
            </a:r>
            <a:r>
              <a:rPr sz="1400" b="1" dirty="0"/>
              <a:t> </a:t>
            </a:r>
            <a:r>
              <a:rPr sz="1400" b="1" dirty="0" err="1"/>
              <a:t>planétaire</a:t>
            </a:r>
            <a:r>
              <a:rPr sz="1400" dirty="0" err="1"/>
              <a:t>s</a:t>
            </a:r>
            <a:r>
              <a:rPr sz="1400" dirty="0"/>
              <a:t>" </a:t>
            </a:r>
            <a:r>
              <a:rPr sz="1400" dirty="0" err="1"/>
              <a:t>selon</a:t>
            </a:r>
            <a:r>
              <a:rPr sz="1400" dirty="0"/>
              <a:t> le rapport de </a:t>
            </a:r>
            <a:r>
              <a:rPr lang="fr-FR" sz="1400" dirty="0"/>
              <a:t>Johan </a:t>
            </a:r>
            <a:r>
              <a:rPr lang="fr-FR" altLang="fr-FR" sz="1400" dirty="0" err="1"/>
              <a:t>Rockström</a:t>
            </a:r>
            <a:r>
              <a:rPr lang="fr-FR" altLang="fr-FR" sz="1400" dirty="0"/>
              <a:t> et al. publié dans </a:t>
            </a:r>
            <a:r>
              <a:rPr lang="fr-FR" altLang="fr-FR" sz="1400" i="1" dirty="0"/>
              <a:t>Nature</a:t>
            </a:r>
            <a:r>
              <a:rPr lang="fr-FR" altLang="fr-FR" sz="1400" dirty="0"/>
              <a:t> en 2009.1,2.</a:t>
            </a:r>
          </a:p>
        </p:txBody>
      </p:sp>
      <p:sp>
        <p:nvSpPr>
          <p:cNvPr id="7" name="Titre 1">
            <a:extLst>
              <a:ext uri="{FF2B5EF4-FFF2-40B4-BE49-F238E27FC236}">
                <a16:creationId xmlns:a16="http://schemas.microsoft.com/office/drawing/2014/main" id="{926564AC-886E-4B2E-B8B2-62342280FC87}"/>
              </a:ext>
            </a:extLst>
          </p:cNvPr>
          <p:cNvSpPr>
            <a:spLocks noGrp="1"/>
          </p:cNvSpPr>
          <p:nvPr>
            <p:ph type="title"/>
          </p:nvPr>
        </p:nvSpPr>
        <p:spPr>
          <a:xfrm>
            <a:off x="797169" y="24322"/>
            <a:ext cx="10515600" cy="798399"/>
          </a:xfrm>
        </p:spPr>
        <p:txBody>
          <a:bodyPr numCol="1"/>
          <a:lstStyle/>
          <a:p>
            <a:pPr algn="ctr"/>
            <a:r>
              <a:rPr lang="fr-FR" altLang="fr-FR" dirty="0"/>
              <a:t>Les limites planétaires (2009)</a:t>
            </a:r>
          </a:p>
        </p:txBody>
      </p:sp>
    </p:spTree>
    <p:extLst>
      <p:ext uri="{BB962C8B-B14F-4D97-AF65-F5344CB8AC3E}">
        <p14:creationId xmlns:p14="http://schemas.microsoft.com/office/powerpoint/2010/main" val="9426156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04EEF5D2-E69A-49AF-9D6E-0EDCA8E5E1E2}"/>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C79E4762-E7DD-448D-8A6B-CB2E2F90F77D}"/>
              </a:ext>
            </a:extLst>
          </p:cNvPr>
          <p:cNvSpPr>
            <a:spLocks noGrp="1"/>
          </p:cNvSpPr>
          <p:nvPr>
            <p:ph type="sldNum" sz="quarter" idx="12"/>
          </p:nvPr>
        </p:nvSpPr>
        <p:spPr/>
        <p:txBody>
          <a:bodyPr numCol="1"/>
          <a:lstStyle/>
          <a:p>
            <a:fld id="{788DAB52-6294-4F97-81DD-ABD852645FBC}" type="slidenum">
              <a:rPr lang="fr-FR" altLang="fr-FR" smtClean="0"/>
              <a:t>43</a:t>
            </a:fld>
            <a:endParaRPr lang="fr-FR" altLang="fr-FR"/>
          </a:p>
        </p:txBody>
      </p:sp>
      <p:sp>
        <p:nvSpPr>
          <p:cNvPr id="7" name="Titre 1">
            <a:extLst>
              <a:ext uri="{FF2B5EF4-FFF2-40B4-BE49-F238E27FC236}">
                <a16:creationId xmlns:a16="http://schemas.microsoft.com/office/drawing/2014/main" id="{926564AC-886E-4B2E-B8B2-62342280FC87}"/>
              </a:ext>
            </a:extLst>
          </p:cNvPr>
          <p:cNvSpPr>
            <a:spLocks noGrp="1"/>
          </p:cNvSpPr>
          <p:nvPr>
            <p:ph type="title"/>
          </p:nvPr>
        </p:nvSpPr>
        <p:spPr>
          <a:xfrm>
            <a:off x="797169" y="24322"/>
            <a:ext cx="10515600" cy="798399"/>
          </a:xfrm>
        </p:spPr>
        <p:txBody>
          <a:bodyPr numCol="1">
            <a:normAutofit fontScale="90000"/>
          </a:bodyPr>
          <a:lstStyle/>
          <a:p>
            <a:pPr algn="ctr"/>
            <a:r>
              <a:rPr lang="fr-FR" altLang="fr-FR" dirty="0"/>
              <a:t>Les limites planétaires (schéma actualisé en 2015)</a:t>
            </a:r>
          </a:p>
        </p:txBody>
      </p:sp>
      <p:pic>
        <p:nvPicPr>
          <p:cNvPr id="3" name="Image 2">
            <a:extLst>
              <a:ext uri="{FF2B5EF4-FFF2-40B4-BE49-F238E27FC236}">
                <a16:creationId xmlns:a16="http://schemas.microsoft.com/office/drawing/2014/main" id="{9E30F7BD-A1D4-4988-8331-431EA4E924F8}"/>
              </a:ext>
            </a:extLst>
          </p:cNvPr>
          <p:cNvPicPr>
            <a:picLocks noChangeAspect="1"/>
          </p:cNvPicPr>
          <p:nvPr/>
        </p:nvPicPr>
        <p:blipFill>
          <a:blip r:embed="rId3"/>
          <a:stretch>
            <a:fillRect/>
          </a:stretch>
        </p:blipFill>
        <p:spPr>
          <a:xfrm>
            <a:off x="2557865" y="822721"/>
            <a:ext cx="6907839" cy="5320903"/>
          </a:xfrm>
          <a:prstGeom prst="rect">
            <a:avLst/>
          </a:prstGeom>
          <a:effectLst>
            <a:outerShdw blurRad="63500" sx="102000" sy="102000" algn="ctr" rotWithShape="0">
              <a:prstClr val="black">
                <a:alpha val="40000"/>
              </a:prstClr>
            </a:outerShdw>
          </a:effectLst>
        </p:spPr>
      </p:pic>
      <p:sp>
        <p:nvSpPr>
          <p:cNvPr id="11" name="ZoneTexte 10">
            <a:extLst>
              <a:ext uri="{FF2B5EF4-FFF2-40B4-BE49-F238E27FC236}">
                <a16:creationId xmlns:a16="http://schemas.microsoft.com/office/drawing/2014/main" id="{D49CE85C-7229-4050-A0DA-FA35D6BFB495}"/>
              </a:ext>
            </a:extLst>
          </p:cNvPr>
          <p:cNvSpPr txBox="1"/>
          <p:nvPr/>
        </p:nvSpPr>
        <p:spPr>
          <a:xfrm>
            <a:off x="2558143" y="6143625"/>
            <a:ext cx="7162800" cy="369332"/>
          </a:xfrm>
          <a:prstGeom prst="rect">
            <a:avLst/>
          </a:prstGeom>
          <a:noFill/>
        </p:spPr>
        <p:txBody>
          <a:bodyPr wrap="square">
            <a:spAutoFit/>
          </a:bodyPr>
          <a:lstStyle/>
          <a:p>
            <a:r>
              <a:rPr lang="fr-FR" dirty="0"/>
              <a:t>https://etatssauvages.wixsite.com/etatssauvages/post/9limitesplanetaires</a:t>
            </a:r>
          </a:p>
        </p:txBody>
      </p:sp>
    </p:spTree>
    <p:extLst>
      <p:ext uri="{BB962C8B-B14F-4D97-AF65-F5344CB8AC3E}">
        <p14:creationId xmlns:p14="http://schemas.microsoft.com/office/powerpoint/2010/main" val="7099343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AE859A-4510-4392-A704-4266A1D3282B}"/>
              </a:ext>
            </a:extLst>
          </p:cNvPr>
          <p:cNvSpPr/>
          <p:nvPr/>
        </p:nvSpPr>
        <p:spPr>
          <a:xfrm>
            <a:off x="0" y="0"/>
            <a:ext cx="12192000" cy="6858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C8BD70B6-B2F3-4AE6-9DD8-F6C3BEB6E78C}"/>
              </a:ext>
            </a:extLst>
          </p:cNvPr>
          <p:cNvSpPr>
            <a:spLocks noGrp="1"/>
          </p:cNvSpPr>
          <p:nvPr>
            <p:ph idx="1"/>
          </p:nvPr>
        </p:nvSpPr>
        <p:spPr>
          <a:xfrm>
            <a:off x="520700" y="553792"/>
            <a:ext cx="10833100" cy="5623171"/>
          </a:xfrm>
        </p:spPr>
        <p:txBody>
          <a:bodyPr>
            <a:normAutofit/>
          </a:bodyPr>
          <a:lstStyle/>
          <a:p>
            <a:pPr marL="0" indent="0">
              <a:buNone/>
            </a:pPr>
            <a:r>
              <a:rPr lang="fr-FR" dirty="0">
                <a:solidFill>
                  <a:srgbClr val="0070C0"/>
                </a:solidFill>
              </a:rPr>
              <a:t>« </a:t>
            </a:r>
            <a:r>
              <a:rPr lang="fr-FR" b="0" i="0" dirty="0">
                <a:solidFill>
                  <a:srgbClr val="0070C0"/>
                </a:solidFill>
                <a:effectLst/>
              </a:rPr>
              <a:t>La Terre s'entend comme entité qui vient mettre un terme au projet Moderne, car celui-ci n'a de sens que dans </a:t>
            </a:r>
            <a:r>
              <a:rPr lang="fr-FR" dirty="0">
                <a:solidFill>
                  <a:srgbClr val="0070C0"/>
                </a:solidFill>
              </a:rPr>
              <a:t>l’</a:t>
            </a:r>
            <a:r>
              <a:rPr lang="fr-FR" b="0" i="0" dirty="0">
                <a:solidFill>
                  <a:srgbClr val="0070C0"/>
                </a:solidFill>
                <a:effectLst/>
              </a:rPr>
              <a:t>horizon d’une extension d'un certain mode de vie à l'intégralité des membres de l'espèce (c'est </a:t>
            </a:r>
            <a:r>
              <a:rPr lang="fr-FR" b="1" i="0" dirty="0">
                <a:solidFill>
                  <a:srgbClr val="0070C0"/>
                </a:solidFill>
                <a:effectLst/>
              </a:rPr>
              <a:t>l'idée même de progrès</a:t>
            </a:r>
            <a:r>
              <a:rPr lang="fr-FR" b="0" i="0" dirty="0">
                <a:solidFill>
                  <a:srgbClr val="0070C0"/>
                </a:solidFill>
                <a:effectLst/>
              </a:rPr>
              <a:t>). C'est à ce titre qu'elle devient un problème politique, scientifique, métaphysique, économique, religieux, etc. (car c'est dans toutes ces dimensions que la Modernité bute sur une limite qui remet en cause jusqu'à son principe). La Terre peut ainsi être définie comme l'ensemble des limites qu'on ne saurait dépasser sans s'exposer au moins à un risque (voire à une certitude) d'autodestruction » (</a:t>
            </a:r>
            <a:r>
              <a:rPr lang="fr-FR" b="0" i="0" dirty="0" err="1">
                <a:solidFill>
                  <a:srgbClr val="0070C0"/>
                </a:solidFill>
                <a:effectLst/>
              </a:rPr>
              <a:t>Maniglier</a:t>
            </a:r>
            <a:r>
              <a:rPr lang="fr-FR" b="0" i="0" dirty="0">
                <a:solidFill>
                  <a:srgbClr val="0070C0"/>
                </a:solidFill>
                <a:effectLst/>
              </a:rPr>
              <a:t>, 2021, p. 72).</a:t>
            </a:r>
          </a:p>
          <a:p>
            <a:pPr marL="0" indent="0">
              <a:buNone/>
            </a:pPr>
            <a:endParaRPr lang="fr-FR" b="0" i="0" dirty="0">
              <a:solidFill>
                <a:srgbClr val="0070C0"/>
              </a:solidFill>
              <a:effectLst/>
              <a:latin typeface="Arial" panose="020B0604020202020204" pitchFamily="34" charset="0"/>
            </a:endParaRPr>
          </a:p>
          <a:p>
            <a:pPr marL="0" indent="0" algn="ctr">
              <a:buNone/>
            </a:pPr>
            <a:r>
              <a:rPr lang="fr-FR" b="1" dirty="0">
                <a:solidFill>
                  <a:srgbClr val="0070C0"/>
                </a:solidFill>
                <a:latin typeface="Arial" panose="020B0604020202020204" pitchFamily="34" charset="0"/>
                <a:sym typeface="Wingdings" panose="05000000000000000000" pitchFamily="2" charset="2"/>
              </a:rPr>
              <a:t> Voir le schéma sur les </a:t>
            </a:r>
            <a:r>
              <a:rPr lang="fr-FR" b="1" i="1" dirty="0" err="1">
                <a:solidFill>
                  <a:srgbClr val="0070C0"/>
                </a:solidFill>
                <a:latin typeface="Arial" panose="020B0604020202020204" pitchFamily="34" charset="0"/>
                <a:sym typeface="Wingdings" panose="05000000000000000000" pitchFamily="2" charset="2"/>
                <a:hlinkClick r:id="rId2" action="ppaction://hlinksldjump"/>
              </a:rPr>
              <a:t>planetary</a:t>
            </a:r>
            <a:r>
              <a:rPr lang="fr-FR" b="1" i="1" dirty="0">
                <a:solidFill>
                  <a:srgbClr val="0070C0"/>
                </a:solidFill>
                <a:latin typeface="Arial" panose="020B0604020202020204" pitchFamily="34" charset="0"/>
                <a:sym typeface="Wingdings" panose="05000000000000000000" pitchFamily="2" charset="2"/>
                <a:hlinkClick r:id="rId2" action="ppaction://hlinksldjump"/>
              </a:rPr>
              <a:t> </a:t>
            </a:r>
            <a:r>
              <a:rPr lang="fr-FR" b="1" i="1" dirty="0" err="1">
                <a:solidFill>
                  <a:srgbClr val="0070C0"/>
                </a:solidFill>
                <a:latin typeface="Arial" panose="020B0604020202020204" pitchFamily="34" charset="0"/>
                <a:sym typeface="Wingdings" panose="05000000000000000000" pitchFamily="2" charset="2"/>
                <a:hlinkClick r:id="rId2" action="ppaction://hlinksldjump"/>
              </a:rPr>
              <a:t>boundaries</a:t>
            </a:r>
            <a:endParaRPr lang="fr-FR" b="1" i="1" dirty="0">
              <a:solidFill>
                <a:srgbClr val="0070C0"/>
              </a:solidFill>
            </a:endParaRPr>
          </a:p>
        </p:txBody>
      </p:sp>
    </p:spTree>
    <p:extLst>
      <p:ext uri="{BB962C8B-B14F-4D97-AF65-F5344CB8AC3E}">
        <p14:creationId xmlns:p14="http://schemas.microsoft.com/office/powerpoint/2010/main" val="22145404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C670C9-4C5B-40F9-9E08-41165453EE08}"/>
              </a:ext>
            </a:extLst>
          </p:cNvPr>
          <p:cNvSpPr>
            <a:spLocks noGrp="1"/>
          </p:cNvSpPr>
          <p:nvPr>
            <p:ph type="title"/>
          </p:nvPr>
        </p:nvSpPr>
        <p:spPr>
          <a:xfrm>
            <a:off x="271118" y="259619"/>
            <a:ext cx="11649764" cy="818905"/>
          </a:xfrm>
        </p:spPr>
        <p:txBody>
          <a:bodyPr numCol="1">
            <a:normAutofit/>
          </a:bodyPr>
          <a:lstStyle/>
          <a:p>
            <a:pPr algn="ctr"/>
            <a:r>
              <a:rPr lang="fr-FR" altLang="fr-FR" dirty="0"/>
              <a:t>Rétroactions complexes et risques systémiques</a:t>
            </a:r>
          </a:p>
        </p:txBody>
      </p:sp>
      <p:sp>
        <p:nvSpPr>
          <p:cNvPr id="3" name="Espace réservé du contenu 2">
            <a:extLst>
              <a:ext uri="{FF2B5EF4-FFF2-40B4-BE49-F238E27FC236}">
                <a16:creationId xmlns:a16="http://schemas.microsoft.com/office/drawing/2014/main" id="{6A17B9B0-5EE9-43CE-A543-3317D178EA36}"/>
              </a:ext>
            </a:extLst>
          </p:cNvPr>
          <p:cNvSpPr>
            <a:spLocks noGrp="1"/>
          </p:cNvSpPr>
          <p:nvPr>
            <p:ph idx="1"/>
          </p:nvPr>
        </p:nvSpPr>
        <p:spPr>
          <a:xfrm>
            <a:off x="429983" y="1438382"/>
            <a:ext cx="11332034" cy="4917968"/>
          </a:xfrm>
        </p:spPr>
        <p:txBody>
          <a:bodyPr numCol="1">
            <a:normAutofit/>
          </a:bodyPr>
          <a:lstStyle/>
          <a:p>
            <a:r>
              <a:rPr lang="fr-FR" altLang="fr-FR" dirty="0"/>
              <a:t>Des hypothèses que les nombreux </a:t>
            </a:r>
            <a:r>
              <a:rPr lang="fr-FR" altLang="fr-FR" b="1" dirty="0"/>
              <a:t>rapports du GIEC </a:t>
            </a:r>
            <a:r>
              <a:rPr lang="fr-FR" altLang="fr-FR" dirty="0"/>
              <a:t>semblent étayer, jusqu’au consensus actuel de la communauté scientifique sur le diagnostic.</a:t>
            </a:r>
          </a:p>
          <a:p>
            <a:r>
              <a:rPr lang="fr-FR" altLang="fr-FR" dirty="0"/>
              <a:t>Des </a:t>
            </a:r>
            <a:r>
              <a:rPr lang="fr-FR" altLang="fr-FR" i="1" dirty="0" err="1"/>
              <a:t>tipping</a:t>
            </a:r>
            <a:r>
              <a:rPr lang="fr-FR" altLang="fr-FR" i="1" dirty="0"/>
              <a:t> points </a:t>
            </a:r>
            <a:r>
              <a:rPr lang="fr-FR" altLang="fr-FR" dirty="0"/>
              <a:t>ou </a:t>
            </a:r>
            <a:r>
              <a:rPr lang="fr-FR" altLang="fr-FR" b="1" dirty="0"/>
              <a:t>points de rupture, </a:t>
            </a:r>
            <a:r>
              <a:rPr lang="fr-FR" altLang="fr-FR" dirty="0"/>
              <a:t>qui déstabilisent le système et empêchent sa résilience, induisant des cercles vicieux.</a:t>
            </a:r>
          </a:p>
          <a:p>
            <a:r>
              <a:rPr lang="fr-FR" altLang="fr-FR" dirty="0"/>
              <a:t>Des schémas non-linéaires, des </a:t>
            </a:r>
            <a:r>
              <a:rPr lang="fr-FR" altLang="fr-FR" b="1" dirty="0"/>
              <a:t>boucles de rétroaction enchâssées (potentiellement des cercles vicieux).</a:t>
            </a:r>
            <a:r>
              <a:rPr lang="fr-FR" altLang="fr-FR" dirty="0"/>
              <a:t> Ex : réchauffement climatique, fonte du permafrost, libération de méthane, augmentation de l’effet de serre qui accroît le réchauffement, etc. </a:t>
            </a:r>
            <a:endParaRPr lang="fr-FR" altLang="fr-FR" b="1" dirty="0"/>
          </a:p>
        </p:txBody>
      </p:sp>
      <p:sp>
        <p:nvSpPr>
          <p:cNvPr id="4" name="Espace réservé du pied de page 3">
            <a:extLst>
              <a:ext uri="{FF2B5EF4-FFF2-40B4-BE49-F238E27FC236}">
                <a16:creationId xmlns:a16="http://schemas.microsoft.com/office/drawing/2014/main" id="{6D423A2D-6037-4C59-AF8D-B581F1A0D3A6}"/>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45B63333-52B6-4D13-A8C2-A82AF1F86CF5}"/>
              </a:ext>
            </a:extLst>
          </p:cNvPr>
          <p:cNvSpPr>
            <a:spLocks noGrp="1"/>
          </p:cNvSpPr>
          <p:nvPr>
            <p:ph type="sldNum" sz="quarter" idx="12"/>
          </p:nvPr>
        </p:nvSpPr>
        <p:spPr/>
        <p:txBody>
          <a:bodyPr numCol="1"/>
          <a:lstStyle/>
          <a:p>
            <a:fld id="{788DAB52-6294-4F97-81DD-ABD852645FBC}" type="slidenum">
              <a:rPr lang="fr-FR" altLang="fr-FR" smtClean="0"/>
              <a:t>45</a:t>
            </a:fld>
            <a:endParaRPr lang="fr-FR" altLang="fr-FR"/>
          </a:p>
        </p:txBody>
      </p:sp>
    </p:spTree>
    <p:extLst>
      <p:ext uri="{BB962C8B-B14F-4D97-AF65-F5344CB8AC3E}">
        <p14:creationId xmlns:p14="http://schemas.microsoft.com/office/powerpoint/2010/main" val="12721091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A17B9B0-5EE9-43CE-A543-3317D178EA36}"/>
              </a:ext>
            </a:extLst>
          </p:cNvPr>
          <p:cNvSpPr>
            <a:spLocks noGrp="1"/>
          </p:cNvSpPr>
          <p:nvPr>
            <p:ph idx="1"/>
          </p:nvPr>
        </p:nvSpPr>
        <p:spPr>
          <a:xfrm>
            <a:off x="429983" y="1438382"/>
            <a:ext cx="11332034" cy="4917968"/>
          </a:xfrm>
        </p:spPr>
        <p:txBody>
          <a:bodyPr numCol="1">
            <a:normAutofit/>
          </a:bodyPr>
          <a:lstStyle/>
          <a:p>
            <a:r>
              <a:rPr lang="fr-FR" altLang="fr-FR" dirty="0"/>
              <a:t>Des </a:t>
            </a:r>
            <a:r>
              <a:rPr lang="fr-FR" altLang="fr-FR" b="1" dirty="0"/>
              <a:t>interactions complexes et imprévisibles</a:t>
            </a:r>
            <a:r>
              <a:rPr lang="fr-FR" altLang="fr-FR" dirty="0"/>
              <a:t>, interdépendances économiques (approvisionnement), avec phénomènes de </a:t>
            </a:r>
            <a:r>
              <a:rPr lang="fr-FR" altLang="fr-FR" b="1" dirty="0"/>
              <a:t>contagion en cascade </a:t>
            </a:r>
            <a:r>
              <a:rPr lang="fr-FR" altLang="fr-FR" dirty="0"/>
              <a:t>(crise agricole, crise financière, conflits, migrations de masse).</a:t>
            </a:r>
          </a:p>
          <a:p>
            <a:r>
              <a:rPr lang="fr-FR" altLang="fr-FR" dirty="0"/>
              <a:t>Notion de « </a:t>
            </a:r>
            <a:r>
              <a:rPr lang="fr-FR" altLang="fr-FR" b="1" dirty="0"/>
              <a:t>risque systémique global </a:t>
            </a:r>
            <a:r>
              <a:rPr lang="fr-FR" altLang="fr-FR" dirty="0"/>
              <a:t>», avec des phénomènes </a:t>
            </a:r>
            <a:r>
              <a:rPr lang="fr-FR" altLang="fr-FR" b="1" dirty="0"/>
              <a:t>chaotiques</a:t>
            </a:r>
            <a:r>
              <a:rPr lang="fr-FR" altLang="fr-FR" dirty="0"/>
              <a:t> (</a:t>
            </a:r>
            <a:r>
              <a:rPr lang="fr-FR" altLang="fr-FR" b="1" dirty="0"/>
              <a:t>déterministes mais imprévisibles)</a:t>
            </a:r>
            <a:r>
              <a:rPr lang="fr-FR" altLang="fr-FR" dirty="0"/>
              <a:t>.</a:t>
            </a:r>
          </a:p>
          <a:p>
            <a:r>
              <a:rPr lang="fr-FR" altLang="fr-FR" b="1" dirty="0"/>
              <a:t>Verrouillage</a:t>
            </a:r>
            <a:r>
              <a:rPr lang="fr-FR" altLang="fr-FR" dirty="0"/>
              <a:t> des systèmes sociotechniques, comme l’automobile par exemple, ou le système financier.</a:t>
            </a:r>
          </a:p>
        </p:txBody>
      </p:sp>
      <p:sp>
        <p:nvSpPr>
          <p:cNvPr id="4" name="Espace réservé du pied de page 3">
            <a:extLst>
              <a:ext uri="{FF2B5EF4-FFF2-40B4-BE49-F238E27FC236}">
                <a16:creationId xmlns:a16="http://schemas.microsoft.com/office/drawing/2014/main" id="{6D423A2D-6037-4C59-AF8D-B581F1A0D3A6}"/>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45B63333-52B6-4D13-A8C2-A82AF1F86CF5}"/>
              </a:ext>
            </a:extLst>
          </p:cNvPr>
          <p:cNvSpPr>
            <a:spLocks noGrp="1"/>
          </p:cNvSpPr>
          <p:nvPr>
            <p:ph type="sldNum" sz="quarter" idx="12"/>
          </p:nvPr>
        </p:nvSpPr>
        <p:spPr/>
        <p:txBody>
          <a:bodyPr numCol="1"/>
          <a:lstStyle/>
          <a:p>
            <a:fld id="{788DAB52-6294-4F97-81DD-ABD852645FBC}" type="slidenum">
              <a:rPr lang="fr-FR" altLang="fr-FR" smtClean="0"/>
              <a:t>46</a:t>
            </a:fld>
            <a:endParaRPr lang="fr-FR" altLang="fr-FR"/>
          </a:p>
        </p:txBody>
      </p:sp>
    </p:spTree>
    <p:extLst>
      <p:ext uri="{BB962C8B-B14F-4D97-AF65-F5344CB8AC3E}">
        <p14:creationId xmlns:p14="http://schemas.microsoft.com/office/powerpoint/2010/main" val="22907021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48CE77-E4E9-45BE-A6E7-A8AA2BCA8BD9}"/>
              </a:ext>
            </a:extLst>
          </p:cNvPr>
          <p:cNvSpPr>
            <a:spLocks noGrp="1"/>
          </p:cNvSpPr>
          <p:nvPr>
            <p:ph type="title"/>
          </p:nvPr>
        </p:nvSpPr>
        <p:spPr>
          <a:xfrm>
            <a:off x="990600" y="15673"/>
            <a:ext cx="10515600" cy="1065090"/>
          </a:xfrm>
        </p:spPr>
        <p:txBody>
          <a:bodyPr/>
          <a:lstStyle/>
          <a:p>
            <a:pPr algn="ctr"/>
            <a:r>
              <a:rPr lang="fr-FR" dirty="0"/>
              <a:t>Changements climatiques et santé humaine</a:t>
            </a:r>
          </a:p>
        </p:txBody>
      </p:sp>
      <p:pic>
        <p:nvPicPr>
          <p:cNvPr id="4" name="Image 3">
            <a:extLst>
              <a:ext uri="{FF2B5EF4-FFF2-40B4-BE49-F238E27FC236}">
                <a16:creationId xmlns:a16="http://schemas.microsoft.com/office/drawing/2014/main" id="{FB2A4791-4FC3-416E-8838-645D632BC223}"/>
              </a:ext>
            </a:extLst>
          </p:cNvPr>
          <p:cNvPicPr>
            <a:picLocks noChangeAspect="1"/>
          </p:cNvPicPr>
          <p:nvPr/>
        </p:nvPicPr>
        <p:blipFill>
          <a:blip r:embed="rId2"/>
          <a:stretch>
            <a:fillRect/>
          </a:stretch>
        </p:blipFill>
        <p:spPr>
          <a:xfrm>
            <a:off x="877391" y="721858"/>
            <a:ext cx="10324009" cy="5401685"/>
          </a:xfrm>
          <a:prstGeom prst="rect">
            <a:avLst/>
          </a:prstGeom>
        </p:spPr>
      </p:pic>
      <p:sp>
        <p:nvSpPr>
          <p:cNvPr id="5" name="ZoneTexte 4">
            <a:extLst>
              <a:ext uri="{FF2B5EF4-FFF2-40B4-BE49-F238E27FC236}">
                <a16:creationId xmlns:a16="http://schemas.microsoft.com/office/drawing/2014/main" id="{E3FB7A93-F615-4364-97CC-7540F171F739}"/>
              </a:ext>
            </a:extLst>
          </p:cNvPr>
          <p:cNvSpPr txBox="1"/>
          <p:nvPr/>
        </p:nvSpPr>
        <p:spPr>
          <a:xfrm>
            <a:off x="990600" y="6123543"/>
            <a:ext cx="11285300" cy="738664"/>
          </a:xfrm>
          <a:prstGeom prst="rect">
            <a:avLst/>
          </a:prstGeom>
          <a:noFill/>
        </p:spPr>
        <p:txBody>
          <a:bodyPr wrap="square" rtlCol="0">
            <a:spAutoFit/>
          </a:bodyPr>
          <a:lstStyle/>
          <a:p>
            <a:r>
              <a:rPr lang="fr-FR" sz="1400" dirty="0"/>
              <a:t>Source : </a:t>
            </a:r>
            <a:r>
              <a:rPr lang="fr-FR" sz="1400" dirty="0">
                <a:hlinkClick r:id="rId3"/>
              </a:rPr>
              <a:t>https://reporterre.net/Le-rechauffement-climatique-constitue-une-menace-majeure-pour-la-sante-humaine</a:t>
            </a:r>
            <a:r>
              <a:rPr lang="fr-FR" sz="1400" dirty="0"/>
              <a:t>  </a:t>
            </a:r>
          </a:p>
          <a:p>
            <a:r>
              <a:rPr lang="fr-FR" sz="1400" dirty="0"/>
              <a:t>D’après : The 2018 Report of </a:t>
            </a:r>
            <a:r>
              <a:rPr lang="fr-FR" sz="1400" dirty="0" err="1"/>
              <a:t>rhe</a:t>
            </a:r>
            <a:r>
              <a:rPr lang="fr-FR" sz="1400" dirty="0"/>
              <a:t> Lancet </a:t>
            </a:r>
            <a:r>
              <a:rPr lang="fr-FR" sz="1400" dirty="0" err="1"/>
              <a:t>Countdown</a:t>
            </a:r>
            <a:r>
              <a:rPr lang="fr-FR" sz="1400" dirty="0"/>
              <a:t> on </a:t>
            </a:r>
            <a:r>
              <a:rPr lang="fr-FR" sz="1400" dirty="0" err="1"/>
              <a:t>Health</a:t>
            </a:r>
            <a:r>
              <a:rPr lang="fr-FR" sz="1400" dirty="0"/>
              <a:t> and </a:t>
            </a:r>
            <a:r>
              <a:rPr lang="fr-FR" sz="1400" dirty="0" err="1"/>
              <a:t>Climate</a:t>
            </a:r>
            <a:r>
              <a:rPr lang="fr-FR" sz="1400" dirty="0"/>
              <a:t> Change : </a:t>
            </a:r>
            <a:r>
              <a:rPr lang="fr-FR" sz="1400" dirty="0" err="1"/>
              <a:t>Shaping</a:t>
            </a:r>
            <a:r>
              <a:rPr lang="fr-FR" sz="1400" dirty="0"/>
              <a:t> the </a:t>
            </a:r>
            <a:r>
              <a:rPr lang="fr-FR" sz="1400" dirty="0" err="1"/>
              <a:t>Health</a:t>
            </a:r>
            <a:r>
              <a:rPr lang="fr-FR" sz="1400" dirty="0"/>
              <a:t> of Nations for the Centuries to Come </a:t>
            </a:r>
            <a:r>
              <a:rPr lang="fr-FR" sz="1400" dirty="0">
                <a:hlinkClick r:id="rId4"/>
              </a:rPr>
              <a:t>www.lancetcountdown.org</a:t>
            </a:r>
            <a:r>
              <a:rPr lang="fr-FR" sz="1400" dirty="0"/>
              <a:t> </a:t>
            </a:r>
          </a:p>
        </p:txBody>
      </p:sp>
    </p:spTree>
    <p:extLst>
      <p:ext uri="{BB962C8B-B14F-4D97-AF65-F5344CB8AC3E}">
        <p14:creationId xmlns:p14="http://schemas.microsoft.com/office/powerpoint/2010/main" val="4972985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0AF1B0B-16BC-4BB4-BDE0-E217014C434C}"/>
              </a:ext>
            </a:extLst>
          </p:cNvPr>
          <p:cNvPicPr>
            <a:picLocks noChangeAspect="1"/>
          </p:cNvPicPr>
          <p:nvPr/>
        </p:nvPicPr>
        <p:blipFill>
          <a:blip r:embed="rId2"/>
          <a:stretch>
            <a:fillRect/>
          </a:stretch>
        </p:blipFill>
        <p:spPr>
          <a:xfrm>
            <a:off x="1803748" y="142820"/>
            <a:ext cx="8479716" cy="5514851"/>
          </a:xfrm>
          <a:prstGeom prst="rect">
            <a:avLst/>
          </a:prstGeom>
        </p:spPr>
      </p:pic>
      <p:sp>
        <p:nvSpPr>
          <p:cNvPr id="6" name="ZoneTexte 5">
            <a:extLst>
              <a:ext uri="{FF2B5EF4-FFF2-40B4-BE49-F238E27FC236}">
                <a16:creationId xmlns:a16="http://schemas.microsoft.com/office/drawing/2014/main" id="{EAE7A387-5CB5-423B-93D3-9A9E509D30EA}"/>
              </a:ext>
            </a:extLst>
          </p:cNvPr>
          <p:cNvSpPr txBox="1"/>
          <p:nvPr/>
        </p:nvSpPr>
        <p:spPr>
          <a:xfrm>
            <a:off x="1803748" y="5657671"/>
            <a:ext cx="8592855" cy="1200329"/>
          </a:xfrm>
          <a:prstGeom prst="rect">
            <a:avLst/>
          </a:prstGeom>
          <a:noFill/>
        </p:spPr>
        <p:txBody>
          <a:bodyPr wrap="square">
            <a:spAutoFit/>
          </a:bodyPr>
          <a:lstStyle/>
          <a:p>
            <a:r>
              <a:rPr lang="fr-FR" dirty="0"/>
              <a:t>Source : https://www.franceculture.fr/emissions/tout-un-monde/la-recherche-du-continent-plastique-un-tour-de-limmonde-pour-une-prise-de</a:t>
            </a:r>
          </a:p>
          <a:p>
            <a:r>
              <a:rPr lang="fr-FR" dirty="0" err="1"/>
              <a:t>Teresita</a:t>
            </a:r>
            <a:r>
              <a:rPr lang="fr-FR" dirty="0"/>
              <a:t> </a:t>
            </a:r>
            <a:r>
              <a:rPr lang="fr-FR" dirty="0" err="1"/>
              <a:t>Gapayao</a:t>
            </a:r>
            <a:r>
              <a:rPr lang="fr-FR" dirty="0"/>
              <a:t> 51 ans, ramasse les déchets à la surface de l'eau aux </a:t>
            </a:r>
            <a:r>
              <a:rPr lang="fr-FR" dirty="0" err="1"/>
              <a:t>Plilippines</a:t>
            </a:r>
            <a:r>
              <a:rPr lang="fr-FR" dirty="0"/>
              <a:t>• Crédits : NOEL CELIS - Radio France</a:t>
            </a:r>
          </a:p>
        </p:txBody>
      </p:sp>
    </p:spTree>
    <p:extLst>
      <p:ext uri="{BB962C8B-B14F-4D97-AF65-F5344CB8AC3E}">
        <p14:creationId xmlns:p14="http://schemas.microsoft.com/office/powerpoint/2010/main" val="37352466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24C169-2822-40F6-8697-60E8EDDA4AEF}"/>
              </a:ext>
            </a:extLst>
          </p:cNvPr>
          <p:cNvSpPr>
            <a:spLocks noGrp="1"/>
          </p:cNvSpPr>
          <p:nvPr>
            <p:ph type="title"/>
          </p:nvPr>
        </p:nvSpPr>
        <p:spPr>
          <a:xfrm>
            <a:off x="838200" y="2322714"/>
            <a:ext cx="10515600" cy="1325563"/>
          </a:xfrm>
          <a:ln>
            <a:solidFill>
              <a:schemeClr val="accent1"/>
            </a:solidFill>
          </a:ln>
          <a:effectLst>
            <a:outerShdw blurRad="63500" sx="102000" sy="102000" algn="ctr" rotWithShape="0">
              <a:prstClr val="black">
                <a:alpha val="40000"/>
              </a:prstClr>
            </a:outerShdw>
          </a:effectLst>
        </p:spPr>
        <p:txBody>
          <a:bodyPr vert="horz" lIns="91440" tIns="45720" rIns="91440" bIns="45720" numCol="1" rtlCol="0" anchor="ctr">
            <a:normAutofit/>
          </a:bodyPr>
          <a:lstStyle/>
          <a:p>
            <a:pPr algn="ctr"/>
            <a:r>
              <a:rPr lang="fr-FR" dirty="0">
                <a:solidFill>
                  <a:srgbClr val="0070C0"/>
                </a:solidFill>
              </a:rPr>
              <a:t>De la possibilité d’un bon anthropocène : l’éco-modernisme ?</a:t>
            </a:r>
          </a:p>
        </p:txBody>
      </p:sp>
    </p:spTree>
    <p:extLst>
      <p:ext uri="{BB962C8B-B14F-4D97-AF65-F5344CB8AC3E}">
        <p14:creationId xmlns:p14="http://schemas.microsoft.com/office/powerpoint/2010/main" val="2133295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725E1C-8A69-4456-943F-B7FFD390CB48}"/>
              </a:ext>
            </a:extLst>
          </p:cNvPr>
          <p:cNvSpPr>
            <a:spLocks noGrp="1"/>
          </p:cNvSpPr>
          <p:nvPr>
            <p:ph type="title"/>
          </p:nvPr>
        </p:nvSpPr>
        <p:spPr>
          <a:xfrm>
            <a:off x="327545" y="202287"/>
            <a:ext cx="11356453" cy="1245513"/>
          </a:xfrm>
        </p:spPr>
        <p:txBody>
          <a:bodyPr numCol="1">
            <a:normAutofit fontScale="90000"/>
          </a:bodyPr>
          <a:lstStyle/>
          <a:p>
            <a:pPr algn="ctr"/>
            <a:r>
              <a:rPr lang="fr-FR" altLang="fr-FR" dirty="0"/>
              <a:t>L’éco-modernisme :</a:t>
            </a:r>
            <a:br>
              <a:rPr lang="fr-FR" altLang="fr-FR" dirty="0"/>
            </a:br>
            <a:r>
              <a:rPr lang="fr-FR" altLang="fr-FR" dirty="0"/>
              <a:t>vers un « bon anthropocène » ?</a:t>
            </a:r>
          </a:p>
        </p:txBody>
      </p:sp>
      <p:sp>
        <p:nvSpPr>
          <p:cNvPr id="3" name="Espace réservé du contenu 2">
            <a:extLst>
              <a:ext uri="{FF2B5EF4-FFF2-40B4-BE49-F238E27FC236}">
                <a16:creationId xmlns:a16="http://schemas.microsoft.com/office/drawing/2014/main" id="{74D61921-FA87-4203-9583-EF8ED75EEA2B}"/>
              </a:ext>
            </a:extLst>
          </p:cNvPr>
          <p:cNvSpPr>
            <a:spLocks noGrp="1"/>
          </p:cNvSpPr>
          <p:nvPr>
            <p:ph idx="1"/>
          </p:nvPr>
        </p:nvSpPr>
        <p:spPr>
          <a:xfrm>
            <a:off x="516353" y="1728034"/>
            <a:ext cx="11167645" cy="4520366"/>
          </a:xfrm>
        </p:spPr>
        <p:txBody>
          <a:bodyPr numCol="1">
            <a:normAutofit/>
          </a:bodyPr>
          <a:lstStyle/>
          <a:p>
            <a:pPr>
              <a:lnSpc>
                <a:spcPct val="80000"/>
              </a:lnSpc>
            </a:pPr>
            <a:r>
              <a:rPr lang="fr-FR" altLang="fr-FR" dirty="0">
                <a:solidFill>
                  <a:srgbClr val="323232"/>
                </a:solidFill>
              </a:rPr>
              <a:t>Créer un « </a:t>
            </a:r>
            <a:r>
              <a:rPr lang="fr-FR" altLang="fr-FR" b="1" dirty="0">
                <a:solidFill>
                  <a:srgbClr val="323232"/>
                </a:solidFill>
              </a:rPr>
              <a:t>bon anthropocène </a:t>
            </a:r>
            <a:r>
              <a:rPr lang="fr-FR" altLang="fr-FR" dirty="0">
                <a:solidFill>
                  <a:srgbClr val="323232"/>
                </a:solidFill>
              </a:rPr>
              <a:t>», telle est l’ambition de l’</a:t>
            </a:r>
            <a:r>
              <a:rPr lang="fr-FR" altLang="fr-FR" dirty="0" err="1">
                <a:solidFill>
                  <a:srgbClr val="323232"/>
                </a:solidFill>
              </a:rPr>
              <a:t>écomodernisme</a:t>
            </a:r>
            <a:r>
              <a:rPr lang="fr-FR" altLang="fr-FR" dirty="0">
                <a:solidFill>
                  <a:srgbClr val="323232"/>
                </a:solidFill>
              </a:rPr>
              <a:t>, courant créé en 2010, par Ted </a:t>
            </a:r>
            <a:r>
              <a:rPr lang="fr-FR" altLang="fr-FR" dirty="0" err="1">
                <a:solidFill>
                  <a:srgbClr val="323232"/>
                </a:solidFill>
              </a:rPr>
              <a:t>Nordhaus</a:t>
            </a:r>
            <a:r>
              <a:rPr lang="fr-FR" altLang="fr-FR" dirty="0">
                <a:solidFill>
                  <a:srgbClr val="323232"/>
                </a:solidFill>
              </a:rPr>
              <a:t> et Michael Schellenberg, appuyé sur le </a:t>
            </a:r>
            <a:r>
              <a:rPr lang="fr-FR" altLang="fr-FR" dirty="0" err="1">
                <a:solidFill>
                  <a:srgbClr val="323232"/>
                </a:solidFill>
              </a:rPr>
              <a:t>Breakthrough</a:t>
            </a:r>
            <a:r>
              <a:rPr lang="fr-FR" altLang="fr-FR" dirty="0">
                <a:solidFill>
                  <a:srgbClr val="323232"/>
                </a:solidFill>
              </a:rPr>
              <a:t> Institute, après l’échec de la conférence de Copenhague.</a:t>
            </a:r>
          </a:p>
          <a:p>
            <a:pPr>
              <a:lnSpc>
                <a:spcPct val="80000"/>
              </a:lnSpc>
            </a:pPr>
            <a:r>
              <a:rPr lang="fr-FR" altLang="fr-FR" dirty="0">
                <a:solidFill>
                  <a:srgbClr val="323232"/>
                </a:solidFill>
              </a:rPr>
              <a:t>L’</a:t>
            </a:r>
            <a:r>
              <a:rPr lang="fr-FR" altLang="fr-FR" b="1" dirty="0" err="1">
                <a:solidFill>
                  <a:srgbClr val="323232"/>
                </a:solidFill>
              </a:rPr>
              <a:t>écomodernisme</a:t>
            </a:r>
            <a:r>
              <a:rPr lang="fr-FR" altLang="fr-FR" dirty="0">
                <a:solidFill>
                  <a:srgbClr val="323232"/>
                </a:solidFill>
              </a:rPr>
              <a:t> compte notamment sur la </a:t>
            </a:r>
            <a:r>
              <a:rPr lang="fr-FR" altLang="fr-FR" b="1" dirty="0">
                <a:solidFill>
                  <a:srgbClr val="323232"/>
                </a:solidFill>
              </a:rPr>
              <a:t>géo-ingénierie</a:t>
            </a:r>
            <a:r>
              <a:rPr lang="fr-FR" altLang="fr-FR" dirty="0">
                <a:solidFill>
                  <a:srgbClr val="323232"/>
                </a:solidFill>
              </a:rPr>
              <a:t> (principalement séquestration des gaz à effet de serre, contrôlement du rayonnement solaire atteignant la Terre) pour résoudre le problème.</a:t>
            </a:r>
          </a:p>
          <a:p>
            <a:pPr>
              <a:lnSpc>
                <a:spcPct val="80000"/>
              </a:lnSpc>
            </a:pPr>
            <a:r>
              <a:rPr lang="fr-FR" altLang="fr-FR" dirty="0">
                <a:solidFill>
                  <a:srgbClr val="323232"/>
                </a:solidFill>
              </a:rPr>
              <a:t>Ils promeuvent un </a:t>
            </a:r>
            <a:r>
              <a:rPr lang="fr-FR" altLang="fr-FR" b="1" dirty="0">
                <a:solidFill>
                  <a:srgbClr val="323232"/>
                </a:solidFill>
              </a:rPr>
              <a:t>découplage</a:t>
            </a:r>
            <a:r>
              <a:rPr lang="fr-FR" altLang="fr-FR" dirty="0">
                <a:solidFill>
                  <a:srgbClr val="323232"/>
                </a:solidFill>
              </a:rPr>
              <a:t> de la croissance économique des dommages environnementaux.</a:t>
            </a:r>
          </a:p>
          <a:p>
            <a:pPr>
              <a:lnSpc>
                <a:spcPct val="80000"/>
              </a:lnSpc>
            </a:pPr>
            <a:endParaRPr lang="fr-FR" altLang="fr-FR" sz="2400" dirty="0"/>
          </a:p>
        </p:txBody>
      </p:sp>
      <p:sp>
        <p:nvSpPr>
          <p:cNvPr id="4" name="Espace réservé du pied de page 3">
            <a:extLst>
              <a:ext uri="{FF2B5EF4-FFF2-40B4-BE49-F238E27FC236}">
                <a16:creationId xmlns:a16="http://schemas.microsoft.com/office/drawing/2014/main" id="{231F9362-3873-4F0D-B564-513B4E64CB64}"/>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444B91AB-AC1C-42D2-A02C-68FDF2EA51C7}"/>
              </a:ext>
            </a:extLst>
          </p:cNvPr>
          <p:cNvSpPr>
            <a:spLocks noGrp="1"/>
          </p:cNvSpPr>
          <p:nvPr>
            <p:ph type="sldNum" sz="quarter" idx="12"/>
          </p:nvPr>
        </p:nvSpPr>
        <p:spPr/>
        <p:txBody>
          <a:bodyPr numCol="1"/>
          <a:lstStyle/>
          <a:p>
            <a:fld id="{788DAB52-6294-4F97-81DD-ABD852645FBC}" type="slidenum">
              <a:rPr lang="fr-FR" altLang="fr-FR" smtClean="0"/>
              <a:t>50</a:t>
            </a:fld>
            <a:endParaRPr lang="fr-FR" altLang="fr-FR"/>
          </a:p>
        </p:txBody>
      </p:sp>
    </p:spTree>
    <p:extLst>
      <p:ext uri="{BB962C8B-B14F-4D97-AF65-F5344CB8AC3E}">
        <p14:creationId xmlns:p14="http://schemas.microsoft.com/office/powerpoint/2010/main" val="7575659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725E1C-8A69-4456-943F-B7FFD390CB48}"/>
              </a:ext>
            </a:extLst>
          </p:cNvPr>
          <p:cNvSpPr>
            <a:spLocks noGrp="1"/>
          </p:cNvSpPr>
          <p:nvPr>
            <p:ph type="title"/>
          </p:nvPr>
        </p:nvSpPr>
        <p:spPr>
          <a:xfrm>
            <a:off x="327545" y="202287"/>
            <a:ext cx="11356453" cy="854075"/>
          </a:xfrm>
        </p:spPr>
        <p:txBody>
          <a:bodyPr numCol="1">
            <a:normAutofit fontScale="90000"/>
          </a:bodyPr>
          <a:lstStyle/>
          <a:p>
            <a:pPr algn="ctr"/>
            <a:r>
              <a:rPr lang="fr-FR" altLang="fr-FR" dirty="0"/>
              <a:t>L’éco-modernisme : vers un « bon anthropocène » ?</a:t>
            </a:r>
          </a:p>
        </p:txBody>
      </p:sp>
      <p:sp>
        <p:nvSpPr>
          <p:cNvPr id="3" name="Espace réservé du contenu 2">
            <a:extLst>
              <a:ext uri="{FF2B5EF4-FFF2-40B4-BE49-F238E27FC236}">
                <a16:creationId xmlns:a16="http://schemas.microsoft.com/office/drawing/2014/main" id="{74D61921-FA87-4203-9583-EF8ED75EEA2B}"/>
              </a:ext>
            </a:extLst>
          </p:cNvPr>
          <p:cNvSpPr>
            <a:spLocks noGrp="1"/>
          </p:cNvSpPr>
          <p:nvPr>
            <p:ph idx="1"/>
          </p:nvPr>
        </p:nvSpPr>
        <p:spPr>
          <a:xfrm>
            <a:off x="513567" y="1937656"/>
            <a:ext cx="11167645" cy="4920343"/>
          </a:xfrm>
        </p:spPr>
        <p:txBody>
          <a:bodyPr numCol="1">
            <a:normAutofit/>
          </a:bodyPr>
          <a:lstStyle/>
          <a:p>
            <a:pPr marL="0" indent="0">
              <a:lnSpc>
                <a:spcPct val="80000"/>
              </a:lnSpc>
              <a:buNone/>
            </a:pPr>
            <a:r>
              <a:rPr lang="fr-FR" altLang="fr-FR" dirty="0">
                <a:solidFill>
                  <a:srgbClr val="0070C0"/>
                </a:solidFill>
              </a:rPr>
              <a:t>« Bien que nous ayons à ce jour écrit séparément, nos points de vue sont de plus en plus discutés. Nous nous appelons </a:t>
            </a:r>
            <a:r>
              <a:rPr lang="fr-FR" altLang="fr-FR" dirty="0" err="1">
                <a:solidFill>
                  <a:srgbClr val="0070C0"/>
                </a:solidFill>
              </a:rPr>
              <a:t>écopragmatistes</a:t>
            </a:r>
            <a:r>
              <a:rPr lang="fr-FR" altLang="fr-FR" dirty="0">
                <a:solidFill>
                  <a:srgbClr val="0070C0"/>
                </a:solidFill>
              </a:rPr>
              <a:t> et </a:t>
            </a:r>
            <a:r>
              <a:rPr lang="fr-FR" altLang="fr-FR" dirty="0" err="1">
                <a:solidFill>
                  <a:srgbClr val="0070C0"/>
                </a:solidFill>
              </a:rPr>
              <a:t>écomodernistes</a:t>
            </a:r>
            <a:r>
              <a:rPr lang="fr-FR" altLang="fr-FR" dirty="0">
                <a:solidFill>
                  <a:srgbClr val="0070C0"/>
                </a:solidFill>
              </a:rPr>
              <a:t>. Nous proposons cette déclaration pour affirmer et clarifier nos points de vue et pour décrire notre vision de mettre les extraordinaires pouvoirs de l'humanité au service de la création d'un bon Anthropocène ». (voir </a:t>
            </a:r>
            <a:r>
              <a:rPr lang="fr-FR" altLang="fr-FR" dirty="0">
                <a:solidFill>
                  <a:srgbClr val="0070C0"/>
                </a:solidFill>
                <a:hlinkClick r:id="rId3"/>
              </a:rPr>
              <a:t>http://www.ecomodernism.org/francais</a:t>
            </a:r>
            <a:r>
              <a:rPr lang="fr-FR" altLang="fr-FR" dirty="0">
                <a:solidFill>
                  <a:srgbClr val="0070C0"/>
                </a:solidFill>
              </a:rPr>
              <a:t>) </a:t>
            </a:r>
          </a:p>
          <a:p>
            <a:pPr>
              <a:lnSpc>
                <a:spcPct val="80000"/>
              </a:lnSpc>
            </a:pPr>
            <a:endParaRPr lang="fr-FR" altLang="fr-FR" sz="2400" dirty="0"/>
          </a:p>
        </p:txBody>
      </p:sp>
      <p:sp>
        <p:nvSpPr>
          <p:cNvPr id="4" name="Espace réservé du pied de page 3">
            <a:extLst>
              <a:ext uri="{FF2B5EF4-FFF2-40B4-BE49-F238E27FC236}">
                <a16:creationId xmlns:a16="http://schemas.microsoft.com/office/drawing/2014/main" id="{231F9362-3873-4F0D-B564-513B4E64CB64}"/>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444B91AB-AC1C-42D2-A02C-68FDF2EA51C7}"/>
              </a:ext>
            </a:extLst>
          </p:cNvPr>
          <p:cNvSpPr>
            <a:spLocks noGrp="1"/>
          </p:cNvSpPr>
          <p:nvPr>
            <p:ph type="sldNum" sz="quarter" idx="12"/>
          </p:nvPr>
        </p:nvSpPr>
        <p:spPr/>
        <p:txBody>
          <a:bodyPr numCol="1"/>
          <a:lstStyle/>
          <a:p>
            <a:fld id="{788DAB52-6294-4F97-81DD-ABD852645FBC}" type="slidenum">
              <a:rPr lang="fr-FR" altLang="fr-FR" smtClean="0"/>
              <a:t>51</a:t>
            </a:fld>
            <a:endParaRPr lang="fr-FR" altLang="fr-FR"/>
          </a:p>
        </p:txBody>
      </p:sp>
    </p:spTree>
    <p:extLst>
      <p:ext uri="{BB962C8B-B14F-4D97-AF65-F5344CB8AC3E}">
        <p14:creationId xmlns:p14="http://schemas.microsoft.com/office/powerpoint/2010/main" val="2593097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D61921-FA87-4203-9583-EF8ED75EEA2B}"/>
              </a:ext>
            </a:extLst>
          </p:cNvPr>
          <p:cNvSpPr>
            <a:spLocks noGrp="1"/>
          </p:cNvSpPr>
          <p:nvPr>
            <p:ph idx="1"/>
          </p:nvPr>
        </p:nvSpPr>
        <p:spPr>
          <a:xfrm>
            <a:off x="513567" y="620486"/>
            <a:ext cx="11167645" cy="5684677"/>
          </a:xfrm>
        </p:spPr>
        <p:txBody>
          <a:bodyPr numCol="1">
            <a:normAutofit/>
          </a:bodyPr>
          <a:lstStyle/>
          <a:p>
            <a:pPr>
              <a:lnSpc>
                <a:spcPct val="80000"/>
              </a:lnSpc>
            </a:pPr>
            <a:r>
              <a:rPr lang="fr-FR" altLang="fr-FR" dirty="0"/>
              <a:t>Courant favorable au nucléaire, car ce découplage implique une forte consommation d’énergie, et seul le </a:t>
            </a:r>
            <a:r>
              <a:rPr lang="fr-FR" altLang="fr-FR" b="1" dirty="0"/>
              <a:t>solaire</a:t>
            </a:r>
            <a:r>
              <a:rPr lang="fr-FR" altLang="fr-FR" dirty="0"/>
              <a:t> à hauts rendements et le </a:t>
            </a:r>
            <a:r>
              <a:rPr lang="fr-FR" altLang="fr-FR" b="1" dirty="0"/>
              <a:t>nucléaire</a:t>
            </a:r>
            <a:r>
              <a:rPr lang="fr-FR" altLang="fr-FR" dirty="0"/>
              <a:t> offriraient, selon eux, des rendements énergétiques suffisants.</a:t>
            </a:r>
          </a:p>
          <a:p>
            <a:pPr>
              <a:lnSpc>
                <a:spcPct val="80000"/>
              </a:lnSpc>
            </a:pPr>
            <a:endParaRPr lang="fr-FR" altLang="fr-FR" dirty="0"/>
          </a:p>
          <a:p>
            <a:r>
              <a:rPr lang="fr-FR" altLang="fr-FR" dirty="0"/>
              <a:t>Ce « Manifeste </a:t>
            </a:r>
            <a:r>
              <a:rPr lang="fr-FR" altLang="fr-FR" dirty="0" err="1"/>
              <a:t>écomoderniste</a:t>
            </a:r>
            <a:r>
              <a:rPr lang="fr-FR" altLang="fr-FR" dirty="0"/>
              <a:t> » a lui-même été critiqué, notamment par les tenants de la </a:t>
            </a:r>
            <a:r>
              <a:rPr lang="fr-FR" altLang="fr-FR" b="1" dirty="0"/>
              <a:t>décroissance :</a:t>
            </a:r>
          </a:p>
          <a:p>
            <a:pPr lvl="1">
              <a:buFont typeface="Calibri" panose="020F0502020204030204" pitchFamily="34" charset="0"/>
              <a:buChar char="­"/>
            </a:pPr>
            <a:r>
              <a:rPr lang="fr-FR" altLang="fr-FR" sz="2800" dirty="0"/>
              <a:t>Critique de l’idée d’un </a:t>
            </a:r>
            <a:r>
              <a:rPr lang="fr-FR" altLang="fr-FR" sz="2800" b="1" dirty="0"/>
              <a:t>possible « découplage » de la croissance et des impacts sur l’environnement</a:t>
            </a:r>
            <a:r>
              <a:rPr lang="fr-FR" altLang="fr-FR" sz="2800" dirty="0"/>
              <a:t>.</a:t>
            </a:r>
          </a:p>
          <a:p>
            <a:pPr lvl="1">
              <a:buFont typeface="Calibri" panose="020F0502020204030204" pitchFamily="34" charset="0"/>
              <a:buChar char="­"/>
            </a:pPr>
            <a:r>
              <a:rPr lang="fr-FR" altLang="fr-FR" sz="2800" dirty="0"/>
              <a:t>Critique du primat accordé au nucléaire.</a:t>
            </a:r>
          </a:p>
          <a:p>
            <a:pPr>
              <a:lnSpc>
                <a:spcPct val="80000"/>
              </a:lnSpc>
            </a:pPr>
            <a:endParaRPr lang="fr-FR" altLang="fr-FR" sz="2400" dirty="0"/>
          </a:p>
        </p:txBody>
      </p:sp>
      <p:sp>
        <p:nvSpPr>
          <p:cNvPr id="4" name="Espace réservé du pied de page 3">
            <a:extLst>
              <a:ext uri="{FF2B5EF4-FFF2-40B4-BE49-F238E27FC236}">
                <a16:creationId xmlns:a16="http://schemas.microsoft.com/office/drawing/2014/main" id="{231F9362-3873-4F0D-B564-513B4E64CB64}"/>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444B91AB-AC1C-42D2-A02C-68FDF2EA51C7}"/>
              </a:ext>
            </a:extLst>
          </p:cNvPr>
          <p:cNvSpPr>
            <a:spLocks noGrp="1"/>
          </p:cNvSpPr>
          <p:nvPr>
            <p:ph type="sldNum" sz="quarter" idx="12"/>
          </p:nvPr>
        </p:nvSpPr>
        <p:spPr/>
        <p:txBody>
          <a:bodyPr numCol="1"/>
          <a:lstStyle/>
          <a:p>
            <a:fld id="{788DAB52-6294-4F97-81DD-ABD852645FBC}" type="slidenum">
              <a:rPr lang="fr-FR" altLang="fr-FR" smtClean="0"/>
              <a:t>52</a:t>
            </a:fld>
            <a:endParaRPr lang="fr-FR" altLang="fr-FR"/>
          </a:p>
        </p:txBody>
      </p:sp>
    </p:spTree>
    <p:extLst>
      <p:ext uri="{BB962C8B-B14F-4D97-AF65-F5344CB8AC3E}">
        <p14:creationId xmlns:p14="http://schemas.microsoft.com/office/powerpoint/2010/main" val="12748455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D61921-FA87-4203-9583-EF8ED75EEA2B}"/>
              </a:ext>
            </a:extLst>
          </p:cNvPr>
          <p:cNvSpPr>
            <a:spLocks noGrp="1"/>
          </p:cNvSpPr>
          <p:nvPr>
            <p:ph idx="1"/>
          </p:nvPr>
        </p:nvSpPr>
        <p:spPr>
          <a:xfrm>
            <a:off x="293914" y="703977"/>
            <a:ext cx="11582399" cy="6017498"/>
          </a:xfrm>
          <a:solidFill>
            <a:schemeClr val="accent1">
              <a:lumMod val="20000"/>
              <a:lumOff val="80000"/>
            </a:schemeClr>
          </a:solidFill>
          <a:effectLst>
            <a:outerShdw blurRad="50800" dist="38100" dir="5400000" algn="t" rotWithShape="0">
              <a:prstClr val="black">
                <a:alpha val="40000"/>
              </a:prstClr>
            </a:outerShdw>
          </a:effectLst>
        </p:spPr>
        <p:txBody>
          <a:bodyPr vert="horz" lIns="91440" tIns="45720" rIns="91440" bIns="45720" numCol="1" rtlCol="0">
            <a:noAutofit/>
          </a:bodyPr>
          <a:lstStyle/>
          <a:p>
            <a:pPr marL="0" indent="0" algn="just">
              <a:buNone/>
            </a:pPr>
            <a:r>
              <a:rPr lang="fr-FR" altLang="fr-FR" sz="2400" dirty="0">
                <a:solidFill>
                  <a:srgbClr val="0070C0"/>
                </a:solidFill>
                <a:cs typeface="Times New Roman" panose="02020603050405020304" pitchFamily="18" charset="0"/>
              </a:rPr>
              <a:t>« En effet, contrairement à la crainte souvent exprimée d’une croissance infinie, en collision avec une planète finie, la demande pour beaucoup de biens matériels pourrait saturer en même temps que les sociétés s’enrichissent. […]</a:t>
            </a:r>
          </a:p>
          <a:p>
            <a:pPr marL="0" indent="0" algn="just">
              <a:buNone/>
            </a:pPr>
            <a:r>
              <a:rPr lang="fr-FR" altLang="fr-FR" sz="2400" dirty="0">
                <a:solidFill>
                  <a:srgbClr val="0070C0"/>
                </a:solidFill>
                <a:cs typeface="Times New Roman" panose="02020603050405020304" pitchFamily="18" charset="0"/>
              </a:rPr>
              <a:t>Quand la demande pour les biens matériels est satisfaite, les économies développées connaissent de plus hauts niveaux de dépenses dirigées vers les secteurs des services et de la connaissance, moins consommateurs de matériaux, dont la part de l’activité économique croît. Cette dynamique pourrait être encore plus prononcée dans les économies émergentes d’aujourd’hui, qui peuvent profiter d’adopter tardivement des technologies modernes, économes en ressources.</a:t>
            </a:r>
          </a:p>
          <a:p>
            <a:pPr marL="0" indent="0" algn="just">
              <a:buNone/>
            </a:pPr>
            <a:r>
              <a:rPr lang="fr-FR" altLang="fr-FR" sz="2400" b="1" dirty="0">
                <a:solidFill>
                  <a:srgbClr val="0070C0"/>
                </a:solidFill>
                <a:cs typeface="Times New Roman" panose="02020603050405020304" pitchFamily="18" charset="0"/>
              </a:rPr>
              <a:t>Prises ensemble, ces tendances signifient que l’impact total de l’humanité sur l’environnement, qui inclut le changement dans l’utilisation des sols, la surexploitation et la pollution, pourrait atteindre son pic puis décliner au cours de ce siècle</a:t>
            </a:r>
            <a:r>
              <a:rPr lang="fr-FR" altLang="fr-FR" sz="2400" dirty="0">
                <a:solidFill>
                  <a:srgbClr val="0070C0"/>
                </a:solidFill>
                <a:cs typeface="Times New Roman" panose="02020603050405020304" pitchFamily="18" charset="0"/>
              </a:rPr>
              <a:t>. En comprenant ces processus émergents et en assurant leur promotion, nous avons la possibilité de rendre la Terre à nouveau verte, à nouveau sauvage, tout en permettant aux pays en voie de développent d’atteindre des niveaux de vie modernes et d’en finir avec la pauvreté matérielle.»</a:t>
            </a:r>
            <a:r>
              <a:rPr lang="fr-FR" altLang="fr-FR" sz="2400" dirty="0">
                <a:solidFill>
                  <a:srgbClr val="0070C0"/>
                </a:solidFill>
                <a:cs typeface="Times New Roman" panose="02020603050405020304" pitchFamily="18" charset="0"/>
                <a:hlinkClick r:id="rId3"/>
              </a:rPr>
              <a:t> http://www.ecomodernism.org/francais</a:t>
            </a:r>
            <a:endParaRPr lang="fr-FR" altLang="fr-FR" sz="2400" dirty="0">
              <a:solidFill>
                <a:srgbClr val="0070C0"/>
              </a:solidFill>
              <a:cs typeface="Times New Roman" panose="02020603050405020304" pitchFamily="18" charset="0"/>
            </a:endParaRPr>
          </a:p>
        </p:txBody>
      </p:sp>
      <p:sp>
        <p:nvSpPr>
          <p:cNvPr id="4" name="Espace réservé du pied de page 3">
            <a:extLst>
              <a:ext uri="{FF2B5EF4-FFF2-40B4-BE49-F238E27FC236}">
                <a16:creationId xmlns:a16="http://schemas.microsoft.com/office/drawing/2014/main" id="{231F9362-3873-4F0D-B564-513B4E64CB64}"/>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444B91AB-AC1C-42D2-A02C-68FDF2EA51C7}"/>
              </a:ext>
            </a:extLst>
          </p:cNvPr>
          <p:cNvSpPr>
            <a:spLocks noGrp="1"/>
          </p:cNvSpPr>
          <p:nvPr>
            <p:ph type="sldNum" sz="quarter" idx="12"/>
          </p:nvPr>
        </p:nvSpPr>
        <p:spPr/>
        <p:txBody>
          <a:bodyPr numCol="1"/>
          <a:lstStyle/>
          <a:p>
            <a:fld id="{788DAB52-6294-4F97-81DD-ABD852645FBC}" type="slidenum">
              <a:rPr lang="fr-FR" altLang="fr-FR" smtClean="0"/>
              <a:t>53</a:t>
            </a:fld>
            <a:endParaRPr lang="fr-FR" altLang="fr-FR"/>
          </a:p>
        </p:txBody>
      </p:sp>
      <p:sp>
        <p:nvSpPr>
          <p:cNvPr id="6" name="ZoneTexte 5">
            <a:extLst>
              <a:ext uri="{FF2B5EF4-FFF2-40B4-BE49-F238E27FC236}">
                <a16:creationId xmlns:a16="http://schemas.microsoft.com/office/drawing/2014/main" id="{F7057E27-02D6-46E5-B141-3A13750EF5EF}"/>
              </a:ext>
            </a:extLst>
          </p:cNvPr>
          <p:cNvSpPr txBox="1"/>
          <p:nvPr/>
        </p:nvSpPr>
        <p:spPr>
          <a:xfrm>
            <a:off x="3188676" y="49457"/>
            <a:ext cx="6096000" cy="701731"/>
          </a:xfrm>
          <a:prstGeom prst="rect">
            <a:avLst/>
          </a:prstGeom>
        </p:spPr>
        <p:txBody>
          <a:bodyPr vert="horz" lIns="91440" tIns="45720" rIns="91440" bIns="45720" numCol="1" rtlCol="0" anchor="ctr">
            <a:normAutofit fontScale="97500"/>
          </a:bodyPr>
          <a:lstStyle>
            <a:lvl1pPr algn="ctr">
              <a:lnSpc>
                <a:spcPct val="90000"/>
              </a:lnSpc>
              <a:spcBef>
                <a:spcPct val="0"/>
              </a:spcBef>
              <a:buNone/>
              <a:defRPr sz="4400">
                <a:latin typeface="+mj-lt"/>
                <a:ea typeface="+mj-ea"/>
                <a:cs typeface="+mj-cs"/>
              </a:defRPr>
            </a:lvl1pPr>
          </a:lstStyle>
          <a:p>
            <a:r>
              <a:rPr lang="fr-FR" altLang="fr-FR" dirty="0"/>
              <a:t>L’éco-modernisme…</a:t>
            </a:r>
            <a:endParaRPr lang="fr-FR" dirty="0"/>
          </a:p>
        </p:txBody>
      </p:sp>
    </p:spTree>
    <p:extLst>
      <p:ext uri="{BB962C8B-B14F-4D97-AF65-F5344CB8AC3E}">
        <p14:creationId xmlns:p14="http://schemas.microsoft.com/office/powerpoint/2010/main" val="24641650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8170AEF-11D0-4D3E-B5F8-370CBDF94957}"/>
              </a:ext>
            </a:extLst>
          </p:cNvPr>
          <p:cNvSpPr>
            <a:spLocks noGrp="1"/>
          </p:cNvSpPr>
          <p:nvPr>
            <p:ph idx="1"/>
          </p:nvPr>
        </p:nvSpPr>
        <p:spPr>
          <a:xfrm>
            <a:off x="332704" y="890954"/>
            <a:ext cx="11526591" cy="5355300"/>
          </a:xfrm>
          <a:solidFill>
            <a:schemeClr val="accent1">
              <a:lumMod val="20000"/>
              <a:lumOff val="80000"/>
            </a:schemeClr>
          </a:solidFill>
          <a:effectLst>
            <a:outerShdw blurRad="50800" dist="38100" dir="5400000" algn="t" rotWithShape="0">
              <a:prstClr val="black">
                <a:alpha val="40000"/>
              </a:prstClr>
            </a:outerShdw>
          </a:effectLst>
        </p:spPr>
        <p:txBody>
          <a:bodyPr vert="horz" lIns="91440" tIns="45720" rIns="91440" bIns="45720" numCol="1" rtlCol="0">
            <a:noAutofit/>
          </a:bodyPr>
          <a:lstStyle/>
          <a:p>
            <a:pPr marL="0" indent="0" algn="just">
              <a:buNone/>
            </a:pPr>
            <a:r>
              <a:rPr lang="fr-FR" altLang="fr-FR" sz="2600" dirty="0">
                <a:solidFill>
                  <a:srgbClr val="0070C0"/>
                </a:solidFill>
                <a:cs typeface="Times New Roman" panose="02020603050405020304" pitchFamily="18" charset="0"/>
              </a:rPr>
              <a:t>« La technologie est-elle le problème ou la solution ? Les </a:t>
            </a:r>
            <a:r>
              <a:rPr lang="fr-FR" altLang="fr-FR" sz="2600" dirty="0" err="1">
                <a:solidFill>
                  <a:srgbClr val="0070C0"/>
                </a:solidFill>
                <a:cs typeface="Times New Roman" panose="02020603050405020304" pitchFamily="18" charset="0"/>
              </a:rPr>
              <a:t>écomodernistes</a:t>
            </a:r>
            <a:r>
              <a:rPr lang="fr-FR" altLang="fr-FR" sz="2600" dirty="0">
                <a:solidFill>
                  <a:srgbClr val="0070C0"/>
                </a:solidFill>
                <a:cs typeface="Times New Roman" panose="02020603050405020304" pitchFamily="18" charset="0"/>
              </a:rPr>
              <a:t> ne peuvent pas décider. Le Manifeste est ouvert et honnête sur l'impact que les technologies modernes ont eu sur le monde naturel, et en particulier les émissions des machines à combustible fossile. Cependant, comme un acte de désespoir, les </a:t>
            </a:r>
            <a:r>
              <a:rPr lang="fr-FR" altLang="fr-FR" sz="2600" dirty="0" err="1">
                <a:solidFill>
                  <a:srgbClr val="0070C0"/>
                </a:solidFill>
                <a:cs typeface="Times New Roman" panose="02020603050405020304" pitchFamily="18" charset="0"/>
              </a:rPr>
              <a:t>écomodernistes</a:t>
            </a:r>
            <a:r>
              <a:rPr lang="fr-FR" altLang="fr-FR" sz="2600" dirty="0">
                <a:solidFill>
                  <a:srgbClr val="0070C0"/>
                </a:solidFill>
                <a:cs typeface="Times New Roman" panose="02020603050405020304" pitchFamily="18" charset="0"/>
              </a:rPr>
              <a:t> se replient sur la conviction que des technologies risquées, coûteuses et </a:t>
            </a:r>
            <a:r>
              <a:rPr lang="fr-FR" altLang="fr-FR" sz="2600" dirty="0" err="1">
                <a:solidFill>
                  <a:srgbClr val="0070C0"/>
                </a:solidFill>
                <a:cs typeface="Times New Roman" panose="02020603050405020304" pitchFamily="18" charset="0"/>
              </a:rPr>
              <a:t>sous-performantes</a:t>
            </a:r>
            <a:r>
              <a:rPr lang="fr-FR" altLang="fr-FR" sz="2600" dirty="0">
                <a:solidFill>
                  <a:srgbClr val="0070C0"/>
                </a:solidFill>
                <a:cs typeface="Times New Roman" panose="02020603050405020304" pitchFamily="18" charset="0"/>
              </a:rPr>
              <a:t>, telles que l'énergie nucléaire et le captage et le stockage du carbone, résoudront la crise climatique et dynamiseront la société durable du futur. La réalité, cependant, est que l'énergie nucléaire fournit moins de 6 pour cent des besoins énergétiques mondiaux tout en créant des cauchemars de stockage à long terme et des risques environnementaux actuels. Nous citons Tchernobyl et Fukushima comme exemples évidents. Du point de vue de la décroissance, plus de technologie n'est pas (nécessairement) la solution. La crise énergétique ne peut être résolue que par des réductions de débit, d'activité économique et de consommation. » (Resilience.org)</a:t>
            </a:r>
          </a:p>
        </p:txBody>
      </p:sp>
      <p:sp>
        <p:nvSpPr>
          <p:cNvPr id="4" name="ZoneTexte 3">
            <a:extLst>
              <a:ext uri="{FF2B5EF4-FFF2-40B4-BE49-F238E27FC236}">
                <a16:creationId xmlns:a16="http://schemas.microsoft.com/office/drawing/2014/main" id="{B5FAD5CB-A189-457F-88B3-3B69762B1D34}"/>
              </a:ext>
            </a:extLst>
          </p:cNvPr>
          <p:cNvSpPr txBox="1"/>
          <p:nvPr/>
        </p:nvSpPr>
        <p:spPr>
          <a:xfrm>
            <a:off x="2790092" y="189223"/>
            <a:ext cx="6096000" cy="701731"/>
          </a:xfrm>
          <a:prstGeom prst="rect">
            <a:avLst/>
          </a:prstGeom>
        </p:spPr>
        <p:txBody>
          <a:bodyPr vert="horz" lIns="91440" tIns="45720" rIns="91440" bIns="45720" numCol="1" rtlCol="0" anchor="ctr">
            <a:normAutofit fontScale="97500"/>
          </a:bodyPr>
          <a:lstStyle>
            <a:lvl1pPr algn="ctr">
              <a:lnSpc>
                <a:spcPct val="90000"/>
              </a:lnSpc>
              <a:spcBef>
                <a:spcPct val="0"/>
              </a:spcBef>
              <a:buNone/>
              <a:defRPr sz="4400">
                <a:latin typeface="+mj-lt"/>
                <a:ea typeface="+mj-ea"/>
                <a:cs typeface="+mj-cs"/>
              </a:defRPr>
            </a:lvl1pPr>
          </a:lstStyle>
          <a:p>
            <a:r>
              <a:rPr lang="fr-FR" altLang="fr-FR" dirty="0"/>
              <a:t>…et ses critiques</a:t>
            </a:r>
            <a:endParaRPr lang="fr-FR" dirty="0"/>
          </a:p>
        </p:txBody>
      </p:sp>
    </p:spTree>
    <p:extLst>
      <p:ext uri="{BB962C8B-B14F-4D97-AF65-F5344CB8AC3E}">
        <p14:creationId xmlns:p14="http://schemas.microsoft.com/office/powerpoint/2010/main" val="28972794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3C7203-95D1-DD7B-5984-BBC942F737BF}"/>
              </a:ext>
            </a:extLst>
          </p:cNvPr>
          <p:cNvSpPr>
            <a:spLocks noGrp="1"/>
          </p:cNvSpPr>
          <p:nvPr>
            <p:ph type="title"/>
          </p:nvPr>
        </p:nvSpPr>
        <p:spPr>
          <a:xfrm>
            <a:off x="838200" y="212725"/>
            <a:ext cx="10515600" cy="1325563"/>
          </a:xfrm>
        </p:spPr>
        <p:txBody>
          <a:bodyPr/>
          <a:lstStyle/>
          <a:p>
            <a:pPr algn="ctr"/>
            <a:r>
              <a:rPr lang="fr-FR" dirty="0"/>
              <a:t>Des pratiques plus réalistes,</a:t>
            </a:r>
            <a:br>
              <a:rPr lang="fr-FR" dirty="0"/>
            </a:br>
            <a:r>
              <a:rPr lang="fr-FR" dirty="0"/>
              <a:t>où les ingénieurs ont une place importante</a:t>
            </a:r>
          </a:p>
        </p:txBody>
      </p:sp>
      <p:sp>
        <p:nvSpPr>
          <p:cNvPr id="3" name="Espace réservé du contenu 2">
            <a:extLst>
              <a:ext uri="{FF2B5EF4-FFF2-40B4-BE49-F238E27FC236}">
                <a16:creationId xmlns:a16="http://schemas.microsoft.com/office/drawing/2014/main" id="{1469C79E-FECA-55FA-5333-7A8C4260B50C}"/>
              </a:ext>
            </a:extLst>
          </p:cNvPr>
          <p:cNvSpPr>
            <a:spLocks noGrp="1"/>
          </p:cNvSpPr>
          <p:nvPr>
            <p:ph idx="1"/>
          </p:nvPr>
        </p:nvSpPr>
        <p:spPr>
          <a:xfrm>
            <a:off x="359229" y="1825624"/>
            <a:ext cx="11484427" cy="4575175"/>
          </a:xfrm>
        </p:spPr>
        <p:txBody>
          <a:bodyPr>
            <a:normAutofit/>
          </a:bodyPr>
          <a:lstStyle/>
          <a:p>
            <a:r>
              <a:rPr lang="fr-FR" dirty="0"/>
              <a:t>En aval, la « </a:t>
            </a:r>
            <a:r>
              <a:rPr lang="fr-FR" b="1" dirty="0"/>
              <a:t>restauration écologique </a:t>
            </a:r>
            <a:r>
              <a:rPr lang="fr-FR" dirty="0"/>
              <a:t>» (mais également critiquée)</a:t>
            </a:r>
          </a:p>
          <a:p>
            <a:r>
              <a:rPr lang="fr-FR" dirty="0"/>
              <a:t>En amont,</a:t>
            </a:r>
          </a:p>
          <a:p>
            <a:pPr lvl="1">
              <a:buFont typeface="Calibri" panose="020F0502020204030204" pitchFamily="34" charset="0"/>
              <a:buChar char="-"/>
            </a:pPr>
            <a:r>
              <a:rPr lang="fr-FR" sz="2800" dirty="0"/>
              <a:t>l’écologie industrielle (mettre en réseau intrants et extrants) et </a:t>
            </a:r>
            <a:r>
              <a:rPr lang="fr-FR" sz="2800" b="1" dirty="0"/>
              <a:t>économie circulaire </a:t>
            </a:r>
            <a:r>
              <a:rPr lang="fr-FR" sz="2800" dirty="0"/>
              <a:t>(approche plus générale).</a:t>
            </a:r>
          </a:p>
          <a:p>
            <a:pPr lvl="1">
              <a:buFont typeface="Calibri" panose="020F0502020204030204" pitchFamily="34" charset="0"/>
              <a:buChar char="-"/>
            </a:pPr>
            <a:r>
              <a:rPr lang="fr-FR" sz="2800" dirty="0"/>
              <a:t>L’</a:t>
            </a:r>
            <a:r>
              <a:rPr lang="fr-FR" sz="2800" b="1" dirty="0"/>
              <a:t>écoconception</a:t>
            </a:r>
            <a:r>
              <a:rPr lang="fr-FR" sz="2800" dirty="0"/>
              <a:t> :</a:t>
            </a:r>
          </a:p>
          <a:p>
            <a:pPr lvl="2">
              <a:buFont typeface="Calibri" panose="020F0502020204030204" pitchFamily="34" charset="0"/>
              <a:buChar char="-"/>
            </a:pPr>
            <a:r>
              <a:rPr lang="fr-FR" sz="2800" dirty="0"/>
              <a:t>l’analyse du cycle de vie,</a:t>
            </a:r>
          </a:p>
          <a:p>
            <a:pPr lvl="2">
              <a:buFont typeface="Calibri" panose="020F0502020204030204" pitchFamily="34" charset="0"/>
              <a:buChar char="-"/>
            </a:pPr>
            <a:r>
              <a:rPr lang="fr-FR" sz="2800" dirty="0"/>
              <a:t>la lutte contre l’obsolescence programmée (aujourd’hui considérée comme un délit par la loi française),</a:t>
            </a:r>
          </a:p>
          <a:p>
            <a:pPr lvl="2">
              <a:buFont typeface="Calibri" panose="020F0502020204030204" pitchFamily="34" charset="0"/>
              <a:buChar char="-"/>
            </a:pPr>
            <a:r>
              <a:rPr lang="fr-FR" sz="2800" dirty="0"/>
              <a:t>La démarche </a:t>
            </a:r>
            <a:r>
              <a:rPr lang="fr-FR" sz="2800" i="1" dirty="0" err="1"/>
              <a:t>cradle</a:t>
            </a:r>
            <a:r>
              <a:rPr lang="fr-FR" sz="2800" i="1" dirty="0"/>
              <a:t> to </a:t>
            </a:r>
            <a:r>
              <a:rPr lang="fr-FR" sz="2800" i="1" dirty="0" err="1"/>
              <a:t>cradle</a:t>
            </a:r>
            <a:r>
              <a:rPr lang="fr-FR" sz="2800" dirty="0"/>
              <a:t> </a:t>
            </a:r>
            <a:endParaRPr lang="fr-FR" sz="2800" i="1" dirty="0"/>
          </a:p>
          <a:p>
            <a:pPr lvl="2">
              <a:buFont typeface="Calibri" panose="020F0502020204030204" pitchFamily="34" charset="0"/>
              <a:buChar char="-"/>
            </a:pPr>
            <a:r>
              <a:rPr lang="fr-FR" sz="2800" dirty="0"/>
              <a:t>le surcyclage, etc.</a:t>
            </a:r>
          </a:p>
        </p:txBody>
      </p:sp>
    </p:spTree>
    <p:extLst>
      <p:ext uri="{BB962C8B-B14F-4D97-AF65-F5344CB8AC3E}">
        <p14:creationId xmlns:p14="http://schemas.microsoft.com/office/powerpoint/2010/main" val="7739583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03F0DFC-1E19-45BD-9D0C-3FCC6EC7253C}"/>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9B7D4567-8DBB-46A3-9C97-3D96ED401555}"/>
              </a:ext>
            </a:extLst>
          </p:cNvPr>
          <p:cNvSpPr>
            <a:spLocks noGrp="1"/>
          </p:cNvSpPr>
          <p:nvPr>
            <p:ph type="ctrTitle"/>
          </p:nvPr>
        </p:nvSpPr>
        <p:spPr>
          <a:xfrm>
            <a:off x="1435390" y="425003"/>
            <a:ext cx="10304540" cy="5205741"/>
          </a:xfrm>
        </p:spPr>
        <p:txBody>
          <a:bodyPr numCol="1">
            <a:normAutofit/>
          </a:bodyPr>
          <a:lstStyle/>
          <a:p>
            <a:pPr lvl="0" algn="l">
              <a:spcBef>
                <a:spcPts val="1000"/>
              </a:spcBef>
              <a:defRPr/>
            </a:pPr>
            <a:br>
              <a:rPr lang="fr-FR" altLang="fr-FR" sz="3600" b="1" u="sng" spc="-240" dirty="0">
                <a:solidFill>
                  <a:schemeClr val="bg1"/>
                </a:solidFill>
                <a:latin typeface="+mn-lt"/>
                <a:cs typeface="Gotham Medium" pitchFamily="50" charset="0"/>
                <a:hlinkClick r:id="" action="ppaction://noaction">
                  <a:extLst>
                    <a:ext uri="{A12FA001-AC4F-418D-AE19-62706E023703}">
                      <ahyp:hlinkClr xmlns:ahyp="http://schemas.microsoft.com/office/drawing/2018/hyperlinkcolor" val="tx"/>
                    </a:ext>
                  </a:extLst>
                </a:hlinkClick>
              </a:rPr>
            </a:br>
            <a:r>
              <a:rPr lang="fr-FR" altLang="fr-FR" sz="3600" b="1" u="sng" spc="-240" dirty="0">
                <a:solidFill>
                  <a:schemeClr val="accent1">
                    <a:lumMod val="60000"/>
                    <a:lumOff val="40000"/>
                  </a:schemeClr>
                </a:solidFill>
                <a:latin typeface="+mn-lt"/>
                <a:cs typeface="Gotham Medium" pitchFamily="50" charset="0"/>
                <a:hlinkClick r:id="" action="ppaction://noaction">
                  <a:extLst>
                    <a:ext uri="{A12FA001-AC4F-418D-AE19-62706E023703}">
                      <ahyp:hlinkClr xmlns:ahyp="http://schemas.microsoft.com/office/drawing/2018/hyperlinkcolor" val="tx"/>
                    </a:ext>
                  </a:extLst>
                </a:hlinkClick>
              </a:rPr>
              <a:t>1</a:t>
            </a:r>
            <a:r>
              <a:rPr lang="fr-FR" altLang="fr-FR" sz="3600" b="1" u="sng" spc="-240" dirty="0">
                <a:solidFill>
                  <a:schemeClr val="accent1">
                    <a:lumMod val="60000"/>
                    <a:lumOff val="40000"/>
                  </a:schemeClr>
                </a:solidFill>
                <a:latin typeface="+mn-lt"/>
                <a:hlinkClick r:id="" action="ppaction://noaction">
                  <a:extLst>
                    <a:ext uri="{A12FA001-AC4F-418D-AE19-62706E023703}">
                      <ahyp:hlinkClr xmlns:ahyp="http://schemas.microsoft.com/office/drawing/2018/hyperlinkcolor" val="tx"/>
                    </a:ext>
                  </a:extLst>
                </a:hlinkClick>
              </a:rPr>
              <a:t>) </a:t>
            </a:r>
            <a:r>
              <a:rPr lang="fr-FR" altLang="fr-FR" sz="3600" b="1" u="sng" spc="-240" dirty="0">
                <a:solidFill>
                  <a:schemeClr val="accent1">
                    <a:lumMod val="60000"/>
                    <a:lumOff val="40000"/>
                  </a:schemeClr>
                </a:solidFill>
                <a:latin typeface="+mn-lt"/>
              </a:rPr>
              <a:t>Du développement durable à l’idée d’anthropocène</a:t>
            </a:r>
            <a:br>
              <a:rPr lang="fr-FR" altLang="fr-FR" sz="3600" b="1" u="sng" spc="-240" dirty="0">
                <a:solidFill>
                  <a:schemeClr val="accent1">
                    <a:lumMod val="60000"/>
                    <a:lumOff val="40000"/>
                  </a:schemeClr>
                </a:solidFill>
                <a:latin typeface="+mn-lt"/>
                <a:cs typeface="Gotham Medium" pitchFamily="50" charset="0"/>
              </a:rPr>
            </a:br>
            <a:r>
              <a:rPr lang="fr-FR" altLang="fr-FR" sz="3600" b="1" u="sng" spc="-240" dirty="0">
                <a:solidFill>
                  <a:schemeClr val="bg1"/>
                </a:solidFill>
                <a:latin typeface="+mn-lt"/>
                <a:cs typeface="Gotham Medium" pitchFamily="50" charset="0"/>
              </a:rPr>
              <a:t>2</a:t>
            </a:r>
            <a:r>
              <a:rPr lang="fr-FR" altLang="fr-FR" sz="3600" b="1" u="sng" spc="-240" dirty="0">
                <a:solidFill>
                  <a:schemeClr val="bg1"/>
                </a:solidFill>
                <a:latin typeface="+mn-lt"/>
              </a:rPr>
              <a:t>) Le « monde infini des modernes » : une illusion ?</a:t>
            </a:r>
            <a:br>
              <a:rPr lang="fr-FR" altLang="fr-FR" sz="3600" b="1" u="sng" spc="-240" dirty="0">
                <a:solidFill>
                  <a:schemeClr val="accent1">
                    <a:lumMod val="60000"/>
                    <a:lumOff val="40000"/>
                  </a:schemeClr>
                </a:solidFill>
                <a:latin typeface="+mn-lt"/>
                <a:cs typeface="Gotham Medium" pitchFamily="50" charset="0"/>
              </a:rPr>
            </a:br>
            <a:r>
              <a:rPr kumimoji="0" lang="fr-FR" altLang="fr-FR" sz="3600" b="1" i="0" u="none" strike="noStrike" kern="1200" cap="none" spc="0" normalizeH="0" baseline="0" noProof="0" dirty="0">
                <a:ln>
                  <a:noFill/>
                </a:ln>
                <a:solidFill>
                  <a:schemeClr val="accent1">
                    <a:lumMod val="60000"/>
                    <a:lumOff val="40000"/>
                  </a:schemeClr>
                </a:solidFill>
                <a:effectLst/>
                <a:uLnTx/>
                <a:uFillTx/>
                <a:latin typeface="+mn-lt"/>
                <a:ea typeface="+mn-ea"/>
                <a:cs typeface="+mn-cs"/>
                <a:hlinkClick r:id="" action="ppaction://noaction">
                  <a:extLst>
                    <a:ext uri="{A12FA001-AC4F-418D-AE19-62706E023703}">
                      <ahyp:hlinkClr xmlns:ahyp="http://schemas.microsoft.com/office/drawing/2018/hyperlinkcolor" val="tx"/>
                    </a:ext>
                  </a:extLst>
                </a:hlinkClick>
              </a:rPr>
              <a:t>Bibliographie</a:t>
            </a:r>
            <a:br>
              <a:rPr kumimoji="0" lang="fr-FR" altLang="fr-FR" sz="2800" b="1" i="0" u="none" strike="noStrike" kern="1200" cap="none" spc="0" normalizeH="0" baseline="0" noProof="0" dirty="0">
                <a:ln>
                  <a:noFill/>
                </a:ln>
                <a:solidFill>
                  <a:schemeClr val="bg1"/>
                </a:solidFill>
                <a:effectLst/>
                <a:uLnTx/>
                <a:uFillTx/>
                <a:latin typeface="Calibri" panose="020F0502020204030204"/>
                <a:ea typeface="+mn-ea"/>
                <a:cs typeface="+mn-cs"/>
              </a:rPr>
            </a:br>
            <a:endParaRPr lang="fr-FR" altLang="fr-FR" sz="3200" b="1" dirty="0">
              <a:solidFill>
                <a:schemeClr val="bg1"/>
              </a:solidFill>
            </a:endParaRPr>
          </a:p>
        </p:txBody>
      </p:sp>
      <p:sp>
        <p:nvSpPr>
          <p:cNvPr id="5" name="object 10">
            <a:extLst>
              <a:ext uri="{FF2B5EF4-FFF2-40B4-BE49-F238E27FC236}">
                <a16:creationId xmlns:a16="http://schemas.microsoft.com/office/drawing/2014/main" id="{B4C51465-F063-42E8-8BE5-5ED8418DF661}"/>
              </a:ext>
            </a:extLst>
          </p:cNvPr>
          <p:cNvSpPr txBox="1">
            <a:spLocks noGrp="1"/>
          </p:cNvSpPr>
          <p:nvPr>
            <p:ph type="ftr" sz="quarter" idx="11"/>
          </p:nvPr>
        </p:nvSpPr>
        <p:spPr>
          <a:xfrm>
            <a:off x="4041374" y="6472450"/>
            <a:ext cx="4114800" cy="189796"/>
          </a:xfrm>
          <a:prstGeom prst="rect">
            <a:avLst/>
          </a:prstGeom>
        </p:spPr>
        <p:txBody>
          <a:bodyPr vert="horz" wrap="square" lIns="0" tIns="5080" rIns="0" bIns="0" numCol="1" rtlCol="0" anchor="ctr">
            <a:spAutoFit/>
          </a:bodyPr>
          <a:lstStyle/>
          <a:p>
            <a:pPr marL="12700">
              <a:spcBef>
                <a:spcPts val="40"/>
              </a:spcBef>
            </a:pPr>
            <a:r>
              <a:rPr lang="fr-FR" altLang="fr-FR" spc="-60">
                <a:solidFill>
                  <a:srgbClr val="002060"/>
                </a:solidFill>
              </a:rPr>
              <a:t>Pole Humanités Design Département des Relations Humaines</a:t>
            </a:r>
            <a:endParaRPr spc="-100">
              <a:solidFill>
                <a:srgbClr val="002060"/>
              </a:solidFill>
            </a:endParaRPr>
          </a:p>
        </p:txBody>
      </p:sp>
      <p:pic>
        <p:nvPicPr>
          <p:cNvPr id="6" name="Image 5">
            <a:extLst>
              <a:ext uri="{FF2B5EF4-FFF2-40B4-BE49-F238E27FC236}">
                <a16:creationId xmlns:a16="http://schemas.microsoft.com/office/drawing/2014/main" id="{1AE8901F-1C30-4BD4-99BE-A97180C497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pic>
        <p:nvPicPr>
          <p:cNvPr id="7" name="Image 6">
            <a:extLst>
              <a:ext uri="{FF2B5EF4-FFF2-40B4-BE49-F238E27FC236}">
                <a16:creationId xmlns:a16="http://schemas.microsoft.com/office/drawing/2014/main" id="{19B2A249-BD17-436B-8AC0-2FCE0FB6D4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2600" y="6123941"/>
            <a:ext cx="1938531" cy="640149"/>
          </a:xfrm>
          <a:prstGeom prst="rect">
            <a:avLst/>
          </a:prstGeom>
        </p:spPr>
      </p:pic>
      <p:sp>
        <p:nvSpPr>
          <p:cNvPr id="8" name="ZoneTexte 7">
            <a:extLst>
              <a:ext uri="{FF2B5EF4-FFF2-40B4-BE49-F238E27FC236}">
                <a16:creationId xmlns:a16="http://schemas.microsoft.com/office/drawing/2014/main" id="{F73C47AF-B032-43B3-847C-56BF4BCFF8E6}"/>
              </a:ext>
            </a:extLst>
          </p:cNvPr>
          <p:cNvSpPr txBox="1"/>
          <p:nvPr/>
        </p:nvSpPr>
        <p:spPr>
          <a:xfrm>
            <a:off x="3274764" y="1047266"/>
            <a:ext cx="6097836" cy="707886"/>
          </a:xfrm>
          <a:prstGeom prst="rect">
            <a:avLst/>
          </a:prstGeom>
          <a:noFill/>
        </p:spPr>
        <p:txBody>
          <a:bodyPr wrap="square" numCol="1">
            <a:spAutoFit/>
          </a:bodyPr>
          <a:lstStyle/>
          <a:p>
            <a:pPr algn="ctr"/>
            <a:r>
              <a:rPr lang="fr-FR" altLang="fr-FR" sz="4000" u="sng" spc="-240" dirty="0">
                <a:solidFill>
                  <a:schemeClr val="accent5">
                    <a:lumMod val="75000"/>
                  </a:schemeClr>
                </a:solidFill>
                <a:cs typeface="Gotham Medium" pitchFamily="50" charset="0"/>
              </a:rPr>
              <a:t>Plan</a:t>
            </a:r>
            <a:endParaRPr lang="fr-FR" altLang="fr-FR" sz="4000" dirty="0"/>
          </a:p>
        </p:txBody>
      </p:sp>
      <p:sp>
        <p:nvSpPr>
          <p:cNvPr id="4" name="Espace réservé du numéro de diapositive 3">
            <a:extLst>
              <a:ext uri="{FF2B5EF4-FFF2-40B4-BE49-F238E27FC236}">
                <a16:creationId xmlns:a16="http://schemas.microsoft.com/office/drawing/2014/main" id="{083A6003-ACF1-4A27-8577-185A4A278541}"/>
              </a:ext>
            </a:extLst>
          </p:cNvPr>
          <p:cNvSpPr>
            <a:spLocks noGrp="1"/>
          </p:cNvSpPr>
          <p:nvPr>
            <p:ph type="sldNum" sz="quarter" idx="12"/>
          </p:nvPr>
        </p:nvSpPr>
        <p:spPr/>
        <p:txBody>
          <a:bodyPr numCol="1"/>
          <a:lstStyle/>
          <a:p>
            <a:fld id="{788DAB52-6294-4F97-81DD-ABD852645FBC}" type="slidenum">
              <a:rPr lang="fr-FR" altLang="fr-FR" smtClean="0"/>
              <a:t>56</a:t>
            </a:fld>
            <a:endParaRPr lang="fr-FR" altLang="fr-FR"/>
          </a:p>
        </p:txBody>
      </p:sp>
      <p:sp>
        <p:nvSpPr>
          <p:cNvPr id="9" name="Flèche : droite 8">
            <a:extLst>
              <a:ext uri="{FF2B5EF4-FFF2-40B4-BE49-F238E27FC236}">
                <a16:creationId xmlns:a16="http://schemas.microsoft.com/office/drawing/2014/main" id="{43E0C11C-AC7B-F56D-2FC2-9D36DE5F93D7}"/>
              </a:ext>
            </a:extLst>
          </p:cNvPr>
          <p:cNvSpPr/>
          <p:nvPr/>
        </p:nvSpPr>
        <p:spPr>
          <a:xfrm>
            <a:off x="753425" y="4058332"/>
            <a:ext cx="681965" cy="68675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657753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24C169-2822-40F6-8697-60E8EDDA4AEF}"/>
              </a:ext>
            </a:extLst>
          </p:cNvPr>
          <p:cNvSpPr>
            <a:spLocks noGrp="1"/>
          </p:cNvSpPr>
          <p:nvPr>
            <p:ph type="title"/>
          </p:nvPr>
        </p:nvSpPr>
        <p:spPr>
          <a:xfrm>
            <a:off x="838200" y="2322714"/>
            <a:ext cx="10515600" cy="1325563"/>
          </a:xfrm>
          <a:ln>
            <a:solidFill>
              <a:schemeClr val="accent1"/>
            </a:solidFill>
          </a:ln>
          <a:effectLst>
            <a:outerShdw blurRad="63500" sx="102000" sy="102000" algn="ctr" rotWithShape="0">
              <a:prstClr val="black">
                <a:alpha val="40000"/>
              </a:prstClr>
            </a:outerShdw>
          </a:effectLst>
        </p:spPr>
        <p:txBody>
          <a:bodyPr vert="horz" lIns="91440" tIns="45720" rIns="91440" bIns="45720" numCol="1" rtlCol="0" anchor="ctr">
            <a:normAutofit/>
          </a:bodyPr>
          <a:lstStyle/>
          <a:p>
            <a:pPr algn="ctr"/>
            <a:r>
              <a:rPr lang="fr-FR" dirty="0">
                <a:solidFill>
                  <a:srgbClr val="0070C0"/>
                </a:solidFill>
              </a:rPr>
              <a:t>Les fondements principiels de l’éthique environnementale</a:t>
            </a:r>
          </a:p>
        </p:txBody>
      </p:sp>
    </p:spTree>
    <p:extLst>
      <p:ext uri="{BB962C8B-B14F-4D97-AF65-F5344CB8AC3E}">
        <p14:creationId xmlns:p14="http://schemas.microsoft.com/office/powerpoint/2010/main" val="32667806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69237E2B-24D1-1F28-604F-55EA0F8DB29B}"/>
              </a:ext>
            </a:extLst>
          </p:cNvPr>
          <p:cNvSpPr txBox="1">
            <a:spLocks/>
          </p:cNvSpPr>
          <p:nvPr/>
        </p:nvSpPr>
        <p:spPr>
          <a:xfrm>
            <a:off x="939801" y="2191366"/>
            <a:ext cx="10515600" cy="1148624"/>
          </a:xfrm>
          <a:prstGeom prst="rect">
            <a:avLst/>
          </a:prstGeom>
          <a:solidFill>
            <a:schemeClr val="accent1">
              <a:lumMod val="20000"/>
              <a:lumOff val="80000"/>
            </a:schemeClr>
          </a:solidFill>
          <a:ln>
            <a:solidFill>
              <a:srgbClr val="0070C0"/>
            </a:solidFill>
          </a:ln>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500" dirty="0">
                <a:solidFill>
                  <a:srgbClr val="0070C0"/>
                </a:solidFill>
              </a:rPr>
              <a:t>Quels fondements principiels pour l’éthique environnementale ?</a:t>
            </a:r>
            <a:endParaRPr lang="fr-FR" altLang="fr-FR" sz="3500" dirty="0">
              <a:solidFill>
                <a:srgbClr val="0070C0"/>
              </a:solidFill>
              <a:ea typeface="Calibri" panose="020F0502020204030204" pitchFamily="34" charset="0"/>
              <a:cs typeface="Times New Roman" panose="02020603050405020304" pitchFamily="18" charset="0"/>
            </a:endParaRPr>
          </a:p>
        </p:txBody>
      </p:sp>
      <p:sp>
        <p:nvSpPr>
          <p:cNvPr id="2" name="Ellipse 1">
            <a:extLst>
              <a:ext uri="{FF2B5EF4-FFF2-40B4-BE49-F238E27FC236}">
                <a16:creationId xmlns:a16="http://schemas.microsoft.com/office/drawing/2014/main" id="{19EB6CCF-DC2F-20E3-774C-437E6414CD03}"/>
              </a:ext>
            </a:extLst>
          </p:cNvPr>
          <p:cNvSpPr/>
          <p:nvPr/>
        </p:nvSpPr>
        <p:spPr>
          <a:xfrm>
            <a:off x="140187" y="2121254"/>
            <a:ext cx="79961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7478855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0D3450-9174-DAAA-6C32-3FD45C4B5374}"/>
              </a:ext>
            </a:extLst>
          </p:cNvPr>
          <p:cNvSpPr>
            <a:spLocks noGrp="1"/>
          </p:cNvSpPr>
          <p:nvPr>
            <p:ph type="title"/>
          </p:nvPr>
        </p:nvSpPr>
        <p:spPr>
          <a:xfrm>
            <a:off x="0" y="1"/>
            <a:ext cx="12192000" cy="1025262"/>
          </a:xfrm>
        </p:spPr>
        <p:txBody>
          <a:bodyPr/>
          <a:lstStyle/>
          <a:p>
            <a:pPr algn="ctr"/>
            <a:r>
              <a:rPr lang="fr-FR" dirty="0"/>
              <a:t>L’environnementalisme humaniste</a:t>
            </a:r>
          </a:p>
        </p:txBody>
      </p:sp>
      <p:sp>
        <p:nvSpPr>
          <p:cNvPr id="3" name="Espace réservé du contenu 2">
            <a:extLst>
              <a:ext uri="{FF2B5EF4-FFF2-40B4-BE49-F238E27FC236}">
                <a16:creationId xmlns:a16="http://schemas.microsoft.com/office/drawing/2014/main" id="{74D07BEE-54E6-2E90-451D-1A14B2341B77}"/>
              </a:ext>
            </a:extLst>
          </p:cNvPr>
          <p:cNvSpPr>
            <a:spLocks noGrp="1"/>
          </p:cNvSpPr>
          <p:nvPr>
            <p:ph idx="1"/>
          </p:nvPr>
        </p:nvSpPr>
        <p:spPr>
          <a:xfrm>
            <a:off x="674914" y="1578429"/>
            <a:ext cx="10874083" cy="4747215"/>
          </a:xfrm>
        </p:spPr>
        <p:txBody>
          <a:bodyPr>
            <a:normAutofit/>
          </a:bodyPr>
          <a:lstStyle/>
          <a:p>
            <a:r>
              <a:rPr lang="fr-FR" dirty="0"/>
              <a:t>L’être humain est au centre, parce qu’il est lui-même la source des valeurs.</a:t>
            </a:r>
          </a:p>
          <a:p>
            <a:r>
              <a:rPr lang="fr-FR" dirty="0"/>
              <a:t>La nature, les animaux et les plantes sont exclus de la sphère morale, indépendamment de leur relation avec l’être humain.</a:t>
            </a:r>
          </a:p>
          <a:p>
            <a:r>
              <a:rPr lang="fr-FR" dirty="0"/>
              <a:t>Vision instrumentale de la nature.</a:t>
            </a:r>
          </a:p>
          <a:p>
            <a:endParaRPr lang="fr-FR" dirty="0"/>
          </a:p>
        </p:txBody>
      </p:sp>
    </p:spTree>
    <p:extLst>
      <p:ext uri="{BB962C8B-B14F-4D97-AF65-F5344CB8AC3E}">
        <p14:creationId xmlns:p14="http://schemas.microsoft.com/office/powerpoint/2010/main" val="30597267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4D07BEE-54E6-2E90-451D-1A14B2341B77}"/>
              </a:ext>
            </a:extLst>
          </p:cNvPr>
          <p:cNvSpPr>
            <a:spLocks noGrp="1"/>
          </p:cNvSpPr>
          <p:nvPr>
            <p:ph idx="1"/>
          </p:nvPr>
        </p:nvSpPr>
        <p:spPr>
          <a:xfrm>
            <a:off x="588723" y="313152"/>
            <a:ext cx="11085536" cy="6003098"/>
          </a:xfrm>
        </p:spPr>
        <p:txBody>
          <a:bodyPr>
            <a:normAutofit lnSpcReduction="10000"/>
          </a:bodyPr>
          <a:lstStyle/>
          <a:p>
            <a:pPr marL="0" indent="0" algn="ctr">
              <a:buNone/>
            </a:pPr>
            <a:r>
              <a:rPr lang="fr-FR" sz="3200" dirty="0"/>
              <a:t>De nouveaux outils pour défendre l’environnement, dans le cadre d’une éthique humaniste : </a:t>
            </a:r>
          </a:p>
          <a:p>
            <a:pPr marL="0" indent="0" algn="ctr">
              <a:buNone/>
            </a:pPr>
            <a:endParaRPr lang="fr-FR" dirty="0"/>
          </a:p>
          <a:p>
            <a:r>
              <a:rPr lang="fr-FR" b="1" dirty="0"/>
              <a:t>Ethique des droits </a:t>
            </a:r>
            <a:r>
              <a:rPr lang="fr-FR" dirty="0"/>
              <a:t>:</a:t>
            </a:r>
          </a:p>
          <a:p>
            <a:pPr lvl="1">
              <a:buFont typeface="Calibri" panose="020F0502020204030204" pitchFamily="34" charset="0"/>
              <a:buChar char="-"/>
            </a:pPr>
            <a:r>
              <a:rPr lang="fr-FR" sz="2800" dirty="0"/>
              <a:t>Le « </a:t>
            </a:r>
            <a:r>
              <a:rPr lang="fr-FR" sz="2800" b="1" dirty="0"/>
              <a:t>droits à un environnement viable </a:t>
            </a:r>
            <a:r>
              <a:rPr lang="fr-FR" sz="2800" dirty="0"/>
              <a:t>» (dû au philosophe William </a:t>
            </a:r>
            <a:r>
              <a:rPr lang="fr-FR" sz="2800" cap="small" dirty="0"/>
              <a:t>Blackstone</a:t>
            </a:r>
            <a:r>
              <a:rPr lang="fr-FR" sz="2800" dirty="0"/>
              <a:t>)</a:t>
            </a:r>
          </a:p>
          <a:p>
            <a:pPr lvl="1">
              <a:buFont typeface="Calibri" panose="020F0502020204030204" pitchFamily="34" charset="0"/>
              <a:buChar char="-"/>
            </a:pPr>
            <a:r>
              <a:rPr lang="fr-FR" sz="2800" dirty="0"/>
              <a:t>Mais les droits actuels, à la vie, à la sécurité, ne sont-ils pas suffisants ? </a:t>
            </a:r>
          </a:p>
          <a:p>
            <a:r>
              <a:rPr lang="fr-FR" b="1" dirty="0"/>
              <a:t>Théorie de la justice </a:t>
            </a:r>
            <a:r>
              <a:rPr lang="fr-FR" dirty="0"/>
              <a:t>de </a:t>
            </a:r>
            <a:r>
              <a:rPr lang="fr-FR" b="1" dirty="0"/>
              <a:t>John </a:t>
            </a:r>
            <a:r>
              <a:rPr lang="fr-FR" b="1" cap="small" dirty="0"/>
              <a:t>Rawls</a:t>
            </a:r>
            <a:r>
              <a:rPr lang="fr-FR" b="1" dirty="0"/>
              <a:t> :</a:t>
            </a:r>
          </a:p>
          <a:p>
            <a:pPr lvl="1">
              <a:buFont typeface="Calibri" panose="020F0502020204030204" pitchFamily="34" charset="0"/>
              <a:buChar char="-"/>
            </a:pPr>
            <a:r>
              <a:rPr lang="fr-FR" sz="2800" dirty="0"/>
              <a:t>Inclure l’ignorance de la génération à laquelle on appartient dans la « position originelle » sous le « voile d’ignorance »</a:t>
            </a:r>
          </a:p>
          <a:p>
            <a:r>
              <a:rPr lang="fr-FR" b="1" dirty="0"/>
              <a:t>Ethique de la responsabilité </a:t>
            </a:r>
            <a:r>
              <a:rPr lang="fr-FR" dirty="0"/>
              <a:t>de </a:t>
            </a:r>
            <a:r>
              <a:rPr lang="fr-FR" b="1" dirty="0"/>
              <a:t>Hans </a:t>
            </a:r>
            <a:r>
              <a:rPr lang="fr-FR" b="1" cap="small" dirty="0"/>
              <a:t>Jonas</a:t>
            </a:r>
          </a:p>
          <a:p>
            <a:r>
              <a:rPr lang="fr-FR" b="1" dirty="0"/>
              <a:t>Une éthique des vertus </a:t>
            </a:r>
            <a:r>
              <a:rPr lang="fr-FR" dirty="0"/>
              <a:t>proprement environnementales, par ex. approche de </a:t>
            </a:r>
            <a:r>
              <a:rPr lang="fr-FR" b="1" dirty="0"/>
              <a:t>Corinne </a:t>
            </a:r>
            <a:r>
              <a:rPr lang="fr-FR" b="1" cap="small" dirty="0"/>
              <a:t>Pelluchon</a:t>
            </a:r>
          </a:p>
          <a:p>
            <a:endParaRPr lang="fr-FR" dirty="0"/>
          </a:p>
        </p:txBody>
      </p:sp>
    </p:spTree>
    <p:extLst>
      <p:ext uri="{BB962C8B-B14F-4D97-AF65-F5344CB8AC3E}">
        <p14:creationId xmlns:p14="http://schemas.microsoft.com/office/powerpoint/2010/main" val="27578669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9407D14-B17A-4EBA-9227-0BB7A2D8F090}"/>
              </a:ext>
            </a:extLst>
          </p:cNvPr>
          <p:cNvSpPr>
            <a:spLocks noGrp="1"/>
          </p:cNvSpPr>
          <p:nvPr>
            <p:ph idx="1"/>
          </p:nvPr>
        </p:nvSpPr>
        <p:spPr>
          <a:xfrm>
            <a:off x="979062" y="2718788"/>
            <a:ext cx="10515600" cy="1148624"/>
          </a:xfrm>
          <a:solidFill>
            <a:schemeClr val="accent1">
              <a:lumMod val="20000"/>
              <a:lumOff val="80000"/>
            </a:schemeClr>
          </a:solidFill>
          <a:ln>
            <a:solidFill>
              <a:srgbClr val="0070C0"/>
            </a:solidFill>
          </a:ln>
        </p:spPr>
        <p:txBody>
          <a:bodyPr>
            <a:normAutofit/>
          </a:bodyPr>
          <a:lstStyle/>
          <a:p>
            <a:pPr marL="0" indent="0" algn="ctr">
              <a:buNone/>
            </a:pPr>
            <a:r>
              <a:rPr lang="fr-FR" sz="3500" dirty="0">
                <a:solidFill>
                  <a:srgbClr val="0070C0"/>
                </a:solidFill>
              </a:rPr>
              <a:t>Quelles pourraient être les vertus d’une éthique environnementale inspirée d’une éthique des vertus ?</a:t>
            </a:r>
            <a:endParaRPr lang="fr-FR" altLang="fr-FR" sz="3500" dirty="0">
              <a:solidFill>
                <a:srgbClr val="0070C0"/>
              </a:solidFill>
              <a:effectLst/>
              <a:ea typeface="Calibri" panose="020F0502020204030204" pitchFamily="34" charset="0"/>
              <a:cs typeface="Times New Roman" panose="02020603050405020304" pitchFamily="18" charset="0"/>
            </a:endParaRPr>
          </a:p>
        </p:txBody>
      </p:sp>
      <p:sp>
        <p:nvSpPr>
          <p:cNvPr id="2" name="Ellipse 1">
            <a:extLst>
              <a:ext uri="{FF2B5EF4-FFF2-40B4-BE49-F238E27FC236}">
                <a16:creationId xmlns:a16="http://schemas.microsoft.com/office/drawing/2014/main" id="{1757631E-A5BB-0866-0323-FFDBCD9368EC}"/>
              </a:ext>
            </a:extLst>
          </p:cNvPr>
          <p:cNvSpPr/>
          <p:nvPr/>
        </p:nvSpPr>
        <p:spPr>
          <a:xfrm>
            <a:off x="152886" y="2630318"/>
            <a:ext cx="79961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29985027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D06CEB-9FC6-B6F7-1D0E-17C416E4D92D}"/>
              </a:ext>
            </a:extLst>
          </p:cNvPr>
          <p:cNvSpPr>
            <a:spLocks noGrp="1"/>
          </p:cNvSpPr>
          <p:nvPr>
            <p:ph type="title"/>
          </p:nvPr>
        </p:nvSpPr>
        <p:spPr>
          <a:xfrm>
            <a:off x="563671" y="-1"/>
            <a:ext cx="11035430" cy="1277655"/>
          </a:xfrm>
        </p:spPr>
        <p:txBody>
          <a:bodyPr/>
          <a:lstStyle/>
          <a:p>
            <a:pPr algn="ctr"/>
            <a:r>
              <a:rPr lang="fr-FR" dirty="0"/>
              <a:t>L’environnementalisme non humaniste</a:t>
            </a:r>
          </a:p>
        </p:txBody>
      </p:sp>
      <p:sp>
        <p:nvSpPr>
          <p:cNvPr id="3" name="Espace réservé du contenu 2">
            <a:extLst>
              <a:ext uri="{FF2B5EF4-FFF2-40B4-BE49-F238E27FC236}">
                <a16:creationId xmlns:a16="http://schemas.microsoft.com/office/drawing/2014/main" id="{B5258480-E102-A1A6-4B0D-ECDD53C20AE0}"/>
              </a:ext>
            </a:extLst>
          </p:cNvPr>
          <p:cNvSpPr>
            <a:spLocks noGrp="1"/>
          </p:cNvSpPr>
          <p:nvPr>
            <p:ph idx="1"/>
          </p:nvPr>
        </p:nvSpPr>
        <p:spPr>
          <a:xfrm>
            <a:off x="388307" y="1277654"/>
            <a:ext cx="11373633" cy="5273458"/>
          </a:xfrm>
        </p:spPr>
        <p:txBody>
          <a:bodyPr>
            <a:normAutofit/>
          </a:bodyPr>
          <a:lstStyle/>
          <a:p>
            <a:r>
              <a:rPr lang="fr-FR" dirty="0"/>
              <a:t>Accusations d’anthropocentrisme</a:t>
            </a:r>
          </a:p>
          <a:p>
            <a:endParaRPr lang="fr-FR" dirty="0"/>
          </a:p>
          <a:p>
            <a:r>
              <a:rPr lang="fr-FR" dirty="0"/>
              <a:t>Différentes variantes d’environnementalisme non humaniste</a:t>
            </a:r>
          </a:p>
          <a:p>
            <a:pPr lvl="1">
              <a:buFont typeface="Calibri" panose="020F0502020204030204" pitchFamily="34" charset="0"/>
              <a:buChar char="-"/>
            </a:pPr>
            <a:r>
              <a:rPr lang="fr-FR" sz="2800" dirty="0"/>
              <a:t>Le </a:t>
            </a:r>
            <a:r>
              <a:rPr lang="fr-FR" sz="2800" b="1" dirty="0" err="1"/>
              <a:t>pathocentrisme</a:t>
            </a:r>
            <a:r>
              <a:rPr lang="fr-FR" sz="2800" dirty="0"/>
              <a:t> qui octroie un statut moral aux animaux ou êtres vivants sensibles (voir séance de TD sur « l’éthique animale »).</a:t>
            </a:r>
          </a:p>
          <a:p>
            <a:pPr lvl="1">
              <a:buFont typeface="Calibri" panose="020F0502020204030204" pitchFamily="34" charset="0"/>
              <a:buChar char="-"/>
            </a:pPr>
            <a:r>
              <a:rPr lang="fr-FR" sz="2800" dirty="0"/>
              <a:t>Le </a:t>
            </a:r>
            <a:r>
              <a:rPr lang="fr-FR" sz="2800" b="1" dirty="0"/>
              <a:t>biocentrisme </a:t>
            </a:r>
            <a:r>
              <a:rPr lang="fr-FR" sz="2800" dirty="0"/>
              <a:t>qui étend le statut moral à toutes les espèces animales et végétales.</a:t>
            </a:r>
          </a:p>
          <a:p>
            <a:pPr lvl="1">
              <a:buFont typeface="Calibri" panose="020F0502020204030204" pitchFamily="34" charset="0"/>
              <a:buChar char="-"/>
            </a:pPr>
            <a:r>
              <a:rPr lang="fr-FR" sz="2800" dirty="0"/>
              <a:t>L’</a:t>
            </a:r>
            <a:r>
              <a:rPr lang="fr-FR" sz="2800" b="1" dirty="0" err="1"/>
              <a:t>écocentrisme</a:t>
            </a:r>
            <a:r>
              <a:rPr lang="fr-FR" sz="2800" dirty="0"/>
              <a:t> qui confère un statut moral aux écosystèmes, lesquels comprennent des éléments non vivants.</a:t>
            </a:r>
          </a:p>
        </p:txBody>
      </p:sp>
    </p:spTree>
    <p:extLst>
      <p:ext uri="{BB962C8B-B14F-4D97-AF65-F5344CB8AC3E}">
        <p14:creationId xmlns:p14="http://schemas.microsoft.com/office/powerpoint/2010/main" val="2220015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14B4D1-F559-D5EF-F5D3-9ABEC2F0F77D}"/>
              </a:ext>
            </a:extLst>
          </p:cNvPr>
          <p:cNvSpPr/>
          <p:nvPr/>
        </p:nvSpPr>
        <p:spPr>
          <a:xfrm>
            <a:off x="565759" y="5232400"/>
            <a:ext cx="11245241" cy="1168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Titre 1">
            <a:extLst>
              <a:ext uri="{FF2B5EF4-FFF2-40B4-BE49-F238E27FC236}">
                <a16:creationId xmlns:a16="http://schemas.microsoft.com/office/drawing/2014/main" id="{69896746-A0E1-93ED-6A51-04358A3A8BA7}"/>
              </a:ext>
            </a:extLst>
          </p:cNvPr>
          <p:cNvSpPr>
            <a:spLocks noGrp="1"/>
          </p:cNvSpPr>
          <p:nvPr>
            <p:ph type="title"/>
          </p:nvPr>
        </p:nvSpPr>
        <p:spPr>
          <a:xfrm>
            <a:off x="565759" y="0"/>
            <a:ext cx="11060482" cy="1100420"/>
          </a:xfrm>
        </p:spPr>
        <p:txBody>
          <a:bodyPr/>
          <a:lstStyle/>
          <a:p>
            <a:pPr algn="ctr"/>
            <a:r>
              <a:rPr lang="fr-FR" dirty="0"/>
              <a:t>Le « </a:t>
            </a:r>
            <a:r>
              <a:rPr lang="fr-FR" dirty="0" err="1"/>
              <a:t>pathocentrisme</a:t>
            </a:r>
            <a:r>
              <a:rPr lang="fr-FR" dirty="0"/>
              <a:t> »</a:t>
            </a:r>
          </a:p>
        </p:txBody>
      </p:sp>
      <p:sp>
        <p:nvSpPr>
          <p:cNvPr id="3" name="Espace réservé du contenu 2">
            <a:extLst>
              <a:ext uri="{FF2B5EF4-FFF2-40B4-BE49-F238E27FC236}">
                <a16:creationId xmlns:a16="http://schemas.microsoft.com/office/drawing/2014/main" id="{E9C789FB-4B4F-7580-61F6-CCE02D81A52B}"/>
              </a:ext>
            </a:extLst>
          </p:cNvPr>
          <p:cNvSpPr>
            <a:spLocks noGrp="1"/>
          </p:cNvSpPr>
          <p:nvPr>
            <p:ph idx="1"/>
          </p:nvPr>
        </p:nvSpPr>
        <p:spPr>
          <a:xfrm>
            <a:off x="381000" y="1100421"/>
            <a:ext cx="11645900" cy="5567818"/>
          </a:xfrm>
        </p:spPr>
        <p:txBody>
          <a:bodyPr>
            <a:normAutofit/>
          </a:bodyPr>
          <a:lstStyle/>
          <a:p>
            <a:r>
              <a:rPr lang="fr-FR" dirty="0"/>
              <a:t>Une </a:t>
            </a:r>
            <a:r>
              <a:rPr lang="fr-FR" b="1" dirty="0"/>
              <a:t>défense utilitariste </a:t>
            </a:r>
            <a:r>
              <a:rPr lang="fr-FR" dirty="0"/>
              <a:t>des animaux : les </a:t>
            </a:r>
            <a:r>
              <a:rPr lang="fr-FR" b="1" dirty="0"/>
              <a:t>plaisirs et peines des animaux</a:t>
            </a:r>
            <a:r>
              <a:rPr lang="fr-FR" dirty="0"/>
              <a:t>, comme êtres sensibles, doivent être pris en compte dans les calculs d’utilité.</a:t>
            </a:r>
          </a:p>
          <a:p>
            <a:pPr lvl="1">
              <a:buFont typeface="Wingdings" panose="05000000000000000000" pitchFamily="2" charset="2"/>
              <a:buChar char="à"/>
            </a:pPr>
            <a:r>
              <a:rPr lang="fr-FR" sz="2800" dirty="0">
                <a:sym typeface="Wingdings" panose="05000000000000000000" pitchFamily="2" charset="2"/>
              </a:rPr>
              <a:t>Peter </a:t>
            </a:r>
            <a:r>
              <a:rPr lang="fr-FR" sz="2800" cap="small" dirty="0">
                <a:sym typeface="Wingdings" panose="05000000000000000000" pitchFamily="2" charset="2"/>
              </a:rPr>
              <a:t>Singer</a:t>
            </a:r>
            <a:r>
              <a:rPr lang="fr-FR" sz="2800" dirty="0">
                <a:sym typeface="Wingdings" panose="05000000000000000000" pitchFamily="2" charset="2"/>
              </a:rPr>
              <a:t>, </a:t>
            </a:r>
            <a:r>
              <a:rPr lang="fr-FR" sz="2800" i="1" dirty="0">
                <a:sym typeface="Wingdings" panose="05000000000000000000" pitchFamily="2" charset="2"/>
              </a:rPr>
              <a:t>La libération animale </a:t>
            </a:r>
            <a:r>
              <a:rPr lang="fr-FR" sz="2800" dirty="0">
                <a:sym typeface="Wingdings" panose="05000000000000000000" pitchFamily="2" charset="2"/>
              </a:rPr>
              <a:t>(1975). Ce qui compte, comme critère fondamental pour déterminer le statut moral d’un être, est </a:t>
            </a:r>
            <a:r>
              <a:rPr lang="fr-FR" sz="2800" b="1" dirty="0">
                <a:sym typeface="Wingdings" panose="05000000000000000000" pitchFamily="2" charset="2"/>
              </a:rPr>
              <a:t>le fait qu’il peut souffrir</a:t>
            </a:r>
            <a:r>
              <a:rPr lang="fr-FR" sz="2800" dirty="0">
                <a:sym typeface="Wingdings" panose="05000000000000000000" pitchFamily="2" charset="2"/>
              </a:rPr>
              <a:t>.</a:t>
            </a:r>
          </a:p>
          <a:p>
            <a:pPr lvl="1">
              <a:buFont typeface="Wingdings" panose="05000000000000000000" pitchFamily="2" charset="2"/>
              <a:buChar char="à"/>
            </a:pPr>
            <a:r>
              <a:rPr lang="fr-FR" sz="2800" dirty="0">
                <a:sym typeface="Wingdings" panose="05000000000000000000" pitchFamily="2" charset="2"/>
              </a:rPr>
              <a:t>Singer reprend une considération qu’on trouve déjà chez Jeremy </a:t>
            </a:r>
            <a:r>
              <a:rPr lang="fr-FR" sz="2800" cap="small" dirty="0">
                <a:sym typeface="Wingdings" panose="05000000000000000000" pitchFamily="2" charset="2"/>
              </a:rPr>
              <a:t>Bentham, </a:t>
            </a:r>
            <a:r>
              <a:rPr lang="fr-FR" sz="2800" dirty="0">
                <a:sym typeface="Wingdings" panose="05000000000000000000" pitchFamily="2" charset="2"/>
              </a:rPr>
              <a:t>un des fondateurs de l’utilitarisme.</a:t>
            </a:r>
          </a:p>
          <a:p>
            <a:pPr lvl="1">
              <a:buFont typeface="Wingdings" panose="05000000000000000000" pitchFamily="2" charset="2"/>
              <a:buChar char="à"/>
            </a:pPr>
            <a:r>
              <a:rPr lang="fr-FR" sz="2800" dirty="0">
                <a:sym typeface="Wingdings" panose="05000000000000000000" pitchFamily="2" charset="2"/>
              </a:rPr>
              <a:t>Elargissement du périmètre des êtres à l’égard desquels il y a </a:t>
            </a:r>
            <a:r>
              <a:rPr lang="fr-FR" sz="2800" b="1" dirty="0">
                <a:sym typeface="Wingdings" panose="05000000000000000000" pitchFamily="2" charset="2"/>
              </a:rPr>
              <a:t>préoccupation éthique</a:t>
            </a:r>
            <a:r>
              <a:rPr lang="fr-FR" sz="2800" dirty="0">
                <a:sym typeface="Wingdings" panose="05000000000000000000" pitchFamily="2" charset="2"/>
              </a:rPr>
              <a:t>.</a:t>
            </a:r>
          </a:p>
          <a:p>
            <a:endParaRPr lang="fr-FR" dirty="0"/>
          </a:p>
          <a:p>
            <a:pPr marL="0" indent="0" algn="ctr">
              <a:buNone/>
            </a:pPr>
            <a:r>
              <a:rPr lang="fr-FR" b="1" dirty="0">
                <a:solidFill>
                  <a:schemeClr val="bg1"/>
                </a:solidFill>
              </a:rPr>
              <a:t>Pour un approfondissement de la question de l’éthique animale, voir</a:t>
            </a:r>
            <a:r>
              <a:rPr lang="fr-FR" b="1" i="1" dirty="0">
                <a:solidFill>
                  <a:schemeClr val="bg1"/>
                </a:solidFill>
              </a:rPr>
              <a:t> </a:t>
            </a:r>
            <a:r>
              <a:rPr lang="fr-FR" b="1" dirty="0">
                <a:solidFill>
                  <a:schemeClr val="bg1"/>
                </a:solidFill>
              </a:rPr>
              <a:t>la séance de TD consacrée à l’« éthique animale ».</a:t>
            </a:r>
          </a:p>
        </p:txBody>
      </p:sp>
    </p:spTree>
    <p:extLst>
      <p:ext uri="{BB962C8B-B14F-4D97-AF65-F5344CB8AC3E}">
        <p14:creationId xmlns:p14="http://schemas.microsoft.com/office/powerpoint/2010/main" val="25760906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751441-0F7C-9393-B3D5-8867F093006B}"/>
              </a:ext>
            </a:extLst>
          </p:cNvPr>
          <p:cNvSpPr>
            <a:spLocks noGrp="1"/>
          </p:cNvSpPr>
          <p:nvPr>
            <p:ph type="title"/>
          </p:nvPr>
        </p:nvSpPr>
        <p:spPr>
          <a:xfrm>
            <a:off x="0" y="0"/>
            <a:ext cx="12191999" cy="1083262"/>
          </a:xfrm>
        </p:spPr>
        <p:txBody>
          <a:bodyPr>
            <a:normAutofit/>
          </a:bodyPr>
          <a:lstStyle/>
          <a:p>
            <a:pPr algn="ctr"/>
            <a:r>
              <a:rPr lang="fr-FR" dirty="0"/>
              <a:t>Le biocentrisme</a:t>
            </a:r>
          </a:p>
        </p:txBody>
      </p:sp>
      <p:sp>
        <p:nvSpPr>
          <p:cNvPr id="3" name="Espace réservé du contenu 2">
            <a:extLst>
              <a:ext uri="{FF2B5EF4-FFF2-40B4-BE49-F238E27FC236}">
                <a16:creationId xmlns:a16="http://schemas.microsoft.com/office/drawing/2014/main" id="{1C96F64C-91FB-8BD2-8500-CD43E98370D6}"/>
              </a:ext>
            </a:extLst>
          </p:cNvPr>
          <p:cNvSpPr>
            <a:spLocks noGrp="1"/>
          </p:cNvSpPr>
          <p:nvPr>
            <p:ph idx="1"/>
          </p:nvPr>
        </p:nvSpPr>
        <p:spPr>
          <a:xfrm>
            <a:off x="313152" y="1211088"/>
            <a:ext cx="11461314" cy="2982302"/>
          </a:xfrm>
        </p:spPr>
        <p:txBody>
          <a:bodyPr>
            <a:normAutofit/>
          </a:bodyPr>
          <a:lstStyle/>
          <a:p>
            <a:pPr marL="0" indent="0">
              <a:buNone/>
            </a:pPr>
            <a:r>
              <a:rPr lang="fr-FR" dirty="0"/>
              <a:t>Quelques limites du « </a:t>
            </a:r>
            <a:r>
              <a:rPr lang="fr-FR" b="1" dirty="0" err="1"/>
              <a:t>pathocentrisme</a:t>
            </a:r>
            <a:r>
              <a:rPr lang="fr-FR" dirty="0"/>
              <a:t> » :</a:t>
            </a:r>
          </a:p>
          <a:p>
            <a:pPr marL="720725" lvl="1" indent="-263525"/>
            <a:r>
              <a:rPr lang="fr-FR" sz="2800" dirty="0"/>
              <a:t>Qu’en est-il, non pas seulement des animaux pris individuellement, mais des </a:t>
            </a:r>
            <a:r>
              <a:rPr lang="fr-FR" sz="2800" b="1" dirty="0"/>
              <a:t>espèces</a:t>
            </a:r>
            <a:r>
              <a:rPr lang="fr-FR" sz="2800" dirty="0"/>
              <a:t> ?</a:t>
            </a:r>
          </a:p>
          <a:p>
            <a:pPr marL="720725" lvl="1" indent="-263525"/>
            <a:r>
              <a:rPr lang="fr-FR" sz="2800" dirty="0"/>
              <a:t>Comment justifier la protection des </a:t>
            </a:r>
            <a:r>
              <a:rPr lang="fr-FR" sz="2800" b="1" dirty="0"/>
              <a:t>animaux dénués de « sensibilité »</a:t>
            </a:r>
            <a:r>
              <a:rPr lang="fr-FR" sz="2800" dirty="0"/>
              <a:t> ?</a:t>
            </a:r>
          </a:p>
          <a:p>
            <a:pPr marL="720725" lvl="1" indent="-263525"/>
            <a:r>
              <a:rPr lang="fr-FR" sz="2800" dirty="0"/>
              <a:t>Comment fonder moralement la protection de la </a:t>
            </a:r>
            <a:r>
              <a:rPr lang="fr-FR" sz="2800" b="1" dirty="0"/>
              <a:t>biodiversité</a:t>
            </a:r>
            <a:r>
              <a:rPr lang="fr-FR" sz="2800" dirty="0"/>
              <a:t> ?</a:t>
            </a:r>
          </a:p>
          <a:p>
            <a:pPr marL="0" indent="0">
              <a:buNone/>
            </a:pPr>
            <a:r>
              <a:rPr lang="fr-FR" dirty="0"/>
              <a:t>Le « </a:t>
            </a:r>
            <a:r>
              <a:rPr lang="fr-FR" dirty="0" err="1"/>
              <a:t>pathocentrisme</a:t>
            </a:r>
            <a:r>
              <a:rPr lang="fr-FR" dirty="0"/>
              <a:t> » répond mal à ces questions.</a:t>
            </a:r>
          </a:p>
        </p:txBody>
      </p:sp>
      <p:sp>
        <p:nvSpPr>
          <p:cNvPr id="4" name="Rectangle 3">
            <a:extLst>
              <a:ext uri="{FF2B5EF4-FFF2-40B4-BE49-F238E27FC236}">
                <a16:creationId xmlns:a16="http://schemas.microsoft.com/office/drawing/2014/main" id="{9AA8549C-5965-3341-8393-388C80128599}"/>
              </a:ext>
            </a:extLst>
          </p:cNvPr>
          <p:cNvSpPr/>
          <p:nvPr/>
        </p:nvSpPr>
        <p:spPr>
          <a:xfrm>
            <a:off x="313151" y="4204080"/>
            <a:ext cx="11461315" cy="1395685"/>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5EF81EE9-AFE8-533D-18FD-4BC1FA38A7C4}"/>
              </a:ext>
            </a:extLst>
          </p:cNvPr>
          <p:cNvSpPr txBox="1"/>
          <p:nvPr/>
        </p:nvSpPr>
        <p:spPr>
          <a:xfrm>
            <a:off x="313152" y="4204080"/>
            <a:ext cx="11461314" cy="1384995"/>
          </a:xfrm>
          <a:prstGeom prst="rect">
            <a:avLst/>
          </a:prstGeom>
          <a:noFill/>
        </p:spPr>
        <p:txBody>
          <a:bodyPr wrap="square">
            <a:spAutoFit/>
          </a:bodyPr>
          <a:lstStyle/>
          <a:p>
            <a:pPr marL="0" indent="0" algn="ctr">
              <a:buNone/>
            </a:pPr>
            <a:r>
              <a:rPr lang="fr-FR" sz="2800" dirty="0"/>
              <a:t>Nos intuitions morales nous donnent à supposer que</a:t>
            </a:r>
          </a:p>
          <a:p>
            <a:pPr marL="0" indent="0" algn="ctr">
              <a:buNone/>
            </a:pPr>
            <a:r>
              <a:rPr lang="fr-FR" sz="2800" dirty="0"/>
              <a:t>le </a:t>
            </a:r>
            <a:r>
              <a:rPr lang="fr-FR" sz="2800" b="1" dirty="0"/>
              <a:t>monde vivant a une valeur en soi</a:t>
            </a:r>
          </a:p>
          <a:p>
            <a:pPr marL="0" indent="0" algn="ctr">
              <a:buNone/>
            </a:pPr>
            <a:r>
              <a:rPr lang="fr-FR" sz="2800" b="1" dirty="0">
                <a:sym typeface="Wingdings" panose="05000000000000000000" pitchFamily="2" charset="2"/>
              </a:rPr>
              <a:t> approche « biocentrique »</a:t>
            </a:r>
            <a:endParaRPr lang="fr-FR" sz="2800" dirty="0"/>
          </a:p>
        </p:txBody>
      </p:sp>
    </p:spTree>
    <p:extLst>
      <p:ext uri="{BB962C8B-B14F-4D97-AF65-F5344CB8AC3E}">
        <p14:creationId xmlns:p14="http://schemas.microsoft.com/office/powerpoint/2010/main" val="22112527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3E1EB09-C3BC-8BB2-6640-272DAC2B5DD9}"/>
              </a:ext>
            </a:extLst>
          </p:cNvPr>
          <p:cNvSpPr>
            <a:spLocks noGrp="1"/>
          </p:cNvSpPr>
          <p:nvPr>
            <p:ph idx="1"/>
          </p:nvPr>
        </p:nvSpPr>
        <p:spPr>
          <a:xfrm>
            <a:off x="526093" y="475988"/>
            <a:ext cx="11235848" cy="5874707"/>
          </a:xfrm>
        </p:spPr>
        <p:txBody>
          <a:bodyPr/>
          <a:lstStyle/>
          <a:p>
            <a:r>
              <a:rPr lang="fr-FR" dirty="0"/>
              <a:t>Approche au cœur de la </a:t>
            </a:r>
            <a:r>
              <a:rPr lang="fr-FR" b="1" dirty="0"/>
              <a:t>Charte mondiale de la nature des Nations Unies :</a:t>
            </a:r>
            <a:r>
              <a:rPr lang="fr-FR" dirty="0"/>
              <a:t> « Toute forme de vie est unique, et mérite le respect, indépendamment de ce qu’elle vaut pour l’homme ».</a:t>
            </a:r>
          </a:p>
          <a:p>
            <a:pPr marL="0" indent="0">
              <a:buNone/>
            </a:pPr>
            <a:endParaRPr lang="fr-FR" dirty="0"/>
          </a:p>
          <a:p>
            <a:r>
              <a:rPr lang="fr-FR" dirty="0"/>
              <a:t>Cela rejoint la </a:t>
            </a:r>
            <a:r>
              <a:rPr lang="fr-FR" b="1" dirty="0"/>
              <a:t>perspective de Hans </a:t>
            </a:r>
            <a:r>
              <a:rPr lang="fr-FR" b="1" cap="small" dirty="0"/>
              <a:t>Jonas</a:t>
            </a:r>
            <a:r>
              <a:rPr lang="fr-FR" b="1" dirty="0"/>
              <a:t> </a:t>
            </a:r>
            <a:r>
              <a:rPr lang="fr-FR" dirty="0"/>
              <a:t>: tout être vivant est </a:t>
            </a:r>
            <a:r>
              <a:rPr lang="fr-FR" b="1" dirty="0"/>
              <a:t>porteur de valeur, du fait qu’il y a en lui une finalité, celle de se maintenir en vie et de se perpétuer</a:t>
            </a:r>
            <a:r>
              <a:rPr lang="fr-FR" dirty="0"/>
              <a:t>.</a:t>
            </a:r>
          </a:p>
          <a:p>
            <a:endParaRPr lang="fr-FR" dirty="0"/>
          </a:p>
          <a:p>
            <a:pPr algn="ctr">
              <a:buFont typeface="Wingdings" panose="05000000000000000000" pitchFamily="2" charset="2"/>
              <a:buChar char="à"/>
            </a:pPr>
            <a:r>
              <a:rPr lang="fr-FR" b="1" dirty="0">
                <a:sym typeface="Wingdings" panose="05000000000000000000" pitchFamily="2" charset="2"/>
              </a:rPr>
              <a:t>Mais qu’en est-il, d’un point de vue de la valeur morale, de la nature non vivante ? des milieux naturels ?</a:t>
            </a:r>
            <a:endParaRPr lang="fr-FR" b="1" dirty="0"/>
          </a:p>
        </p:txBody>
      </p:sp>
    </p:spTree>
    <p:extLst>
      <p:ext uri="{BB962C8B-B14F-4D97-AF65-F5344CB8AC3E}">
        <p14:creationId xmlns:p14="http://schemas.microsoft.com/office/powerpoint/2010/main" val="22254651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DE48D7-5465-F62A-3E58-DA477510C030}"/>
              </a:ext>
            </a:extLst>
          </p:cNvPr>
          <p:cNvSpPr>
            <a:spLocks noGrp="1"/>
          </p:cNvSpPr>
          <p:nvPr>
            <p:ph type="title"/>
          </p:nvPr>
        </p:nvSpPr>
        <p:spPr>
          <a:xfrm>
            <a:off x="838200" y="101143"/>
            <a:ext cx="10515600" cy="1037789"/>
          </a:xfrm>
        </p:spPr>
        <p:txBody>
          <a:bodyPr/>
          <a:lstStyle/>
          <a:p>
            <a:pPr algn="ctr"/>
            <a:r>
              <a:rPr lang="fr-FR" dirty="0"/>
              <a:t>L’</a:t>
            </a:r>
            <a:r>
              <a:rPr lang="fr-FR" dirty="0" err="1"/>
              <a:t>écocentrisme</a:t>
            </a:r>
            <a:r>
              <a:rPr lang="fr-FR" dirty="0"/>
              <a:t> et l’écologie profonde</a:t>
            </a:r>
          </a:p>
        </p:txBody>
      </p:sp>
      <p:sp>
        <p:nvSpPr>
          <p:cNvPr id="3" name="Espace réservé du contenu 2">
            <a:extLst>
              <a:ext uri="{FF2B5EF4-FFF2-40B4-BE49-F238E27FC236}">
                <a16:creationId xmlns:a16="http://schemas.microsoft.com/office/drawing/2014/main" id="{F83C8F2D-730C-C3FD-768C-C20980244EF4}"/>
              </a:ext>
            </a:extLst>
          </p:cNvPr>
          <p:cNvSpPr>
            <a:spLocks noGrp="1"/>
          </p:cNvSpPr>
          <p:nvPr>
            <p:ph idx="1"/>
          </p:nvPr>
        </p:nvSpPr>
        <p:spPr>
          <a:xfrm>
            <a:off x="546969" y="1402915"/>
            <a:ext cx="11098061" cy="4835047"/>
          </a:xfrm>
        </p:spPr>
        <p:txBody>
          <a:bodyPr>
            <a:normAutofit fontScale="92500" lnSpcReduction="10000"/>
          </a:bodyPr>
          <a:lstStyle/>
          <a:p>
            <a:r>
              <a:rPr lang="fr-FR" dirty="0"/>
              <a:t>L’</a:t>
            </a:r>
            <a:r>
              <a:rPr lang="fr-FR" b="1" dirty="0" err="1"/>
              <a:t>écocentrime</a:t>
            </a:r>
            <a:r>
              <a:rPr lang="fr-FR" dirty="0"/>
              <a:t> attribue une valeur intrinsèque et un statut moral aux </a:t>
            </a:r>
            <a:r>
              <a:rPr lang="fr-FR" b="1" dirty="0"/>
              <a:t>écosystèmes : espèces vivantes et milieux naturels non vivants.</a:t>
            </a:r>
          </a:p>
          <a:p>
            <a:endParaRPr lang="fr-FR" b="1" dirty="0"/>
          </a:p>
          <a:p>
            <a:r>
              <a:rPr lang="fr-FR" b="1" dirty="0"/>
              <a:t>Courant de « l’écologie profonde » (</a:t>
            </a:r>
            <a:r>
              <a:rPr lang="fr-FR" b="1" i="1" dirty="0" err="1"/>
              <a:t>deep</a:t>
            </a:r>
            <a:r>
              <a:rPr lang="fr-FR" b="1" i="1" dirty="0"/>
              <a:t> </a:t>
            </a:r>
            <a:r>
              <a:rPr lang="fr-FR" b="1" i="1" dirty="0" err="1"/>
              <a:t>ecology</a:t>
            </a:r>
            <a:r>
              <a:rPr lang="fr-FR" b="1" dirty="0"/>
              <a:t>), </a:t>
            </a:r>
            <a:r>
              <a:rPr lang="fr-FR" dirty="0"/>
              <a:t>fondé par le philosophe norvégien </a:t>
            </a:r>
            <a:r>
              <a:rPr lang="fr-FR" b="1" dirty="0"/>
              <a:t>Arne </a:t>
            </a:r>
            <a:r>
              <a:rPr lang="fr-FR" b="1" cap="small" dirty="0" err="1"/>
              <a:t>Naess</a:t>
            </a:r>
            <a:r>
              <a:rPr lang="fr-FR" dirty="0"/>
              <a:t>.</a:t>
            </a:r>
          </a:p>
          <a:p>
            <a:r>
              <a:rPr lang="fr-FR" dirty="0"/>
              <a:t>Notion de « </a:t>
            </a:r>
            <a:r>
              <a:rPr lang="fr-FR" b="1" dirty="0"/>
              <a:t>communauté biotique </a:t>
            </a:r>
            <a:r>
              <a:rPr lang="fr-FR" dirty="0"/>
              <a:t>» introduite par l’écologiste américain </a:t>
            </a:r>
            <a:r>
              <a:rPr lang="fr-FR" b="1" dirty="0"/>
              <a:t>Aldo </a:t>
            </a:r>
            <a:r>
              <a:rPr lang="fr-FR" b="1" cap="small" dirty="0"/>
              <a:t>Leopold. </a:t>
            </a:r>
            <a:r>
              <a:rPr lang="fr-FR" b="1" dirty="0"/>
              <a:t>Voir </a:t>
            </a:r>
            <a:r>
              <a:rPr lang="fr-FR" b="1" i="1" dirty="0"/>
              <a:t>Almanach d’un comté des sables </a:t>
            </a:r>
            <a:r>
              <a:rPr lang="fr-FR" b="1" dirty="0"/>
              <a:t>(1946).</a:t>
            </a:r>
            <a:endParaRPr lang="fr-FR" dirty="0"/>
          </a:p>
          <a:p>
            <a:r>
              <a:rPr lang="fr-FR" altLang="fr-FR" dirty="0"/>
              <a:t>Selon « </a:t>
            </a:r>
            <a:r>
              <a:rPr lang="fr-FR" altLang="fr-FR" b="1" dirty="0"/>
              <a:t>l’hypothèse Gaïa </a:t>
            </a:r>
            <a:r>
              <a:rPr lang="fr-FR" altLang="fr-FR" dirty="0"/>
              <a:t>» défendue par James </a:t>
            </a:r>
            <a:r>
              <a:rPr lang="fr-FR" altLang="fr-FR" cap="small" dirty="0"/>
              <a:t>Lovelock</a:t>
            </a:r>
            <a:r>
              <a:rPr lang="fr-FR" altLang="fr-FR" dirty="0"/>
              <a:t> et Lynn </a:t>
            </a:r>
            <a:r>
              <a:rPr lang="fr-FR" altLang="fr-FR" cap="small" dirty="0" err="1"/>
              <a:t>Margulis</a:t>
            </a:r>
            <a:r>
              <a:rPr lang="fr-FR" altLang="fr-FR" dirty="0"/>
              <a:t>, la biosphère formerait </a:t>
            </a:r>
            <a:r>
              <a:rPr lang="fr-FR" altLang="fr-FR" b="1" dirty="0"/>
              <a:t>un vaste et unique système vivant.</a:t>
            </a:r>
            <a:endParaRPr lang="fr-FR" altLang="fr-FR" dirty="0"/>
          </a:p>
          <a:p>
            <a:endParaRPr lang="fr-FR" dirty="0"/>
          </a:p>
          <a:p>
            <a:pPr marL="0" indent="0">
              <a:buNone/>
            </a:pPr>
            <a:r>
              <a:rPr lang="fr-FR" dirty="0">
                <a:sym typeface="Wingdings" panose="05000000000000000000" pitchFamily="2" charset="2"/>
              </a:rPr>
              <a:t> </a:t>
            </a:r>
            <a:r>
              <a:rPr lang="fr-FR" dirty="0"/>
              <a:t>C’est </a:t>
            </a:r>
            <a:r>
              <a:rPr lang="fr-FR" b="1" dirty="0"/>
              <a:t>une éthique conséquentialiste </a:t>
            </a:r>
            <a:r>
              <a:rPr lang="fr-FR" b="1" u="sng" dirty="0"/>
              <a:t>et</a:t>
            </a:r>
            <a:r>
              <a:rPr lang="fr-FR" b="1" dirty="0"/>
              <a:t> une éthique du bien </a:t>
            </a:r>
            <a:r>
              <a:rPr lang="fr-FR" dirty="0"/>
              <a:t>où la </a:t>
            </a:r>
            <a:r>
              <a:rPr lang="fr-FR" b="1" dirty="0"/>
              <a:t>nature est érigée en valeur suprême</a:t>
            </a:r>
            <a:r>
              <a:rPr lang="fr-FR" dirty="0"/>
              <a:t>.</a:t>
            </a:r>
          </a:p>
        </p:txBody>
      </p:sp>
    </p:spTree>
    <p:extLst>
      <p:ext uri="{BB962C8B-B14F-4D97-AF65-F5344CB8AC3E}">
        <p14:creationId xmlns:p14="http://schemas.microsoft.com/office/powerpoint/2010/main" val="25811017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9407D14-B17A-4EBA-9227-0BB7A2D8F090}"/>
              </a:ext>
            </a:extLst>
          </p:cNvPr>
          <p:cNvSpPr>
            <a:spLocks noGrp="1"/>
          </p:cNvSpPr>
          <p:nvPr>
            <p:ph idx="1"/>
          </p:nvPr>
        </p:nvSpPr>
        <p:spPr>
          <a:xfrm>
            <a:off x="979062" y="2417523"/>
            <a:ext cx="10515600" cy="1277655"/>
          </a:xfrm>
          <a:solidFill>
            <a:schemeClr val="accent1">
              <a:lumMod val="20000"/>
              <a:lumOff val="80000"/>
            </a:schemeClr>
          </a:solidFill>
          <a:ln>
            <a:solidFill>
              <a:srgbClr val="0070C0"/>
            </a:solidFill>
          </a:ln>
        </p:spPr>
        <p:txBody>
          <a:bodyPr>
            <a:normAutofit/>
          </a:bodyPr>
          <a:lstStyle/>
          <a:p>
            <a:pPr marL="0" indent="0" algn="ctr">
              <a:buNone/>
            </a:pPr>
            <a:r>
              <a:rPr lang="fr-FR" sz="3500" dirty="0">
                <a:solidFill>
                  <a:srgbClr val="0070C0"/>
                </a:solidFill>
              </a:rPr>
              <a:t>Quelles limites voyez-vous à l’</a:t>
            </a:r>
            <a:r>
              <a:rPr lang="fr-FR" sz="3500" dirty="0" err="1">
                <a:solidFill>
                  <a:srgbClr val="0070C0"/>
                </a:solidFill>
              </a:rPr>
              <a:t>écocentrisme</a:t>
            </a:r>
            <a:r>
              <a:rPr lang="fr-FR" sz="3500" dirty="0">
                <a:solidFill>
                  <a:srgbClr val="0070C0"/>
                </a:solidFill>
              </a:rPr>
              <a:t> ? Pour quelles raisons ?</a:t>
            </a:r>
            <a:endParaRPr lang="fr-FR" altLang="fr-FR" sz="3500" dirty="0">
              <a:solidFill>
                <a:srgbClr val="0070C0"/>
              </a:solidFill>
              <a:effectLst/>
              <a:ea typeface="Calibri" panose="020F0502020204030204" pitchFamily="34" charset="0"/>
              <a:cs typeface="Times New Roman" panose="02020603050405020304" pitchFamily="18" charset="0"/>
            </a:endParaRPr>
          </a:p>
        </p:txBody>
      </p:sp>
      <p:sp>
        <p:nvSpPr>
          <p:cNvPr id="2" name="Ellipse 1">
            <a:extLst>
              <a:ext uri="{FF2B5EF4-FFF2-40B4-BE49-F238E27FC236}">
                <a16:creationId xmlns:a16="http://schemas.microsoft.com/office/drawing/2014/main" id="{74B5A595-3DCB-F0A0-222B-59AE70168D2E}"/>
              </a:ext>
            </a:extLst>
          </p:cNvPr>
          <p:cNvSpPr/>
          <p:nvPr/>
        </p:nvSpPr>
        <p:spPr>
          <a:xfrm>
            <a:off x="178286" y="2369615"/>
            <a:ext cx="799614" cy="13255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42667473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0BA43B-A792-E433-6913-40C6AFDBD693}"/>
              </a:ext>
            </a:extLst>
          </p:cNvPr>
          <p:cNvSpPr>
            <a:spLocks noGrp="1"/>
          </p:cNvSpPr>
          <p:nvPr>
            <p:ph type="title"/>
          </p:nvPr>
        </p:nvSpPr>
        <p:spPr/>
        <p:txBody>
          <a:bodyPr/>
          <a:lstStyle/>
          <a:p>
            <a:pPr algn="ctr"/>
            <a:r>
              <a:rPr lang="fr-FR" dirty="0"/>
              <a:t>Les critiques de l’écologie profonde</a:t>
            </a:r>
          </a:p>
        </p:txBody>
      </p:sp>
      <p:sp>
        <p:nvSpPr>
          <p:cNvPr id="3" name="Espace réservé du contenu 2">
            <a:extLst>
              <a:ext uri="{FF2B5EF4-FFF2-40B4-BE49-F238E27FC236}">
                <a16:creationId xmlns:a16="http://schemas.microsoft.com/office/drawing/2014/main" id="{04C66FD0-E8FE-598E-96FC-504988FB9382}"/>
              </a:ext>
            </a:extLst>
          </p:cNvPr>
          <p:cNvSpPr>
            <a:spLocks noGrp="1"/>
          </p:cNvSpPr>
          <p:nvPr>
            <p:ph idx="1"/>
          </p:nvPr>
        </p:nvSpPr>
        <p:spPr>
          <a:xfrm>
            <a:off x="838199" y="1825625"/>
            <a:ext cx="10748375" cy="3178175"/>
          </a:xfrm>
        </p:spPr>
        <p:txBody>
          <a:bodyPr/>
          <a:lstStyle/>
          <a:p>
            <a:r>
              <a:rPr lang="fr-FR" dirty="0"/>
              <a:t>Présupposé selon lequel tout ce qui est naturel est bon  : vision romantique démentie par la réalité.</a:t>
            </a:r>
          </a:p>
          <a:p>
            <a:r>
              <a:rPr lang="fr-FR" dirty="0"/>
              <a:t>Position paradoxale de l’être humain, à la fois </a:t>
            </a:r>
            <a:r>
              <a:rPr lang="fr-FR" i="1" dirty="0"/>
              <a:t>dans</a:t>
            </a:r>
            <a:r>
              <a:rPr lang="fr-FR" dirty="0"/>
              <a:t> la nature et </a:t>
            </a:r>
            <a:r>
              <a:rPr lang="fr-FR" i="1" dirty="0"/>
              <a:t>au-dessus</a:t>
            </a:r>
            <a:r>
              <a:rPr lang="fr-FR" dirty="0"/>
              <a:t> : contradiction logique.</a:t>
            </a:r>
          </a:p>
          <a:p>
            <a:pPr marL="0" indent="0">
              <a:buNone/>
            </a:pPr>
            <a:endParaRPr lang="fr-FR" dirty="0"/>
          </a:p>
        </p:txBody>
      </p:sp>
      <p:sp>
        <p:nvSpPr>
          <p:cNvPr id="4" name="Rectangle 3">
            <a:extLst>
              <a:ext uri="{FF2B5EF4-FFF2-40B4-BE49-F238E27FC236}">
                <a16:creationId xmlns:a16="http://schemas.microsoft.com/office/drawing/2014/main" id="{695F768D-AC77-B33D-2C00-DEE40828FCE4}"/>
              </a:ext>
            </a:extLst>
          </p:cNvPr>
          <p:cNvSpPr/>
          <p:nvPr/>
        </p:nvSpPr>
        <p:spPr>
          <a:xfrm>
            <a:off x="838199" y="4025900"/>
            <a:ext cx="10748375" cy="977900"/>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2C41E0B2-85CF-16AF-552B-7168DA443567}"/>
              </a:ext>
            </a:extLst>
          </p:cNvPr>
          <p:cNvSpPr txBox="1"/>
          <p:nvPr/>
        </p:nvSpPr>
        <p:spPr>
          <a:xfrm>
            <a:off x="838199" y="4025900"/>
            <a:ext cx="10748374" cy="954107"/>
          </a:xfrm>
          <a:prstGeom prst="rect">
            <a:avLst/>
          </a:prstGeom>
          <a:noFill/>
        </p:spPr>
        <p:txBody>
          <a:bodyPr wrap="square">
            <a:spAutoFit/>
          </a:bodyPr>
          <a:lstStyle/>
          <a:p>
            <a:pPr marL="0" indent="0" algn="ctr">
              <a:buNone/>
            </a:pPr>
            <a:r>
              <a:rPr lang="fr-FR" sz="2800" b="1" dirty="0">
                <a:sym typeface="Wingdings" panose="05000000000000000000" pitchFamily="2" charset="2"/>
              </a:rPr>
              <a:t> </a:t>
            </a:r>
            <a:r>
              <a:rPr lang="fr-FR" sz="2800" b="1" dirty="0"/>
              <a:t>Si l’être humain a une responsabilité supérieure, n’est-ce pas parce  que son statut est distinct ?</a:t>
            </a:r>
            <a:endParaRPr lang="fr-FR" sz="2800" b="1" i="1" dirty="0"/>
          </a:p>
        </p:txBody>
      </p:sp>
    </p:spTree>
    <p:extLst>
      <p:ext uri="{BB962C8B-B14F-4D97-AF65-F5344CB8AC3E}">
        <p14:creationId xmlns:p14="http://schemas.microsoft.com/office/powerpoint/2010/main" val="6441167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C9CA5A-56DD-F06A-34A7-0F60E905B459}"/>
              </a:ext>
            </a:extLst>
          </p:cNvPr>
          <p:cNvSpPr>
            <a:spLocks noGrp="1"/>
          </p:cNvSpPr>
          <p:nvPr>
            <p:ph type="title"/>
          </p:nvPr>
        </p:nvSpPr>
        <p:spPr>
          <a:xfrm>
            <a:off x="406400" y="365125"/>
            <a:ext cx="11264900" cy="1325563"/>
          </a:xfrm>
        </p:spPr>
        <p:txBody>
          <a:bodyPr/>
          <a:lstStyle/>
          <a:p>
            <a:pPr algn="ctr"/>
            <a:r>
              <a:rPr lang="fr-FR" dirty="0"/>
              <a:t>Pluralisme, hiérarchisation et contextualisation : le pragmatisme environnemental</a:t>
            </a:r>
          </a:p>
        </p:txBody>
      </p:sp>
      <p:sp>
        <p:nvSpPr>
          <p:cNvPr id="3" name="Espace réservé du contenu 2">
            <a:extLst>
              <a:ext uri="{FF2B5EF4-FFF2-40B4-BE49-F238E27FC236}">
                <a16:creationId xmlns:a16="http://schemas.microsoft.com/office/drawing/2014/main" id="{3C102BFA-770E-324A-F34E-56A173BF9C29}"/>
              </a:ext>
            </a:extLst>
          </p:cNvPr>
          <p:cNvSpPr>
            <a:spLocks noGrp="1"/>
          </p:cNvSpPr>
          <p:nvPr>
            <p:ph idx="1"/>
          </p:nvPr>
        </p:nvSpPr>
        <p:spPr>
          <a:xfrm>
            <a:off x="838200" y="1825624"/>
            <a:ext cx="10515600" cy="4174343"/>
          </a:xfrm>
        </p:spPr>
        <p:txBody>
          <a:bodyPr>
            <a:normAutofit/>
          </a:bodyPr>
          <a:lstStyle/>
          <a:p>
            <a:r>
              <a:rPr lang="fr-FR" b="1" dirty="0"/>
              <a:t>Refus d’un seul et unique critère </a:t>
            </a:r>
            <a:r>
              <a:rPr lang="fr-FR" dirty="0" err="1"/>
              <a:t>fondationnel</a:t>
            </a:r>
            <a:endParaRPr lang="fr-FR" dirty="0"/>
          </a:p>
          <a:p>
            <a:r>
              <a:rPr lang="fr-FR" b="1" dirty="0"/>
              <a:t>Pluralisme</a:t>
            </a:r>
            <a:r>
              <a:rPr lang="fr-FR" dirty="0"/>
              <a:t> des valeurs</a:t>
            </a:r>
          </a:p>
          <a:p>
            <a:r>
              <a:rPr lang="fr-FR" b="1" dirty="0"/>
              <a:t>Hiérarchisation</a:t>
            </a:r>
            <a:r>
              <a:rPr lang="fr-FR" dirty="0"/>
              <a:t> des valeurs (s’opposant au biocentrisme, prônant une égale valeur morale de tous les êtres vivants)</a:t>
            </a:r>
          </a:p>
          <a:p>
            <a:r>
              <a:rPr lang="fr-FR" b="1" dirty="0"/>
              <a:t>Contextualisation</a:t>
            </a:r>
            <a:r>
              <a:rPr lang="fr-FR" dirty="0"/>
              <a:t> des problèmes</a:t>
            </a:r>
          </a:p>
          <a:p>
            <a:endParaRPr lang="fr-FR" dirty="0"/>
          </a:p>
        </p:txBody>
      </p:sp>
      <p:sp>
        <p:nvSpPr>
          <p:cNvPr id="5" name="ZoneTexte 4">
            <a:extLst>
              <a:ext uri="{FF2B5EF4-FFF2-40B4-BE49-F238E27FC236}">
                <a16:creationId xmlns:a16="http://schemas.microsoft.com/office/drawing/2014/main" id="{F2799FA6-8F18-5DC1-2B67-586B69ED00AC}"/>
              </a:ext>
            </a:extLst>
          </p:cNvPr>
          <p:cNvSpPr txBox="1"/>
          <p:nvPr/>
        </p:nvSpPr>
        <p:spPr>
          <a:xfrm>
            <a:off x="838200" y="4680635"/>
            <a:ext cx="10515600" cy="954107"/>
          </a:xfrm>
          <a:prstGeom prst="rect">
            <a:avLst/>
          </a:prstGeom>
          <a:noFill/>
          <a:ln w="38100">
            <a:solidFill>
              <a:srgbClr val="0070C0"/>
            </a:solidFill>
          </a:ln>
        </p:spPr>
        <p:txBody>
          <a:bodyPr wrap="square">
            <a:spAutoFit/>
          </a:bodyPr>
          <a:lstStyle/>
          <a:p>
            <a:pPr marL="0" indent="0" algn="ctr">
              <a:buNone/>
            </a:pPr>
            <a:r>
              <a:rPr lang="fr-FR" sz="2800" b="1" dirty="0">
                <a:sym typeface="Wingdings" panose="05000000000000000000" pitchFamily="2" charset="2"/>
              </a:rPr>
              <a:t> Une approche qui va au-delà de l’humanisme anthropocentrée, mais qui reste nuancée</a:t>
            </a:r>
            <a:endParaRPr lang="fr-FR" sz="2800" b="1" dirty="0"/>
          </a:p>
        </p:txBody>
      </p:sp>
    </p:spTree>
    <p:extLst>
      <p:ext uri="{BB962C8B-B14F-4D97-AF65-F5344CB8AC3E}">
        <p14:creationId xmlns:p14="http://schemas.microsoft.com/office/powerpoint/2010/main" val="4938403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24C169-2822-40F6-8697-60E8EDDA4AEF}"/>
              </a:ext>
            </a:extLst>
          </p:cNvPr>
          <p:cNvSpPr>
            <a:spLocks noGrp="1"/>
          </p:cNvSpPr>
          <p:nvPr>
            <p:ph type="title"/>
          </p:nvPr>
        </p:nvSpPr>
        <p:spPr>
          <a:xfrm>
            <a:off x="838200" y="2322714"/>
            <a:ext cx="10515600" cy="1325563"/>
          </a:xfrm>
          <a:ln>
            <a:solidFill>
              <a:schemeClr val="accent1"/>
            </a:solidFill>
          </a:ln>
          <a:effectLst>
            <a:outerShdw blurRad="63500" sx="102000" sy="102000" algn="ctr" rotWithShape="0">
              <a:prstClr val="black">
                <a:alpha val="40000"/>
              </a:prstClr>
            </a:outerShdw>
          </a:effectLst>
        </p:spPr>
        <p:txBody>
          <a:bodyPr vert="horz" lIns="91440" tIns="45720" rIns="91440" bIns="45720" numCol="1" rtlCol="0" anchor="ctr">
            <a:normAutofit/>
          </a:bodyPr>
          <a:lstStyle/>
          <a:p>
            <a:pPr algn="ctr"/>
            <a:r>
              <a:rPr lang="fr-FR" dirty="0">
                <a:solidFill>
                  <a:srgbClr val="0070C0"/>
                </a:solidFill>
              </a:rPr>
              <a:t>La fin de « l’univers infini » de la modernité ?</a:t>
            </a:r>
          </a:p>
        </p:txBody>
      </p:sp>
    </p:spTree>
    <p:extLst>
      <p:ext uri="{BB962C8B-B14F-4D97-AF65-F5344CB8AC3E}">
        <p14:creationId xmlns:p14="http://schemas.microsoft.com/office/powerpoint/2010/main" val="17155499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686CBF-DD09-4BF3-B93C-54FC8559F662}"/>
              </a:ext>
            </a:extLst>
          </p:cNvPr>
          <p:cNvSpPr>
            <a:spLocks noGrp="1"/>
          </p:cNvSpPr>
          <p:nvPr>
            <p:ph type="title"/>
          </p:nvPr>
        </p:nvSpPr>
        <p:spPr>
          <a:xfrm>
            <a:off x="350253" y="501650"/>
            <a:ext cx="11379200" cy="953892"/>
          </a:xfrm>
        </p:spPr>
        <p:txBody>
          <a:bodyPr numCol="1">
            <a:normAutofit fontScale="90000"/>
          </a:bodyPr>
          <a:lstStyle/>
          <a:p>
            <a:pPr algn="ctr"/>
            <a:r>
              <a:rPr lang="fr-FR" altLang="fr-FR" dirty="0"/>
              <a:t>La fin de l’ « univers infini », un sujet incarné et relationnel</a:t>
            </a:r>
          </a:p>
        </p:txBody>
      </p:sp>
      <p:sp>
        <p:nvSpPr>
          <p:cNvPr id="3" name="Espace réservé du contenu 2">
            <a:extLst>
              <a:ext uri="{FF2B5EF4-FFF2-40B4-BE49-F238E27FC236}">
                <a16:creationId xmlns:a16="http://schemas.microsoft.com/office/drawing/2014/main" id="{18413EE8-1D7F-4AB0-BC1F-D72114F2A15B}"/>
              </a:ext>
            </a:extLst>
          </p:cNvPr>
          <p:cNvSpPr>
            <a:spLocks noGrp="1"/>
          </p:cNvSpPr>
          <p:nvPr>
            <p:ph idx="1"/>
          </p:nvPr>
        </p:nvSpPr>
        <p:spPr>
          <a:xfrm>
            <a:off x="529389" y="1765300"/>
            <a:ext cx="11020928" cy="4591050"/>
          </a:xfrm>
        </p:spPr>
        <p:txBody>
          <a:bodyPr numCol="1">
            <a:noAutofit/>
          </a:bodyPr>
          <a:lstStyle/>
          <a:p>
            <a:pPr>
              <a:lnSpc>
                <a:spcPct val="80000"/>
              </a:lnSpc>
            </a:pPr>
            <a:r>
              <a:rPr lang="fr-FR" altLang="fr-FR" dirty="0"/>
              <a:t>Après le passage du cosmos fini des Anciens à l’univers infini des modernes (Koyré), Bruno Latour pense qu’il est temps de se donner une autre vision du monde, limité par les ressources de la biosphère.</a:t>
            </a:r>
          </a:p>
          <a:p>
            <a:pPr>
              <a:lnSpc>
                <a:spcPct val="80000"/>
              </a:lnSpc>
            </a:pPr>
            <a:r>
              <a:rPr lang="fr-FR" altLang="fr-FR" dirty="0"/>
              <a:t>Une remise en question de </a:t>
            </a:r>
            <a:r>
              <a:rPr lang="fr-FR" altLang="fr-FR" b="1" dirty="0"/>
              <a:t>l’opposition occidentale nature/culture</a:t>
            </a:r>
            <a:r>
              <a:rPr lang="fr-FR" altLang="fr-FR" dirty="0"/>
              <a:t> (voir les travaux de l’anthropologue Marc Descola).</a:t>
            </a:r>
          </a:p>
          <a:p>
            <a:pPr>
              <a:lnSpc>
                <a:spcPct val="80000"/>
              </a:lnSpc>
            </a:pPr>
            <a:r>
              <a:rPr lang="fr-FR" altLang="fr-FR" dirty="0"/>
              <a:t>Le Covid nous a rendus sensibles à un monde où </a:t>
            </a:r>
            <a:r>
              <a:rPr lang="fr-FR" altLang="fr-FR" b="1" dirty="0"/>
              <a:t>humains et non-humains sont interdépendants </a:t>
            </a:r>
            <a:r>
              <a:rPr lang="fr-FR" altLang="fr-FR" dirty="0"/>
              <a:t>et où </a:t>
            </a:r>
            <a:r>
              <a:rPr lang="fr-FR" altLang="fr-FR" b="1" dirty="0"/>
              <a:t>les ressources sont finies.</a:t>
            </a:r>
          </a:p>
        </p:txBody>
      </p:sp>
      <p:sp>
        <p:nvSpPr>
          <p:cNvPr id="4" name="Espace réservé du pied de page 3">
            <a:extLst>
              <a:ext uri="{FF2B5EF4-FFF2-40B4-BE49-F238E27FC236}">
                <a16:creationId xmlns:a16="http://schemas.microsoft.com/office/drawing/2014/main" id="{7E5438DF-B582-4BFC-8ADF-290A76F9992B}"/>
              </a:ext>
            </a:extLst>
          </p:cNvPr>
          <p:cNvSpPr>
            <a:spLocks noGrp="1"/>
          </p:cNvSpPr>
          <p:nvPr>
            <p:ph type="ftr" sz="quarter" idx="11"/>
          </p:nvPr>
        </p:nvSpPr>
        <p:spPr/>
        <p:txBody>
          <a:bodyPr numCol="1"/>
          <a:lstStyle/>
          <a:p>
            <a:r>
              <a:rPr lang="fr-FR" altLang="fr-FR"/>
              <a:t>Pole Humanités Design Département des Relations Humaines</a:t>
            </a:r>
            <a:endParaRPr lang="fr-FR" altLang="fr-FR" dirty="0"/>
          </a:p>
        </p:txBody>
      </p:sp>
      <p:sp>
        <p:nvSpPr>
          <p:cNvPr id="5" name="Espace réservé du numéro de diapositive 4">
            <a:extLst>
              <a:ext uri="{FF2B5EF4-FFF2-40B4-BE49-F238E27FC236}">
                <a16:creationId xmlns:a16="http://schemas.microsoft.com/office/drawing/2014/main" id="{CCD7FA43-06F4-454F-A99B-1EB699633423}"/>
              </a:ext>
            </a:extLst>
          </p:cNvPr>
          <p:cNvSpPr>
            <a:spLocks noGrp="1"/>
          </p:cNvSpPr>
          <p:nvPr>
            <p:ph type="sldNum" sz="quarter" idx="12"/>
          </p:nvPr>
        </p:nvSpPr>
        <p:spPr/>
        <p:txBody>
          <a:bodyPr numCol="1"/>
          <a:lstStyle/>
          <a:p>
            <a:fld id="{788DAB52-6294-4F97-81DD-ABD852645FBC}" type="slidenum">
              <a:rPr lang="fr-FR" altLang="fr-FR" smtClean="0"/>
              <a:t>71</a:t>
            </a:fld>
            <a:endParaRPr lang="fr-FR" altLang="fr-FR"/>
          </a:p>
        </p:txBody>
      </p:sp>
    </p:spTree>
    <p:extLst>
      <p:ext uri="{BB962C8B-B14F-4D97-AF65-F5344CB8AC3E}">
        <p14:creationId xmlns:p14="http://schemas.microsoft.com/office/powerpoint/2010/main" val="4176466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8413EE8-1D7F-4AB0-BC1F-D72114F2A15B}"/>
              </a:ext>
            </a:extLst>
          </p:cNvPr>
          <p:cNvSpPr>
            <a:spLocks noGrp="1"/>
          </p:cNvSpPr>
          <p:nvPr>
            <p:ph idx="1"/>
          </p:nvPr>
        </p:nvSpPr>
        <p:spPr>
          <a:xfrm>
            <a:off x="222738" y="862425"/>
            <a:ext cx="11840308" cy="5493926"/>
          </a:xfrm>
        </p:spPr>
        <p:txBody>
          <a:bodyPr numCol="1">
            <a:noAutofit/>
          </a:bodyPr>
          <a:lstStyle/>
          <a:p>
            <a:pPr lvl="1">
              <a:lnSpc>
                <a:spcPct val="80000"/>
              </a:lnSpc>
              <a:spcBef>
                <a:spcPts val="1000"/>
              </a:spcBef>
            </a:pPr>
            <a:r>
              <a:rPr lang="fr-FR" altLang="fr-FR" sz="2800" dirty="0"/>
              <a:t>Le programme de la modernité avait posé un sujet face à un ensemble d’objets qu’il pouvait maitriser par la connaissance, en particulier physico-chimique.</a:t>
            </a:r>
          </a:p>
          <a:p>
            <a:pPr lvl="1">
              <a:lnSpc>
                <a:spcPct val="80000"/>
              </a:lnSpc>
              <a:spcBef>
                <a:spcPts val="1000"/>
              </a:spcBef>
            </a:pPr>
            <a:r>
              <a:rPr lang="fr-FR" altLang="fr-FR" sz="2800" dirty="0"/>
              <a:t>Une telle maîtrise doit être relativisée </a:t>
            </a:r>
            <a:r>
              <a:rPr lang="fr-FR" altLang="fr-FR" sz="2800" b="1" dirty="0"/>
              <a:t>:</a:t>
            </a:r>
            <a:r>
              <a:rPr lang="fr-FR" altLang="fr-FR" sz="2800" dirty="0"/>
              <a:t> l’être humain fait partie d’un </a:t>
            </a:r>
            <a:r>
              <a:rPr lang="fr-FR" altLang="fr-FR" sz="2800" b="1" dirty="0"/>
              <a:t>ensemble dont il est dépendant </a:t>
            </a:r>
            <a:r>
              <a:rPr lang="fr-FR" altLang="fr-FR" sz="2800" dirty="0"/>
              <a:t>et </a:t>
            </a:r>
            <a:r>
              <a:rPr lang="fr-FR" altLang="fr-FR" sz="2800" b="1" dirty="0"/>
              <a:t>dont la complexité le dépasse</a:t>
            </a:r>
            <a:r>
              <a:rPr lang="fr-FR" altLang="fr-FR" sz="2800" dirty="0"/>
              <a:t>.</a:t>
            </a:r>
          </a:p>
          <a:p>
            <a:pPr lvl="1">
              <a:lnSpc>
                <a:spcPct val="80000"/>
              </a:lnSpc>
              <a:spcBef>
                <a:spcPts val="1000"/>
              </a:spcBef>
            </a:pPr>
            <a:r>
              <a:rPr lang="fr-FR" altLang="fr-FR" sz="2800" dirty="0"/>
              <a:t>L’écologie n’est plus un secteur de l’éthique appliquée, mais une invitation à remettre en question l’anthropologie libérale d’un sujet libre, séparé, hors sol, et à penser plutôt notre</a:t>
            </a:r>
            <a:r>
              <a:rPr lang="fr-FR" altLang="fr-FR" sz="2800" b="1" dirty="0"/>
              <a:t> corporéité au sein d’un ensemble d’interrelations </a:t>
            </a:r>
            <a:r>
              <a:rPr lang="fr-FR" altLang="fr-FR" sz="2800" dirty="0"/>
              <a:t>humaines et d’un milieu dont nous sommes dépendants.</a:t>
            </a:r>
          </a:p>
        </p:txBody>
      </p:sp>
      <p:sp>
        <p:nvSpPr>
          <p:cNvPr id="4" name="Espace réservé du pied de page 3">
            <a:extLst>
              <a:ext uri="{FF2B5EF4-FFF2-40B4-BE49-F238E27FC236}">
                <a16:creationId xmlns:a16="http://schemas.microsoft.com/office/drawing/2014/main" id="{7E5438DF-B582-4BFC-8ADF-290A76F9992B}"/>
              </a:ext>
            </a:extLst>
          </p:cNvPr>
          <p:cNvSpPr>
            <a:spLocks noGrp="1"/>
          </p:cNvSpPr>
          <p:nvPr>
            <p:ph type="ftr" sz="quarter" idx="11"/>
          </p:nvPr>
        </p:nvSpPr>
        <p:spPr/>
        <p:txBody>
          <a:bodyPr numCol="1"/>
          <a:lstStyle/>
          <a:p>
            <a:r>
              <a:rPr lang="fr-FR" altLang="fr-FR"/>
              <a:t>Pole Humanités Design Département des Relations Humaines</a:t>
            </a:r>
            <a:endParaRPr lang="fr-FR" altLang="fr-FR" dirty="0"/>
          </a:p>
        </p:txBody>
      </p:sp>
      <p:sp>
        <p:nvSpPr>
          <p:cNvPr id="5" name="Espace réservé du numéro de diapositive 4">
            <a:extLst>
              <a:ext uri="{FF2B5EF4-FFF2-40B4-BE49-F238E27FC236}">
                <a16:creationId xmlns:a16="http://schemas.microsoft.com/office/drawing/2014/main" id="{CCD7FA43-06F4-454F-A99B-1EB699633423}"/>
              </a:ext>
            </a:extLst>
          </p:cNvPr>
          <p:cNvSpPr>
            <a:spLocks noGrp="1"/>
          </p:cNvSpPr>
          <p:nvPr>
            <p:ph type="sldNum" sz="quarter" idx="12"/>
          </p:nvPr>
        </p:nvSpPr>
        <p:spPr/>
        <p:txBody>
          <a:bodyPr numCol="1"/>
          <a:lstStyle/>
          <a:p>
            <a:fld id="{788DAB52-6294-4F97-81DD-ABD852645FBC}" type="slidenum">
              <a:rPr lang="fr-FR" altLang="fr-FR" smtClean="0"/>
              <a:t>72</a:t>
            </a:fld>
            <a:endParaRPr lang="fr-FR" altLang="fr-FR"/>
          </a:p>
        </p:txBody>
      </p:sp>
    </p:spTree>
    <p:extLst>
      <p:ext uri="{BB962C8B-B14F-4D97-AF65-F5344CB8AC3E}">
        <p14:creationId xmlns:p14="http://schemas.microsoft.com/office/powerpoint/2010/main" val="23183267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BCCE8E-A2BC-4621-A3F2-1640FFE1CBE5}"/>
              </a:ext>
            </a:extLst>
          </p:cNvPr>
          <p:cNvSpPr/>
          <p:nvPr/>
        </p:nvSpPr>
        <p:spPr>
          <a:xfrm>
            <a:off x="0" y="0"/>
            <a:ext cx="12192000" cy="6858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1DB79148-43B1-40ED-B0F4-08F21F3FF242}"/>
              </a:ext>
            </a:extLst>
          </p:cNvPr>
          <p:cNvSpPr>
            <a:spLocks noGrp="1"/>
          </p:cNvSpPr>
          <p:nvPr>
            <p:ph idx="1"/>
          </p:nvPr>
        </p:nvSpPr>
        <p:spPr>
          <a:xfrm>
            <a:off x="203915" y="141666"/>
            <a:ext cx="11784169" cy="6716334"/>
          </a:xfrm>
        </p:spPr>
        <p:txBody>
          <a:bodyPr>
            <a:normAutofit/>
          </a:bodyPr>
          <a:lstStyle/>
          <a:p>
            <a:pPr marL="0" indent="0">
              <a:buNone/>
            </a:pPr>
            <a:r>
              <a:rPr lang="fr-FR" dirty="0">
                <a:solidFill>
                  <a:srgbClr val="0070C0"/>
                </a:solidFill>
              </a:rPr>
              <a:t>« </a:t>
            </a:r>
            <a:r>
              <a:rPr lang="fr-FR" b="1" dirty="0">
                <a:solidFill>
                  <a:srgbClr val="0070C0"/>
                </a:solidFill>
              </a:rPr>
              <a:t>Il ne fait aucun doute que la pandémie rende sensible cette continuité et donc nous rappelle à notre condition terrestre. </a:t>
            </a:r>
            <a:r>
              <a:rPr lang="fr-FR" dirty="0">
                <a:solidFill>
                  <a:srgbClr val="0070C0"/>
                </a:solidFill>
              </a:rPr>
              <a:t>Le Covid-19 est une zoonose, autrement dit une maladie due à un agent qui traverse les frontières d'espèces. L'existence de ce genre de maladies est à l'origine du concept « </a:t>
            </a:r>
            <a:r>
              <a:rPr lang="fr-FR" i="1" dirty="0">
                <a:solidFill>
                  <a:srgbClr val="0070C0"/>
                </a:solidFill>
              </a:rPr>
              <a:t>One </a:t>
            </a:r>
            <a:r>
              <a:rPr lang="fr-FR" i="1" dirty="0" err="1">
                <a:solidFill>
                  <a:srgbClr val="0070C0"/>
                </a:solidFill>
              </a:rPr>
              <a:t>Health</a:t>
            </a:r>
            <a:r>
              <a:rPr lang="fr-FR" dirty="0">
                <a:solidFill>
                  <a:srgbClr val="0070C0"/>
                </a:solidFill>
              </a:rPr>
              <a:t>», qui veut mettre l'accent notamment sur </a:t>
            </a:r>
            <a:r>
              <a:rPr lang="fr-FR" b="1" dirty="0">
                <a:solidFill>
                  <a:srgbClr val="0070C0"/>
                </a:solidFill>
              </a:rPr>
              <a:t>l'impossibilité de séparer la santé humaine de la santé des animaux. Cette continuité n'est pas seulement celle du vivant humain et des autres vivants, mais aussi des non-vivants </a:t>
            </a:r>
            <a:r>
              <a:rPr lang="fr-FR" dirty="0">
                <a:solidFill>
                  <a:srgbClr val="0070C0"/>
                </a:solidFill>
              </a:rPr>
              <a:t>(ce qu'on appelle aussi des abiotiques) : il se peut par exemple que les particules fines des supports redoutables du SRAS-CoV-2. […] L'invasion de nos cellules par les virus n'est pas </a:t>
            </a:r>
            <a:r>
              <a:rPr lang="fr-FR" i="1" dirty="0">
                <a:solidFill>
                  <a:srgbClr val="0070C0"/>
                </a:solidFill>
              </a:rPr>
              <a:t>cause</a:t>
            </a:r>
            <a:r>
              <a:rPr lang="fr-FR" dirty="0">
                <a:solidFill>
                  <a:srgbClr val="0070C0"/>
                </a:solidFill>
              </a:rPr>
              <a:t> du Covid: il n'en est que son </a:t>
            </a:r>
            <a:r>
              <a:rPr lang="fr-FR" i="1" dirty="0">
                <a:solidFill>
                  <a:srgbClr val="0070C0"/>
                </a:solidFill>
              </a:rPr>
              <a:t>mécanisme </a:t>
            </a:r>
            <a:r>
              <a:rPr lang="fr-FR" dirty="0">
                <a:solidFill>
                  <a:srgbClr val="0070C0"/>
                </a:solidFill>
              </a:rPr>
              <a:t>; sa cause est écologique, c'est-à-dire qu'elle est dans les longues chaines d'action qui conduisent à cette invasion - causes qui incluent la déforestation, la pauvreté, la biodiversité, les facteurs influençant les mécanismes immunitaires, différents chez les Européens urbains et chez d'autres populations, eux-mêmes peut-être dues aux habitudes alimentaires, hygiéniques, etc., bref, on le voit, à des actants très hétérogènes. </a:t>
            </a:r>
          </a:p>
        </p:txBody>
      </p:sp>
    </p:spTree>
    <p:extLst>
      <p:ext uri="{BB962C8B-B14F-4D97-AF65-F5344CB8AC3E}">
        <p14:creationId xmlns:p14="http://schemas.microsoft.com/office/powerpoint/2010/main" val="13644805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0E9816-A1E7-4741-983C-91456813F499}"/>
              </a:ext>
            </a:extLst>
          </p:cNvPr>
          <p:cNvSpPr/>
          <p:nvPr/>
        </p:nvSpPr>
        <p:spPr>
          <a:xfrm>
            <a:off x="0" y="0"/>
            <a:ext cx="12192000" cy="6858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775F0ECD-BDEB-4F10-BF96-44B22CFAAFD3}"/>
              </a:ext>
            </a:extLst>
          </p:cNvPr>
          <p:cNvSpPr>
            <a:spLocks noGrp="1"/>
          </p:cNvSpPr>
          <p:nvPr>
            <p:ph idx="1"/>
          </p:nvPr>
        </p:nvSpPr>
        <p:spPr>
          <a:xfrm>
            <a:off x="402465" y="141667"/>
            <a:ext cx="11387070" cy="6574665"/>
          </a:xfrm>
        </p:spPr>
        <p:txBody>
          <a:bodyPr>
            <a:normAutofit/>
          </a:bodyPr>
          <a:lstStyle/>
          <a:p>
            <a:pPr marL="0" indent="0">
              <a:buNone/>
            </a:pPr>
            <a:r>
              <a:rPr lang="fr-FR" dirty="0">
                <a:solidFill>
                  <a:srgbClr val="0070C0"/>
                </a:solidFill>
              </a:rPr>
              <a:t>« Le virus vaut comme métonymie et métaphore de la Terre pour trois raisons: parce qu'il met en évidence la continuité des embrouilles avec d'autres terrestres sans lesquelles nous ne pourrions pas vivre (ce que résume le concept </a:t>
            </a:r>
            <a:r>
              <a:rPr lang="fr-FR" i="1" dirty="0">
                <a:solidFill>
                  <a:srgbClr val="0070C0"/>
                </a:solidFill>
              </a:rPr>
              <a:t>One </a:t>
            </a:r>
            <a:r>
              <a:rPr lang="fr-FR" i="1" dirty="0" err="1">
                <a:solidFill>
                  <a:srgbClr val="0070C0"/>
                </a:solidFill>
              </a:rPr>
              <a:t>health</a:t>
            </a:r>
            <a:r>
              <a:rPr lang="fr-FR" dirty="0">
                <a:solidFill>
                  <a:srgbClr val="0070C0"/>
                </a:solidFill>
              </a:rPr>
              <a:t>: il faut s'occuper de la santé des humains et des non-humains à la fois) ; parce qu'il constitue un aspect de la finitude de l'horizon de perpétuation de la lignée moderne que celle-ci avait négligée (la pandémie comme signe d'une exténuation du projet Moderne au même titre que l'émergence de bactéries antibiorésistantes qui sont l'effet même de nos conquêtes médicales); et enfin parce qu'il met en évidence l'existence de principes de régulation dans laquelle tous les terrestres sont engagés d'une manière ou d'une autre (la pandémie comme signe d'un déséquilibre des écosystèmes). Être terrestre, dans ce troisième sens, revient à être pris dans les spirales d'un actant global. On peut donc légitimement dire que la pandémie nous a remis sous le nez notre condition terrestre parce qu'elle a mis en évidence l'efficace propre de ces régulations. » (</a:t>
            </a:r>
            <a:r>
              <a:rPr lang="fr-FR" dirty="0" err="1">
                <a:solidFill>
                  <a:srgbClr val="0070C0"/>
                </a:solidFill>
              </a:rPr>
              <a:t>Maniglier</a:t>
            </a:r>
            <a:r>
              <a:rPr lang="fr-FR" dirty="0">
                <a:solidFill>
                  <a:srgbClr val="0070C0"/>
                </a:solidFill>
              </a:rPr>
              <a:t>, 2021, p. 69-70).</a:t>
            </a:r>
          </a:p>
        </p:txBody>
      </p:sp>
    </p:spTree>
    <p:extLst>
      <p:ext uri="{BB962C8B-B14F-4D97-AF65-F5344CB8AC3E}">
        <p14:creationId xmlns:p14="http://schemas.microsoft.com/office/powerpoint/2010/main" val="20784444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8413EE8-1D7F-4AB0-BC1F-D72114F2A15B}"/>
              </a:ext>
            </a:extLst>
          </p:cNvPr>
          <p:cNvSpPr>
            <a:spLocks noGrp="1"/>
          </p:cNvSpPr>
          <p:nvPr>
            <p:ph idx="1"/>
          </p:nvPr>
        </p:nvSpPr>
        <p:spPr>
          <a:xfrm>
            <a:off x="863958" y="1637916"/>
            <a:ext cx="10837985" cy="3063403"/>
          </a:xfrm>
          <a:solidFill>
            <a:schemeClr val="accent1"/>
          </a:solidFill>
        </p:spPr>
        <p:txBody>
          <a:bodyPr vert="horz" wrap="square" lIns="91440" tIns="45720" rIns="91440" bIns="45720" numCol="1" rtlCol="0">
            <a:spAutoFit/>
          </a:bodyPr>
          <a:lstStyle/>
          <a:p>
            <a:pPr>
              <a:buFont typeface="Wingdings" panose="05000000000000000000" pitchFamily="2" charset="2"/>
              <a:buChar char="à"/>
            </a:pPr>
            <a:r>
              <a:rPr lang="fr-FR" altLang="fr-FR" b="1" dirty="0">
                <a:solidFill>
                  <a:schemeClr val="bg1"/>
                </a:solidFill>
              </a:rPr>
              <a:t>L’écologie devient une « sagesse de l’habitation de la Terre ». Sa grande nouveauté est qu’elle rompt avec les morales « anthropocentrées » (avec les dérives que cela peut induire).</a:t>
            </a:r>
          </a:p>
          <a:p>
            <a:pPr>
              <a:buFont typeface="Wingdings" panose="05000000000000000000" pitchFamily="2" charset="2"/>
              <a:buChar char="à"/>
            </a:pPr>
            <a:endParaRPr lang="fr-FR" altLang="fr-FR" b="1" dirty="0">
              <a:solidFill>
                <a:schemeClr val="bg1"/>
              </a:solidFill>
            </a:endParaRPr>
          </a:p>
          <a:p>
            <a:pPr>
              <a:buFont typeface="Wingdings" panose="05000000000000000000" pitchFamily="2" charset="2"/>
              <a:buChar char="à"/>
            </a:pPr>
            <a:r>
              <a:rPr lang="fr-FR" altLang="fr-FR" b="1" dirty="0">
                <a:solidFill>
                  <a:schemeClr val="bg1"/>
                </a:solidFill>
              </a:rPr>
              <a:t>Elle convergence avec la cause animaliste (en dépit de tensions historiques entre deux approches distinctes, l’une centrée sur la souffrance animale, l’autre sur l’environnement comme ensemble).</a:t>
            </a:r>
          </a:p>
        </p:txBody>
      </p:sp>
      <p:sp>
        <p:nvSpPr>
          <p:cNvPr id="4" name="Espace réservé du pied de page 3">
            <a:extLst>
              <a:ext uri="{FF2B5EF4-FFF2-40B4-BE49-F238E27FC236}">
                <a16:creationId xmlns:a16="http://schemas.microsoft.com/office/drawing/2014/main" id="{7E5438DF-B582-4BFC-8ADF-290A76F9992B}"/>
              </a:ext>
            </a:extLst>
          </p:cNvPr>
          <p:cNvSpPr>
            <a:spLocks noGrp="1"/>
          </p:cNvSpPr>
          <p:nvPr>
            <p:ph type="ftr" sz="quarter" idx="11"/>
          </p:nvPr>
        </p:nvSpPr>
        <p:spPr/>
        <p:txBody>
          <a:bodyPr numCol="1"/>
          <a:lstStyle/>
          <a:p>
            <a:r>
              <a:rPr lang="fr-FR" altLang="fr-FR"/>
              <a:t>Pole Humanités Design Département des Relations Humaines</a:t>
            </a:r>
            <a:endParaRPr lang="fr-FR" altLang="fr-FR" dirty="0"/>
          </a:p>
        </p:txBody>
      </p:sp>
      <p:sp>
        <p:nvSpPr>
          <p:cNvPr id="5" name="Espace réservé du numéro de diapositive 4">
            <a:extLst>
              <a:ext uri="{FF2B5EF4-FFF2-40B4-BE49-F238E27FC236}">
                <a16:creationId xmlns:a16="http://schemas.microsoft.com/office/drawing/2014/main" id="{CCD7FA43-06F4-454F-A99B-1EB699633423}"/>
              </a:ext>
            </a:extLst>
          </p:cNvPr>
          <p:cNvSpPr>
            <a:spLocks noGrp="1"/>
          </p:cNvSpPr>
          <p:nvPr>
            <p:ph type="sldNum" sz="quarter" idx="12"/>
          </p:nvPr>
        </p:nvSpPr>
        <p:spPr/>
        <p:txBody>
          <a:bodyPr numCol="1"/>
          <a:lstStyle/>
          <a:p>
            <a:fld id="{788DAB52-6294-4F97-81DD-ABD852645FBC}" type="slidenum">
              <a:rPr lang="fr-FR" altLang="fr-FR" smtClean="0"/>
              <a:t>75</a:t>
            </a:fld>
            <a:endParaRPr lang="fr-FR" altLang="fr-FR"/>
          </a:p>
        </p:txBody>
      </p:sp>
    </p:spTree>
    <p:extLst>
      <p:ext uri="{BB962C8B-B14F-4D97-AF65-F5344CB8AC3E}">
        <p14:creationId xmlns:p14="http://schemas.microsoft.com/office/powerpoint/2010/main" val="41079495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B51F31-1E86-44A3-9001-C1019CDCE581}"/>
              </a:ext>
            </a:extLst>
          </p:cNvPr>
          <p:cNvSpPr>
            <a:spLocks noGrp="1"/>
          </p:cNvSpPr>
          <p:nvPr>
            <p:ph type="title"/>
          </p:nvPr>
        </p:nvSpPr>
        <p:spPr>
          <a:xfrm>
            <a:off x="838200" y="122738"/>
            <a:ext cx="10515600" cy="889244"/>
          </a:xfrm>
        </p:spPr>
        <p:txBody>
          <a:bodyPr numCol="1">
            <a:normAutofit/>
          </a:bodyPr>
          <a:lstStyle/>
          <a:p>
            <a:pPr algn="ctr"/>
            <a:r>
              <a:rPr lang="fr-FR" altLang="fr-FR" dirty="0"/>
              <a:t>En guise de conclusion…</a:t>
            </a:r>
          </a:p>
        </p:txBody>
      </p:sp>
      <p:sp>
        <p:nvSpPr>
          <p:cNvPr id="3" name="Espace réservé du contenu 2">
            <a:extLst>
              <a:ext uri="{FF2B5EF4-FFF2-40B4-BE49-F238E27FC236}">
                <a16:creationId xmlns:a16="http://schemas.microsoft.com/office/drawing/2014/main" id="{243C194E-C4C8-474A-95F2-7B4911318450}"/>
              </a:ext>
            </a:extLst>
          </p:cNvPr>
          <p:cNvSpPr>
            <a:spLocks noGrp="1"/>
          </p:cNvSpPr>
          <p:nvPr>
            <p:ph idx="1"/>
          </p:nvPr>
        </p:nvSpPr>
        <p:spPr>
          <a:xfrm>
            <a:off x="391886" y="1141635"/>
            <a:ext cx="11429350" cy="5214715"/>
          </a:xfrm>
        </p:spPr>
        <p:txBody>
          <a:bodyPr numCol="1">
            <a:normAutofit/>
          </a:bodyPr>
          <a:lstStyle/>
          <a:p>
            <a:r>
              <a:rPr lang="fr-FR" altLang="fr-FR" b="1" dirty="0"/>
              <a:t>L’anthropocène, un</a:t>
            </a:r>
            <a:r>
              <a:rPr lang="fr-FR" altLang="fr-FR" dirty="0"/>
              <a:t> </a:t>
            </a:r>
            <a:r>
              <a:rPr lang="fr-FR" altLang="fr-FR" b="1" dirty="0"/>
              <a:t>défi mondial, des responsabilités politiques </a:t>
            </a:r>
            <a:r>
              <a:rPr lang="fr-FR" altLang="fr-FR" dirty="0"/>
              <a:t>: préserver le développement des pays émergents, tout en mettant en question le </a:t>
            </a:r>
            <a:r>
              <a:rPr lang="fr-FR" altLang="fr-FR" b="1" dirty="0"/>
              <a:t>modèle productiviste </a:t>
            </a:r>
            <a:r>
              <a:rPr lang="fr-FR" altLang="fr-FR" dirty="0"/>
              <a:t>moderne.</a:t>
            </a:r>
          </a:p>
          <a:p>
            <a:r>
              <a:rPr lang="fr-FR" altLang="fr-FR" dirty="0"/>
              <a:t>L’actualité du </a:t>
            </a:r>
            <a:r>
              <a:rPr lang="fr-FR" altLang="fr-FR" b="1" dirty="0"/>
              <a:t>Covid-19</a:t>
            </a:r>
            <a:r>
              <a:rPr lang="fr-FR" altLang="fr-FR" dirty="0"/>
              <a:t>, participe de cette prise de conscience de notre fragilité collective.</a:t>
            </a:r>
          </a:p>
          <a:p>
            <a:r>
              <a:rPr lang="fr-FR" altLang="fr-FR" dirty="0"/>
              <a:t>Les dégâts sont inégalement répartis, d’où le </a:t>
            </a:r>
            <a:r>
              <a:rPr lang="fr-FR" altLang="fr-FR" b="1" dirty="0"/>
              <a:t>caractère politique et social de la problématique </a:t>
            </a:r>
            <a:r>
              <a:rPr lang="fr-FR" altLang="fr-FR" dirty="0"/>
              <a:t>; les plus pauvres, dans chaque pays et parmi les pays, sont plus exposés aux effets des dégâts environnementaux (ex : non traitement des déchets), alors qu’ils en sont moins responsables (</a:t>
            </a:r>
            <a:r>
              <a:rPr lang="fr-FR" altLang="fr-FR" b="1" dirty="0"/>
              <a:t>double injustice</a:t>
            </a:r>
            <a:r>
              <a:rPr lang="fr-FR" altLang="fr-FR" dirty="0"/>
              <a:t>).</a:t>
            </a:r>
          </a:p>
          <a:p>
            <a:endParaRPr lang="fr-FR" altLang="fr-FR" dirty="0"/>
          </a:p>
        </p:txBody>
      </p:sp>
      <p:sp>
        <p:nvSpPr>
          <p:cNvPr id="4" name="Espace réservé du pied de page 3">
            <a:extLst>
              <a:ext uri="{FF2B5EF4-FFF2-40B4-BE49-F238E27FC236}">
                <a16:creationId xmlns:a16="http://schemas.microsoft.com/office/drawing/2014/main" id="{054B4279-6741-4363-B5ED-E7B6D88DE648}"/>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59837504-D03E-4885-980D-BE8270FD51F9}"/>
              </a:ext>
            </a:extLst>
          </p:cNvPr>
          <p:cNvSpPr>
            <a:spLocks noGrp="1"/>
          </p:cNvSpPr>
          <p:nvPr>
            <p:ph type="sldNum" sz="quarter" idx="12"/>
          </p:nvPr>
        </p:nvSpPr>
        <p:spPr/>
        <p:txBody>
          <a:bodyPr numCol="1"/>
          <a:lstStyle/>
          <a:p>
            <a:fld id="{788DAB52-6294-4F97-81DD-ABD852645FBC}" type="slidenum">
              <a:rPr lang="fr-FR" altLang="fr-FR" smtClean="0"/>
              <a:t>76</a:t>
            </a:fld>
            <a:endParaRPr lang="fr-FR" altLang="fr-FR"/>
          </a:p>
        </p:txBody>
      </p:sp>
    </p:spTree>
    <p:extLst>
      <p:ext uri="{BB962C8B-B14F-4D97-AF65-F5344CB8AC3E}">
        <p14:creationId xmlns:p14="http://schemas.microsoft.com/office/powerpoint/2010/main" val="28968943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43C194E-C4C8-474A-95F2-7B4911318450}"/>
              </a:ext>
            </a:extLst>
          </p:cNvPr>
          <p:cNvSpPr>
            <a:spLocks noGrp="1"/>
          </p:cNvSpPr>
          <p:nvPr>
            <p:ph idx="1"/>
          </p:nvPr>
        </p:nvSpPr>
        <p:spPr>
          <a:xfrm>
            <a:off x="370763" y="427122"/>
            <a:ext cx="11450473" cy="5817835"/>
          </a:xfrm>
        </p:spPr>
        <p:txBody>
          <a:bodyPr numCol="1">
            <a:normAutofit/>
          </a:bodyPr>
          <a:lstStyle/>
          <a:p>
            <a:r>
              <a:rPr lang="fr-FR" altLang="fr-FR" b="1" dirty="0"/>
              <a:t>Poursuite de la modernité ou redéfinition du projet collectif ? </a:t>
            </a:r>
            <a:r>
              <a:rPr lang="fr-FR" altLang="fr-FR" dirty="0"/>
              <a:t>Le « développement durable » s’inscrit dans une exigence universaliste héritée des Lumières et dans la croyance en un idéal de progrès pour l’humanité, assorti de clauses pour respecter un compromis.</a:t>
            </a:r>
          </a:p>
          <a:p>
            <a:r>
              <a:rPr lang="fr-FR" altLang="fr-FR" dirty="0"/>
              <a:t>Mais les défis actuels imposent sans doute un bouleversement plus profond, impliquant une nouvelle anthropologie philosophique, à la lumière de la notion d’</a:t>
            </a:r>
            <a:r>
              <a:rPr lang="fr-FR" altLang="fr-FR" b="1" dirty="0"/>
              <a:t>anthropocène</a:t>
            </a:r>
            <a:r>
              <a:rPr lang="fr-FR" altLang="fr-FR" dirty="0"/>
              <a:t>. Sur la scène intellectuelle française, on assiste à un  « </a:t>
            </a:r>
            <a:r>
              <a:rPr lang="fr-FR" altLang="fr-FR" b="1" dirty="0"/>
              <a:t>tournant </a:t>
            </a:r>
            <a:r>
              <a:rPr lang="fr-FR" altLang="fr-FR" b="1" dirty="0" err="1"/>
              <a:t>écopolitique</a:t>
            </a:r>
            <a:r>
              <a:rPr lang="fr-FR" altLang="fr-FR" b="1" dirty="0"/>
              <a:t> »</a:t>
            </a:r>
            <a:r>
              <a:rPr lang="fr-FR" altLang="fr-FR" dirty="0"/>
              <a:t> : renouvellement de la </a:t>
            </a:r>
            <a:r>
              <a:rPr lang="fr-FR" altLang="fr-FR" b="1" dirty="0"/>
              <a:t>réflexion sur l’idée de progrès</a:t>
            </a:r>
            <a:r>
              <a:rPr lang="fr-FR" altLang="fr-FR" dirty="0"/>
              <a:t>, prise de conscience de notre </a:t>
            </a:r>
            <a:r>
              <a:rPr lang="fr-FR" altLang="fr-FR" b="1" dirty="0"/>
              <a:t>lien intime avec le vivant</a:t>
            </a:r>
            <a:r>
              <a:rPr lang="fr-FR" altLang="fr-FR" dirty="0"/>
              <a:t>.</a:t>
            </a:r>
          </a:p>
          <a:p>
            <a:r>
              <a:rPr lang="fr-FR" altLang="fr-FR" b="1" dirty="0"/>
              <a:t>La science a un rôle à jouer et ses propres responsabilités à exercer </a:t>
            </a:r>
            <a:r>
              <a:rPr lang="fr-FR" altLang="fr-FR" dirty="0"/>
              <a:t>: objectiver les phénomènes, manifester une vigilance critique, croiser les approches disciplinaires pour appréhender la réalité dans sa complexité, mais une certaine modestie s’impose, par rapport à un idéal de maîtrise technoscientifique qui était celui de la modernité occidentale.</a:t>
            </a:r>
          </a:p>
          <a:p>
            <a:endParaRPr lang="fr-FR" altLang="fr-FR" dirty="0"/>
          </a:p>
        </p:txBody>
      </p:sp>
      <p:sp>
        <p:nvSpPr>
          <p:cNvPr id="4" name="Espace réservé du pied de page 3">
            <a:extLst>
              <a:ext uri="{FF2B5EF4-FFF2-40B4-BE49-F238E27FC236}">
                <a16:creationId xmlns:a16="http://schemas.microsoft.com/office/drawing/2014/main" id="{054B4279-6741-4363-B5ED-E7B6D88DE648}"/>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59837504-D03E-4885-980D-BE8270FD51F9}"/>
              </a:ext>
            </a:extLst>
          </p:cNvPr>
          <p:cNvSpPr>
            <a:spLocks noGrp="1"/>
          </p:cNvSpPr>
          <p:nvPr>
            <p:ph type="sldNum" sz="quarter" idx="12"/>
          </p:nvPr>
        </p:nvSpPr>
        <p:spPr/>
        <p:txBody>
          <a:bodyPr numCol="1"/>
          <a:lstStyle/>
          <a:p>
            <a:fld id="{788DAB52-6294-4F97-81DD-ABD852645FBC}" type="slidenum">
              <a:rPr lang="fr-FR" altLang="fr-FR" smtClean="0"/>
              <a:t>77</a:t>
            </a:fld>
            <a:endParaRPr lang="fr-FR" altLang="fr-FR"/>
          </a:p>
        </p:txBody>
      </p:sp>
    </p:spTree>
    <p:extLst>
      <p:ext uri="{BB962C8B-B14F-4D97-AF65-F5344CB8AC3E}">
        <p14:creationId xmlns:p14="http://schemas.microsoft.com/office/powerpoint/2010/main" val="29793476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03F0DFC-1E19-45BD-9D0C-3FCC6EC7253C}"/>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9B7D4567-8DBB-46A3-9C97-3D96ED401555}"/>
              </a:ext>
            </a:extLst>
          </p:cNvPr>
          <p:cNvSpPr>
            <a:spLocks noGrp="1"/>
          </p:cNvSpPr>
          <p:nvPr>
            <p:ph type="ctrTitle"/>
          </p:nvPr>
        </p:nvSpPr>
        <p:spPr>
          <a:xfrm>
            <a:off x="1435390" y="425003"/>
            <a:ext cx="10304540" cy="5205741"/>
          </a:xfrm>
        </p:spPr>
        <p:txBody>
          <a:bodyPr numCol="1">
            <a:normAutofit/>
          </a:bodyPr>
          <a:lstStyle/>
          <a:p>
            <a:pPr lvl="0" algn="l">
              <a:spcBef>
                <a:spcPts val="1000"/>
              </a:spcBef>
              <a:defRPr/>
            </a:pPr>
            <a:r>
              <a:rPr lang="fr-FR" altLang="fr-FR" sz="3600" b="1" u="sng" spc="-240" dirty="0">
                <a:solidFill>
                  <a:schemeClr val="accent1">
                    <a:lumMod val="60000"/>
                    <a:lumOff val="40000"/>
                  </a:schemeClr>
                </a:solidFill>
                <a:latin typeface="+mn-lt"/>
                <a:hlinkClick r:id="" action="ppaction://noaction">
                  <a:extLst>
                    <a:ext uri="{A12FA001-AC4F-418D-AE19-62706E023703}">
                      <ahyp:hlinkClr xmlns:ahyp="http://schemas.microsoft.com/office/drawing/2018/hyperlinkcolor" val="tx"/>
                    </a:ext>
                  </a:extLst>
                </a:hlinkClick>
              </a:rPr>
              <a:t>1) Trois approches de l’éthique environnementale</a:t>
            </a:r>
            <a:br>
              <a:rPr lang="fr-FR" altLang="fr-FR" sz="3600" b="1" u="sng" spc="-240" dirty="0">
                <a:solidFill>
                  <a:schemeClr val="bg1"/>
                </a:solidFill>
                <a:latin typeface="+mn-lt"/>
                <a:cs typeface="Gotham Medium" pitchFamily="50" charset="0"/>
                <a:hlinkClick r:id="" action="ppaction://noaction">
                  <a:extLst>
                    <a:ext uri="{A12FA001-AC4F-418D-AE19-62706E023703}">
                      <ahyp:hlinkClr xmlns:ahyp="http://schemas.microsoft.com/office/drawing/2018/hyperlinkcolor" val="tx"/>
                    </a:ext>
                  </a:extLst>
                </a:hlinkClick>
              </a:rPr>
            </a:br>
            <a:r>
              <a:rPr lang="fr-FR" altLang="fr-FR" sz="3600" b="1" u="sng" spc="-240" dirty="0">
                <a:solidFill>
                  <a:schemeClr val="accent1">
                    <a:lumMod val="60000"/>
                    <a:lumOff val="40000"/>
                  </a:schemeClr>
                </a:solidFill>
                <a:latin typeface="+mn-lt"/>
                <a:hlinkClick r:id="" action="ppaction://noaction">
                  <a:extLst>
                    <a:ext uri="{A12FA001-AC4F-418D-AE19-62706E023703}">
                      <ahyp:hlinkClr xmlns:ahyp="http://schemas.microsoft.com/office/drawing/2018/hyperlinkcolor" val="tx"/>
                    </a:ext>
                  </a:extLst>
                </a:hlinkClick>
              </a:rPr>
              <a:t>2) </a:t>
            </a:r>
            <a:r>
              <a:rPr lang="fr-FR" altLang="fr-FR" sz="3600" b="1" u="sng" spc="-240" dirty="0">
                <a:solidFill>
                  <a:schemeClr val="accent1">
                    <a:lumMod val="60000"/>
                    <a:lumOff val="40000"/>
                  </a:schemeClr>
                </a:solidFill>
                <a:latin typeface="+mn-lt"/>
              </a:rPr>
              <a:t>Du développement durable à l’idée d’anthropocène</a:t>
            </a:r>
            <a:br>
              <a:rPr lang="fr-FR" altLang="fr-FR" sz="3600" b="1" u="sng" spc="-240" dirty="0">
                <a:solidFill>
                  <a:schemeClr val="accent1">
                    <a:lumMod val="60000"/>
                    <a:lumOff val="40000"/>
                  </a:schemeClr>
                </a:solidFill>
                <a:latin typeface="+mn-lt"/>
                <a:cs typeface="Gotham Medium" pitchFamily="50" charset="0"/>
              </a:rPr>
            </a:br>
            <a:r>
              <a:rPr lang="fr-FR" altLang="fr-FR" sz="3600" b="1" u="sng" spc="-240" dirty="0">
                <a:solidFill>
                  <a:schemeClr val="accent1">
                    <a:lumMod val="60000"/>
                    <a:lumOff val="40000"/>
                  </a:schemeClr>
                </a:solidFill>
                <a:latin typeface="+mn-lt"/>
              </a:rPr>
              <a:t>3) Le « monde infini des modernes » : une illusion ?</a:t>
            </a:r>
            <a:br>
              <a:rPr lang="fr-FR" altLang="fr-FR" sz="3600" b="1" u="sng" spc="-240" dirty="0">
                <a:solidFill>
                  <a:schemeClr val="accent1">
                    <a:lumMod val="60000"/>
                    <a:lumOff val="40000"/>
                  </a:schemeClr>
                </a:solidFill>
                <a:latin typeface="+mn-lt"/>
                <a:cs typeface="Gotham Medium" pitchFamily="50" charset="0"/>
              </a:rPr>
            </a:br>
            <a:r>
              <a:rPr lang="fr-FR" altLang="fr-FR" sz="3600" b="1" u="sng" spc="-240" dirty="0">
                <a:solidFill>
                  <a:schemeClr val="bg1"/>
                </a:solidFill>
                <a:latin typeface="+mn-lt"/>
                <a:hlinkClick r:id="" action="ppaction://noaction">
                  <a:extLst>
                    <a:ext uri="{A12FA001-AC4F-418D-AE19-62706E023703}">
                      <ahyp:hlinkClr xmlns:ahyp="http://schemas.microsoft.com/office/drawing/2018/hyperlinkcolor" val="tx"/>
                    </a:ext>
                  </a:extLst>
                </a:hlinkClick>
              </a:rPr>
              <a:t>Bibliographie</a:t>
            </a:r>
            <a:br>
              <a:rPr kumimoji="0" lang="fr-FR" altLang="fr-FR" sz="2800" b="1" i="0" u="none" strike="noStrike" kern="1200" cap="none" spc="0" normalizeH="0" baseline="0" noProof="0" dirty="0">
                <a:ln>
                  <a:noFill/>
                </a:ln>
                <a:solidFill>
                  <a:schemeClr val="bg1"/>
                </a:solidFill>
                <a:effectLst/>
                <a:uLnTx/>
                <a:uFillTx/>
                <a:latin typeface="Calibri" panose="020F0502020204030204"/>
                <a:ea typeface="+mn-ea"/>
                <a:cs typeface="+mn-cs"/>
              </a:rPr>
            </a:br>
            <a:endParaRPr lang="fr-FR" altLang="fr-FR" sz="3200" b="1" dirty="0">
              <a:solidFill>
                <a:schemeClr val="bg1"/>
              </a:solidFill>
            </a:endParaRPr>
          </a:p>
        </p:txBody>
      </p:sp>
      <p:sp>
        <p:nvSpPr>
          <p:cNvPr id="5" name="object 10">
            <a:extLst>
              <a:ext uri="{FF2B5EF4-FFF2-40B4-BE49-F238E27FC236}">
                <a16:creationId xmlns:a16="http://schemas.microsoft.com/office/drawing/2014/main" id="{B4C51465-F063-42E8-8BE5-5ED8418DF661}"/>
              </a:ext>
            </a:extLst>
          </p:cNvPr>
          <p:cNvSpPr txBox="1">
            <a:spLocks noGrp="1"/>
          </p:cNvSpPr>
          <p:nvPr>
            <p:ph type="ftr" sz="quarter" idx="11"/>
          </p:nvPr>
        </p:nvSpPr>
        <p:spPr>
          <a:xfrm>
            <a:off x="4041374" y="6472450"/>
            <a:ext cx="4114800" cy="189796"/>
          </a:xfrm>
          <a:prstGeom prst="rect">
            <a:avLst/>
          </a:prstGeom>
        </p:spPr>
        <p:txBody>
          <a:bodyPr vert="horz" wrap="square" lIns="0" tIns="5080" rIns="0" bIns="0" numCol="1" rtlCol="0" anchor="ctr">
            <a:spAutoFit/>
          </a:bodyPr>
          <a:lstStyle/>
          <a:p>
            <a:pPr marL="12700">
              <a:spcBef>
                <a:spcPts val="40"/>
              </a:spcBef>
            </a:pPr>
            <a:r>
              <a:rPr lang="fr-FR" altLang="fr-FR" spc="-60">
                <a:solidFill>
                  <a:srgbClr val="002060"/>
                </a:solidFill>
              </a:rPr>
              <a:t>Pole Humanités Design Département des Relations Humaines</a:t>
            </a:r>
            <a:endParaRPr spc="-100">
              <a:solidFill>
                <a:srgbClr val="002060"/>
              </a:solidFill>
            </a:endParaRPr>
          </a:p>
        </p:txBody>
      </p:sp>
      <p:pic>
        <p:nvPicPr>
          <p:cNvPr id="6" name="Image 5">
            <a:extLst>
              <a:ext uri="{FF2B5EF4-FFF2-40B4-BE49-F238E27FC236}">
                <a16:creationId xmlns:a16="http://schemas.microsoft.com/office/drawing/2014/main" id="{1AE8901F-1C30-4BD4-99BE-A97180C497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pic>
        <p:nvPicPr>
          <p:cNvPr id="7" name="Image 6">
            <a:extLst>
              <a:ext uri="{FF2B5EF4-FFF2-40B4-BE49-F238E27FC236}">
                <a16:creationId xmlns:a16="http://schemas.microsoft.com/office/drawing/2014/main" id="{19B2A249-BD17-436B-8AC0-2FCE0FB6D4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2600" y="6123941"/>
            <a:ext cx="1938531" cy="640149"/>
          </a:xfrm>
          <a:prstGeom prst="rect">
            <a:avLst/>
          </a:prstGeom>
        </p:spPr>
      </p:pic>
      <p:sp>
        <p:nvSpPr>
          <p:cNvPr id="8" name="ZoneTexte 7">
            <a:extLst>
              <a:ext uri="{FF2B5EF4-FFF2-40B4-BE49-F238E27FC236}">
                <a16:creationId xmlns:a16="http://schemas.microsoft.com/office/drawing/2014/main" id="{F73C47AF-B032-43B3-847C-56BF4BCFF8E6}"/>
              </a:ext>
            </a:extLst>
          </p:cNvPr>
          <p:cNvSpPr txBox="1"/>
          <p:nvPr/>
        </p:nvSpPr>
        <p:spPr>
          <a:xfrm>
            <a:off x="3274764" y="1047266"/>
            <a:ext cx="6097836" cy="707886"/>
          </a:xfrm>
          <a:prstGeom prst="rect">
            <a:avLst/>
          </a:prstGeom>
          <a:noFill/>
        </p:spPr>
        <p:txBody>
          <a:bodyPr wrap="square" numCol="1">
            <a:spAutoFit/>
          </a:bodyPr>
          <a:lstStyle/>
          <a:p>
            <a:pPr algn="ctr"/>
            <a:r>
              <a:rPr lang="fr-FR" altLang="fr-FR" sz="4000" u="sng" spc="-240" dirty="0">
                <a:solidFill>
                  <a:schemeClr val="accent5">
                    <a:lumMod val="75000"/>
                  </a:schemeClr>
                </a:solidFill>
                <a:cs typeface="Gotham Medium" pitchFamily="50" charset="0"/>
              </a:rPr>
              <a:t>Plan</a:t>
            </a:r>
            <a:endParaRPr lang="fr-FR" altLang="fr-FR" sz="4000" dirty="0"/>
          </a:p>
        </p:txBody>
      </p:sp>
      <p:sp>
        <p:nvSpPr>
          <p:cNvPr id="4" name="Espace réservé du numéro de diapositive 3">
            <a:extLst>
              <a:ext uri="{FF2B5EF4-FFF2-40B4-BE49-F238E27FC236}">
                <a16:creationId xmlns:a16="http://schemas.microsoft.com/office/drawing/2014/main" id="{083A6003-ACF1-4A27-8577-185A4A278541}"/>
              </a:ext>
            </a:extLst>
          </p:cNvPr>
          <p:cNvSpPr>
            <a:spLocks noGrp="1"/>
          </p:cNvSpPr>
          <p:nvPr>
            <p:ph type="sldNum" sz="quarter" idx="12"/>
          </p:nvPr>
        </p:nvSpPr>
        <p:spPr/>
        <p:txBody>
          <a:bodyPr numCol="1"/>
          <a:lstStyle/>
          <a:p>
            <a:fld id="{788DAB52-6294-4F97-81DD-ABD852645FBC}" type="slidenum">
              <a:rPr lang="fr-FR" altLang="fr-FR" smtClean="0"/>
              <a:t>78</a:t>
            </a:fld>
            <a:endParaRPr lang="fr-FR" altLang="fr-FR"/>
          </a:p>
        </p:txBody>
      </p:sp>
      <p:sp>
        <p:nvSpPr>
          <p:cNvPr id="9" name="Flèche : droite 8">
            <a:extLst>
              <a:ext uri="{FF2B5EF4-FFF2-40B4-BE49-F238E27FC236}">
                <a16:creationId xmlns:a16="http://schemas.microsoft.com/office/drawing/2014/main" id="{43E0C11C-AC7B-F56D-2FC2-9D36DE5F93D7}"/>
              </a:ext>
            </a:extLst>
          </p:cNvPr>
          <p:cNvSpPr/>
          <p:nvPr/>
        </p:nvSpPr>
        <p:spPr>
          <a:xfrm>
            <a:off x="753425" y="4588749"/>
            <a:ext cx="681965" cy="68675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48032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22569E2-7BB7-4517-8400-4B2162B192B3}"/>
              </a:ext>
            </a:extLst>
          </p:cNvPr>
          <p:cNvSpPr>
            <a:spLocks noGrp="1"/>
          </p:cNvSpPr>
          <p:nvPr>
            <p:ph idx="1"/>
          </p:nvPr>
        </p:nvSpPr>
        <p:spPr>
          <a:xfrm>
            <a:off x="334962" y="304800"/>
            <a:ext cx="11577638" cy="6146800"/>
          </a:xfrm>
        </p:spPr>
        <p:txBody>
          <a:bodyPr numCol="1">
            <a:normAutofit fontScale="92500" lnSpcReduction="10000"/>
          </a:bodyPr>
          <a:lstStyle/>
          <a:p>
            <a:r>
              <a:rPr lang="fr-FR" altLang="fr-FR" sz="2800" cap="small" dirty="0"/>
              <a:t>Beau</a:t>
            </a:r>
            <a:r>
              <a:rPr lang="fr-FR" altLang="fr-FR" sz="2800" dirty="0">
                <a:effectLst/>
                <a:ea typeface="Calibri" panose="020F0502020204030204" pitchFamily="34" charset="0"/>
                <a:cs typeface="Times New Roman" panose="02020603050405020304" pitchFamily="18" charset="0"/>
              </a:rPr>
              <a:t>, Rémi et  </a:t>
            </a:r>
            <a:r>
              <a:rPr lang="fr-FR" altLang="fr-FR" sz="2800" cap="small" dirty="0"/>
              <a:t>Larrère</a:t>
            </a:r>
            <a:r>
              <a:rPr lang="fr-FR" altLang="fr-FR" sz="2800" dirty="0">
                <a:ea typeface="Calibri" panose="020F0502020204030204" pitchFamily="34" charset="0"/>
                <a:cs typeface="Times New Roman" panose="02020603050405020304" pitchFamily="18" charset="0"/>
              </a:rPr>
              <a:t>, Catherine, </a:t>
            </a:r>
            <a:r>
              <a:rPr lang="fr-FR" altLang="fr-FR" sz="2800" i="1" dirty="0">
                <a:effectLst/>
                <a:ea typeface="Calibri" panose="020F0502020204030204" pitchFamily="34" charset="0"/>
                <a:cs typeface="Times New Roman" panose="02020603050405020304" pitchFamily="18" charset="0"/>
              </a:rPr>
              <a:t>Penser l'Anthropocène</a:t>
            </a:r>
            <a:r>
              <a:rPr lang="fr-FR" altLang="fr-FR" sz="2800" dirty="0">
                <a:effectLst/>
                <a:ea typeface="Calibri" panose="020F0502020204030204" pitchFamily="34" charset="0"/>
                <a:cs typeface="Times New Roman" panose="02020603050405020304" pitchFamily="18" charset="0"/>
              </a:rPr>
              <a:t>, Presses de Sciences Po, 2018. « Académique », 2018, p. 523-542. DOI : 10.3917/scpo.beaur.2018.01.0523. URL : https://www-cairn-info.bibdocs.u-cergy.fr/penser-l-anthropocene--9782724622102.htm</a:t>
            </a:r>
            <a:endParaRPr lang="fr-FR" altLang="fr-FR" cap="small" dirty="0"/>
          </a:p>
          <a:p>
            <a:r>
              <a:rPr lang="fr-FR" altLang="fr-FR" cap="small" dirty="0"/>
              <a:t>Bourg</a:t>
            </a:r>
            <a:r>
              <a:rPr lang="fr-FR" altLang="fr-FR" dirty="0"/>
              <a:t>, Dominique, </a:t>
            </a:r>
            <a:r>
              <a:rPr lang="fr-FR" altLang="fr-FR" i="1" dirty="0"/>
              <a:t>Quel AVENIR pour le développement durable ?, </a:t>
            </a:r>
            <a:r>
              <a:rPr lang="fr-FR" altLang="fr-FR" dirty="0"/>
              <a:t>Le Pommier, coll. « Les Petites Pommes du Savoir », 2002.</a:t>
            </a:r>
          </a:p>
          <a:p>
            <a:r>
              <a:rPr lang="fr-FR" altLang="fr-FR" cap="small" dirty="0" err="1"/>
              <a:t>Gemenne</a:t>
            </a:r>
            <a:r>
              <a:rPr lang="fr-FR" altLang="fr-FR" dirty="0"/>
              <a:t> François, </a:t>
            </a:r>
            <a:r>
              <a:rPr lang="fr-FR" altLang="fr-FR" cap="small" dirty="0" err="1"/>
              <a:t>Rankovic</a:t>
            </a:r>
            <a:r>
              <a:rPr lang="fr-FR" altLang="fr-FR" dirty="0"/>
              <a:t> </a:t>
            </a:r>
            <a:r>
              <a:rPr lang="fr-FR" altLang="fr-FR" dirty="0" err="1"/>
              <a:t>Aleksandar</a:t>
            </a:r>
            <a:r>
              <a:rPr lang="fr-FR" altLang="fr-FR" dirty="0"/>
              <a:t>, </a:t>
            </a:r>
            <a:r>
              <a:rPr lang="fr-FR" altLang="fr-FR" i="1" dirty="0"/>
              <a:t>Atlas de l’anthropocène</a:t>
            </a:r>
            <a:r>
              <a:rPr lang="fr-FR" altLang="fr-FR" dirty="0"/>
              <a:t>, Paris, Presses de </a:t>
            </a:r>
            <a:r>
              <a:rPr lang="fr-FR" altLang="fr-FR" dirty="0" err="1"/>
              <a:t>SciencesPo</a:t>
            </a:r>
            <a:r>
              <a:rPr lang="fr-FR" altLang="fr-FR" dirty="0"/>
              <a:t>, 2019.</a:t>
            </a:r>
          </a:p>
          <a:p>
            <a:r>
              <a:rPr lang="fr-FR" altLang="fr-FR" cap="small" dirty="0"/>
              <a:t>Latour</a:t>
            </a:r>
            <a:r>
              <a:rPr lang="fr-FR" altLang="fr-FR" dirty="0"/>
              <a:t>, Bruno, </a:t>
            </a:r>
            <a:r>
              <a:rPr lang="fr-FR" altLang="fr-FR" i="1" dirty="0"/>
              <a:t>Où suis-je ? Leçons du confinement à l’usage des terrestres</a:t>
            </a:r>
            <a:r>
              <a:rPr lang="fr-FR" altLang="fr-FR" dirty="0"/>
              <a:t>, Paris, La découverte, coll. «  Les empêcheurs de penser en rond », 2021.</a:t>
            </a:r>
          </a:p>
          <a:p>
            <a:r>
              <a:rPr lang="fr-FR" altLang="fr-FR" sz="2800" cap="small" dirty="0" err="1"/>
              <a:t>Maniglier</a:t>
            </a:r>
            <a:r>
              <a:rPr lang="fr-FR" altLang="fr-FR" sz="2800" cap="small" dirty="0"/>
              <a:t>, </a:t>
            </a:r>
            <a:r>
              <a:rPr lang="fr-FR" altLang="fr-FR" sz="2800" dirty="0"/>
              <a:t>Patrice, </a:t>
            </a:r>
            <a:r>
              <a:rPr lang="fr-FR" altLang="fr-FR" sz="2800" i="1" dirty="0"/>
              <a:t>Le philosophe la Terre et le virus. Bruno Latour expliqué par l’actualité</a:t>
            </a:r>
            <a:r>
              <a:rPr lang="fr-FR" altLang="fr-FR" sz="2800" dirty="0"/>
              <a:t>, Paris, Les Liens qui libèrent, 2021.</a:t>
            </a:r>
            <a:endParaRPr lang="fr-FR" altLang="fr-FR" sz="2800" cap="small" dirty="0"/>
          </a:p>
          <a:p>
            <a:r>
              <a:rPr lang="fr-FR" altLang="fr-FR" sz="2800" cap="small" dirty="0"/>
              <a:t>Métayer</a:t>
            </a:r>
            <a:r>
              <a:rPr lang="fr-FR" altLang="fr-FR" sz="2800" dirty="0"/>
              <a:t>, Michel, </a:t>
            </a:r>
            <a:r>
              <a:rPr lang="fr-FR" altLang="fr-FR" cap="small" dirty="0"/>
              <a:t>Ferland</a:t>
            </a:r>
            <a:r>
              <a:rPr lang="fr-FR" altLang="fr-FR" sz="2800" dirty="0"/>
              <a:t>, Guy, </a:t>
            </a:r>
            <a:r>
              <a:rPr lang="fr-FR" altLang="fr-FR" sz="2800" i="1" dirty="0"/>
              <a:t>Philosophie éthique. Enjeux et débats actuels</a:t>
            </a:r>
            <a:r>
              <a:rPr lang="fr-FR" altLang="fr-FR" sz="2800" dirty="0"/>
              <a:t>, Montréal, Pearson, 2018.</a:t>
            </a:r>
            <a:endParaRPr lang="fr-FR" altLang="fr-FR" sz="2800" cap="small" dirty="0"/>
          </a:p>
          <a:p>
            <a:r>
              <a:rPr lang="fr-FR" altLang="fr-FR" sz="2800" cap="small" dirty="0" err="1"/>
              <a:t>Servigne</a:t>
            </a:r>
            <a:r>
              <a:rPr lang="fr-FR" altLang="fr-FR" sz="2800" dirty="0">
                <a:effectLst/>
                <a:ea typeface="Calibri" panose="020F0502020204030204" pitchFamily="34" charset="0"/>
                <a:cs typeface="Times New Roman" panose="02020603050405020304" pitchFamily="18" charset="0"/>
              </a:rPr>
              <a:t>, Pablo et </a:t>
            </a:r>
            <a:r>
              <a:rPr lang="fr-FR" altLang="fr-FR" sz="2800" cap="small" dirty="0"/>
              <a:t>Stevens</a:t>
            </a:r>
            <a:r>
              <a:rPr lang="fr-FR" altLang="fr-FR" sz="2800" dirty="0">
                <a:effectLst/>
                <a:ea typeface="Calibri" panose="020F0502020204030204" pitchFamily="34" charset="0"/>
                <a:cs typeface="Times New Roman" panose="02020603050405020304" pitchFamily="18" charset="0"/>
              </a:rPr>
              <a:t>, Raphaël, </a:t>
            </a:r>
            <a:r>
              <a:rPr lang="fr-FR" altLang="fr-FR" sz="2800" i="1" dirty="0">
                <a:effectLst/>
                <a:ea typeface="Calibri" panose="020F0502020204030204" pitchFamily="34" charset="0"/>
                <a:cs typeface="Times New Roman" panose="02020603050405020304" pitchFamily="18" charset="0"/>
              </a:rPr>
              <a:t>Comment tout peut s’effondrer : Petit manuel de collapsologie à l’usage des générations présentes</a:t>
            </a:r>
            <a:r>
              <a:rPr lang="fr-FR" altLang="fr-FR" sz="2800" dirty="0">
                <a:effectLst/>
                <a:ea typeface="Calibri" panose="020F0502020204030204" pitchFamily="34" charset="0"/>
                <a:cs typeface="Times New Roman" panose="02020603050405020304" pitchFamily="18" charset="0"/>
              </a:rPr>
              <a:t>, Paris,  Seuil, 2015.</a:t>
            </a:r>
          </a:p>
          <a:p>
            <a:endParaRPr lang="fr-FR" altLang="fr-FR" dirty="0"/>
          </a:p>
          <a:p>
            <a:endParaRPr lang="fr-FR" altLang="fr-FR" cap="small" dirty="0"/>
          </a:p>
          <a:p>
            <a:endParaRPr lang="fr-FR" altLang="fr-FR" sz="2800" dirty="0">
              <a:effectLst/>
              <a:ea typeface="Calibri" panose="020F0502020204030204" pitchFamily="34" charset="0"/>
              <a:cs typeface="Times New Roman" panose="02020603050405020304" pitchFamily="18" charset="0"/>
            </a:endParaRPr>
          </a:p>
          <a:p>
            <a:endParaRPr lang="fr-FR" altLang="fr-FR" dirty="0"/>
          </a:p>
          <a:p>
            <a:endParaRPr lang="fr-FR" altLang="fr-FR" dirty="0"/>
          </a:p>
        </p:txBody>
      </p:sp>
      <p:sp>
        <p:nvSpPr>
          <p:cNvPr id="4" name="Espace réservé du pied de page 3">
            <a:extLst>
              <a:ext uri="{FF2B5EF4-FFF2-40B4-BE49-F238E27FC236}">
                <a16:creationId xmlns:a16="http://schemas.microsoft.com/office/drawing/2014/main" id="{396D4927-EE89-4B73-B2FD-8845B46D362B}"/>
              </a:ext>
            </a:extLst>
          </p:cNvPr>
          <p:cNvSpPr>
            <a:spLocks noGrp="1"/>
          </p:cNvSpPr>
          <p:nvPr>
            <p:ph type="ftr" sz="quarter" idx="11"/>
          </p:nvPr>
        </p:nvSpPr>
        <p:spPr/>
        <p:txBody>
          <a:bodyPr numCol="1"/>
          <a:lstStyle/>
          <a:p>
            <a:r>
              <a:rPr lang="fr-FR" altLang="fr-FR"/>
              <a:t>Pole Humanités Design Département des Relations Humaines</a:t>
            </a:r>
          </a:p>
        </p:txBody>
      </p:sp>
      <p:sp>
        <p:nvSpPr>
          <p:cNvPr id="5" name="Espace réservé du numéro de diapositive 4">
            <a:extLst>
              <a:ext uri="{FF2B5EF4-FFF2-40B4-BE49-F238E27FC236}">
                <a16:creationId xmlns:a16="http://schemas.microsoft.com/office/drawing/2014/main" id="{9FF79D57-8A3D-411B-A8B8-5AB64C10202F}"/>
              </a:ext>
            </a:extLst>
          </p:cNvPr>
          <p:cNvSpPr>
            <a:spLocks noGrp="1"/>
          </p:cNvSpPr>
          <p:nvPr>
            <p:ph type="sldNum" sz="quarter" idx="12"/>
          </p:nvPr>
        </p:nvSpPr>
        <p:spPr/>
        <p:txBody>
          <a:bodyPr numCol="1"/>
          <a:lstStyle/>
          <a:p>
            <a:fld id="{788DAB52-6294-4F97-81DD-ABD852645FBC}" type="slidenum">
              <a:rPr lang="fr-FR" altLang="fr-FR" smtClean="0"/>
              <a:t>79</a:t>
            </a:fld>
            <a:endParaRPr lang="fr-FR" altLang="fr-FR"/>
          </a:p>
        </p:txBody>
      </p:sp>
    </p:spTree>
    <p:extLst>
      <p:ext uri="{BB962C8B-B14F-4D97-AF65-F5344CB8AC3E}">
        <p14:creationId xmlns:p14="http://schemas.microsoft.com/office/powerpoint/2010/main" val="123900364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68752F1E70B64EA27820ECF0BC5103" ma:contentTypeVersion="3" ma:contentTypeDescription="Crée un document." ma:contentTypeScope="" ma:versionID="ff9cde02ecf24b7157ca1f97853a4715">
  <xsd:schema xmlns:xsd="http://www.w3.org/2001/XMLSchema" xmlns:xs="http://www.w3.org/2001/XMLSchema" xmlns:p="http://schemas.microsoft.com/office/2006/metadata/properties" xmlns:ns2="ac32fb3d-da83-4d8b-bd4e-dc700d76f940" targetNamespace="http://schemas.microsoft.com/office/2006/metadata/properties" ma:root="true" ma:fieldsID="715a9a4528d0a0c86702797b84fb7c2f" ns2:_="">
    <xsd:import namespace="ac32fb3d-da83-4d8b-bd4e-dc700d76f940"/>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32fb3d-da83-4d8b-bd4e-dc700d76f9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BD18F59-853B-4071-B02E-57378EFD3F72}"/>
</file>

<file path=customXml/itemProps2.xml><?xml version="1.0" encoding="utf-8"?>
<ds:datastoreItem xmlns:ds="http://schemas.openxmlformats.org/officeDocument/2006/customXml" ds:itemID="{CBEA3422-F77F-4943-B68D-54D9EC507CEB}"/>
</file>

<file path=customXml/itemProps3.xml><?xml version="1.0" encoding="utf-8"?>
<ds:datastoreItem xmlns:ds="http://schemas.openxmlformats.org/officeDocument/2006/customXml" ds:itemID="{265102D9-BB6E-42F4-8291-E336E2496A48}"/>
</file>

<file path=docProps/app.xml><?xml version="1.0" encoding="utf-8"?>
<Properties xmlns="http://schemas.openxmlformats.org/officeDocument/2006/extended-properties" xmlns:vt="http://schemas.openxmlformats.org/officeDocument/2006/docPropsVTypes">
  <Template/>
  <TotalTime>17088</TotalTime>
  <Words>9699</Words>
  <Application>Microsoft Office PowerPoint</Application>
  <PresentationFormat>Grand écran</PresentationFormat>
  <Paragraphs>647</Paragraphs>
  <Slides>79</Slides>
  <Notes>33</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79</vt:i4>
      </vt:variant>
    </vt:vector>
  </HeadingPairs>
  <TitlesOfParts>
    <vt:vector size="88" baseType="lpstr">
      <vt:lpstr>Alegreya SC</vt:lpstr>
      <vt:lpstr>Arial</vt:lpstr>
      <vt:lpstr>Calibri</vt:lpstr>
      <vt:lpstr>Calibri Light</vt:lpstr>
      <vt:lpstr>Gotham Medium</vt:lpstr>
      <vt:lpstr>Times New Roman</vt:lpstr>
      <vt:lpstr>Wingdings</vt:lpstr>
      <vt:lpstr>Thème Office</vt:lpstr>
      <vt:lpstr>1_Thème Office</vt:lpstr>
      <vt:lpstr>Ethique, sciences &amp; techniques</vt:lpstr>
      <vt:lpstr>Présentation PowerPoint</vt:lpstr>
      <vt:lpstr> 1) Du développement durable à l’idée d’anthropocène 2) Le « monde infini des modernes » : une illusion ? Bibliographie </vt:lpstr>
      <vt:lpstr>1) Du développement durable à l’idée d’anthropocène 2) Le « monde infini des modernes » : une illusion ? Bibliographie </vt:lpstr>
      <vt:lpstr>1) Du développement durable à l’idée d’anthropocène 2) Le « monde infini des modernes » : une illusion ? Bibliographie </vt:lpstr>
      <vt:lpstr>L’idée de « développement durable » : un prolongement de celle de progrès ?</vt:lpstr>
      <vt:lpstr>Présentation PowerPoint</vt:lpstr>
      <vt:lpstr>Présentation PowerPoint</vt:lpstr>
      <vt:lpstr>L’actualité du « développement durable » en question</vt:lpstr>
      <vt:lpstr>Présentation PowerPoint</vt:lpstr>
      <vt:lpstr>Présentation PowerPoint</vt:lpstr>
      <vt:lpstr>L’idée de « développement durable »</vt:lpstr>
      <vt:lpstr>Présentation PowerPoint</vt:lpstr>
      <vt:lpstr>Présentation PowerPoint</vt:lpstr>
      <vt:lpstr>Notre ambivalence à l’égard de l’idée de progrès</vt:lpstr>
      <vt:lpstr>Présentation PowerPoint</vt:lpstr>
      <vt:lpstr>Présentation PowerPoint</vt:lpstr>
      <vt:lpstr>Présentation PowerPoint</vt:lpstr>
      <vt:lpstr>Présentation PowerPoint</vt:lpstr>
      <vt:lpstr>Présentation PowerPoint</vt:lpstr>
      <vt:lpstr>De la naissance de la conscience environnementale à l’idée d’ « anthropocène »</vt:lpstr>
      <vt:lpstr>Une préoccupation (au moins) aussi ancienne que la révolution industrielle…</vt:lpstr>
      <vt:lpstr>Mais surtout relancée à partir des années 1970 Quelques repères chronologiques</vt:lpstr>
      <vt:lpstr>Présentation PowerPoint</vt:lpstr>
      <vt:lpstr>Enjeux et controverses</vt:lpstr>
      <vt:lpstr>Présentation PowerPoint</vt:lpstr>
      <vt:lpstr>Présentation PowerPoint</vt:lpstr>
      <vt:lpstr>Présentation PowerPoint</vt:lpstr>
      <vt:lpstr>L’ « anthropocène » : un changement de paradigme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L’anthropocène : limites et frontières </vt:lpstr>
      <vt:lpstr>Présentation PowerPoint</vt:lpstr>
      <vt:lpstr>Présentation PowerPoint</vt:lpstr>
      <vt:lpstr>Les limites planétaires (2009)</vt:lpstr>
      <vt:lpstr>Les limites planétaires (schéma actualisé en 2015)</vt:lpstr>
      <vt:lpstr>Présentation PowerPoint</vt:lpstr>
      <vt:lpstr>Rétroactions complexes et risques systémiques</vt:lpstr>
      <vt:lpstr>Présentation PowerPoint</vt:lpstr>
      <vt:lpstr>Changements climatiques et santé humaine</vt:lpstr>
      <vt:lpstr>Présentation PowerPoint</vt:lpstr>
      <vt:lpstr>De la possibilité d’un bon anthropocène : l’éco-modernisme ?</vt:lpstr>
      <vt:lpstr>L’éco-modernisme : vers un « bon anthropocène » ?</vt:lpstr>
      <vt:lpstr>L’éco-modernisme : vers un « bon anthropocène » ?</vt:lpstr>
      <vt:lpstr>Présentation PowerPoint</vt:lpstr>
      <vt:lpstr>Présentation PowerPoint</vt:lpstr>
      <vt:lpstr>Présentation PowerPoint</vt:lpstr>
      <vt:lpstr>Des pratiques plus réalistes, où les ingénieurs ont une place importante</vt:lpstr>
      <vt:lpstr> 1) Du développement durable à l’idée d’anthropocène 2) Le « monde infini des modernes » : une illusion ? Bibliographie </vt:lpstr>
      <vt:lpstr>Les fondements principiels de l’éthique environnementale</vt:lpstr>
      <vt:lpstr>Présentation PowerPoint</vt:lpstr>
      <vt:lpstr>L’environnementalisme humaniste</vt:lpstr>
      <vt:lpstr>Présentation PowerPoint</vt:lpstr>
      <vt:lpstr>Présentation PowerPoint</vt:lpstr>
      <vt:lpstr>L’environnementalisme non humaniste</vt:lpstr>
      <vt:lpstr>Le « pathocentrisme »</vt:lpstr>
      <vt:lpstr>Le biocentrisme</vt:lpstr>
      <vt:lpstr>Présentation PowerPoint</vt:lpstr>
      <vt:lpstr>L’écocentrisme et l’écologie profonde</vt:lpstr>
      <vt:lpstr>Présentation PowerPoint</vt:lpstr>
      <vt:lpstr>Les critiques de l’écologie profonde</vt:lpstr>
      <vt:lpstr>Pluralisme, hiérarchisation et contextualisation : le pragmatisme environnemental</vt:lpstr>
      <vt:lpstr>La fin de « l’univers infini » de la modernité ?</vt:lpstr>
      <vt:lpstr>La fin de l’ « univers infini », un sujet incarné et relationnel</vt:lpstr>
      <vt:lpstr>Présentation PowerPoint</vt:lpstr>
      <vt:lpstr>Présentation PowerPoint</vt:lpstr>
      <vt:lpstr>Présentation PowerPoint</vt:lpstr>
      <vt:lpstr>Présentation PowerPoint</vt:lpstr>
      <vt:lpstr>En guise de conclusion…</vt:lpstr>
      <vt:lpstr>Présentation PowerPoint</vt:lpstr>
      <vt:lpstr>1) Trois approches de l’éthique environnementale 2) Du développement durable à l’idée d’anthropocène 3) Le « monde infini des modernes » : une illusion ? Bibliographie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aux SHS</dc:title>
  <dc:creator>Alexis Weinberg</dc:creator>
  <cp:lastModifiedBy>Alexis Weinberg</cp:lastModifiedBy>
  <cp:revision>189</cp:revision>
  <dcterms:created xsi:type="dcterms:W3CDTF">2021-08-26T07:32:59Z</dcterms:created>
  <dcterms:modified xsi:type="dcterms:W3CDTF">2023-10-27T12:40:27Z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0x0101000368752F1E70B64EA27820ECF0BC5103</vt:lpwstr>
  </property>
</Properties>
</file>