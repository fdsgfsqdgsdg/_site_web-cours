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59" r:id="rId4"/>
    <p:sldId id="260" r:id="rId5"/>
    <p:sldId id="261" r:id="rId6"/>
    <p:sldId id="262" r:id="rId7"/>
    <p:sldId id="267" r:id="rId8"/>
    <p:sldId id="263" r:id="rId9"/>
    <p:sldId id="279" r:id="rId10"/>
    <p:sldId id="282" r:id="rId11"/>
    <p:sldId id="280" r:id="rId12"/>
    <p:sldId id="281" r:id="rId13"/>
    <p:sldId id="264" r:id="rId14"/>
    <p:sldId id="284" r:id="rId15"/>
    <p:sldId id="285" r:id="rId16"/>
    <p:sldId id="286" r:id="rId17"/>
    <p:sldId id="287" r:id="rId18"/>
    <p:sldId id="265" r:id="rId19"/>
    <p:sldId id="293" r:id="rId20"/>
    <p:sldId id="294" r:id="rId21"/>
    <p:sldId id="295" r:id="rId22"/>
    <p:sldId id="297" r:id="rId23"/>
    <p:sldId id="288" r:id="rId24"/>
    <p:sldId id="289" r:id="rId25"/>
    <p:sldId id="290" r:id="rId26"/>
    <p:sldId id="291" r:id="rId27"/>
    <p:sldId id="292" r:id="rId28"/>
    <p:sldId id="268" r:id="rId29"/>
    <p:sldId id="269" r:id="rId30"/>
    <p:sldId id="272" r:id="rId31"/>
    <p:sldId id="270" r:id="rId32"/>
    <p:sldId id="257" r:id="rId3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90DC8-6B45-4178-8468-04C46C69BD2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9DCCA02-916D-43C6-8E3E-BC94D2E0AF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135CEE8D-BAE3-4A82-A355-D4FAAF81D546}"/>
              </a:ext>
            </a:extLst>
          </p:cNvPr>
          <p:cNvSpPr>
            <a:spLocks noGrp="1"/>
          </p:cNvSpPr>
          <p:nvPr>
            <p:ph type="dt" sz="half" idx="10"/>
          </p:nvPr>
        </p:nvSpPr>
        <p:spPr/>
        <p:txBody>
          <a:bodyPr/>
          <a:lstStyle/>
          <a:p>
            <a:fld id="{C86441E9-0F3D-4C33-B8BE-FFBE81006022}" type="datetimeFigureOut">
              <a:rPr lang="fr-FR" smtClean="0"/>
              <a:t>01/12/2023</a:t>
            </a:fld>
            <a:endParaRPr lang="fr-FR"/>
          </a:p>
        </p:txBody>
      </p:sp>
      <p:sp>
        <p:nvSpPr>
          <p:cNvPr id="5" name="Espace réservé du pied de page 4">
            <a:extLst>
              <a:ext uri="{FF2B5EF4-FFF2-40B4-BE49-F238E27FC236}">
                <a16:creationId xmlns:a16="http://schemas.microsoft.com/office/drawing/2014/main" id="{2CE5FD25-3595-44D1-B5E1-045AE71537B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35778D0-99EF-40A0-A84C-27652E176EFC}"/>
              </a:ext>
            </a:extLst>
          </p:cNvPr>
          <p:cNvSpPr>
            <a:spLocks noGrp="1"/>
          </p:cNvSpPr>
          <p:nvPr>
            <p:ph type="sldNum" sz="quarter" idx="12"/>
          </p:nvPr>
        </p:nvSpPr>
        <p:spPr/>
        <p:txBody>
          <a:bodyPr/>
          <a:lstStyle/>
          <a:p>
            <a:fld id="{37983E81-C5A9-48AD-AF6E-FAB1354EA8B7}" type="slidenum">
              <a:rPr lang="fr-FR" smtClean="0"/>
              <a:t>‹N°›</a:t>
            </a:fld>
            <a:endParaRPr lang="fr-FR"/>
          </a:p>
        </p:txBody>
      </p:sp>
    </p:spTree>
    <p:extLst>
      <p:ext uri="{BB962C8B-B14F-4D97-AF65-F5344CB8AC3E}">
        <p14:creationId xmlns:p14="http://schemas.microsoft.com/office/powerpoint/2010/main" val="3318344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937AC0-7510-4704-AA11-8E5F59C0ED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8F3F917-FB8D-4B1D-BCEE-3F42AFAA38BF}"/>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87B70E0-FAE1-4801-93A8-067DD8D1B514}"/>
              </a:ext>
            </a:extLst>
          </p:cNvPr>
          <p:cNvSpPr>
            <a:spLocks noGrp="1"/>
          </p:cNvSpPr>
          <p:nvPr>
            <p:ph type="dt" sz="half" idx="10"/>
          </p:nvPr>
        </p:nvSpPr>
        <p:spPr/>
        <p:txBody>
          <a:bodyPr/>
          <a:lstStyle/>
          <a:p>
            <a:fld id="{C86441E9-0F3D-4C33-B8BE-FFBE81006022}" type="datetimeFigureOut">
              <a:rPr lang="fr-FR" smtClean="0"/>
              <a:t>01/12/2023</a:t>
            </a:fld>
            <a:endParaRPr lang="fr-FR"/>
          </a:p>
        </p:txBody>
      </p:sp>
      <p:sp>
        <p:nvSpPr>
          <p:cNvPr id="5" name="Espace réservé du pied de page 4">
            <a:extLst>
              <a:ext uri="{FF2B5EF4-FFF2-40B4-BE49-F238E27FC236}">
                <a16:creationId xmlns:a16="http://schemas.microsoft.com/office/drawing/2014/main" id="{BC18ABE6-EBB6-4795-99DD-739DA0B71B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585D4FD-AB91-4AAA-B3C2-BA174887C61A}"/>
              </a:ext>
            </a:extLst>
          </p:cNvPr>
          <p:cNvSpPr>
            <a:spLocks noGrp="1"/>
          </p:cNvSpPr>
          <p:nvPr>
            <p:ph type="sldNum" sz="quarter" idx="12"/>
          </p:nvPr>
        </p:nvSpPr>
        <p:spPr/>
        <p:txBody>
          <a:bodyPr/>
          <a:lstStyle/>
          <a:p>
            <a:fld id="{37983E81-C5A9-48AD-AF6E-FAB1354EA8B7}" type="slidenum">
              <a:rPr lang="fr-FR" smtClean="0"/>
              <a:t>‹N°›</a:t>
            </a:fld>
            <a:endParaRPr lang="fr-FR"/>
          </a:p>
        </p:txBody>
      </p:sp>
    </p:spTree>
    <p:extLst>
      <p:ext uri="{BB962C8B-B14F-4D97-AF65-F5344CB8AC3E}">
        <p14:creationId xmlns:p14="http://schemas.microsoft.com/office/powerpoint/2010/main" val="1912778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DC7F51-7310-4632-9635-B5E7B6D93DA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F3EEDCA-B2C8-4C99-9347-D9810318C1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B058606A-0127-4278-8D25-7A9FF61A2CA6}"/>
              </a:ext>
            </a:extLst>
          </p:cNvPr>
          <p:cNvSpPr>
            <a:spLocks noGrp="1"/>
          </p:cNvSpPr>
          <p:nvPr>
            <p:ph type="dt" sz="half" idx="10"/>
          </p:nvPr>
        </p:nvSpPr>
        <p:spPr/>
        <p:txBody>
          <a:bodyPr/>
          <a:lstStyle/>
          <a:p>
            <a:fld id="{C86441E9-0F3D-4C33-B8BE-FFBE81006022}" type="datetimeFigureOut">
              <a:rPr lang="fr-FR" smtClean="0"/>
              <a:t>01/12/2023</a:t>
            </a:fld>
            <a:endParaRPr lang="fr-FR"/>
          </a:p>
        </p:txBody>
      </p:sp>
      <p:sp>
        <p:nvSpPr>
          <p:cNvPr id="5" name="Espace réservé du pied de page 4">
            <a:extLst>
              <a:ext uri="{FF2B5EF4-FFF2-40B4-BE49-F238E27FC236}">
                <a16:creationId xmlns:a16="http://schemas.microsoft.com/office/drawing/2014/main" id="{D4AACA75-A05E-4C83-8D83-4D937292584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14007EE-76E6-4741-9D9D-BDE65382EB5E}"/>
              </a:ext>
            </a:extLst>
          </p:cNvPr>
          <p:cNvSpPr>
            <a:spLocks noGrp="1"/>
          </p:cNvSpPr>
          <p:nvPr>
            <p:ph type="sldNum" sz="quarter" idx="12"/>
          </p:nvPr>
        </p:nvSpPr>
        <p:spPr/>
        <p:txBody>
          <a:bodyPr/>
          <a:lstStyle/>
          <a:p>
            <a:fld id="{37983E81-C5A9-48AD-AF6E-FAB1354EA8B7}" type="slidenum">
              <a:rPr lang="fr-FR" smtClean="0"/>
              <a:t>‹N°›</a:t>
            </a:fld>
            <a:endParaRPr lang="fr-FR"/>
          </a:p>
        </p:txBody>
      </p:sp>
    </p:spTree>
    <p:extLst>
      <p:ext uri="{BB962C8B-B14F-4D97-AF65-F5344CB8AC3E}">
        <p14:creationId xmlns:p14="http://schemas.microsoft.com/office/powerpoint/2010/main" val="4279040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0F3B0B-32E6-4DB0-A2C1-E092C80A663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1A2F3F0-26FC-4B28-A2EF-A747E565571D}"/>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9778FE6-C067-4B3A-9747-9D570E5B6C24}"/>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0F9B1A0-2B11-42E8-978F-0D6C9883E081}"/>
              </a:ext>
            </a:extLst>
          </p:cNvPr>
          <p:cNvSpPr>
            <a:spLocks noGrp="1"/>
          </p:cNvSpPr>
          <p:nvPr>
            <p:ph type="dt" sz="half" idx="10"/>
          </p:nvPr>
        </p:nvSpPr>
        <p:spPr/>
        <p:txBody>
          <a:bodyPr/>
          <a:lstStyle/>
          <a:p>
            <a:fld id="{C86441E9-0F3D-4C33-B8BE-FFBE81006022}" type="datetimeFigureOut">
              <a:rPr lang="fr-FR" smtClean="0"/>
              <a:t>01/12/2023</a:t>
            </a:fld>
            <a:endParaRPr lang="fr-FR"/>
          </a:p>
        </p:txBody>
      </p:sp>
      <p:sp>
        <p:nvSpPr>
          <p:cNvPr id="6" name="Espace réservé du pied de page 5">
            <a:extLst>
              <a:ext uri="{FF2B5EF4-FFF2-40B4-BE49-F238E27FC236}">
                <a16:creationId xmlns:a16="http://schemas.microsoft.com/office/drawing/2014/main" id="{F0D73988-40C8-4D34-BF3E-C7BF0148D3C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6283058-A98D-4A7C-8EC5-C53C02E31FAD}"/>
              </a:ext>
            </a:extLst>
          </p:cNvPr>
          <p:cNvSpPr>
            <a:spLocks noGrp="1"/>
          </p:cNvSpPr>
          <p:nvPr>
            <p:ph type="sldNum" sz="quarter" idx="12"/>
          </p:nvPr>
        </p:nvSpPr>
        <p:spPr/>
        <p:txBody>
          <a:bodyPr/>
          <a:lstStyle/>
          <a:p>
            <a:fld id="{37983E81-C5A9-48AD-AF6E-FAB1354EA8B7}" type="slidenum">
              <a:rPr lang="fr-FR" smtClean="0"/>
              <a:t>‹N°›</a:t>
            </a:fld>
            <a:endParaRPr lang="fr-FR"/>
          </a:p>
        </p:txBody>
      </p:sp>
    </p:spTree>
    <p:extLst>
      <p:ext uri="{BB962C8B-B14F-4D97-AF65-F5344CB8AC3E}">
        <p14:creationId xmlns:p14="http://schemas.microsoft.com/office/powerpoint/2010/main" val="2069852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7C5499-3517-4997-A7B3-B79B85EB8BB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8AFD28E-9CE6-44AF-8173-2CD493C21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97D1E111-9F34-4807-BA7F-64FA8F454F5C}"/>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4AEABBA-8FE6-4092-9670-FECBDE5501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75CA7BDC-BD87-4718-8603-9CF98D67A131}"/>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5AA1B2C-13C5-4BA0-A924-9CBE78878008}"/>
              </a:ext>
            </a:extLst>
          </p:cNvPr>
          <p:cNvSpPr>
            <a:spLocks noGrp="1"/>
          </p:cNvSpPr>
          <p:nvPr>
            <p:ph type="dt" sz="half" idx="10"/>
          </p:nvPr>
        </p:nvSpPr>
        <p:spPr/>
        <p:txBody>
          <a:bodyPr/>
          <a:lstStyle/>
          <a:p>
            <a:fld id="{C86441E9-0F3D-4C33-B8BE-FFBE81006022}" type="datetimeFigureOut">
              <a:rPr lang="fr-FR" smtClean="0"/>
              <a:t>01/12/2023</a:t>
            </a:fld>
            <a:endParaRPr lang="fr-FR"/>
          </a:p>
        </p:txBody>
      </p:sp>
      <p:sp>
        <p:nvSpPr>
          <p:cNvPr id="8" name="Espace réservé du pied de page 7">
            <a:extLst>
              <a:ext uri="{FF2B5EF4-FFF2-40B4-BE49-F238E27FC236}">
                <a16:creationId xmlns:a16="http://schemas.microsoft.com/office/drawing/2014/main" id="{0E80324D-A02C-48C4-A0F1-DC89D1C2B67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8C7CDEC2-B544-4FCC-8918-BF499D3D75DF}"/>
              </a:ext>
            </a:extLst>
          </p:cNvPr>
          <p:cNvSpPr>
            <a:spLocks noGrp="1"/>
          </p:cNvSpPr>
          <p:nvPr>
            <p:ph type="sldNum" sz="quarter" idx="12"/>
          </p:nvPr>
        </p:nvSpPr>
        <p:spPr/>
        <p:txBody>
          <a:bodyPr/>
          <a:lstStyle/>
          <a:p>
            <a:fld id="{37983E81-C5A9-48AD-AF6E-FAB1354EA8B7}" type="slidenum">
              <a:rPr lang="fr-FR" smtClean="0"/>
              <a:t>‹N°›</a:t>
            </a:fld>
            <a:endParaRPr lang="fr-FR"/>
          </a:p>
        </p:txBody>
      </p:sp>
    </p:spTree>
    <p:extLst>
      <p:ext uri="{BB962C8B-B14F-4D97-AF65-F5344CB8AC3E}">
        <p14:creationId xmlns:p14="http://schemas.microsoft.com/office/powerpoint/2010/main" val="1161777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ABE147-24E7-40B9-80F4-DE9A5DAD7A0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E8B6CDD-967E-495A-9085-90C7F14945C4}"/>
              </a:ext>
            </a:extLst>
          </p:cNvPr>
          <p:cNvSpPr>
            <a:spLocks noGrp="1"/>
          </p:cNvSpPr>
          <p:nvPr>
            <p:ph type="dt" sz="half" idx="10"/>
          </p:nvPr>
        </p:nvSpPr>
        <p:spPr/>
        <p:txBody>
          <a:bodyPr/>
          <a:lstStyle/>
          <a:p>
            <a:fld id="{C86441E9-0F3D-4C33-B8BE-FFBE81006022}" type="datetimeFigureOut">
              <a:rPr lang="fr-FR" smtClean="0"/>
              <a:t>01/12/2023</a:t>
            </a:fld>
            <a:endParaRPr lang="fr-FR"/>
          </a:p>
        </p:txBody>
      </p:sp>
      <p:sp>
        <p:nvSpPr>
          <p:cNvPr id="4" name="Espace réservé du pied de page 3">
            <a:extLst>
              <a:ext uri="{FF2B5EF4-FFF2-40B4-BE49-F238E27FC236}">
                <a16:creationId xmlns:a16="http://schemas.microsoft.com/office/drawing/2014/main" id="{D9F1FFFA-3171-4D96-8017-DE465CC8E264}"/>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76B4CF1-E690-4202-80F4-E9A3466883F5}"/>
              </a:ext>
            </a:extLst>
          </p:cNvPr>
          <p:cNvSpPr>
            <a:spLocks noGrp="1"/>
          </p:cNvSpPr>
          <p:nvPr>
            <p:ph type="sldNum" sz="quarter" idx="12"/>
          </p:nvPr>
        </p:nvSpPr>
        <p:spPr/>
        <p:txBody>
          <a:bodyPr/>
          <a:lstStyle/>
          <a:p>
            <a:fld id="{37983E81-C5A9-48AD-AF6E-FAB1354EA8B7}" type="slidenum">
              <a:rPr lang="fr-FR" smtClean="0"/>
              <a:t>‹N°›</a:t>
            </a:fld>
            <a:endParaRPr lang="fr-FR"/>
          </a:p>
        </p:txBody>
      </p:sp>
    </p:spTree>
    <p:extLst>
      <p:ext uri="{BB962C8B-B14F-4D97-AF65-F5344CB8AC3E}">
        <p14:creationId xmlns:p14="http://schemas.microsoft.com/office/powerpoint/2010/main" val="1978888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8265502-8299-453D-AB2B-BA6B78DF2899}"/>
              </a:ext>
            </a:extLst>
          </p:cNvPr>
          <p:cNvSpPr>
            <a:spLocks noGrp="1"/>
          </p:cNvSpPr>
          <p:nvPr>
            <p:ph type="dt" sz="half" idx="10"/>
          </p:nvPr>
        </p:nvSpPr>
        <p:spPr/>
        <p:txBody>
          <a:bodyPr/>
          <a:lstStyle/>
          <a:p>
            <a:fld id="{C86441E9-0F3D-4C33-B8BE-FFBE81006022}" type="datetimeFigureOut">
              <a:rPr lang="fr-FR" smtClean="0"/>
              <a:t>01/12/2023</a:t>
            </a:fld>
            <a:endParaRPr lang="fr-FR"/>
          </a:p>
        </p:txBody>
      </p:sp>
      <p:sp>
        <p:nvSpPr>
          <p:cNvPr id="3" name="Espace réservé du pied de page 2">
            <a:extLst>
              <a:ext uri="{FF2B5EF4-FFF2-40B4-BE49-F238E27FC236}">
                <a16:creationId xmlns:a16="http://schemas.microsoft.com/office/drawing/2014/main" id="{DB49BA19-D5B6-4869-84D9-EB61E2A96C9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B7E7DCC-CEE2-4597-8C63-B769E30AFCF5}"/>
              </a:ext>
            </a:extLst>
          </p:cNvPr>
          <p:cNvSpPr>
            <a:spLocks noGrp="1"/>
          </p:cNvSpPr>
          <p:nvPr>
            <p:ph type="sldNum" sz="quarter" idx="12"/>
          </p:nvPr>
        </p:nvSpPr>
        <p:spPr/>
        <p:txBody>
          <a:bodyPr/>
          <a:lstStyle/>
          <a:p>
            <a:fld id="{37983E81-C5A9-48AD-AF6E-FAB1354EA8B7}" type="slidenum">
              <a:rPr lang="fr-FR" smtClean="0"/>
              <a:t>‹N°›</a:t>
            </a:fld>
            <a:endParaRPr lang="fr-FR"/>
          </a:p>
        </p:txBody>
      </p:sp>
    </p:spTree>
    <p:extLst>
      <p:ext uri="{BB962C8B-B14F-4D97-AF65-F5344CB8AC3E}">
        <p14:creationId xmlns:p14="http://schemas.microsoft.com/office/powerpoint/2010/main" val="647976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90EC8-ADA3-4836-9D57-CD15FA37F06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D3291C1-7DA1-497E-9BB3-D44471B3E2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76DAEEB-19F7-44CA-A29B-6441C8550B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7F004F63-60AF-4520-B295-5D405C263D63}"/>
              </a:ext>
            </a:extLst>
          </p:cNvPr>
          <p:cNvSpPr>
            <a:spLocks noGrp="1"/>
          </p:cNvSpPr>
          <p:nvPr>
            <p:ph type="dt" sz="half" idx="10"/>
          </p:nvPr>
        </p:nvSpPr>
        <p:spPr/>
        <p:txBody>
          <a:bodyPr/>
          <a:lstStyle/>
          <a:p>
            <a:fld id="{C86441E9-0F3D-4C33-B8BE-FFBE81006022}" type="datetimeFigureOut">
              <a:rPr lang="fr-FR" smtClean="0"/>
              <a:t>01/12/2023</a:t>
            </a:fld>
            <a:endParaRPr lang="fr-FR"/>
          </a:p>
        </p:txBody>
      </p:sp>
      <p:sp>
        <p:nvSpPr>
          <p:cNvPr id="6" name="Espace réservé du pied de page 5">
            <a:extLst>
              <a:ext uri="{FF2B5EF4-FFF2-40B4-BE49-F238E27FC236}">
                <a16:creationId xmlns:a16="http://schemas.microsoft.com/office/drawing/2014/main" id="{30CFF498-8A41-41B8-9CB4-1028D5344F5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15CF5EB-9E9A-49A2-B766-671613F780B6}"/>
              </a:ext>
            </a:extLst>
          </p:cNvPr>
          <p:cNvSpPr>
            <a:spLocks noGrp="1"/>
          </p:cNvSpPr>
          <p:nvPr>
            <p:ph type="sldNum" sz="quarter" idx="12"/>
          </p:nvPr>
        </p:nvSpPr>
        <p:spPr/>
        <p:txBody>
          <a:bodyPr/>
          <a:lstStyle/>
          <a:p>
            <a:fld id="{37983E81-C5A9-48AD-AF6E-FAB1354EA8B7}" type="slidenum">
              <a:rPr lang="fr-FR" smtClean="0"/>
              <a:t>‹N°›</a:t>
            </a:fld>
            <a:endParaRPr lang="fr-FR"/>
          </a:p>
        </p:txBody>
      </p:sp>
    </p:spTree>
    <p:extLst>
      <p:ext uri="{BB962C8B-B14F-4D97-AF65-F5344CB8AC3E}">
        <p14:creationId xmlns:p14="http://schemas.microsoft.com/office/powerpoint/2010/main" val="998832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F5A5E9-DA39-4672-86DD-FA23C486BB3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5BFC030-0BFD-4EE6-9348-A5F13D74CC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52E2695-69AD-40DF-A07A-6599369F52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48EAC5F8-DFE9-4093-8C87-6EA9A3357134}"/>
              </a:ext>
            </a:extLst>
          </p:cNvPr>
          <p:cNvSpPr>
            <a:spLocks noGrp="1"/>
          </p:cNvSpPr>
          <p:nvPr>
            <p:ph type="dt" sz="half" idx="10"/>
          </p:nvPr>
        </p:nvSpPr>
        <p:spPr/>
        <p:txBody>
          <a:bodyPr/>
          <a:lstStyle/>
          <a:p>
            <a:fld id="{C86441E9-0F3D-4C33-B8BE-FFBE81006022}" type="datetimeFigureOut">
              <a:rPr lang="fr-FR" smtClean="0"/>
              <a:t>01/12/2023</a:t>
            </a:fld>
            <a:endParaRPr lang="fr-FR"/>
          </a:p>
        </p:txBody>
      </p:sp>
      <p:sp>
        <p:nvSpPr>
          <p:cNvPr id="6" name="Espace réservé du pied de page 5">
            <a:extLst>
              <a:ext uri="{FF2B5EF4-FFF2-40B4-BE49-F238E27FC236}">
                <a16:creationId xmlns:a16="http://schemas.microsoft.com/office/drawing/2014/main" id="{3C976774-576C-4F3E-BFF7-2C669B71BF3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4229BBC-F1DC-488C-B2B3-DD8EAA45CE59}"/>
              </a:ext>
            </a:extLst>
          </p:cNvPr>
          <p:cNvSpPr>
            <a:spLocks noGrp="1"/>
          </p:cNvSpPr>
          <p:nvPr>
            <p:ph type="sldNum" sz="quarter" idx="12"/>
          </p:nvPr>
        </p:nvSpPr>
        <p:spPr/>
        <p:txBody>
          <a:bodyPr/>
          <a:lstStyle/>
          <a:p>
            <a:fld id="{37983E81-C5A9-48AD-AF6E-FAB1354EA8B7}" type="slidenum">
              <a:rPr lang="fr-FR" smtClean="0"/>
              <a:t>‹N°›</a:t>
            </a:fld>
            <a:endParaRPr lang="fr-FR"/>
          </a:p>
        </p:txBody>
      </p:sp>
    </p:spTree>
    <p:extLst>
      <p:ext uri="{BB962C8B-B14F-4D97-AF65-F5344CB8AC3E}">
        <p14:creationId xmlns:p14="http://schemas.microsoft.com/office/powerpoint/2010/main" val="1435819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7502DA-4D35-418D-BCE1-86042DD3CBF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D647198-6950-4DF5-B464-48A916575B2A}"/>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24CEDFA-2AFA-422D-9517-67B9551BE8CF}"/>
              </a:ext>
            </a:extLst>
          </p:cNvPr>
          <p:cNvSpPr>
            <a:spLocks noGrp="1"/>
          </p:cNvSpPr>
          <p:nvPr>
            <p:ph type="dt" sz="half" idx="10"/>
          </p:nvPr>
        </p:nvSpPr>
        <p:spPr/>
        <p:txBody>
          <a:bodyPr/>
          <a:lstStyle/>
          <a:p>
            <a:fld id="{C86441E9-0F3D-4C33-B8BE-FFBE81006022}" type="datetimeFigureOut">
              <a:rPr lang="fr-FR" smtClean="0"/>
              <a:t>01/12/2023</a:t>
            </a:fld>
            <a:endParaRPr lang="fr-FR"/>
          </a:p>
        </p:txBody>
      </p:sp>
      <p:sp>
        <p:nvSpPr>
          <p:cNvPr id="5" name="Espace réservé du pied de page 4">
            <a:extLst>
              <a:ext uri="{FF2B5EF4-FFF2-40B4-BE49-F238E27FC236}">
                <a16:creationId xmlns:a16="http://schemas.microsoft.com/office/drawing/2014/main" id="{E0B1D259-42F6-4B72-86B5-8F4035B581A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E719739-0AA1-4521-8C42-FE2C13FDA42D}"/>
              </a:ext>
            </a:extLst>
          </p:cNvPr>
          <p:cNvSpPr>
            <a:spLocks noGrp="1"/>
          </p:cNvSpPr>
          <p:nvPr>
            <p:ph type="sldNum" sz="quarter" idx="12"/>
          </p:nvPr>
        </p:nvSpPr>
        <p:spPr/>
        <p:txBody>
          <a:bodyPr/>
          <a:lstStyle/>
          <a:p>
            <a:fld id="{37983E81-C5A9-48AD-AF6E-FAB1354EA8B7}" type="slidenum">
              <a:rPr lang="fr-FR" smtClean="0"/>
              <a:t>‹N°›</a:t>
            </a:fld>
            <a:endParaRPr lang="fr-FR"/>
          </a:p>
        </p:txBody>
      </p:sp>
    </p:spTree>
    <p:extLst>
      <p:ext uri="{BB962C8B-B14F-4D97-AF65-F5344CB8AC3E}">
        <p14:creationId xmlns:p14="http://schemas.microsoft.com/office/powerpoint/2010/main" val="2675658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966075B-009B-4E7A-A4C0-77B9FD19A49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2D8D162-4D73-4FB0-BF02-21993588BF4D}"/>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2F8F774-D3E0-4E8A-BABD-2577BCCD7FC3}"/>
              </a:ext>
            </a:extLst>
          </p:cNvPr>
          <p:cNvSpPr>
            <a:spLocks noGrp="1"/>
          </p:cNvSpPr>
          <p:nvPr>
            <p:ph type="dt" sz="half" idx="10"/>
          </p:nvPr>
        </p:nvSpPr>
        <p:spPr/>
        <p:txBody>
          <a:bodyPr/>
          <a:lstStyle/>
          <a:p>
            <a:fld id="{C86441E9-0F3D-4C33-B8BE-FFBE81006022}" type="datetimeFigureOut">
              <a:rPr lang="fr-FR" smtClean="0"/>
              <a:t>01/12/2023</a:t>
            </a:fld>
            <a:endParaRPr lang="fr-FR"/>
          </a:p>
        </p:txBody>
      </p:sp>
      <p:sp>
        <p:nvSpPr>
          <p:cNvPr id="5" name="Espace réservé du pied de page 4">
            <a:extLst>
              <a:ext uri="{FF2B5EF4-FFF2-40B4-BE49-F238E27FC236}">
                <a16:creationId xmlns:a16="http://schemas.microsoft.com/office/drawing/2014/main" id="{ACDFEC7B-2B25-4CF6-92CC-593DCA288C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A53E2E9-012E-444B-9E8E-665A77E2580E}"/>
              </a:ext>
            </a:extLst>
          </p:cNvPr>
          <p:cNvSpPr>
            <a:spLocks noGrp="1"/>
          </p:cNvSpPr>
          <p:nvPr>
            <p:ph type="sldNum" sz="quarter" idx="12"/>
          </p:nvPr>
        </p:nvSpPr>
        <p:spPr/>
        <p:txBody>
          <a:bodyPr/>
          <a:lstStyle/>
          <a:p>
            <a:fld id="{37983E81-C5A9-48AD-AF6E-FAB1354EA8B7}" type="slidenum">
              <a:rPr lang="fr-FR" smtClean="0"/>
              <a:t>‹N°›</a:t>
            </a:fld>
            <a:endParaRPr lang="fr-FR"/>
          </a:p>
        </p:txBody>
      </p:sp>
    </p:spTree>
    <p:extLst>
      <p:ext uri="{BB962C8B-B14F-4D97-AF65-F5344CB8AC3E}">
        <p14:creationId xmlns:p14="http://schemas.microsoft.com/office/powerpoint/2010/main" val="105729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5E92633-9279-44BF-8147-961D709BB7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0889DF2-CC16-4961-8CE5-25B41B6FC1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5DB0888-F88F-4A08-A853-DDCBA98A32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6441E9-0F3D-4C33-B8BE-FFBE81006022}" type="datetimeFigureOut">
              <a:rPr lang="fr-FR" smtClean="0"/>
              <a:t>01/12/2023</a:t>
            </a:fld>
            <a:endParaRPr lang="fr-FR"/>
          </a:p>
        </p:txBody>
      </p:sp>
      <p:sp>
        <p:nvSpPr>
          <p:cNvPr id="5" name="Espace réservé du pied de page 4">
            <a:extLst>
              <a:ext uri="{FF2B5EF4-FFF2-40B4-BE49-F238E27FC236}">
                <a16:creationId xmlns:a16="http://schemas.microsoft.com/office/drawing/2014/main" id="{ED29E227-2272-4ADA-A235-D8CA1A54CA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C3CC372-7A97-4DE0-850C-23B78C1974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983E81-C5A9-48AD-AF6E-FAB1354EA8B7}" type="slidenum">
              <a:rPr lang="fr-FR" smtClean="0"/>
              <a:t>‹N°›</a:t>
            </a:fld>
            <a:endParaRPr lang="fr-FR"/>
          </a:p>
        </p:txBody>
      </p:sp>
    </p:spTree>
    <p:extLst>
      <p:ext uri="{BB962C8B-B14F-4D97-AF65-F5344CB8AC3E}">
        <p14:creationId xmlns:p14="http://schemas.microsoft.com/office/powerpoint/2010/main" val="3976434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9E4D52-D34C-4D9B-9DEA-7B97FEAC3CAD}"/>
              </a:ext>
            </a:extLst>
          </p:cNvPr>
          <p:cNvSpPr>
            <a:spLocks noGrp="1"/>
          </p:cNvSpPr>
          <p:nvPr>
            <p:ph type="ctrTitle"/>
          </p:nvPr>
        </p:nvSpPr>
        <p:spPr>
          <a:xfrm>
            <a:off x="1525638" y="281549"/>
            <a:ext cx="9506155" cy="1994203"/>
          </a:xfrm>
          <a:ln>
            <a:solidFill>
              <a:srgbClr val="0070C0"/>
            </a:solidFill>
          </a:ln>
        </p:spPr>
        <p:txBody>
          <a:bodyPr>
            <a:normAutofit/>
          </a:bodyPr>
          <a:lstStyle/>
          <a:p>
            <a:r>
              <a:rPr lang="fr-FR" dirty="0">
                <a:solidFill>
                  <a:srgbClr val="0070C0"/>
                </a:solidFill>
              </a:rPr>
              <a:t>Activités de révision en Ethique générale</a:t>
            </a:r>
            <a:endParaRPr lang="fr-FR" sz="4400" dirty="0">
              <a:solidFill>
                <a:srgbClr val="0070C0"/>
              </a:solidFill>
            </a:endParaRPr>
          </a:p>
        </p:txBody>
      </p:sp>
      <p:pic>
        <p:nvPicPr>
          <p:cNvPr id="4" name="Google Shape;90;p13">
            <a:extLst>
              <a:ext uri="{FF2B5EF4-FFF2-40B4-BE49-F238E27FC236}">
                <a16:creationId xmlns:a16="http://schemas.microsoft.com/office/drawing/2014/main" id="{29C9DE49-DBCB-4D57-AC0E-E701A6420B53}"/>
              </a:ext>
            </a:extLst>
          </p:cNvPr>
          <p:cNvPicPr preferRelativeResize="0"/>
          <p:nvPr/>
        </p:nvPicPr>
        <p:blipFill rotWithShape="1">
          <a:blip r:embed="rId2">
            <a:alphaModFix/>
          </a:blip>
          <a:srcRect/>
          <a:stretch/>
        </p:blipFill>
        <p:spPr>
          <a:xfrm>
            <a:off x="68144" y="32090"/>
            <a:ext cx="1299102" cy="686750"/>
          </a:xfrm>
          <a:prstGeom prst="rect">
            <a:avLst/>
          </a:prstGeom>
          <a:noFill/>
          <a:ln>
            <a:noFill/>
          </a:ln>
        </p:spPr>
      </p:pic>
      <p:pic>
        <p:nvPicPr>
          <p:cNvPr id="5" name="Google Shape;91;p13">
            <a:extLst>
              <a:ext uri="{FF2B5EF4-FFF2-40B4-BE49-F238E27FC236}">
                <a16:creationId xmlns:a16="http://schemas.microsoft.com/office/drawing/2014/main" id="{9754529B-6D3F-475A-83BF-3DBE550010D7}"/>
              </a:ext>
            </a:extLst>
          </p:cNvPr>
          <p:cNvPicPr preferRelativeResize="0"/>
          <p:nvPr/>
        </p:nvPicPr>
        <p:blipFill rotWithShape="1">
          <a:blip r:embed="rId3">
            <a:alphaModFix/>
          </a:blip>
          <a:srcRect/>
          <a:stretch/>
        </p:blipFill>
        <p:spPr>
          <a:xfrm>
            <a:off x="9843655" y="6040814"/>
            <a:ext cx="1938531" cy="640149"/>
          </a:xfrm>
          <a:prstGeom prst="rect">
            <a:avLst/>
          </a:prstGeom>
          <a:noFill/>
          <a:ln>
            <a:noFill/>
          </a:ln>
        </p:spPr>
      </p:pic>
      <p:pic>
        <p:nvPicPr>
          <p:cNvPr id="1032" name="Picture 8" descr="Philosophie | Éthique et morale - Centre de Ressources Pédagogiques">
            <a:extLst>
              <a:ext uri="{FF2B5EF4-FFF2-40B4-BE49-F238E27FC236}">
                <a16:creationId xmlns:a16="http://schemas.microsoft.com/office/drawing/2014/main" id="{02FE6E0D-11E5-4B2C-95D7-6EE2BB60DC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307" y="2365987"/>
            <a:ext cx="6429375" cy="390525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C999B1F-F69C-4D46-A767-79A113C7A734}"/>
              </a:ext>
            </a:extLst>
          </p:cNvPr>
          <p:cNvSpPr/>
          <p:nvPr/>
        </p:nvSpPr>
        <p:spPr>
          <a:xfrm>
            <a:off x="3038168" y="6361471"/>
            <a:ext cx="6499673" cy="246221"/>
          </a:xfrm>
          <a:prstGeom prst="rect">
            <a:avLst/>
          </a:prstGeom>
        </p:spPr>
        <p:txBody>
          <a:bodyPr wrap="square">
            <a:spAutoFit/>
          </a:bodyPr>
          <a:lstStyle/>
          <a:p>
            <a:pPr algn="ctr"/>
            <a:r>
              <a:rPr lang="fr-FR" sz="1000" dirty="0"/>
              <a:t>https://crp.education/module/crpcfwb-r-hphth001-philosophie-ethique-et-morale/</a:t>
            </a:r>
          </a:p>
        </p:txBody>
      </p:sp>
    </p:spTree>
    <p:extLst>
      <p:ext uri="{BB962C8B-B14F-4D97-AF65-F5344CB8AC3E}">
        <p14:creationId xmlns:p14="http://schemas.microsoft.com/office/powerpoint/2010/main" val="1654628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F85A754-737E-427F-B71A-F0ECE59A101D}"/>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itre 1">
            <a:extLst>
              <a:ext uri="{FF2B5EF4-FFF2-40B4-BE49-F238E27FC236}">
                <a16:creationId xmlns:a16="http://schemas.microsoft.com/office/drawing/2014/main" id="{03E5ADB5-EC5C-4920-9438-A4C1B1042F43}"/>
              </a:ext>
            </a:extLst>
          </p:cNvPr>
          <p:cNvSpPr txBox="1">
            <a:spLocks/>
          </p:cNvSpPr>
          <p:nvPr/>
        </p:nvSpPr>
        <p:spPr>
          <a:xfrm>
            <a:off x="838200" y="2480252"/>
            <a:ext cx="10515600" cy="1325563"/>
          </a:xfrm>
          <a:prstGeom prst="rect">
            <a:avLst/>
          </a:prstGeom>
          <a:ln w="38100">
            <a:solidFill>
              <a:schemeClr val="bg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a:solidFill>
                  <a:schemeClr val="bg1"/>
                </a:solidFill>
              </a:rPr>
              <a:t>QCM de révisions</a:t>
            </a:r>
          </a:p>
        </p:txBody>
      </p:sp>
    </p:spTree>
    <p:extLst>
      <p:ext uri="{BB962C8B-B14F-4D97-AF65-F5344CB8AC3E}">
        <p14:creationId xmlns:p14="http://schemas.microsoft.com/office/powerpoint/2010/main" val="1626278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2390981424"/>
              </p:ext>
            </p:extLst>
          </p:nvPr>
        </p:nvGraphicFramePr>
        <p:xfrm>
          <a:off x="849745" y="198233"/>
          <a:ext cx="10926619" cy="6415976"/>
        </p:xfrm>
        <a:graphic>
          <a:graphicData uri="http://schemas.openxmlformats.org/drawingml/2006/table">
            <a:tbl>
              <a:tblPr firstRow="1" bandRow="1">
                <a:tableStyleId>{5C22544A-7EE6-4342-B048-85BDC9FD1C3A}</a:tableStyleId>
              </a:tblPr>
              <a:tblGrid>
                <a:gridCol w="8608118">
                  <a:extLst>
                    <a:ext uri="{9D8B030D-6E8A-4147-A177-3AD203B41FA5}">
                      <a16:colId xmlns:a16="http://schemas.microsoft.com/office/drawing/2014/main" val="2146840881"/>
                    </a:ext>
                  </a:extLst>
                </a:gridCol>
                <a:gridCol w="2318501">
                  <a:extLst>
                    <a:ext uri="{9D8B030D-6E8A-4147-A177-3AD203B41FA5}">
                      <a16:colId xmlns:a16="http://schemas.microsoft.com/office/drawing/2014/main" val="2228847059"/>
                    </a:ext>
                  </a:extLst>
                </a:gridCol>
              </a:tblGrid>
              <a:tr h="670232">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93536">
                <a:tc>
                  <a:txBody>
                    <a:bodyPr/>
                    <a:lstStyle/>
                    <a:p>
                      <a:pPr algn="just"/>
                      <a:r>
                        <a:rPr lang="fr-FR" sz="2800" dirty="0"/>
                        <a:t>1. Toute déontologie professionnelle se confond avec le respect de l’impératif catégorique kantien.</a:t>
                      </a:r>
                    </a:p>
                  </a:txBody>
                  <a:tcPr/>
                </a:tc>
                <a:tc>
                  <a:txBody>
                    <a:bodyPr/>
                    <a:lstStyle/>
                    <a:p>
                      <a:pPr algn="ctr"/>
                      <a:r>
                        <a:rPr lang="fr-FR" sz="2800" dirty="0"/>
                        <a:t>VRAI         FAUX</a:t>
                      </a:r>
                    </a:p>
                  </a:txBody>
                  <a:tcPr/>
                </a:tc>
                <a:extLst>
                  <a:ext uri="{0D108BD9-81ED-4DB2-BD59-A6C34878D82A}">
                    <a16:rowId xmlns:a16="http://schemas.microsoft.com/office/drawing/2014/main" val="1614923126"/>
                  </a:ext>
                </a:extLst>
              </a:tr>
              <a:tr h="1093536">
                <a:tc>
                  <a:txBody>
                    <a:bodyPr/>
                    <a:lstStyle/>
                    <a:p>
                      <a:pPr algn="just"/>
                      <a:r>
                        <a:rPr lang="fr-FR" sz="2800" dirty="0"/>
                        <a:t>2. La question principale associée à l’éthique des vertus est : « Que dois-je faire ? »</a:t>
                      </a:r>
                    </a:p>
                  </a:txBody>
                  <a:tcPr/>
                </a:tc>
                <a:tc>
                  <a:txBody>
                    <a:bodyPr/>
                    <a:lstStyle/>
                    <a:p>
                      <a:pPr algn="ctr"/>
                      <a:r>
                        <a:rPr lang="fr-FR" sz="2800" dirty="0"/>
                        <a:t>VRAI         FAUX</a:t>
                      </a:r>
                    </a:p>
                  </a:txBody>
                  <a:tcPr/>
                </a:tc>
                <a:extLst>
                  <a:ext uri="{0D108BD9-81ED-4DB2-BD59-A6C34878D82A}">
                    <a16:rowId xmlns:a16="http://schemas.microsoft.com/office/drawing/2014/main" val="3355492048"/>
                  </a:ext>
                </a:extLst>
              </a:tr>
              <a:tr h="1093536">
                <a:tc>
                  <a:txBody>
                    <a:bodyPr/>
                    <a:lstStyle/>
                    <a:p>
                      <a:pPr algn="just"/>
                      <a:r>
                        <a:rPr lang="fr-FR" sz="2800" dirty="0"/>
                        <a:t>3. L’utilitarisme combine deux principes à l’échelle collective : la valeur de « bien-être » et la norme d’« égalité » au sens où « chacun compte pour un ». </a:t>
                      </a:r>
                    </a:p>
                  </a:txBody>
                  <a:tcPr/>
                </a:tc>
                <a:tc>
                  <a:txBody>
                    <a:bodyPr/>
                    <a:lstStyle/>
                    <a:p>
                      <a:pPr marL="0" indent="0" algn="ctr"/>
                      <a:r>
                        <a:rPr lang="fr-FR" sz="2800" dirty="0"/>
                        <a:t>VRAI         FAUX</a:t>
                      </a:r>
                    </a:p>
                  </a:txBody>
                  <a:tcPr/>
                </a:tc>
                <a:extLst>
                  <a:ext uri="{0D108BD9-81ED-4DB2-BD59-A6C34878D82A}">
                    <a16:rowId xmlns:a16="http://schemas.microsoft.com/office/drawing/2014/main" val="2723050756"/>
                  </a:ext>
                </a:extLst>
              </a:tr>
              <a:tr h="1093536">
                <a:tc>
                  <a:txBody>
                    <a:bodyPr/>
                    <a:lstStyle/>
                    <a:p>
                      <a:pPr algn="just"/>
                      <a:r>
                        <a:rPr lang="fr-FR" sz="2800" dirty="0"/>
                        <a:t>4. Pour Kant, il peut être autorisé de mentir dans des circonstances qui le justifient moralement.</a:t>
                      </a:r>
                    </a:p>
                  </a:txBody>
                  <a:tcPr/>
                </a:tc>
                <a:tc>
                  <a:txBody>
                    <a:bodyPr/>
                    <a:lstStyle/>
                    <a:p>
                      <a:pPr algn="ctr"/>
                      <a:r>
                        <a:rPr lang="fr-FR" sz="2800" dirty="0"/>
                        <a:t>VRAI         FAUX</a:t>
                      </a:r>
                    </a:p>
                  </a:txBody>
                  <a:tcPr/>
                </a:tc>
                <a:extLst>
                  <a:ext uri="{0D108BD9-81ED-4DB2-BD59-A6C34878D82A}">
                    <a16:rowId xmlns:a16="http://schemas.microsoft.com/office/drawing/2014/main" val="331818308"/>
                  </a:ext>
                </a:extLst>
              </a:tr>
              <a:tr h="1093536">
                <a:tc>
                  <a:txBody>
                    <a:bodyPr/>
                    <a:lstStyle/>
                    <a:p>
                      <a:pPr algn="just"/>
                      <a:r>
                        <a:rPr lang="fr-FR" sz="2800" dirty="0"/>
                        <a:t>5. Les « conflits de valeurs » peuvent donner lieu à des dilemmes moraux et des cas de conscience.</a:t>
                      </a:r>
                    </a:p>
                  </a:txBody>
                  <a:tcPr/>
                </a:tc>
                <a:tc>
                  <a:txBody>
                    <a:bodyPr/>
                    <a:lstStyle/>
                    <a:p>
                      <a:pPr algn="ctr"/>
                      <a:r>
                        <a:rPr lang="fr-FR" sz="2800" dirty="0"/>
                        <a:t>VRAI         FAUX</a:t>
                      </a:r>
                    </a:p>
                  </a:txBody>
                  <a:tcPr/>
                </a:tc>
                <a:extLst>
                  <a:ext uri="{0D108BD9-81ED-4DB2-BD59-A6C34878D82A}">
                    <a16:rowId xmlns:a16="http://schemas.microsoft.com/office/drawing/2014/main" val="2704313131"/>
                  </a:ext>
                </a:extLst>
              </a:tr>
            </a:tbl>
          </a:graphicData>
        </a:graphic>
      </p:graphicFrame>
    </p:spTree>
    <p:extLst>
      <p:ext uri="{BB962C8B-B14F-4D97-AF65-F5344CB8AC3E}">
        <p14:creationId xmlns:p14="http://schemas.microsoft.com/office/powerpoint/2010/main" val="2490512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3688963720"/>
              </p:ext>
            </p:extLst>
          </p:nvPr>
        </p:nvGraphicFramePr>
        <p:xfrm>
          <a:off x="686955" y="281358"/>
          <a:ext cx="10969336" cy="6147150"/>
        </p:xfrm>
        <a:graphic>
          <a:graphicData uri="http://schemas.openxmlformats.org/drawingml/2006/table">
            <a:tbl>
              <a:tblPr firstRow="1" bandRow="1">
                <a:tableStyleId>{5C22544A-7EE6-4342-B048-85BDC9FD1C3A}</a:tableStyleId>
              </a:tblPr>
              <a:tblGrid>
                <a:gridCol w="9038936">
                  <a:extLst>
                    <a:ext uri="{9D8B030D-6E8A-4147-A177-3AD203B41FA5}">
                      <a16:colId xmlns:a16="http://schemas.microsoft.com/office/drawing/2014/main" val="2146840881"/>
                    </a:ext>
                  </a:extLst>
                </a:gridCol>
                <a:gridCol w="1930400">
                  <a:extLst>
                    <a:ext uri="{9D8B030D-6E8A-4147-A177-3AD203B41FA5}">
                      <a16:colId xmlns:a16="http://schemas.microsoft.com/office/drawing/2014/main" val="2228847059"/>
                    </a:ext>
                  </a:extLst>
                </a:gridCol>
              </a:tblGrid>
              <a:tr h="621255">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13626">
                <a:tc>
                  <a:txBody>
                    <a:bodyPr/>
                    <a:lstStyle/>
                    <a:p>
                      <a:pPr algn="just"/>
                      <a:r>
                        <a:rPr lang="fr-FR" sz="2800" dirty="0"/>
                        <a:t>6. Le progrès technique peut être la source de problèmes moraux inédits.</a:t>
                      </a:r>
                    </a:p>
                  </a:txBody>
                  <a:tcPr/>
                </a:tc>
                <a:tc>
                  <a:txBody>
                    <a:bodyPr/>
                    <a:lstStyle/>
                    <a:p>
                      <a:pPr algn="ctr"/>
                      <a:r>
                        <a:rPr lang="fr-FR" sz="2800" dirty="0"/>
                        <a:t>VRAI         FAUX</a:t>
                      </a:r>
                    </a:p>
                  </a:txBody>
                  <a:tcPr/>
                </a:tc>
                <a:extLst>
                  <a:ext uri="{0D108BD9-81ED-4DB2-BD59-A6C34878D82A}">
                    <a16:rowId xmlns:a16="http://schemas.microsoft.com/office/drawing/2014/main" val="3353976627"/>
                  </a:ext>
                </a:extLst>
              </a:tr>
              <a:tr h="1013626">
                <a:tc>
                  <a:txBody>
                    <a:bodyPr/>
                    <a:lstStyle/>
                    <a:p>
                      <a:pPr algn="just"/>
                      <a:r>
                        <a:rPr lang="fr-FR" sz="2800" dirty="0"/>
                        <a:t>7. Pour Kant, il y a une continuité évidente entre l’altruisme observé dans le monde animal et la moralité.</a:t>
                      </a:r>
                    </a:p>
                  </a:txBody>
                  <a:tcPr/>
                </a:tc>
                <a:tc>
                  <a:txBody>
                    <a:bodyPr/>
                    <a:lstStyle/>
                    <a:p>
                      <a:pPr marL="0" indent="0" algn="ctr"/>
                      <a:r>
                        <a:rPr lang="fr-FR" sz="2800" dirty="0"/>
                        <a:t>VRAI         FAUX</a:t>
                      </a:r>
                    </a:p>
                  </a:txBody>
                  <a:tcPr/>
                </a:tc>
                <a:extLst>
                  <a:ext uri="{0D108BD9-81ED-4DB2-BD59-A6C34878D82A}">
                    <a16:rowId xmlns:a16="http://schemas.microsoft.com/office/drawing/2014/main" val="3390694312"/>
                  </a:ext>
                </a:extLst>
              </a:tr>
              <a:tr h="1471391">
                <a:tc>
                  <a:txBody>
                    <a:bodyPr/>
                    <a:lstStyle/>
                    <a:p>
                      <a:pPr algn="just"/>
                      <a:r>
                        <a:rPr lang="fr-FR" sz="2800" dirty="0"/>
                        <a:t>8. Le principe de « maximisation de l’utilité du plus grand nombre » comporte des risques sacrificiels, selon les critiques adressées à l’utilitarisme.</a:t>
                      </a:r>
                    </a:p>
                  </a:txBody>
                  <a:tcPr/>
                </a:tc>
                <a:tc>
                  <a:txBody>
                    <a:bodyPr/>
                    <a:lstStyle/>
                    <a:p>
                      <a:pPr algn="ctr"/>
                      <a:r>
                        <a:rPr lang="fr-FR" sz="2800" dirty="0"/>
                        <a:t>VRAI         FAUX</a:t>
                      </a:r>
                    </a:p>
                  </a:txBody>
                  <a:tcPr/>
                </a:tc>
                <a:extLst>
                  <a:ext uri="{0D108BD9-81ED-4DB2-BD59-A6C34878D82A}">
                    <a16:rowId xmlns:a16="http://schemas.microsoft.com/office/drawing/2014/main" val="4226868751"/>
                  </a:ext>
                </a:extLst>
              </a:tr>
              <a:tr h="1013626">
                <a:tc>
                  <a:txBody>
                    <a:bodyPr/>
                    <a:lstStyle/>
                    <a:p>
                      <a:pPr algn="just"/>
                      <a:r>
                        <a:rPr lang="fr-FR" sz="2800" dirty="0"/>
                        <a:t>9. Le « fait du pluralisme » est caractéristique des sociétés traditionnelles.</a:t>
                      </a:r>
                    </a:p>
                  </a:txBody>
                  <a:tcPr/>
                </a:tc>
                <a:tc>
                  <a:txBody>
                    <a:bodyPr/>
                    <a:lstStyle/>
                    <a:p>
                      <a:pPr marL="0" indent="0" algn="ctr"/>
                      <a:r>
                        <a:rPr lang="fr-FR" sz="2800" dirty="0"/>
                        <a:t>VRAI         FAUX</a:t>
                      </a:r>
                    </a:p>
                  </a:txBody>
                  <a:tcPr/>
                </a:tc>
                <a:extLst>
                  <a:ext uri="{0D108BD9-81ED-4DB2-BD59-A6C34878D82A}">
                    <a16:rowId xmlns:a16="http://schemas.microsoft.com/office/drawing/2014/main" val="2779120096"/>
                  </a:ext>
                </a:extLst>
              </a:tr>
              <a:tr h="1013626">
                <a:tc>
                  <a:txBody>
                    <a:bodyPr/>
                    <a:lstStyle/>
                    <a:p>
                      <a:pPr algn="just"/>
                      <a:r>
                        <a:rPr lang="fr-FR" sz="2800" dirty="0"/>
                        <a:t>10. Selon Kant, la moralité a pour motivation légitime la recherche du bonheur.</a:t>
                      </a:r>
                    </a:p>
                  </a:txBody>
                  <a:tcPr/>
                </a:tc>
                <a:tc>
                  <a:txBody>
                    <a:bodyPr/>
                    <a:lstStyle/>
                    <a:p>
                      <a:pPr algn="ctr"/>
                      <a:r>
                        <a:rPr lang="fr-FR" sz="2800" dirty="0"/>
                        <a:t>VRAI         FAUX</a:t>
                      </a:r>
                    </a:p>
                  </a:txBody>
                  <a:tcPr/>
                </a:tc>
                <a:extLst>
                  <a:ext uri="{0D108BD9-81ED-4DB2-BD59-A6C34878D82A}">
                    <a16:rowId xmlns:a16="http://schemas.microsoft.com/office/drawing/2014/main" val="120988582"/>
                  </a:ext>
                </a:extLst>
              </a:tr>
            </a:tbl>
          </a:graphicData>
        </a:graphic>
      </p:graphicFrame>
    </p:spTree>
    <p:extLst>
      <p:ext uri="{BB962C8B-B14F-4D97-AF65-F5344CB8AC3E}">
        <p14:creationId xmlns:p14="http://schemas.microsoft.com/office/powerpoint/2010/main" val="4104780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50022542"/>
              </p:ext>
            </p:extLst>
          </p:nvPr>
        </p:nvGraphicFramePr>
        <p:xfrm>
          <a:off x="686955" y="198234"/>
          <a:ext cx="11070936" cy="6344330"/>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60782">
                <a:tc>
                  <a:txBody>
                    <a:bodyPr/>
                    <a:lstStyle/>
                    <a:p>
                      <a:pPr algn="just"/>
                      <a:r>
                        <a:rPr lang="fr-FR" sz="2800" dirty="0"/>
                        <a:t>11. Dans l’utilitarisme, le critère de la bonne intention est dominant pour évaluer la portée éthique d’une action.</a:t>
                      </a:r>
                    </a:p>
                  </a:txBody>
                  <a:tcPr/>
                </a:tc>
                <a:tc>
                  <a:txBody>
                    <a:bodyPr/>
                    <a:lstStyle/>
                    <a:p>
                      <a:pPr algn="ctr"/>
                      <a:r>
                        <a:rPr lang="fr-FR" sz="2800" dirty="0"/>
                        <a:t>VRAI         FAUX</a:t>
                      </a:r>
                    </a:p>
                  </a:txBody>
                  <a:tcPr/>
                </a:tc>
                <a:extLst>
                  <a:ext uri="{0D108BD9-81ED-4DB2-BD59-A6C34878D82A}">
                    <a16:rowId xmlns:a16="http://schemas.microsoft.com/office/drawing/2014/main" val="3353976627"/>
                  </a:ext>
                </a:extLst>
              </a:tr>
              <a:tr h="1060782">
                <a:tc>
                  <a:txBody>
                    <a:bodyPr/>
                    <a:lstStyle/>
                    <a:p>
                      <a:pPr algn="just"/>
                      <a:r>
                        <a:rPr lang="fr-FR" sz="2800" dirty="0"/>
                        <a:t>12. Dans le « dilemme du tramway », la perspective utilitariste porte attention au nombre de personnes sauvées.</a:t>
                      </a:r>
                    </a:p>
                  </a:txBody>
                  <a:tcPr/>
                </a:tc>
                <a:tc>
                  <a:txBody>
                    <a:bodyPr/>
                    <a:lstStyle/>
                    <a:p>
                      <a:pPr marL="0" indent="0" algn="ctr"/>
                      <a:r>
                        <a:rPr lang="fr-FR" sz="2800" dirty="0"/>
                        <a:t>VRAI         FAUX</a:t>
                      </a:r>
                    </a:p>
                  </a:txBody>
                  <a:tcPr/>
                </a:tc>
                <a:extLst>
                  <a:ext uri="{0D108BD9-81ED-4DB2-BD59-A6C34878D82A}">
                    <a16:rowId xmlns:a16="http://schemas.microsoft.com/office/drawing/2014/main" val="3390694312"/>
                  </a:ext>
                </a:extLst>
              </a:tr>
              <a:tr h="1140228">
                <a:tc>
                  <a:txBody>
                    <a:bodyPr/>
                    <a:lstStyle/>
                    <a:p>
                      <a:pPr algn="just"/>
                      <a:r>
                        <a:rPr lang="fr-FR" sz="2800" dirty="0"/>
                        <a:t>13. L’utilitarisme et le déontologisme sont centrés sur l’évaluation morale de l’action et non sur celle de la personne.</a:t>
                      </a:r>
                    </a:p>
                  </a:txBody>
                  <a:tcPr/>
                </a:tc>
                <a:tc>
                  <a:txBody>
                    <a:bodyPr/>
                    <a:lstStyle/>
                    <a:p>
                      <a:pPr algn="ctr"/>
                      <a:r>
                        <a:rPr lang="fr-FR" sz="2800" dirty="0"/>
                        <a:t>VRAI         FAUX</a:t>
                      </a:r>
                    </a:p>
                  </a:txBody>
                  <a:tcPr/>
                </a:tc>
                <a:extLst>
                  <a:ext uri="{0D108BD9-81ED-4DB2-BD59-A6C34878D82A}">
                    <a16:rowId xmlns:a16="http://schemas.microsoft.com/office/drawing/2014/main" val="4226868751"/>
                  </a:ext>
                </a:extLst>
              </a:tr>
              <a:tr h="970685">
                <a:tc>
                  <a:txBody>
                    <a:bodyPr/>
                    <a:lstStyle/>
                    <a:p>
                      <a:pPr algn="just"/>
                      <a:r>
                        <a:rPr lang="fr-FR" sz="2800" dirty="0"/>
                        <a:t>14. Selon l’impératif catégorique kantien, l’autre ne doit jamais être traité simplement comme un moyen mais toujours aussi comme une fin en soi.</a:t>
                      </a:r>
                    </a:p>
                  </a:txBody>
                  <a:tcPr/>
                </a:tc>
                <a:tc>
                  <a:txBody>
                    <a:bodyPr/>
                    <a:lstStyle/>
                    <a:p>
                      <a:pPr marL="0" indent="0" algn="ctr"/>
                      <a:r>
                        <a:rPr lang="fr-FR" sz="2800" dirty="0"/>
                        <a:t>VRAI         FAUX</a:t>
                      </a:r>
                    </a:p>
                  </a:txBody>
                  <a:tcPr/>
                </a:tc>
                <a:extLst>
                  <a:ext uri="{0D108BD9-81ED-4DB2-BD59-A6C34878D82A}">
                    <a16:rowId xmlns:a16="http://schemas.microsoft.com/office/drawing/2014/main" val="2779120096"/>
                  </a:ext>
                </a:extLst>
              </a:tr>
              <a:tr h="1060782">
                <a:tc>
                  <a:txBody>
                    <a:bodyPr/>
                    <a:lstStyle/>
                    <a:p>
                      <a:pPr algn="just"/>
                      <a:r>
                        <a:rPr lang="fr-FR" sz="2800" dirty="0"/>
                        <a:t>15. Nos intuitions morales spontanées nous indiquent nécessairement la voie la plus légitime.</a:t>
                      </a:r>
                    </a:p>
                  </a:txBody>
                  <a:tcPr/>
                </a:tc>
                <a:tc>
                  <a:txBody>
                    <a:bodyPr/>
                    <a:lstStyle/>
                    <a:p>
                      <a:pPr algn="ctr"/>
                      <a:r>
                        <a:rPr lang="fr-FR" sz="2800" dirty="0"/>
                        <a:t>VRAI         FAUX</a:t>
                      </a:r>
                    </a:p>
                  </a:txBody>
                  <a:tcPr/>
                </a:tc>
                <a:extLst>
                  <a:ext uri="{0D108BD9-81ED-4DB2-BD59-A6C34878D82A}">
                    <a16:rowId xmlns:a16="http://schemas.microsoft.com/office/drawing/2014/main" val="120988582"/>
                  </a:ext>
                </a:extLst>
              </a:tr>
            </a:tbl>
          </a:graphicData>
        </a:graphic>
      </p:graphicFrame>
    </p:spTree>
    <p:extLst>
      <p:ext uri="{BB962C8B-B14F-4D97-AF65-F5344CB8AC3E}">
        <p14:creationId xmlns:p14="http://schemas.microsoft.com/office/powerpoint/2010/main" val="16823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3">
            <a:extLst>
              <a:ext uri="{FF2B5EF4-FFF2-40B4-BE49-F238E27FC236}">
                <a16:creationId xmlns:a16="http://schemas.microsoft.com/office/drawing/2014/main" id="{8E40646A-B746-4C4D-AB11-190610933B9E}"/>
              </a:ext>
            </a:extLst>
          </p:cNvPr>
          <p:cNvGraphicFramePr>
            <a:graphicFrameLocks noGrp="1"/>
          </p:cNvGraphicFramePr>
          <p:nvPr>
            <p:ph idx="1"/>
            <p:extLst>
              <p:ext uri="{D42A27DB-BD31-4B8C-83A1-F6EECF244321}">
                <p14:modId xmlns:p14="http://schemas.microsoft.com/office/powerpoint/2010/main" val="3355834360"/>
              </p:ext>
            </p:extLst>
          </p:nvPr>
        </p:nvGraphicFramePr>
        <p:xfrm>
          <a:off x="686955" y="198234"/>
          <a:ext cx="11070936" cy="6254233"/>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60782">
                <a:tc>
                  <a:txBody>
                    <a:bodyPr/>
                    <a:lstStyle/>
                    <a:p>
                      <a:pPr algn="just"/>
                      <a:r>
                        <a:rPr lang="fr-FR" sz="2800" dirty="0"/>
                        <a:t>16. L’utilitarisme est une doctrine morale qui néglige le critère du bien-être.</a:t>
                      </a:r>
                    </a:p>
                  </a:txBody>
                  <a:tcPr/>
                </a:tc>
                <a:tc>
                  <a:txBody>
                    <a:bodyPr/>
                    <a:lstStyle/>
                    <a:p>
                      <a:pPr algn="ctr"/>
                      <a:r>
                        <a:rPr lang="fr-FR" sz="2800" dirty="0"/>
                        <a:t>VRAI         FAUX</a:t>
                      </a:r>
                    </a:p>
                  </a:txBody>
                  <a:tcPr/>
                </a:tc>
                <a:extLst>
                  <a:ext uri="{0D108BD9-81ED-4DB2-BD59-A6C34878D82A}">
                    <a16:rowId xmlns:a16="http://schemas.microsoft.com/office/drawing/2014/main" val="3353976627"/>
                  </a:ext>
                </a:extLst>
              </a:tr>
              <a:tr h="1060782">
                <a:tc>
                  <a:txBody>
                    <a:bodyPr/>
                    <a:lstStyle/>
                    <a:p>
                      <a:pPr algn="just"/>
                      <a:r>
                        <a:rPr lang="fr-FR" sz="2800" dirty="0"/>
                        <a:t>17. L’éthique des vertus a le mérite de fournir un guide précis pour l’action.</a:t>
                      </a:r>
                    </a:p>
                  </a:txBody>
                  <a:tcPr/>
                </a:tc>
                <a:tc>
                  <a:txBody>
                    <a:bodyPr/>
                    <a:lstStyle/>
                    <a:p>
                      <a:pPr marL="0" indent="0" algn="ctr"/>
                      <a:r>
                        <a:rPr lang="fr-FR" sz="2800" dirty="0"/>
                        <a:t>VRAI         FAUX</a:t>
                      </a:r>
                    </a:p>
                  </a:txBody>
                  <a:tcPr/>
                </a:tc>
                <a:extLst>
                  <a:ext uri="{0D108BD9-81ED-4DB2-BD59-A6C34878D82A}">
                    <a16:rowId xmlns:a16="http://schemas.microsoft.com/office/drawing/2014/main" val="3390694312"/>
                  </a:ext>
                </a:extLst>
              </a:tr>
              <a:tr h="1140228">
                <a:tc>
                  <a:txBody>
                    <a:bodyPr/>
                    <a:lstStyle/>
                    <a:p>
                      <a:pPr algn="just"/>
                      <a:r>
                        <a:rPr lang="fr-FR" sz="2800" dirty="0"/>
                        <a:t>18. L’utilitarisme est un conséquentialisme.</a:t>
                      </a:r>
                    </a:p>
                  </a:txBody>
                  <a:tcPr/>
                </a:tc>
                <a:tc>
                  <a:txBody>
                    <a:bodyPr/>
                    <a:lstStyle/>
                    <a:p>
                      <a:pPr algn="ctr"/>
                      <a:r>
                        <a:rPr lang="fr-FR" sz="2800" dirty="0"/>
                        <a:t>VRAI         FAUX</a:t>
                      </a:r>
                    </a:p>
                  </a:txBody>
                  <a:tcPr/>
                </a:tc>
                <a:extLst>
                  <a:ext uri="{0D108BD9-81ED-4DB2-BD59-A6C34878D82A}">
                    <a16:rowId xmlns:a16="http://schemas.microsoft.com/office/drawing/2014/main" val="4226868751"/>
                  </a:ext>
                </a:extLst>
              </a:tr>
              <a:tr h="970685">
                <a:tc>
                  <a:txBody>
                    <a:bodyPr/>
                    <a:lstStyle/>
                    <a:p>
                      <a:pPr algn="just"/>
                      <a:r>
                        <a:rPr lang="fr-FR" sz="2800" dirty="0"/>
                        <a:t>19. Dans une perspective libérale, on peut reprocher à l’éthique des vertus son paternalisme.</a:t>
                      </a:r>
                    </a:p>
                  </a:txBody>
                  <a:tcPr/>
                </a:tc>
                <a:tc>
                  <a:txBody>
                    <a:bodyPr/>
                    <a:lstStyle/>
                    <a:p>
                      <a:pPr marL="0" indent="0" algn="ctr"/>
                      <a:r>
                        <a:rPr lang="fr-FR" sz="2800" dirty="0"/>
                        <a:t>VRAI         FAUX</a:t>
                      </a:r>
                    </a:p>
                  </a:txBody>
                  <a:tcPr/>
                </a:tc>
                <a:extLst>
                  <a:ext uri="{0D108BD9-81ED-4DB2-BD59-A6C34878D82A}">
                    <a16:rowId xmlns:a16="http://schemas.microsoft.com/office/drawing/2014/main" val="2779120096"/>
                  </a:ext>
                </a:extLst>
              </a:tr>
              <a:tr h="1060782">
                <a:tc>
                  <a:txBody>
                    <a:bodyPr/>
                    <a:lstStyle/>
                    <a:p>
                      <a:pPr algn="just"/>
                      <a:r>
                        <a:rPr lang="fr-FR" sz="2800" dirty="0"/>
                        <a:t>20. « Agis de sorte que tu traites autrui jamais simplement comme fin mais toujours aussi comme un  moyen » est une des formulations de l’impératif catégorique de Kant</a:t>
                      </a:r>
                    </a:p>
                  </a:txBody>
                  <a:tcPr/>
                </a:tc>
                <a:tc>
                  <a:txBody>
                    <a:bodyPr/>
                    <a:lstStyle/>
                    <a:p>
                      <a:pPr algn="ctr"/>
                      <a:r>
                        <a:rPr lang="fr-FR" sz="2800" dirty="0"/>
                        <a:t>VRAI         FAUX</a:t>
                      </a:r>
                    </a:p>
                  </a:txBody>
                  <a:tcPr/>
                </a:tc>
                <a:extLst>
                  <a:ext uri="{0D108BD9-81ED-4DB2-BD59-A6C34878D82A}">
                    <a16:rowId xmlns:a16="http://schemas.microsoft.com/office/drawing/2014/main" val="120988582"/>
                  </a:ext>
                </a:extLst>
              </a:tr>
            </a:tbl>
          </a:graphicData>
        </a:graphic>
      </p:graphicFrame>
    </p:spTree>
    <p:extLst>
      <p:ext uri="{BB962C8B-B14F-4D97-AF65-F5344CB8AC3E}">
        <p14:creationId xmlns:p14="http://schemas.microsoft.com/office/powerpoint/2010/main" val="1136907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C01DBFC-1360-49DF-A821-33046A08A312}"/>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090A24B9-C04B-4495-986C-64C538076DF9}"/>
              </a:ext>
            </a:extLst>
          </p:cNvPr>
          <p:cNvSpPr>
            <a:spLocks noGrp="1"/>
          </p:cNvSpPr>
          <p:nvPr>
            <p:ph type="title"/>
          </p:nvPr>
        </p:nvSpPr>
        <p:spPr>
          <a:xfrm>
            <a:off x="1022927" y="2766218"/>
            <a:ext cx="10515600" cy="1325563"/>
          </a:xfrm>
          <a:ln w="38100">
            <a:solidFill>
              <a:schemeClr val="bg1"/>
            </a:solidFill>
          </a:ln>
        </p:spPr>
        <p:txBody>
          <a:bodyPr vert="horz" lIns="91440" tIns="45720" rIns="91440" bIns="45720" rtlCol="0" anchor="ctr">
            <a:normAutofit/>
          </a:bodyPr>
          <a:lstStyle/>
          <a:p>
            <a:pPr algn="ctr"/>
            <a:r>
              <a:rPr lang="fr-FR" b="1" dirty="0">
                <a:solidFill>
                  <a:schemeClr val="bg1"/>
                </a:solidFill>
              </a:rPr>
              <a:t>Réponses</a:t>
            </a:r>
          </a:p>
        </p:txBody>
      </p:sp>
    </p:spTree>
    <p:extLst>
      <p:ext uri="{BB962C8B-B14F-4D97-AF65-F5344CB8AC3E}">
        <p14:creationId xmlns:p14="http://schemas.microsoft.com/office/powerpoint/2010/main" val="1706040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3480598490"/>
              </p:ext>
            </p:extLst>
          </p:nvPr>
        </p:nvGraphicFramePr>
        <p:xfrm>
          <a:off x="849745" y="198233"/>
          <a:ext cx="10926619" cy="1763768"/>
        </p:xfrm>
        <a:graphic>
          <a:graphicData uri="http://schemas.openxmlformats.org/drawingml/2006/table">
            <a:tbl>
              <a:tblPr firstRow="1" bandRow="1">
                <a:tableStyleId>{5C22544A-7EE6-4342-B048-85BDC9FD1C3A}</a:tableStyleId>
              </a:tblPr>
              <a:tblGrid>
                <a:gridCol w="8608118">
                  <a:extLst>
                    <a:ext uri="{9D8B030D-6E8A-4147-A177-3AD203B41FA5}">
                      <a16:colId xmlns:a16="http://schemas.microsoft.com/office/drawing/2014/main" val="2146840881"/>
                    </a:ext>
                  </a:extLst>
                </a:gridCol>
                <a:gridCol w="2318501">
                  <a:extLst>
                    <a:ext uri="{9D8B030D-6E8A-4147-A177-3AD203B41FA5}">
                      <a16:colId xmlns:a16="http://schemas.microsoft.com/office/drawing/2014/main" val="2228847059"/>
                    </a:ext>
                  </a:extLst>
                </a:gridCol>
              </a:tblGrid>
              <a:tr h="670232">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93536">
                <a:tc>
                  <a:txBody>
                    <a:bodyPr/>
                    <a:lstStyle/>
                    <a:p>
                      <a:pPr algn="just"/>
                      <a:r>
                        <a:rPr lang="fr-FR" sz="2800" dirty="0"/>
                        <a:t>1. Toute déontologie professionnelle se confond avec le respect de l’impératif catégorique kantien.</a:t>
                      </a:r>
                    </a:p>
                  </a:txBody>
                  <a:tcPr/>
                </a:tc>
                <a:tc>
                  <a:txBody>
                    <a:bodyPr/>
                    <a:lstStyle/>
                    <a:p>
                      <a:pPr algn="ctr"/>
                      <a:r>
                        <a:rPr lang="fr-FR" sz="2800" dirty="0"/>
                        <a:t>VRAI         FAUX</a:t>
                      </a:r>
                    </a:p>
                  </a:txBody>
                  <a:tcPr/>
                </a:tc>
                <a:extLst>
                  <a:ext uri="{0D108BD9-81ED-4DB2-BD59-A6C34878D82A}">
                    <a16:rowId xmlns:a16="http://schemas.microsoft.com/office/drawing/2014/main" val="1614923126"/>
                  </a:ext>
                </a:extLst>
              </a:tr>
            </a:tbl>
          </a:graphicData>
        </a:graphic>
      </p:graphicFrame>
      <p:sp>
        <p:nvSpPr>
          <p:cNvPr id="2" name="Rectangle : coins arrondis 1">
            <a:extLst>
              <a:ext uri="{FF2B5EF4-FFF2-40B4-BE49-F238E27FC236}">
                <a16:creationId xmlns:a16="http://schemas.microsoft.com/office/drawing/2014/main" id="{01EE081A-5290-4583-B15E-F1B46C6CB1D1}"/>
              </a:ext>
            </a:extLst>
          </p:cNvPr>
          <p:cNvSpPr/>
          <p:nvPr/>
        </p:nvSpPr>
        <p:spPr>
          <a:xfrm>
            <a:off x="10095345" y="1385455"/>
            <a:ext cx="969819" cy="38792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space réservé du contenu 2">
            <a:extLst>
              <a:ext uri="{FF2B5EF4-FFF2-40B4-BE49-F238E27FC236}">
                <a16:creationId xmlns:a16="http://schemas.microsoft.com/office/drawing/2014/main" id="{134F6556-6B91-48F7-81E8-37D7E03141C3}"/>
              </a:ext>
            </a:extLst>
          </p:cNvPr>
          <p:cNvSpPr txBox="1">
            <a:spLocks/>
          </p:cNvSpPr>
          <p:nvPr/>
        </p:nvSpPr>
        <p:spPr>
          <a:xfrm>
            <a:off x="849744" y="2340078"/>
            <a:ext cx="10830979" cy="38640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Arial" panose="020B0604020202020204" pitchFamily="34" charset="0"/>
              <a:buAutoNum type="arabicPeriod"/>
            </a:pPr>
            <a:r>
              <a:rPr lang="fr-FR" dirty="0"/>
              <a:t>FAUX. Pour caractériser la philosophie morale kantienne, on parle bien de « </a:t>
            </a:r>
            <a:r>
              <a:rPr lang="fr-FR" b="1" dirty="0"/>
              <a:t>déontologisme</a:t>
            </a:r>
            <a:r>
              <a:rPr lang="fr-FR" dirty="0"/>
              <a:t> », mais celui-ci ne doit pas être confondu avec les différentes « </a:t>
            </a:r>
            <a:r>
              <a:rPr lang="fr-FR" b="1" dirty="0"/>
              <a:t>déontologies</a:t>
            </a:r>
            <a:r>
              <a:rPr lang="fr-FR" dirty="0"/>
              <a:t> » professionnelles. Bien qu’on retrouve la même racine signifiant le « </a:t>
            </a:r>
            <a:r>
              <a:rPr lang="fr-FR" b="1" dirty="0"/>
              <a:t>devoir</a:t>
            </a:r>
            <a:r>
              <a:rPr lang="fr-FR" dirty="0"/>
              <a:t> » (</a:t>
            </a:r>
            <a:r>
              <a:rPr lang="fr-FR" b="1" i="1" dirty="0" err="1"/>
              <a:t>déon</a:t>
            </a:r>
            <a:r>
              <a:rPr lang="fr-FR" dirty="0"/>
              <a:t>) dans ces termes, il ne s’agit pas de la même chose.</a:t>
            </a:r>
          </a:p>
          <a:p>
            <a:pPr marL="452438" indent="0" algn="just">
              <a:buNone/>
            </a:pPr>
            <a:r>
              <a:rPr lang="fr-FR" dirty="0"/>
              <a:t>Les déontologies professionnelles concernent les devoirs relatifs à une profession donnée, alors que la perspective kantienne est bien plus fondamentale. Rien ne garantit que toute déontologie professionnelle soit parfaitement conforme à la morale kantienne.</a:t>
            </a:r>
          </a:p>
        </p:txBody>
      </p:sp>
    </p:spTree>
    <p:extLst>
      <p:ext uri="{BB962C8B-B14F-4D97-AF65-F5344CB8AC3E}">
        <p14:creationId xmlns:p14="http://schemas.microsoft.com/office/powerpoint/2010/main" val="3578084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2132977366"/>
              </p:ext>
            </p:extLst>
          </p:nvPr>
        </p:nvGraphicFramePr>
        <p:xfrm>
          <a:off x="766917" y="198233"/>
          <a:ext cx="11009448" cy="1763768"/>
        </p:xfrm>
        <a:graphic>
          <a:graphicData uri="http://schemas.openxmlformats.org/drawingml/2006/table">
            <a:tbl>
              <a:tblPr firstRow="1" bandRow="1">
                <a:tableStyleId>{5C22544A-7EE6-4342-B048-85BDC9FD1C3A}</a:tableStyleId>
              </a:tblPr>
              <a:tblGrid>
                <a:gridCol w="8673372">
                  <a:extLst>
                    <a:ext uri="{9D8B030D-6E8A-4147-A177-3AD203B41FA5}">
                      <a16:colId xmlns:a16="http://schemas.microsoft.com/office/drawing/2014/main" val="2146840881"/>
                    </a:ext>
                  </a:extLst>
                </a:gridCol>
                <a:gridCol w="2336076">
                  <a:extLst>
                    <a:ext uri="{9D8B030D-6E8A-4147-A177-3AD203B41FA5}">
                      <a16:colId xmlns:a16="http://schemas.microsoft.com/office/drawing/2014/main" val="2228847059"/>
                    </a:ext>
                  </a:extLst>
                </a:gridCol>
              </a:tblGrid>
              <a:tr h="670232">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93536">
                <a:tc>
                  <a:txBody>
                    <a:bodyPr/>
                    <a:lstStyle/>
                    <a:p>
                      <a:pPr algn="just"/>
                      <a:r>
                        <a:rPr lang="fr-FR" sz="2800" dirty="0"/>
                        <a:t>2. La question principale associée à l’éthique des vertus est : « Que dois-je faire ? »</a:t>
                      </a:r>
                    </a:p>
                  </a:txBody>
                  <a:tcPr/>
                </a:tc>
                <a:tc>
                  <a:txBody>
                    <a:bodyPr/>
                    <a:lstStyle/>
                    <a:p>
                      <a:pPr algn="ctr"/>
                      <a:r>
                        <a:rPr lang="fr-FR" sz="2800" dirty="0"/>
                        <a:t>VRAI         FAUX</a:t>
                      </a:r>
                    </a:p>
                  </a:txBody>
                  <a:tcPr/>
                </a:tc>
                <a:extLst>
                  <a:ext uri="{0D108BD9-81ED-4DB2-BD59-A6C34878D82A}">
                    <a16:rowId xmlns:a16="http://schemas.microsoft.com/office/drawing/2014/main" val="3355492048"/>
                  </a:ext>
                </a:extLst>
              </a:tr>
            </a:tbl>
          </a:graphicData>
        </a:graphic>
      </p:graphicFrame>
      <p:sp>
        <p:nvSpPr>
          <p:cNvPr id="2" name="Rectangle : coins arrondis 1">
            <a:extLst>
              <a:ext uri="{FF2B5EF4-FFF2-40B4-BE49-F238E27FC236}">
                <a16:creationId xmlns:a16="http://schemas.microsoft.com/office/drawing/2014/main" id="{01EE081A-5290-4583-B15E-F1B46C6CB1D1}"/>
              </a:ext>
            </a:extLst>
          </p:cNvPr>
          <p:cNvSpPr/>
          <p:nvPr/>
        </p:nvSpPr>
        <p:spPr>
          <a:xfrm>
            <a:off x="10095345" y="1385455"/>
            <a:ext cx="969819" cy="38792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contenu 2">
            <a:extLst>
              <a:ext uri="{FF2B5EF4-FFF2-40B4-BE49-F238E27FC236}">
                <a16:creationId xmlns:a16="http://schemas.microsoft.com/office/drawing/2014/main" id="{18D9A5D8-C6FD-4536-B364-1A9B3833358E}"/>
              </a:ext>
            </a:extLst>
          </p:cNvPr>
          <p:cNvSpPr txBox="1">
            <a:spLocks/>
          </p:cNvSpPr>
          <p:nvPr/>
        </p:nvSpPr>
        <p:spPr>
          <a:xfrm>
            <a:off x="766917" y="2241753"/>
            <a:ext cx="11009448" cy="35287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2438" indent="-452438" algn="just">
              <a:buNone/>
            </a:pPr>
            <a:r>
              <a:rPr lang="fr-FR" dirty="0"/>
              <a:t>2. FAUX. La question centrale pour une éthique de la vertu (ou « des vertus ») n’est pas : « Que dois-je faire? », mais : « Quel type de </a:t>
            </a:r>
            <a:r>
              <a:rPr lang="fr-FR" b="1" dirty="0"/>
              <a:t>personne</a:t>
            </a:r>
            <a:r>
              <a:rPr lang="fr-FR" dirty="0"/>
              <a:t> devrais-je être? ».</a:t>
            </a:r>
          </a:p>
          <a:p>
            <a:pPr marL="452438" indent="-452438" algn="just">
              <a:buNone/>
            </a:pPr>
            <a:r>
              <a:rPr lang="fr-FR"/>
              <a:t>	Ces </a:t>
            </a:r>
            <a:r>
              <a:rPr lang="fr-FR" dirty="0"/>
              <a:t>éthiques enjoignent à se perfectionner comme personne, selon un idéal de vertu (on parle de « </a:t>
            </a:r>
            <a:r>
              <a:rPr lang="fr-FR" b="1" dirty="0"/>
              <a:t>perfectionnisme</a:t>
            </a:r>
            <a:r>
              <a:rPr lang="fr-FR" dirty="0"/>
              <a:t> » moral).</a:t>
            </a:r>
          </a:p>
          <a:p>
            <a:pPr marL="452438" indent="-452438" algn="just">
              <a:buNone/>
            </a:pPr>
            <a:r>
              <a:rPr lang="fr-FR" dirty="0"/>
              <a:t>	Dans l’antiquité grecque, la figure du </a:t>
            </a:r>
            <a:r>
              <a:rPr lang="fr-FR" b="1" dirty="0"/>
              <a:t>sage</a:t>
            </a:r>
            <a:r>
              <a:rPr lang="fr-FR" dirty="0"/>
              <a:t> incarne un tel modèle. Les actions à accomplir dans telle ou telle situation en dérivent.</a:t>
            </a:r>
          </a:p>
          <a:p>
            <a:pPr marL="514350" indent="-514350" algn="just">
              <a:buFont typeface="Arial" panose="020B0604020202020204" pitchFamily="34" charset="0"/>
              <a:buAutoNum type="arabicPeriod"/>
            </a:pPr>
            <a:endParaRPr lang="fr-FR" dirty="0"/>
          </a:p>
        </p:txBody>
      </p:sp>
    </p:spTree>
    <p:extLst>
      <p:ext uri="{BB962C8B-B14F-4D97-AF65-F5344CB8AC3E}">
        <p14:creationId xmlns:p14="http://schemas.microsoft.com/office/powerpoint/2010/main" val="1840177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1186700903"/>
              </p:ext>
            </p:extLst>
          </p:nvPr>
        </p:nvGraphicFramePr>
        <p:xfrm>
          <a:off x="849745" y="198233"/>
          <a:ext cx="10926619" cy="2041832"/>
        </p:xfrm>
        <a:graphic>
          <a:graphicData uri="http://schemas.openxmlformats.org/drawingml/2006/table">
            <a:tbl>
              <a:tblPr firstRow="1" bandRow="1">
                <a:tableStyleId>{5C22544A-7EE6-4342-B048-85BDC9FD1C3A}</a:tableStyleId>
              </a:tblPr>
              <a:tblGrid>
                <a:gridCol w="8608118">
                  <a:extLst>
                    <a:ext uri="{9D8B030D-6E8A-4147-A177-3AD203B41FA5}">
                      <a16:colId xmlns:a16="http://schemas.microsoft.com/office/drawing/2014/main" val="2146840881"/>
                    </a:ext>
                  </a:extLst>
                </a:gridCol>
                <a:gridCol w="2318501">
                  <a:extLst>
                    <a:ext uri="{9D8B030D-6E8A-4147-A177-3AD203B41FA5}">
                      <a16:colId xmlns:a16="http://schemas.microsoft.com/office/drawing/2014/main" val="2228847059"/>
                    </a:ext>
                  </a:extLst>
                </a:gridCol>
              </a:tblGrid>
              <a:tr h="670232">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93536">
                <a:tc>
                  <a:txBody>
                    <a:bodyPr/>
                    <a:lstStyle/>
                    <a:p>
                      <a:pPr algn="just"/>
                      <a:r>
                        <a:rPr lang="fr-FR" sz="2800" dirty="0"/>
                        <a:t>3. L’utilitarisme combine deux principes à l’échelle collective : la valeur de « bien-être » et la norme d’« égalité » au sens où « chacun compte pour un ». </a:t>
                      </a:r>
                    </a:p>
                  </a:txBody>
                  <a:tcPr/>
                </a:tc>
                <a:tc>
                  <a:txBody>
                    <a:bodyPr/>
                    <a:lstStyle/>
                    <a:p>
                      <a:pPr marL="0" indent="0" algn="ctr"/>
                      <a:r>
                        <a:rPr lang="fr-FR" sz="2800" dirty="0"/>
                        <a:t>VRAI         FAUX</a:t>
                      </a:r>
                    </a:p>
                  </a:txBody>
                  <a:tcPr/>
                </a:tc>
                <a:extLst>
                  <a:ext uri="{0D108BD9-81ED-4DB2-BD59-A6C34878D82A}">
                    <a16:rowId xmlns:a16="http://schemas.microsoft.com/office/drawing/2014/main" val="2723050756"/>
                  </a:ext>
                </a:extLst>
              </a:tr>
            </a:tbl>
          </a:graphicData>
        </a:graphic>
      </p:graphicFrame>
      <p:sp>
        <p:nvSpPr>
          <p:cNvPr id="6" name="Rectangle : coins arrondis 5">
            <a:extLst>
              <a:ext uri="{FF2B5EF4-FFF2-40B4-BE49-F238E27FC236}">
                <a16:creationId xmlns:a16="http://schemas.microsoft.com/office/drawing/2014/main" id="{86801D85-DD6B-42C3-A21F-F83CDA869698}"/>
              </a:ext>
            </a:extLst>
          </p:cNvPr>
          <p:cNvSpPr/>
          <p:nvPr/>
        </p:nvSpPr>
        <p:spPr>
          <a:xfrm>
            <a:off x="10095344" y="932997"/>
            <a:ext cx="969819" cy="387927"/>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u contenu 2">
            <a:extLst>
              <a:ext uri="{FF2B5EF4-FFF2-40B4-BE49-F238E27FC236}">
                <a16:creationId xmlns:a16="http://schemas.microsoft.com/office/drawing/2014/main" id="{12D32365-7042-4BED-B2E7-6BB82AA77344}"/>
              </a:ext>
            </a:extLst>
          </p:cNvPr>
          <p:cNvSpPr txBox="1">
            <a:spLocks/>
          </p:cNvSpPr>
          <p:nvPr/>
        </p:nvSpPr>
        <p:spPr>
          <a:xfrm>
            <a:off x="849745" y="2610035"/>
            <a:ext cx="10850642" cy="359545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mj-lt"/>
              <a:buAutoNum type="arabicPeriod" startAt="3"/>
            </a:pPr>
            <a:r>
              <a:rPr lang="fr-FR" dirty="0"/>
              <a:t>VRAI. L’utilitarisme repose sur le principe de maximisation de l’utilité pour le plus grand nombre.</a:t>
            </a:r>
          </a:p>
          <a:p>
            <a:pPr marL="457200" lvl="1" indent="0" algn="just">
              <a:buNone/>
            </a:pPr>
            <a:r>
              <a:rPr lang="fr-FR" sz="2800" dirty="0"/>
              <a:t>L’« </a:t>
            </a:r>
            <a:r>
              <a:rPr lang="fr-FR" sz="2800" b="1" dirty="0"/>
              <a:t>utilité</a:t>
            </a:r>
            <a:r>
              <a:rPr lang="fr-FR" sz="2800" dirty="0"/>
              <a:t> », au sens que donne l’utilitarisme à ce terme, signifie plus ou moins le bien-être, il est donc exact que la </a:t>
            </a:r>
            <a:r>
              <a:rPr lang="fr-FR" sz="2800" b="1" dirty="0"/>
              <a:t>valeur de bien-être </a:t>
            </a:r>
            <a:r>
              <a:rPr lang="fr-FR" sz="2800" dirty="0"/>
              <a:t>soit fondamentale pour l’utilitarisme.</a:t>
            </a:r>
          </a:p>
          <a:p>
            <a:pPr marL="457200" lvl="1" indent="0" algn="just">
              <a:buNone/>
            </a:pPr>
            <a:r>
              <a:rPr lang="fr-FR" sz="2800" dirty="0"/>
              <a:t>De plus, dans ce calcul de maximisation de l’utilité, « chacun compte pour un », il y a donc une </a:t>
            </a:r>
            <a:r>
              <a:rPr lang="fr-FR" sz="2800" b="1" dirty="0"/>
              <a:t>norme d’égalité</a:t>
            </a:r>
            <a:r>
              <a:rPr lang="fr-FR" sz="2800" dirty="0"/>
              <a:t> sur laquelle repose également l’utilitarisme. Ce qui ne veut pas dire que les résultats de cette maximisation seront eux-mêmes égalitaires (voir le risque sacrificiel de l’utilitarisme).</a:t>
            </a:r>
          </a:p>
          <a:p>
            <a:pPr marL="0" indent="0" algn="just">
              <a:buNone/>
            </a:pPr>
            <a:endParaRPr lang="fr-FR" dirty="0"/>
          </a:p>
        </p:txBody>
      </p:sp>
    </p:spTree>
    <p:extLst>
      <p:ext uri="{BB962C8B-B14F-4D97-AF65-F5344CB8AC3E}">
        <p14:creationId xmlns:p14="http://schemas.microsoft.com/office/powerpoint/2010/main" val="2845092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3793490610"/>
              </p:ext>
            </p:extLst>
          </p:nvPr>
        </p:nvGraphicFramePr>
        <p:xfrm>
          <a:off x="849745" y="198233"/>
          <a:ext cx="10926619" cy="1763768"/>
        </p:xfrm>
        <a:graphic>
          <a:graphicData uri="http://schemas.openxmlformats.org/drawingml/2006/table">
            <a:tbl>
              <a:tblPr firstRow="1" bandRow="1">
                <a:tableStyleId>{5C22544A-7EE6-4342-B048-85BDC9FD1C3A}</a:tableStyleId>
              </a:tblPr>
              <a:tblGrid>
                <a:gridCol w="8608118">
                  <a:extLst>
                    <a:ext uri="{9D8B030D-6E8A-4147-A177-3AD203B41FA5}">
                      <a16:colId xmlns:a16="http://schemas.microsoft.com/office/drawing/2014/main" val="2146840881"/>
                    </a:ext>
                  </a:extLst>
                </a:gridCol>
                <a:gridCol w="2318501">
                  <a:extLst>
                    <a:ext uri="{9D8B030D-6E8A-4147-A177-3AD203B41FA5}">
                      <a16:colId xmlns:a16="http://schemas.microsoft.com/office/drawing/2014/main" val="2228847059"/>
                    </a:ext>
                  </a:extLst>
                </a:gridCol>
              </a:tblGrid>
              <a:tr h="670232">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93536">
                <a:tc>
                  <a:txBody>
                    <a:bodyPr/>
                    <a:lstStyle/>
                    <a:p>
                      <a:pPr algn="just"/>
                      <a:r>
                        <a:rPr lang="fr-FR" sz="2800" dirty="0"/>
                        <a:t>4. Pour Kant, il peut être autorisé de mentir dans des circonstances qui le justifient moralement.</a:t>
                      </a:r>
                    </a:p>
                  </a:txBody>
                  <a:tcPr/>
                </a:tc>
                <a:tc>
                  <a:txBody>
                    <a:bodyPr/>
                    <a:lstStyle/>
                    <a:p>
                      <a:pPr algn="ctr"/>
                      <a:r>
                        <a:rPr lang="fr-FR" sz="2800" dirty="0"/>
                        <a:t>VRAI         FAUX</a:t>
                      </a:r>
                    </a:p>
                  </a:txBody>
                  <a:tcPr/>
                </a:tc>
                <a:extLst>
                  <a:ext uri="{0D108BD9-81ED-4DB2-BD59-A6C34878D82A}">
                    <a16:rowId xmlns:a16="http://schemas.microsoft.com/office/drawing/2014/main" val="331818308"/>
                  </a:ext>
                </a:extLst>
              </a:tr>
            </a:tbl>
          </a:graphicData>
        </a:graphic>
      </p:graphicFrame>
      <p:sp>
        <p:nvSpPr>
          <p:cNvPr id="2" name="Rectangle : coins arrondis 1">
            <a:extLst>
              <a:ext uri="{FF2B5EF4-FFF2-40B4-BE49-F238E27FC236}">
                <a16:creationId xmlns:a16="http://schemas.microsoft.com/office/drawing/2014/main" id="{01EE081A-5290-4583-B15E-F1B46C6CB1D1}"/>
              </a:ext>
            </a:extLst>
          </p:cNvPr>
          <p:cNvSpPr/>
          <p:nvPr/>
        </p:nvSpPr>
        <p:spPr>
          <a:xfrm>
            <a:off x="10095345" y="1385455"/>
            <a:ext cx="969819" cy="38792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EEE408A4-FA73-E46A-3FFB-F6D0A72CD01D}"/>
              </a:ext>
            </a:extLst>
          </p:cNvPr>
          <p:cNvSpPr txBox="1">
            <a:spLocks/>
          </p:cNvSpPr>
          <p:nvPr/>
        </p:nvSpPr>
        <p:spPr>
          <a:xfrm>
            <a:off x="754602" y="2121285"/>
            <a:ext cx="11021762" cy="43682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mj-lt"/>
              <a:buAutoNum type="arabicPeriod" startAt="4"/>
            </a:pPr>
            <a:r>
              <a:rPr lang="fr-FR" sz="2600" dirty="0"/>
              <a:t>FAUX. Kant prend justement le </a:t>
            </a:r>
            <a:r>
              <a:rPr lang="fr-FR" sz="2600" b="1" dirty="0"/>
              <a:t>mensonge comme exemple d’une action contraire à l’impératif catégorique </a:t>
            </a:r>
            <a:r>
              <a:rPr lang="fr-FR" sz="2600" dirty="0"/>
              <a:t>: « Agis uniquement d'après la maxime [le principe] qui fait que tu puisses vouloir en même temps qu'elle devienne une loi universelle. » Il s’agit d’une sorte de test de </a:t>
            </a:r>
            <a:r>
              <a:rPr lang="fr-FR" sz="2600" b="1" dirty="0"/>
              <a:t>non-contradiction</a:t>
            </a:r>
            <a:r>
              <a:rPr lang="fr-FR" sz="2600" dirty="0"/>
              <a:t> que la maxime (ou principe) de l’action doit pouvoir passer; or, on ne peut à la fois mentir et vouloir que le mensonge soit universalisé, car cela ruinerait la portée de la véracité.</a:t>
            </a:r>
          </a:p>
          <a:p>
            <a:pPr marL="457200" lvl="1" indent="0" algn="just">
              <a:buNone/>
            </a:pPr>
            <a:r>
              <a:rPr lang="fr-FR" sz="2600" dirty="0"/>
              <a:t>A ce sujet, on peut se reporter à la fameuse controverse entre Kant et Benjamin Constant.</a:t>
            </a:r>
          </a:p>
          <a:p>
            <a:pPr marL="457200" lvl="1" indent="0" algn="just">
              <a:buNone/>
            </a:pPr>
            <a:r>
              <a:rPr lang="fr-FR" sz="2600" dirty="0"/>
              <a:t>Bien que la position kantienne puisse entrer en conflit avec nos intuitions morales, pour Kant le mensonge ne se justifie jamais d’un point de vue moral.</a:t>
            </a:r>
          </a:p>
          <a:p>
            <a:pPr marL="514350" indent="-514350" algn="just">
              <a:buFont typeface="Arial" panose="020B0604020202020204" pitchFamily="34" charset="0"/>
              <a:buAutoNum type="arabicPeriod" startAt="4"/>
            </a:pPr>
            <a:endParaRPr lang="fr-FR" sz="2600" dirty="0"/>
          </a:p>
        </p:txBody>
      </p:sp>
    </p:spTree>
    <p:extLst>
      <p:ext uri="{BB962C8B-B14F-4D97-AF65-F5344CB8AC3E}">
        <p14:creationId xmlns:p14="http://schemas.microsoft.com/office/powerpoint/2010/main" val="3752659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3122803239"/>
              </p:ext>
            </p:extLst>
          </p:nvPr>
        </p:nvGraphicFramePr>
        <p:xfrm>
          <a:off x="849745" y="198233"/>
          <a:ext cx="10926619" cy="1763768"/>
        </p:xfrm>
        <a:graphic>
          <a:graphicData uri="http://schemas.openxmlformats.org/drawingml/2006/table">
            <a:tbl>
              <a:tblPr firstRow="1" bandRow="1">
                <a:tableStyleId>{5C22544A-7EE6-4342-B048-85BDC9FD1C3A}</a:tableStyleId>
              </a:tblPr>
              <a:tblGrid>
                <a:gridCol w="8608118">
                  <a:extLst>
                    <a:ext uri="{9D8B030D-6E8A-4147-A177-3AD203B41FA5}">
                      <a16:colId xmlns:a16="http://schemas.microsoft.com/office/drawing/2014/main" val="2146840881"/>
                    </a:ext>
                  </a:extLst>
                </a:gridCol>
                <a:gridCol w="2318501">
                  <a:extLst>
                    <a:ext uri="{9D8B030D-6E8A-4147-A177-3AD203B41FA5}">
                      <a16:colId xmlns:a16="http://schemas.microsoft.com/office/drawing/2014/main" val="2228847059"/>
                    </a:ext>
                  </a:extLst>
                </a:gridCol>
              </a:tblGrid>
              <a:tr h="670232">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93536">
                <a:tc>
                  <a:txBody>
                    <a:bodyPr/>
                    <a:lstStyle/>
                    <a:p>
                      <a:pPr algn="just"/>
                      <a:r>
                        <a:rPr lang="fr-FR" sz="2800" dirty="0"/>
                        <a:t>5. Les « conflits de valeurs » peuvent donner lieu à des dilemmes moraux et des cas de conscience.</a:t>
                      </a:r>
                    </a:p>
                  </a:txBody>
                  <a:tcPr/>
                </a:tc>
                <a:tc>
                  <a:txBody>
                    <a:bodyPr/>
                    <a:lstStyle/>
                    <a:p>
                      <a:pPr algn="ctr"/>
                      <a:r>
                        <a:rPr lang="fr-FR" sz="2800" dirty="0"/>
                        <a:t>VRAI         FAUX</a:t>
                      </a:r>
                    </a:p>
                  </a:txBody>
                  <a:tcPr/>
                </a:tc>
                <a:extLst>
                  <a:ext uri="{0D108BD9-81ED-4DB2-BD59-A6C34878D82A}">
                    <a16:rowId xmlns:a16="http://schemas.microsoft.com/office/drawing/2014/main" val="2704313131"/>
                  </a:ext>
                </a:extLst>
              </a:tr>
            </a:tbl>
          </a:graphicData>
        </a:graphic>
      </p:graphicFrame>
      <p:sp>
        <p:nvSpPr>
          <p:cNvPr id="8" name="Rectangle : coins arrondis 7">
            <a:extLst>
              <a:ext uri="{FF2B5EF4-FFF2-40B4-BE49-F238E27FC236}">
                <a16:creationId xmlns:a16="http://schemas.microsoft.com/office/drawing/2014/main" id="{DA2B50DC-D92A-4C26-B08E-15DD37EC0E94}"/>
              </a:ext>
            </a:extLst>
          </p:cNvPr>
          <p:cNvSpPr/>
          <p:nvPr/>
        </p:nvSpPr>
        <p:spPr>
          <a:xfrm>
            <a:off x="10139734" y="939421"/>
            <a:ext cx="969819" cy="387927"/>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B6CCF58B-86BB-D198-8B1E-FD6B47158C91}"/>
              </a:ext>
            </a:extLst>
          </p:cNvPr>
          <p:cNvSpPr txBox="1">
            <a:spLocks/>
          </p:cNvSpPr>
          <p:nvPr/>
        </p:nvSpPr>
        <p:spPr>
          <a:xfrm>
            <a:off x="849745" y="2077065"/>
            <a:ext cx="10926619" cy="412343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4013" indent="-354013" algn="just">
              <a:buFont typeface="Arial" panose="020B0604020202020204" pitchFamily="34" charset="0"/>
              <a:buNone/>
            </a:pPr>
            <a:r>
              <a:rPr lang="fr-FR" dirty="0"/>
              <a:t>5. VRAI. Le « </a:t>
            </a:r>
            <a:r>
              <a:rPr lang="fr-FR" b="1" dirty="0"/>
              <a:t>conflit de valeurs</a:t>
            </a:r>
            <a:r>
              <a:rPr lang="fr-FR" dirty="0"/>
              <a:t> » désigne typiquement des situations ou des </a:t>
            </a:r>
            <a:r>
              <a:rPr lang="fr-FR" b="1" dirty="0"/>
              <a:t>cas de conscience </a:t>
            </a:r>
            <a:r>
              <a:rPr lang="fr-FR" dirty="0"/>
              <a:t>et des </a:t>
            </a:r>
            <a:r>
              <a:rPr lang="fr-FR" b="1" dirty="0"/>
              <a:t>dilemmes moraux </a:t>
            </a:r>
            <a:r>
              <a:rPr lang="fr-FR" dirty="0"/>
              <a:t>peuvent se poser aux individus.</a:t>
            </a:r>
          </a:p>
          <a:p>
            <a:pPr marL="354013" indent="-354013" algn="just">
              <a:buFont typeface="Arial" panose="020B0604020202020204" pitchFamily="34" charset="0"/>
              <a:buNone/>
            </a:pPr>
            <a:r>
              <a:rPr lang="fr-FR" dirty="0"/>
              <a:t>	On pense à la situation de l’étudiant évoqué par Sartre, qui hésite entre rester auprès de sa mère ou bien s’engager dans les forces armées. On pense à des situations professionnelles, sources de souffrances psychologiques, où l’individu est incité à agir contrairement à ses principes moraux.</a:t>
            </a:r>
          </a:p>
          <a:p>
            <a:pPr marL="354013" indent="-354013" algn="just">
              <a:buFont typeface="Arial" panose="020B0604020202020204" pitchFamily="34" charset="0"/>
              <a:buNone/>
            </a:pPr>
            <a:r>
              <a:rPr lang="fr-FR" dirty="0"/>
              <a:t>	Que faire ? Comment trancher ? Dans certaines situations professionnelles, l’«</a:t>
            </a:r>
            <a:r>
              <a:rPr lang="fr-FR" b="1" dirty="0"/>
              <a:t> alerte éthique</a:t>
            </a:r>
            <a:r>
              <a:rPr lang="fr-FR" dirty="0"/>
              <a:t> » peut être envisagée.</a:t>
            </a:r>
          </a:p>
        </p:txBody>
      </p:sp>
    </p:spTree>
    <p:extLst>
      <p:ext uri="{BB962C8B-B14F-4D97-AF65-F5344CB8AC3E}">
        <p14:creationId xmlns:p14="http://schemas.microsoft.com/office/powerpoint/2010/main" val="2133791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810554409"/>
              </p:ext>
            </p:extLst>
          </p:nvPr>
        </p:nvGraphicFramePr>
        <p:xfrm>
          <a:off x="686955" y="281358"/>
          <a:ext cx="10969336" cy="1634881"/>
        </p:xfrm>
        <a:graphic>
          <a:graphicData uri="http://schemas.openxmlformats.org/drawingml/2006/table">
            <a:tbl>
              <a:tblPr firstRow="1" bandRow="1">
                <a:tableStyleId>{5C22544A-7EE6-4342-B048-85BDC9FD1C3A}</a:tableStyleId>
              </a:tblPr>
              <a:tblGrid>
                <a:gridCol w="9038936">
                  <a:extLst>
                    <a:ext uri="{9D8B030D-6E8A-4147-A177-3AD203B41FA5}">
                      <a16:colId xmlns:a16="http://schemas.microsoft.com/office/drawing/2014/main" val="2146840881"/>
                    </a:ext>
                  </a:extLst>
                </a:gridCol>
                <a:gridCol w="1930400">
                  <a:extLst>
                    <a:ext uri="{9D8B030D-6E8A-4147-A177-3AD203B41FA5}">
                      <a16:colId xmlns:a16="http://schemas.microsoft.com/office/drawing/2014/main" val="2228847059"/>
                    </a:ext>
                  </a:extLst>
                </a:gridCol>
              </a:tblGrid>
              <a:tr h="621255">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13626">
                <a:tc>
                  <a:txBody>
                    <a:bodyPr/>
                    <a:lstStyle/>
                    <a:p>
                      <a:pPr algn="just"/>
                      <a:r>
                        <a:rPr lang="fr-FR" sz="2800" dirty="0"/>
                        <a:t>6. Le progrès technique peut être la source de problèmes moraux inédits.</a:t>
                      </a:r>
                    </a:p>
                  </a:txBody>
                  <a:tcPr/>
                </a:tc>
                <a:tc>
                  <a:txBody>
                    <a:bodyPr/>
                    <a:lstStyle/>
                    <a:p>
                      <a:pPr algn="ctr"/>
                      <a:r>
                        <a:rPr lang="fr-FR" sz="2800" dirty="0"/>
                        <a:t>VRAI         FAUX</a:t>
                      </a:r>
                    </a:p>
                  </a:txBody>
                  <a:tcPr/>
                </a:tc>
                <a:extLst>
                  <a:ext uri="{0D108BD9-81ED-4DB2-BD59-A6C34878D82A}">
                    <a16:rowId xmlns:a16="http://schemas.microsoft.com/office/drawing/2014/main" val="3353976627"/>
                  </a:ext>
                </a:extLst>
              </a:tr>
            </a:tbl>
          </a:graphicData>
        </a:graphic>
      </p:graphicFrame>
      <p:sp>
        <p:nvSpPr>
          <p:cNvPr id="5" name="Rectangle : coins arrondis 4">
            <a:extLst>
              <a:ext uri="{FF2B5EF4-FFF2-40B4-BE49-F238E27FC236}">
                <a16:creationId xmlns:a16="http://schemas.microsoft.com/office/drawing/2014/main" id="{B5487198-E11C-46A2-A335-0B8387D51C25}"/>
              </a:ext>
            </a:extLst>
          </p:cNvPr>
          <p:cNvSpPr/>
          <p:nvPr/>
        </p:nvSpPr>
        <p:spPr>
          <a:xfrm>
            <a:off x="10233891" y="988292"/>
            <a:ext cx="969819" cy="387927"/>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u contenu 2">
            <a:extLst>
              <a:ext uri="{FF2B5EF4-FFF2-40B4-BE49-F238E27FC236}">
                <a16:creationId xmlns:a16="http://schemas.microsoft.com/office/drawing/2014/main" id="{31A01CC0-6769-10D4-ED36-0C2540420C07}"/>
              </a:ext>
            </a:extLst>
          </p:cNvPr>
          <p:cNvSpPr txBox="1">
            <a:spLocks/>
          </p:cNvSpPr>
          <p:nvPr/>
        </p:nvSpPr>
        <p:spPr>
          <a:xfrm>
            <a:off x="686955" y="1978576"/>
            <a:ext cx="11102592" cy="487942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4013" indent="-354013" algn="just">
              <a:buFont typeface="Arial" panose="020B0604020202020204" pitchFamily="34" charset="0"/>
              <a:buNone/>
            </a:pPr>
            <a:r>
              <a:rPr lang="fr-FR" dirty="0"/>
              <a:t>6. VRAI. Ce sont les progrès des biotechnologies qui ont suscité la naissance de la </a:t>
            </a:r>
            <a:r>
              <a:rPr lang="fr-FR" b="1" dirty="0"/>
              <a:t>bioéthique</a:t>
            </a:r>
            <a:r>
              <a:rPr lang="fr-FR" dirty="0"/>
              <a:t>, la « révolution numérique » qui est à la source de </a:t>
            </a:r>
            <a:r>
              <a:rPr lang="fr-FR" b="1" dirty="0"/>
              <a:t>l’éthique du numérique</a:t>
            </a:r>
            <a:r>
              <a:rPr lang="fr-FR" dirty="0"/>
              <a:t>, etc. Toute possibilité technique nouvelle fait émerger un questionnement sur les limites à fixer, questionnement qui n’avait pas lieu de se poser auparavant.</a:t>
            </a:r>
          </a:p>
          <a:p>
            <a:pPr marL="354013" indent="-354013" algn="just">
              <a:buFont typeface="Arial" panose="020B0604020202020204" pitchFamily="34" charset="0"/>
              <a:buNone/>
            </a:pPr>
            <a:r>
              <a:rPr lang="fr-FR" dirty="0"/>
              <a:t>	Est-il acceptable de cloner un être humain ? Peut-on confier à des engins autonomes la possibilité de tuer ? Les questions sont innombrables. Pour y répondre, le débat public se nourrit de l’avis d’experts, de comités d’éthique, de philosophes qui puisent certes dans les concepts existants de la philosophie morale, mais en forgent également de nouveaux.</a:t>
            </a:r>
          </a:p>
          <a:p>
            <a:pPr marL="354013" indent="-354013" algn="just">
              <a:buFont typeface="Arial" panose="020B0604020202020204" pitchFamily="34" charset="0"/>
              <a:buNone/>
            </a:pPr>
            <a:r>
              <a:rPr lang="fr-FR" dirty="0"/>
              <a:t>	On peut penser au « </a:t>
            </a:r>
            <a:r>
              <a:rPr lang="fr-FR" b="1" dirty="0"/>
              <a:t>Principe responsabilité</a:t>
            </a:r>
            <a:r>
              <a:rPr lang="fr-FR" dirty="0"/>
              <a:t> » élaboré par Hans Jonas, face aux risques inédits de la </a:t>
            </a:r>
            <a:r>
              <a:rPr lang="fr-FR" b="1" dirty="0"/>
              <a:t>technoscience</a:t>
            </a:r>
            <a:r>
              <a:rPr lang="fr-FR" dirty="0"/>
              <a:t>.</a:t>
            </a:r>
          </a:p>
        </p:txBody>
      </p:sp>
    </p:spTree>
    <p:extLst>
      <p:ext uri="{BB962C8B-B14F-4D97-AF65-F5344CB8AC3E}">
        <p14:creationId xmlns:p14="http://schemas.microsoft.com/office/powerpoint/2010/main" val="7428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1191240587"/>
              </p:ext>
            </p:extLst>
          </p:nvPr>
        </p:nvGraphicFramePr>
        <p:xfrm>
          <a:off x="544912" y="138500"/>
          <a:ext cx="10969336" cy="1634881"/>
        </p:xfrm>
        <a:graphic>
          <a:graphicData uri="http://schemas.openxmlformats.org/drawingml/2006/table">
            <a:tbl>
              <a:tblPr firstRow="1" bandRow="1">
                <a:tableStyleId>{5C22544A-7EE6-4342-B048-85BDC9FD1C3A}</a:tableStyleId>
              </a:tblPr>
              <a:tblGrid>
                <a:gridCol w="9038936">
                  <a:extLst>
                    <a:ext uri="{9D8B030D-6E8A-4147-A177-3AD203B41FA5}">
                      <a16:colId xmlns:a16="http://schemas.microsoft.com/office/drawing/2014/main" val="2146840881"/>
                    </a:ext>
                  </a:extLst>
                </a:gridCol>
                <a:gridCol w="1930400">
                  <a:extLst>
                    <a:ext uri="{9D8B030D-6E8A-4147-A177-3AD203B41FA5}">
                      <a16:colId xmlns:a16="http://schemas.microsoft.com/office/drawing/2014/main" val="2228847059"/>
                    </a:ext>
                  </a:extLst>
                </a:gridCol>
              </a:tblGrid>
              <a:tr h="621255">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13626">
                <a:tc>
                  <a:txBody>
                    <a:bodyPr/>
                    <a:lstStyle/>
                    <a:p>
                      <a:pPr algn="just"/>
                      <a:r>
                        <a:rPr lang="fr-FR" sz="2800" dirty="0"/>
                        <a:t>7. Pour Kant, il y a une continuité évidente entre l’altruisme observé dans le monde animal et la moralité.</a:t>
                      </a:r>
                    </a:p>
                  </a:txBody>
                  <a:tcPr/>
                </a:tc>
                <a:tc>
                  <a:txBody>
                    <a:bodyPr/>
                    <a:lstStyle/>
                    <a:p>
                      <a:pPr marL="0" indent="0" algn="ctr"/>
                      <a:r>
                        <a:rPr lang="fr-FR" sz="2800" dirty="0"/>
                        <a:t>VRAI         FAUX</a:t>
                      </a:r>
                    </a:p>
                  </a:txBody>
                  <a:tcPr/>
                </a:tc>
                <a:extLst>
                  <a:ext uri="{0D108BD9-81ED-4DB2-BD59-A6C34878D82A}">
                    <a16:rowId xmlns:a16="http://schemas.microsoft.com/office/drawing/2014/main" val="3390694312"/>
                  </a:ext>
                </a:extLst>
              </a:tr>
            </a:tbl>
          </a:graphicData>
        </a:graphic>
      </p:graphicFrame>
      <p:sp>
        <p:nvSpPr>
          <p:cNvPr id="3" name="Rectangle : coins arrondis 2">
            <a:extLst>
              <a:ext uri="{FF2B5EF4-FFF2-40B4-BE49-F238E27FC236}">
                <a16:creationId xmlns:a16="http://schemas.microsoft.com/office/drawing/2014/main" id="{FAC015A6-9816-4FE6-88DA-DD179581865D}"/>
              </a:ext>
            </a:extLst>
          </p:cNvPr>
          <p:cNvSpPr/>
          <p:nvPr/>
        </p:nvSpPr>
        <p:spPr>
          <a:xfrm>
            <a:off x="10115691" y="1278922"/>
            <a:ext cx="969819" cy="38792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u contenu 2">
            <a:extLst>
              <a:ext uri="{FF2B5EF4-FFF2-40B4-BE49-F238E27FC236}">
                <a16:creationId xmlns:a16="http://schemas.microsoft.com/office/drawing/2014/main" id="{EBB5B141-3915-0390-BB1B-041D85A7C69A}"/>
              </a:ext>
            </a:extLst>
          </p:cNvPr>
          <p:cNvSpPr txBox="1">
            <a:spLocks/>
          </p:cNvSpPr>
          <p:nvPr/>
        </p:nvSpPr>
        <p:spPr>
          <a:xfrm>
            <a:off x="471566" y="1899820"/>
            <a:ext cx="10969336" cy="48196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4013" indent="-354013" algn="just">
              <a:lnSpc>
                <a:spcPct val="85000"/>
              </a:lnSpc>
              <a:buFont typeface="Arial" panose="020B0604020202020204" pitchFamily="34" charset="0"/>
              <a:buNone/>
            </a:pPr>
            <a:r>
              <a:rPr lang="fr-FR" sz="2600" dirty="0"/>
              <a:t>7. FAUX. C’est un point décisif pour la compréhension de la position kantienne. La morale kantienne considère que seuls ont accès à la moralité les êtres susceptibles d’exercer leur </a:t>
            </a:r>
            <a:r>
              <a:rPr lang="fr-FR" sz="2600" b="1" dirty="0"/>
              <a:t>raison</a:t>
            </a:r>
            <a:r>
              <a:rPr lang="fr-FR" sz="2600" dirty="0"/>
              <a:t> dans le champ pratique, à savoir celui de l’action. L’animal déterminé par l’instinct ne peut pas agir « par devoir », contrairement à l’être humain : il n’a pas accès à la notion d’universalité inconditionnée de </a:t>
            </a:r>
            <a:r>
              <a:rPr lang="fr-FR" sz="2600" b="1" dirty="0"/>
              <a:t>l’impératif catégorique</a:t>
            </a:r>
            <a:r>
              <a:rPr lang="fr-FR" sz="2600" dirty="0"/>
              <a:t>, il ne peut pas se donner de </a:t>
            </a:r>
            <a:r>
              <a:rPr lang="fr-FR" sz="2600" b="1" dirty="0"/>
              <a:t>loi morale universelle </a:t>
            </a:r>
            <a:r>
              <a:rPr lang="fr-FR" sz="2600" dirty="0"/>
              <a:t>pour déterminer son action.</a:t>
            </a:r>
          </a:p>
          <a:p>
            <a:pPr marL="354013" indent="-354013" algn="just">
              <a:lnSpc>
                <a:spcPct val="85000"/>
              </a:lnSpc>
              <a:buFont typeface="Arial" panose="020B0604020202020204" pitchFamily="34" charset="0"/>
              <a:buNone/>
            </a:pPr>
            <a:r>
              <a:rPr lang="fr-FR" sz="2600" dirty="0"/>
              <a:t>	Selon Kant, dans la détermination de l’action morale, aucun mobile ni motif extérieur à la pure moralité ne doit intervenir. Le principe de l’action morale vaut par lui-même. On doit supposer à l’être moral la </a:t>
            </a:r>
            <a:r>
              <a:rPr lang="fr-FR" sz="2600" b="1" dirty="0"/>
              <a:t>liberté </a:t>
            </a:r>
            <a:r>
              <a:rPr lang="fr-FR" sz="2600" dirty="0"/>
              <a:t>de surmonter ses inclinations sensibles, égoïstes, pulsionnelles, etc. Il y a donc bien une discontinuité forte entre l’altruisme supposé de certaines espèces animales et la moralité humaine telle que Kant la conçoit idéalement.</a:t>
            </a:r>
          </a:p>
        </p:txBody>
      </p:sp>
    </p:spTree>
    <p:extLst>
      <p:ext uri="{BB962C8B-B14F-4D97-AF65-F5344CB8AC3E}">
        <p14:creationId xmlns:p14="http://schemas.microsoft.com/office/powerpoint/2010/main" val="193230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436242118"/>
              </p:ext>
            </p:extLst>
          </p:nvPr>
        </p:nvGraphicFramePr>
        <p:xfrm>
          <a:off x="686955" y="281358"/>
          <a:ext cx="10969336" cy="2092646"/>
        </p:xfrm>
        <a:graphic>
          <a:graphicData uri="http://schemas.openxmlformats.org/drawingml/2006/table">
            <a:tbl>
              <a:tblPr firstRow="1" bandRow="1">
                <a:tableStyleId>{5C22544A-7EE6-4342-B048-85BDC9FD1C3A}</a:tableStyleId>
              </a:tblPr>
              <a:tblGrid>
                <a:gridCol w="9038936">
                  <a:extLst>
                    <a:ext uri="{9D8B030D-6E8A-4147-A177-3AD203B41FA5}">
                      <a16:colId xmlns:a16="http://schemas.microsoft.com/office/drawing/2014/main" val="2146840881"/>
                    </a:ext>
                  </a:extLst>
                </a:gridCol>
                <a:gridCol w="1930400">
                  <a:extLst>
                    <a:ext uri="{9D8B030D-6E8A-4147-A177-3AD203B41FA5}">
                      <a16:colId xmlns:a16="http://schemas.microsoft.com/office/drawing/2014/main" val="2228847059"/>
                    </a:ext>
                  </a:extLst>
                </a:gridCol>
              </a:tblGrid>
              <a:tr h="621255">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471391">
                <a:tc>
                  <a:txBody>
                    <a:bodyPr/>
                    <a:lstStyle/>
                    <a:p>
                      <a:pPr algn="just"/>
                      <a:r>
                        <a:rPr lang="fr-FR" sz="2800" dirty="0"/>
                        <a:t>8. Le principe de « maximisation de l’utilité du plus grand nombre » comporte des risques sacrificiels, selon les critiques adressées à l’utilitarisme.</a:t>
                      </a:r>
                    </a:p>
                  </a:txBody>
                  <a:tcPr/>
                </a:tc>
                <a:tc>
                  <a:txBody>
                    <a:bodyPr/>
                    <a:lstStyle/>
                    <a:p>
                      <a:pPr algn="ctr"/>
                      <a:r>
                        <a:rPr lang="fr-FR" sz="2800" dirty="0"/>
                        <a:t>VRAI         FAUX</a:t>
                      </a:r>
                    </a:p>
                  </a:txBody>
                  <a:tcPr/>
                </a:tc>
                <a:extLst>
                  <a:ext uri="{0D108BD9-81ED-4DB2-BD59-A6C34878D82A}">
                    <a16:rowId xmlns:a16="http://schemas.microsoft.com/office/drawing/2014/main" val="4226868751"/>
                  </a:ext>
                </a:extLst>
              </a:tr>
            </a:tbl>
          </a:graphicData>
        </a:graphic>
      </p:graphicFrame>
      <p:sp>
        <p:nvSpPr>
          <p:cNvPr id="5" name="Rectangle : coins arrondis 4">
            <a:extLst>
              <a:ext uri="{FF2B5EF4-FFF2-40B4-BE49-F238E27FC236}">
                <a16:creationId xmlns:a16="http://schemas.microsoft.com/office/drawing/2014/main" id="{B5487198-E11C-46A2-A335-0B8387D51C25}"/>
              </a:ext>
            </a:extLst>
          </p:cNvPr>
          <p:cNvSpPr/>
          <p:nvPr/>
        </p:nvSpPr>
        <p:spPr>
          <a:xfrm>
            <a:off x="10233891" y="988292"/>
            <a:ext cx="969819" cy="387927"/>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u contenu 2">
            <a:extLst>
              <a:ext uri="{FF2B5EF4-FFF2-40B4-BE49-F238E27FC236}">
                <a16:creationId xmlns:a16="http://schemas.microsoft.com/office/drawing/2014/main" id="{F7CD5473-2072-1459-240D-91F2ECD1E01A}"/>
              </a:ext>
            </a:extLst>
          </p:cNvPr>
          <p:cNvSpPr txBox="1">
            <a:spLocks/>
          </p:cNvSpPr>
          <p:nvPr/>
        </p:nvSpPr>
        <p:spPr>
          <a:xfrm>
            <a:off x="603682" y="2768689"/>
            <a:ext cx="11052610" cy="33036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1338" indent="-541338" algn="just">
              <a:buFont typeface="Arial" panose="020B0604020202020204" pitchFamily="34" charset="0"/>
              <a:buNone/>
            </a:pPr>
            <a:r>
              <a:rPr lang="fr-FR" dirty="0"/>
              <a:t>8. VRAI. C’est un point vu en cours. Le principal reproche adressé à l’utilitarisme est celui de risquer potentiellement de </a:t>
            </a:r>
            <a:r>
              <a:rPr lang="fr-FR" b="1" dirty="0"/>
              <a:t>sacrifier la minorité au bien-être de la majorité</a:t>
            </a:r>
            <a:r>
              <a:rPr lang="fr-FR" dirty="0"/>
              <a:t>.</a:t>
            </a:r>
          </a:p>
          <a:p>
            <a:pPr marL="541338" indent="-541338" algn="just">
              <a:buFont typeface="Arial" panose="020B0604020202020204" pitchFamily="34" charset="0"/>
              <a:buNone/>
            </a:pPr>
            <a:r>
              <a:rPr lang="fr-FR" dirty="0"/>
              <a:t>	Dans certaines situations, maximiser le bien-être du plus grand nombre pourrait se faire aux dépens des droits fondamentaux de certains. D’où l’importance d’opposer à une application stricte de l’utilitarisme le respect de </a:t>
            </a:r>
            <a:r>
              <a:rPr lang="fr-FR" b="1" dirty="0"/>
              <a:t>droits fondamentaux </a:t>
            </a:r>
            <a:r>
              <a:rPr lang="fr-FR" dirty="0"/>
              <a:t>individuels et le souci des </a:t>
            </a:r>
            <a:r>
              <a:rPr lang="fr-FR" b="1" dirty="0"/>
              <a:t>minorités</a:t>
            </a:r>
            <a:r>
              <a:rPr lang="fr-FR" dirty="0"/>
              <a:t>, afin précisément de contrebalancer ce risque sacrificiel.</a:t>
            </a:r>
          </a:p>
          <a:p>
            <a:pPr marL="541338" indent="-541338" algn="just">
              <a:buFont typeface="Arial" panose="020B0604020202020204" pitchFamily="34" charset="0"/>
              <a:buNone/>
            </a:pPr>
            <a:endParaRPr lang="fr-FR" dirty="0"/>
          </a:p>
        </p:txBody>
      </p:sp>
    </p:spTree>
    <p:extLst>
      <p:ext uri="{BB962C8B-B14F-4D97-AF65-F5344CB8AC3E}">
        <p14:creationId xmlns:p14="http://schemas.microsoft.com/office/powerpoint/2010/main" val="3889091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556505948"/>
              </p:ext>
            </p:extLst>
          </p:nvPr>
        </p:nvGraphicFramePr>
        <p:xfrm>
          <a:off x="686955" y="281358"/>
          <a:ext cx="10969336" cy="1634881"/>
        </p:xfrm>
        <a:graphic>
          <a:graphicData uri="http://schemas.openxmlformats.org/drawingml/2006/table">
            <a:tbl>
              <a:tblPr firstRow="1" bandRow="1">
                <a:tableStyleId>{5C22544A-7EE6-4342-B048-85BDC9FD1C3A}</a:tableStyleId>
              </a:tblPr>
              <a:tblGrid>
                <a:gridCol w="9038936">
                  <a:extLst>
                    <a:ext uri="{9D8B030D-6E8A-4147-A177-3AD203B41FA5}">
                      <a16:colId xmlns:a16="http://schemas.microsoft.com/office/drawing/2014/main" val="2146840881"/>
                    </a:ext>
                  </a:extLst>
                </a:gridCol>
                <a:gridCol w="1930400">
                  <a:extLst>
                    <a:ext uri="{9D8B030D-6E8A-4147-A177-3AD203B41FA5}">
                      <a16:colId xmlns:a16="http://schemas.microsoft.com/office/drawing/2014/main" val="2228847059"/>
                    </a:ext>
                  </a:extLst>
                </a:gridCol>
              </a:tblGrid>
              <a:tr h="621255">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13626">
                <a:tc>
                  <a:txBody>
                    <a:bodyPr/>
                    <a:lstStyle/>
                    <a:p>
                      <a:pPr algn="just"/>
                      <a:r>
                        <a:rPr lang="fr-FR" sz="2800" dirty="0"/>
                        <a:t>9. Le « fait du pluralisme » est caractéristique des sociétés traditionnelles.</a:t>
                      </a:r>
                    </a:p>
                  </a:txBody>
                  <a:tcPr/>
                </a:tc>
                <a:tc>
                  <a:txBody>
                    <a:bodyPr/>
                    <a:lstStyle/>
                    <a:p>
                      <a:pPr marL="0" indent="0" algn="ctr"/>
                      <a:r>
                        <a:rPr lang="fr-FR" sz="2800" dirty="0"/>
                        <a:t>VRAI         FAUX</a:t>
                      </a:r>
                    </a:p>
                  </a:txBody>
                  <a:tcPr/>
                </a:tc>
                <a:extLst>
                  <a:ext uri="{0D108BD9-81ED-4DB2-BD59-A6C34878D82A}">
                    <a16:rowId xmlns:a16="http://schemas.microsoft.com/office/drawing/2014/main" val="2779120096"/>
                  </a:ext>
                </a:extLst>
              </a:tr>
            </a:tbl>
          </a:graphicData>
        </a:graphic>
      </p:graphicFrame>
      <p:sp>
        <p:nvSpPr>
          <p:cNvPr id="3" name="Rectangle : coins arrondis 2">
            <a:extLst>
              <a:ext uri="{FF2B5EF4-FFF2-40B4-BE49-F238E27FC236}">
                <a16:creationId xmlns:a16="http://schemas.microsoft.com/office/drawing/2014/main" id="{FAC015A6-9816-4FE6-88DA-DD179581865D}"/>
              </a:ext>
            </a:extLst>
          </p:cNvPr>
          <p:cNvSpPr/>
          <p:nvPr/>
        </p:nvSpPr>
        <p:spPr>
          <a:xfrm>
            <a:off x="10196939" y="1411647"/>
            <a:ext cx="969819" cy="38792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u contenu 2">
            <a:extLst>
              <a:ext uri="{FF2B5EF4-FFF2-40B4-BE49-F238E27FC236}">
                <a16:creationId xmlns:a16="http://schemas.microsoft.com/office/drawing/2014/main" id="{CF68159D-2668-118A-5D4C-4FD4E60039CC}"/>
              </a:ext>
            </a:extLst>
          </p:cNvPr>
          <p:cNvSpPr txBox="1">
            <a:spLocks/>
          </p:cNvSpPr>
          <p:nvPr/>
        </p:nvSpPr>
        <p:spPr>
          <a:xfrm>
            <a:off x="686953" y="2041538"/>
            <a:ext cx="10969336" cy="349894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1338" indent="-541338" algn="just">
              <a:buFont typeface="Arial" panose="020B0604020202020204" pitchFamily="34" charset="0"/>
              <a:buNone/>
            </a:pPr>
            <a:r>
              <a:rPr lang="fr-FR" dirty="0"/>
              <a:t>9. FAUX. Le « </a:t>
            </a:r>
            <a:r>
              <a:rPr lang="fr-FR" b="1" dirty="0"/>
              <a:t>fait du pluralisme</a:t>
            </a:r>
            <a:r>
              <a:rPr lang="fr-FR" dirty="0"/>
              <a:t> » désigne le fait que, dans les sociétés démocratiques libérales modernes, une relative diversité de conceptions de la vie bonne sont acceptables. Dans les « </a:t>
            </a:r>
            <a:r>
              <a:rPr lang="fr-FR" b="1" dirty="0"/>
              <a:t>sociétés traditionnelles</a:t>
            </a:r>
            <a:r>
              <a:rPr lang="fr-FR" dirty="0"/>
              <a:t> », au contraire, il y a une plus grande homogénéité des valeurs morales, des normes et des idéaux.</a:t>
            </a:r>
          </a:p>
          <a:p>
            <a:pPr marL="541338" indent="-541338" algn="just">
              <a:buFont typeface="Arial" panose="020B0604020202020204" pitchFamily="34" charset="0"/>
              <a:buNone/>
            </a:pPr>
            <a:r>
              <a:rPr lang="fr-FR" dirty="0"/>
              <a:t>	Ce passage de la société traditionnelle à la société moderne a été étudié par de nombreux historiens et sociologues, en particulier Max Weber. Les </a:t>
            </a:r>
            <a:r>
              <a:rPr lang="fr-FR" b="1" dirty="0"/>
              <a:t>solidarités</a:t>
            </a:r>
            <a:r>
              <a:rPr lang="fr-FR" dirty="0"/>
              <a:t>, ici et là, s’exercent selon des modalités distinctes.</a:t>
            </a:r>
          </a:p>
        </p:txBody>
      </p:sp>
    </p:spTree>
    <p:extLst>
      <p:ext uri="{BB962C8B-B14F-4D97-AF65-F5344CB8AC3E}">
        <p14:creationId xmlns:p14="http://schemas.microsoft.com/office/powerpoint/2010/main" val="3245978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4084899519"/>
              </p:ext>
            </p:extLst>
          </p:nvPr>
        </p:nvGraphicFramePr>
        <p:xfrm>
          <a:off x="686955" y="281358"/>
          <a:ext cx="10969336" cy="1634881"/>
        </p:xfrm>
        <a:graphic>
          <a:graphicData uri="http://schemas.openxmlformats.org/drawingml/2006/table">
            <a:tbl>
              <a:tblPr firstRow="1" bandRow="1">
                <a:tableStyleId>{5C22544A-7EE6-4342-B048-85BDC9FD1C3A}</a:tableStyleId>
              </a:tblPr>
              <a:tblGrid>
                <a:gridCol w="9038936">
                  <a:extLst>
                    <a:ext uri="{9D8B030D-6E8A-4147-A177-3AD203B41FA5}">
                      <a16:colId xmlns:a16="http://schemas.microsoft.com/office/drawing/2014/main" val="2146840881"/>
                    </a:ext>
                  </a:extLst>
                </a:gridCol>
                <a:gridCol w="1930400">
                  <a:extLst>
                    <a:ext uri="{9D8B030D-6E8A-4147-A177-3AD203B41FA5}">
                      <a16:colId xmlns:a16="http://schemas.microsoft.com/office/drawing/2014/main" val="2228847059"/>
                    </a:ext>
                  </a:extLst>
                </a:gridCol>
              </a:tblGrid>
              <a:tr h="621255">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13626">
                <a:tc>
                  <a:txBody>
                    <a:bodyPr/>
                    <a:lstStyle/>
                    <a:p>
                      <a:pPr algn="just"/>
                      <a:r>
                        <a:rPr lang="fr-FR" sz="2800" dirty="0"/>
                        <a:t>10. Selon Kant, la moralité a pour motivation légitime la recherche du bonheur.</a:t>
                      </a:r>
                    </a:p>
                  </a:txBody>
                  <a:tcPr/>
                </a:tc>
                <a:tc>
                  <a:txBody>
                    <a:bodyPr/>
                    <a:lstStyle/>
                    <a:p>
                      <a:pPr algn="ctr"/>
                      <a:r>
                        <a:rPr lang="fr-FR" sz="2800" dirty="0"/>
                        <a:t>VRAI         FAUX</a:t>
                      </a:r>
                    </a:p>
                  </a:txBody>
                  <a:tcPr/>
                </a:tc>
                <a:extLst>
                  <a:ext uri="{0D108BD9-81ED-4DB2-BD59-A6C34878D82A}">
                    <a16:rowId xmlns:a16="http://schemas.microsoft.com/office/drawing/2014/main" val="120988582"/>
                  </a:ext>
                </a:extLst>
              </a:tr>
            </a:tbl>
          </a:graphicData>
        </a:graphic>
      </p:graphicFrame>
      <p:sp>
        <p:nvSpPr>
          <p:cNvPr id="3" name="Rectangle : coins arrondis 2">
            <a:extLst>
              <a:ext uri="{FF2B5EF4-FFF2-40B4-BE49-F238E27FC236}">
                <a16:creationId xmlns:a16="http://schemas.microsoft.com/office/drawing/2014/main" id="{FAC015A6-9816-4FE6-88DA-DD179581865D}"/>
              </a:ext>
            </a:extLst>
          </p:cNvPr>
          <p:cNvSpPr/>
          <p:nvPr/>
        </p:nvSpPr>
        <p:spPr>
          <a:xfrm>
            <a:off x="10196940" y="1385454"/>
            <a:ext cx="969819" cy="38792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4AE55627-602F-83E7-DA5D-B28EE480773F}"/>
              </a:ext>
            </a:extLst>
          </p:cNvPr>
          <p:cNvSpPr txBox="1"/>
          <p:nvPr/>
        </p:nvSpPr>
        <p:spPr>
          <a:xfrm>
            <a:off x="686954" y="2097005"/>
            <a:ext cx="10969335" cy="4413516"/>
          </a:xfrm>
          <a:prstGeom prst="rect">
            <a:avLst/>
          </a:prstGeom>
          <a:noFill/>
        </p:spPr>
        <p:txBody>
          <a:bodyPr wrap="square" rtlCol="0">
            <a:spAutoFit/>
          </a:bodyPr>
          <a:lstStyle/>
          <a:p>
            <a:pPr marL="444500" indent="-444500" algn="just">
              <a:lnSpc>
                <a:spcPct val="90000"/>
              </a:lnSpc>
            </a:pPr>
            <a:r>
              <a:rPr lang="fr-FR" sz="2600" dirty="0"/>
              <a:t>10. FAUX. La morale kantienne a souvent été taxée de « </a:t>
            </a:r>
            <a:r>
              <a:rPr lang="fr-FR" sz="2600" b="1" dirty="0"/>
              <a:t>rigorisme</a:t>
            </a:r>
            <a:r>
              <a:rPr lang="fr-FR" sz="2600" dirty="0"/>
              <a:t> », parce qu’elle dissocie la recherche du bonheur des critères de la moralité. A cet égard, elle s’écarte des éthiques « eudémonistes » (centrées sur le bonheur) de l’Antiquité. La recherche du bonheur implique un ensemble d’</a:t>
            </a:r>
            <a:r>
              <a:rPr lang="fr-FR" sz="2600" b="1" dirty="0"/>
              <a:t>impératifs hypothétiques </a:t>
            </a:r>
            <a:r>
              <a:rPr lang="fr-FR" sz="2600" dirty="0"/>
              <a:t>(faire A pour atteindre B), qui ne peuvent être confondus avec </a:t>
            </a:r>
            <a:r>
              <a:rPr lang="fr-FR" sz="2600" b="1" dirty="0"/>
              <a:t>l’impératif catégorique </a:t>
            </a:r>
            <a:r>
              <a:rPr lang="fr-FR" sz="2600" dirty="0"/>
              <a:t>(faire A parce que A revêt une valeur en soi absolue).</a:t>
            </a:r>
          </a:p>
          <a:p>
            <a:pPr marL="444500" indent="-444500" algn="just">
              <a:lnSpc>
                <a:spcPct val="90000"/>
              </a:lnSpc>
            </a:pPr>
            <a:r>
              <a:rPr lang="fr-FR" sz="2600" dirty="0"/>
              <a:t>	Le recherche du bonheur relève de motivations personnelles, variables selon les individus, étrangères à la moralité. Kant suppose que, dans l’idéal, la quête du bonheur et la moralité puissent être réconciliées. Mais dans la société telle qu’elle existe, agir moralement a souvent un coût psychique qui ne va pas nécessairement dans le sens du bonheur.</a:t>
            </a:r>
            <a:endParaRPr lang="fr-FR" sz="2600" b="1" dirty="0"/>
          </a:p>
        </p:txBody>
      </p:sp>
    </p:spTree>
    <p:extLst>
      <p:ext uri="{BB962C8B-B14F-4D97-AF65-F5344CB8AC3E}">
        <p14:creationId xmlns:p14="http://schemas.microsoft.com/office/powerpoint/2010/main" val="533246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63443700"/>
              </p:ext>
            </p:extLst>
          </p:nvPr>
        </p:nvGraphicFramePr>
        <p:xfrm>
          <a:off x="686955" y="198234"/>
          <a:ext cx="11070936" cy="1710938"/>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60782">
                <a:tc>
                  <a:txBody>
                    <a:bodyPr/>
                    <a:lstStyle/>
                    <a:p>
                      <a:pPr algn="just"/>
                      <a:r>
                        <a:rPr lang="fr-FR" sz="2800" dirty="0"/>
                        <a:t>11. Dans l’utilitarisme, le critère de la bonne intention est dominant pour évaluer la portée éthique d’une action.</a:t>
                      </a:r>
                    </a:p>
                  </a:txBody>
                  <a:tcPr/>
                </a:tc>
                <a:tc>
                  <a:txBody>
                    <a:bodyPr/>
                    <a:lstStyle/>
                    <a:p>
                      <a:pPr algn="ctr"/>
                      <a:r>
                        <a:rPr lang="fr-FR" sz="2800" dirty="0"/>
                        <a:t>VRAI         FAUX</a:t>
                      </a:r>
                    </a:p>
                  </a:txBody>
                  <a:tcPr/>
                </a:tc>
                <a:extLst>
                  <a:ext uri="{0D108BD9-81ED-4DB2-BD59-A6C34878D82A}">
                    <a16:rowId xmlns:a16="http://schemas.microsoft.com/office/drawing/2014/main" val="3353976627"/>
                  </a:ext>
                </a:extLst>
              </a:tr>
            </a:tbl>
          </a:graphicData>
        </a:graphic>
      </p:graphicFrame>
      <p:sp>
        <p:nvSpPr>
          <p:cNvPr id="3" name="Rectangle : coins arrondis 2">
            <a:extLst>
              <a:ext uri="{FF2B5EF4-FFF2-40B4-BE49-F238E27FC236}">
                <a16:creationId xmlns:a16="http://schemas.microsoft.com/office/drawing/2014/main" id="{C69C2C4D-BE61-4DAC-92B9-00FE4BD856DE}"/>
              </a:ext>
            </a:extLst>
          </p:cNvPr>
          <p:cNvSpPr/>
          <p:nvPr/>
        </p:nvSpPr>
        <p:spPr>
          <a:xfrm>
            <a:off x="10317016" y="1306946"/>
            <a:ext cx="969819" cy="38792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5DD23067-8F38-2AC1-9314-71F59A1010CB}"/>
              </a:ext>
            </a:extLst>
          </p:cNvPr>
          <p:cNvSpPr txBox="1"/>
          <p:nvPr/>
        </p:nvSpPr>
        <p:spPr>
          <a:xfrm>
            <a:off x="686954" y="2097005"/>
            <a:ext cx="11004937" cy="3333220"/>
          </a:xfrm>
          <a:prstGeom prst="rect">
            <a:avLst/>
          </a:prstGeom>
          <a:noFill/>
        </p:spPr>
        <p:txBody>
          <a:bodyPr wrap="square" rtlCol="0">
            <a:spAutoFit/>
          </a:bodyPr>
          <a:lstStyle/>
          <a:p>
            <a:pPr marL="444500" indent="-444500" algn="just">
              <a:lnSpc>
                <a:spcPct val="90000"/>
              </a:lnSpc>
            </a:pPr>
            <a:r>
              <a:rPr lang="fr-FR" sz="2600" dirty="0"/>
              <a:t>11. FAUX. Dans l’utilitarisme, l’intention est de peu de poids. Ce sont au contraire les </a:t>
            </a:r>
            <a:r>
              <a:rPr lang="fr-FR" sz="2600" b="1" dirty="0"/>
              <a:t>conséquences</a:t>
            </a:r>
            <a:r>
              <a:rPr lang="fr-FR" sz="2600" dirty="0"/>
              <a:t> concrètes de l’action qui comptent, quelle que soit la bonne intention. L’action contribue-t-elle à l’augmentation de </a:t>
            </a:r>
            <a:r>
              <a:rPr lang="fr-FR" sz="2600" b="1" dirty="0"/>
              <a:t>l’utilité</a:t>
            </a:r>
            <a:r>
              <a:rPr lang="fr-FR" sz="2600" dirty="0"/>
              <a:t> du plus grand nombre ? L’intention n’entre pas ici en compte.</a:t>
            </a:r>
          </a:p>
          <a:p>
            <a:pPr marL="444500" indent="-444500" algn="just">
              <a:lnSpc>
                <a:spcPct val="90000"/>
              </a:lnSpc>
            </a:pPr>
            <a:r>
              <a:rPr lang="fr-FR" sz="2600" dirty="0"/>
              <a:t>	En revanche, dans le déontologisme kantien, le critère de la « bonne volonté » est fondamental, puisque l’impératif catégorique exprime la forme même de la bonne volonté. Et on peut considérer qu’une éthique des vertus accorderait une certaine importance à l’intention, sachant qu’une vertu se définit comme une disposition à bien agir.</a:t>
            </a:r>
            <a:endParaRPr lang="fr-FR" sz="2600" b="1" dirty="0"/>
          </a:p>
        </p:txBody>
      </p:sp>
    </p:spTree>
    <p:extLst>
      <p:ext uri="{BB962C8B-B14F-4D97-AF65-F5344CB8AC3E}">
        <p14:creationId xmlns:p14="http://schemas.microsoft.com/office/powerpoint/2010/main" val="2701376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1896687960"/>
              </p:ext>
            </p:extLst>
          </p:nvPr>
        </p:nvGraphicFramePr>
        <p:xfrm>
          <a:off x="686955" y="198234"/>
          <a:ext cx="11070936" cy="1710938"/>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60782">
                <a:tc>
                  <a:txBody>
                    <a:bodyPr/>
                    <a:lstStyle/>
                    <a:p>
                      <a:pPr algn="just"/>
                      <a:r>
                        <a:rPr lang="fr-FR" sz="2800" dirty="0"/>
                        <a:t>12. Dans le « dilemme du tramway », la perspective utilitariste porte attention au nombre de personnes sauvées.</a:t>
                      </a:r>
                    </a:p>
                  </a:txBody>
                  <a:tcPr/>
                </a:tc>
                <a:tc>
                  <a:txBody>
                    <a:bodyPr/>
                    <a:lstStyle/>
                    <a:p>
                      <a:pPr marL="0" indent="0" algn="ctr"/>
                      <a:r>
                        <a:rPr lang="fr-FR" sz="2800" dirty="0"/>
                        <a:t>VRAI         FAUX</a:t>
                      </a:r>
                    </a:p>
                  </a:txBody>
                  <a:tcPr/>
                </a:tc>
                <a:extLst>
                  <a:ext uri="{0D108BD9-81ED-4DB2-BD59-A6C34878D82A}">
                    <a16:rowId xmlns:a16="http://schemas.microsoft.com/office/drawing/2014/main" val="3390694312"/>
                  </a:ext>
                </a:extLst>
              </a:tr>
            </a:tbl>
          </a:graphicData>
        </a:graphic>
      </p:graphicFrame>
      <p:sp>
        <p:nvSpPr>
          <p:cNvPr id="5" name="Rectangle : coins arrondis 4">
            <a:extLst>
              <a:ext uri="{FF2B5EF4-FFF2-40B4-BE49-F238E27FC236}">
                <a16:creationId xmlns:a16="http://schemas.microsoft.com/office/drawing/2014/main" id="{9509985E-79C3-45AA-A993-8FC46904C6F6}"/>
              </a:ext>
            </a:extLst>
          </p:cNvPr>
          <p:cNvSpPr/>
          <p:nvPr/>
        </p:nvSpPr>
        <p:spPr>
          <a:xfrm>
            <a:off x="10317014" y="919019"/>
            <a:ext cx="969819" cy="387927"/>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7830178F-5A07-9652-1EF6-76332EBAA0BF}"/>
              </a:ext>
            </a:extLst>
          </p:cNvPr>
          <p:cNvSpPr txBox="1"/>
          <p:nvPr/>
        </p:nvSpPr>
        <p:spPr>
          <a:xfrm>
            <a:off x="686954" y="2097005"/>
            <a:ext cx="11004937" cy="2252924"/>
          </a:xfrm>
          <a:prstGeom prst="rect">
            <a:avLst/>
          </a:prstGeom>
          <a:noFill/>
        </p:spPr>
        <p:txBody>
          <a:bodyPr wrap="square" rtlCol="0">
            <a:spAutoFit/>
          </a:bodyPr>
          <a:lstStyle/>
          <a:p>
            <a:pPr marL="444500" indent="-444500" algn="just">
              <a:lnSpc>
                <a:spcPct val="90000"/>
              </a:lnSpc>
            </a:pPr>
            <a:r>
              <a:rPr lang="fr-FR" sz="2600" dirty="0"/>
              <a:t>12. VRAI. Dans le fameux « dilemme du tramway », la perspective utilitariste fera typiquement entrer le </a:t>
            </a:r>
            <a:r>
              <a:rPr lang="fr-FR" sz="2600" b="1" dirty="0"/>
              <a:t>nombre de vies sauvées </a:t>
            </a:r>
            <a:r>
              <a:rPr lang="fr-FR" sz="2600" dirty="0"/>
              <a:t>dans son calcul de </a:t>
            </a:r>
            <a:r>
              <a:rPr lang="fr-FR" sz="2600" b="1" dirty="0"/>
              <a:t>maximisation de l’utilité ;</a:t>
            </a:r>
            <a:r>
              <a:rPr lang="fr-FR" sz="2600" dirty="0"/>
              <a:t> c’est même pour elle le seul critère pertinent dans ce cas précis.</a:t>
            </a:r>
          </a:p>
          <a:p>
            <a:pPr marL="444500" indent="-444500" algn="just">
              <a:lnSpc>
                <a:spcPct val="90000"/>
              </a:lnSpc>
            </a:pPr>
            <a:r>
              <a:rPr lang="fr-FR" sz="2600" dirty="0"/>
              <a:t>	Ce ne sera pas le cas d’une perspective déontologique, plus soucieuse d’éviter le risque sacrificiel.</a:t>
            </a:r>
          </a:p>
        </p:txBody>
      </p:sp>
    </p:spTree>
    <p:extLst>
      <p:ext uri="{BB962C8B-B14F-4D97-AF65-F5344CB8AC3E}">
        <p14:creationId xmlns:p14="http://schemas.microsoft.com/office/powerpoint/2010/main" val="3405216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3232610027"/>
              </p:ext>
            </p:extLst>
          </p:nvPr>
        </p:nvGraphicFramePr>
        <p:xfrm>
          <a:off x="686955" y="198234"/>
          <a:ext cx="11070936" cy="1790384"/>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140228">
                <a:tc>
                  <a:txBody>
                    <a:bodyPr/>
                    <a:lstStyle/>
                    <a:p>
                      <a:pPr algn="just"/>
                      <a:r>
                        <a:rPr lang="fr-FR" sz="2800" dirty="0"/>
                        <a:t>13. L’utilitarisme et le déontologisme sont centrés sur l’évaluation morale de l’action et non sur celle de la personne.</a:t>
                      </a:r>
                    </a:p>
                  </a:txBody>
                  <a:tcPr/>
                </a:tc>
                <a:tc>
                  <a:txBody>
                    <a:bodyPr/>
                    <a:lstStyle/>
                    <a:p>
                      <a:pPr algn="ctr"/>
                      <a:r>
                        <a:rPr lang="fr-FR" sz="2800" dirty="0"/>
                        <a:t>VRAI         FAUX</a:t>
                      </a:r>
                    </a:p>
                  </a:txBody>
                  <a:tcPr/>
                </a:tc>
                <a:extLst>
                  <a:ext uri="{0D108BD9-81ED-4DB2-BD59-A6C34878D82A}">
                    <a16:rowId xmlns:a16="http://schemas.microsoft.com/office/drawing/2014/main" val="4226868751"/>
                  </a:ext>
                </a:extLst>
              </a:tr>
            </a:tbl>
          </a:graphicData>
        </a:graphic>
      </p:graphicFrame>
      <p:sp>
        <p:nvSpPr>
          <p:cNvPr id="5" name="Rectangle : coins arrondis 4">
            <a:extLst>
              <a:ext uri="{FF2B5EF4-FFF2-40B4-BE49-F238E27FC236}">
                <a16:creationId xmlns:a16="http://schemas.microsoft.com/office/drawing/2014/main" id="{9509985E-79C3-45AA-A993-8FC46904C6F6}"/>
              </a:ext>
            </a:extLst>
          </p:cNvPr>
          <p:cNvSpPr/>
          <p:nvPr/>
        </p:nvSpPr>
        <p:spPr>
          <a:xfrm>
            <a:off x="10303160" y="919019"/>
            <a:ext cx="969819" cy="387927"/>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613CA2C3-4012-572B-F152-0CE0E2C59CC1}"/>
              </a:ext>
            </a:extLst>
          </p:cNvPr>
          <p:cNvSpPr txBox="1"/>
          <p:nvPr/>
        </p:nvSpPr>
        <p:spPr>
          <a:xfrm>
            <a:off x="686954" y="2097005"/>
            <a:ext cx="11004937" cy="2252924"/>
          </a:xfrm>
          <a:prstGeom prst="rect">
            <a:avLst/>
          </a:prstGeom>
          <a:noFill/>
        </p:spPr>
        <p:txBody>
          <a:bodyPr wrap="square" rtlCol="0">
            <a:spAutoFit/>
          </a:bodyPr>
          <a:lstStyle/>
          <a:p>
            <a:pPr marL="444500" indent="-444500" algn="just">
              <a:lnSpc>
                <a:spcPct val="90000"/>
              </a:lnSpc>
            </a:pPr>
            <a:r>
              <a:rPr lang="fr-FR" sz="2600" dirty="0"/>
              <a:t>13. VRAI. Bien que très différentes, les perspectives déontologiques et utilitaristes ont en commun de se centrer sur </a:t>
            </a:r>
            <a:r>
              <a:rPr lang="fr-FR" sz="2600" b="1" dirty="0"/>
              <a:t>l’évaluation de l’action </a:t>
            </a:r>
            <a:r>
              <a:rPr lang="fr-FR" sz="2600" dirty="0"/>
              <a:t>(conforme ou pas au devoir pour l’une, relativement à ses conséquences pour l’autre). </a:t>
            </a:r>
          </a:p>
          <a:p>
            <a:pPr marL="444500" indent="-444500" algn="just">
              <a:lnSpc>
                <a:spcPct val="90000"/>
              </a:lnSpc>
            </a:pPr>
            <a:r>
              <a:rPr lang="fr-FR" sz="2600" dirty="0"/>
              <a:t>	Ce trait les distingue des éthiques des vertus, centrées sur l’évaluation de la personne qui agit (voir question 2).</a:t>
            </a:r>
          </a:p>
        </p:txBody>
      </p:sp>
    </p:spTree>
    <p:extLst>
      <p:ext uri="{BB962C8B-B14F-4D97-AF65-F5344CB8AC3E}">
        <p14:creationId xmlns:p14="http://schemas.microsoft.com/office/powerpoint/2010/main" val="735992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2977481672"/>
              </p:ext>
            </p:extLst>
          </p:nvPr>
        </p:nvGraphicFramePr>
        <p:xfrm>
          <a:off x="686955" y="198234"/>
          <a:ext cx="11070936" cy="1620841"/>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970685">
                <a:tc>
                  <a:txBody>
                    <a:bodyPr/>
                    <a:lstStyle/>
                    <a:p>
                      <a:pPr algn="just"/>
                      <a:r>
                        <a:rPr lang="fr-FR" sz="2800" dirty="0"/>
                        <a:t>14. Selon l’impératif catégorique kantien, je dois vouloir que la maxime de mon action soit universalisable</a:t>
                      </a:r>
                    </a:p>
                  </a:txBody>
                  <a:tcPr/>
                </a:tc>
                <a:tc>
                  <a:txBody>
                    <a:bodyPr/>
                    <a:lstStyle/>
                    <a:p>
                      <a:pPr marL="0" indent="0" algn="ctr"/>
                      <a:r>
                        <a:rPr lang="fr-FR" sz="2800" dirty="0"/>
                        <a:t>VRAI         FAUX</a:t>
                      </a:r>
                    </a:p>
                  </a:txBody>
                  <a:tcPr/>
                </a:tc>
                <a:extLst>
                  <a:ext uri="{0D108BD9-81ED-4DB2-BD59-A6C34878D82A}">
                    <a16:rowId xmlns:a16="http://schemas.microsoft.com/office/drawing/2014/main" val="2779120096"/>
                  </a:ext>
                </a:extLst>
              </a:tr>
            </a:tbl>
          </a:graphicData>
        </a:graphic>
      </p:graphicFrame>
      <p:sp>
        <p:nvSpPr>
          <p:cNvPr id="5" name="Rectangle : coins arrondis 4">
            <a:extLst>
              <a:ext uri="{FF2B5EF4-FFF2-40B4-BE49-F238E27FC236}">
                <a16:creationId xmlns:a16="http://schemas.microsoft.com/office/drawing/2014/main" id="{9509985E-79C3-45AA-A993-8FC46904C6F6}"/>
              </a:ext>
            </a:extLst>
          </p:cNvPr>
          <p:cNvSpPr/>
          <p:nvPr/>
        </p:nvSpPr>
        <p:spPr>
          <a:xfrm>
            <a:off x="10301673" y="919019"/>
            <a:ext cx="969819" cy="387927"/>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23164459-3730-69FE-00D3-BD857724A359}"/>
              </a:ext>
            </a:extLst>
          </p:cNvPr>
          <p:cNvSpPr txBox="1"/>
          <p:nvPr/>
        </p:nvSpPr>
        <p:spPr>
          <a:xfrm>
            <a:off x="686954" y="2097005"/>
            <a:ext cx="11004937" cy="812530"/>
          </a:xfrm>
          <a:prstGeom prst="rect">
            <a:avLst/>
          </a:prstGeom>
          <a:noFill/>
        </p:spPr>
        <p:txBody>
          <a:bodyPr wrap="square" rtlCol="0">
            <a:spAutoFit/>
          </a:bodyPr>
          <a:lstStyle/>
          <a:p>
            <a:pPr marL="444500" indent="-444500" algn="just">
              <a:lnSpc>
                <a:spcPct val="90000"/>
              </a:lnSpc>
            </a:pPr>
            <a:r>
              <a:rPr lang="fr-FR" sz="2600" dirty="0"/>
              <a:t>14. VRAI. C’est ici une reformulation acceptable d’une des versions de l’impératif catégorique.</a:t>
            </a:r>
          </a:p>
        </p:txBody>
      </p:sp>
    </p:spTree>
    <p:extLst>
      <p:ext uri="{BB962C8B-B14F-4D97-AF65-F5344CB8AC3E}">
        <p14:creationId xmlns:p14="http://schemas.microsoft.com/office/powerpoint/2010/main" val="1045649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B91F926-8F80-4CFF-AB73-97FAF1488306}"/>
              </a:ext>
            </a:extLst>
          </p:cNvPr>
          <p:cNvGraphicFramePr>
            <a:graphicFrameLocks noGrp="1"/>
          </p:cNvGraphicFramePr>
          <p:nvPr>
            <p:ph idx="1"/>
            <p:extLst>
              <p:ext uri="{D42A27DB-BD31-4B8C-83A1-F6EECF244321}">
                <p14:modId xmlns:p14="http://schemas.microsoft.com/office/powerpoint/2010/main" val="2406150372"/>
              </p:ext>
            </p:extLst>
          </p:nvPr>
        </p:nvGraphicFramePr>
        <p:xfrm>
          <a:off x="686955" y="198234"/>
          <a:ext cx="11070936" cy="1710938"/>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60782">
                <a:tc>
                  <a:txBody>
                    <a:bodyPr/>
                    <a:lstStyle/>
                    <a:p>
                      <a:pPr algn="just"/>
                      <a:r>
                        <a:rPr lang="fr-FR" sz="2800" dirty="0"/>
                        <a:t>15. Nos intuitions morales spontanées nous indiquent nécessairement la voie la plus légitime.</a:t>
                      </a:r>
                    </a:p>
                  </a:txBody>
                  <a:tcPr/>
                </a:tc>
                <a:tc>
                  <a:txBody>
                    <a:bodyPr/>
                    <a:lstStyle/>
                    <a:p>
                      <a:pPr algn="ctr"/>
                      <a:r>
                        <a:rPr lang="fr-FR" sz="2800" dirty="0"/>
                        <a:t>VRAI         FAUX</a:t>
                      </a:r>
                    </a:p>
                  </a:txBody>
                  <a:tcPr/>
                </a:tc>
                <a:extLst>
                  <a:ext uri="{0D108BD9-81ED-4DB2-BD59-A6C34878D82A}">
                    <a16:rowId xmlns:a16="http://schemas.microsoft.com/office/drawing/2014/main" val="120988582"/>
                  </a:ext>
                </a:extLst>
              </a:tr>
            </a:tbl>
          </a:graphicData>
        </a:graphic>
      </p:graphicFrame>
      <p:sp>
        <p:nvSpPr>
          <p:cNvPr id="3" name="Rectangle : coins arrondis 2">
            <a:extLst>
              <a:ext uri="{FF2B5EF4-FFF2-40B4-BE49-F238E27FC236}">
                <a16:creationId xmlns:a16="http://schemas.microsoft.com/office/drawing/2014/main" id="{C69C2C4D-BE61-4DAC-92B9-00FE4BD856DE}"/>
              </a:ext>
            </a:extLst>
          </p:cNvPr>
          <p:cNvSpPr/>
          <p:nvPr/>
        </p:nvSpPr>
        <p:spPr>
          <a:xfrm>
            <a:off x="10317014" y="1333579"/>
            <a:ext cx="969819" cy="38792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AE684DF2-547C-0DD0-A55D-D3317BF9C3EC}"/>
              </a:ext>
            </a:extLst>
          </p:cNvPr>
          <p:cNvSpPr txBox="1"/>
          <p:nvPr/>
        </p:nvSpPr>
        <p:spPr>
          <a:xfrm>
            <a:off x="686955" y="1997948"/>
            <a:ext cx="11004937" cy="4856586"/>
          </a:xfrm>
          <a:prstGeom prst="rect">
            <a:avLst/>
          </a:prstGeom>
          <a:noFill/>
        </p:spPr>
        <p:txBody>
          <a:bodyPr wrap="square" rtlCol="0">
            <a:spAutoFit/>
          </a:bodyPr>
          <a:lstStyle/>
          <a:p>
            <a:pPr marL="444500" indent="-444500" algn="just">
              <a:lnSpc>
                <a:spcPct val="85000"/>
              </a:lnSpc>
            </a:pPr>
            <a:r>
              <a:rPr lang="fr-FR" sz="2600" dirty="0"/>
              <a:t>15. FAUX. Il faut ici distinguer nos </a:t>
            </a:r>
            <a:r>
              <a:rPr lang="fr-FR" sz="2600" b="1" dirty="0"/>
              <a:t>intuitions morales spontanées</a:t>
            </a:r>
            <a:r>
              <a:rPr lang="fr-FR" sz="2600" dirty="0"/>
              <a:t>, telles que la psychologie et les sciences cognitives les étudient, d’une </a:t>
            </a:r>
            <a:r>
              <a:rPr lang="fr-FR" sz="2600" b="1" dirty="0"/>
              <a:t>justification morale </a:t>
            </a:r>
            <a:r>
              <a:rPr lang="fr-FR" sz="2600" dirty="0"/>
              <a:t>relevant d’une réflexion en </a:t>
            </a:r>
            <a:r>
              <a:rPr lang="fr-FR" sz="2600" b="1" dirty="0"/>
              <a:t>philosophie morale</a:t>
            </a:r>
            <a:r>
              <a:rPr lang="fr-FR" sz="2600" dirty="0"/>
              <a:t>.</a:t>
            </a:r>
          </a:p>
          <a:p>
            <a:pPr marL="444500" indent="-444500" algn="just">
              <a:lnSpc>
                <a:spcPct val="85000"/>
              </a:lnSpc>
            </a:pPr>
            <a:r>
              <a:rPr lang="fr-FR" sz="2600" dirty="0"/>
              <a:t>	Il est possible que dans certains cas voire assez souvent les deux coïncident, mais rien ne garantit que ce soit toujours le cas. Pour certains philosophes, certes, il y aurait une « voix de la conscience » capable de nous guider de manière innée. Cependant, l’histoire et l’anthropologie montrent que les jugements moraux évoluent selon l’époque et le contexte culturel. Les exemples sont innombrables : ce qui s’impose moralement ici et maintenant peut varier.</a:t>
            </a:r>
          </a:p>
          <a:p>
            <a:pPr marL="444500" indent="-444500" algn="just">
              <a:lnSpc>
                <a:spcPct val="85000"/>
              </a:lnSpc>
            </a:pPr>
            <a:r>
              <a:rPr lang="fr-FR" sz="2600" dirty="0"/>
              <a:t>	Le rôle de la </a:t>
            </a:r>
            <a:r>
              <a:rPr lang="fr-FR" sz="2600" b="1" dirty="0"/>
              <a:t>philosophie morale </a:t>
            </a:r>
            <a:r>
              <a:rPr lang="fr-FR" sz="2600" dirty="0"/>
              <a:t>est de mener ce travail d’examen de nos intuitions morales spontanées, de les clarifier en exhibant les critères, normes et valeurs implicites, et éventuellement de proposer une évaluation morale alternative ou plus nuancée. </a:t>
            </a:r>
          </a:p>
        </p:txBody>
      </p:sp>
    </p:spTree>
    <p:extLst>
      <p:ext uri="{BB962C8B-B14F-4D97-AF65-F5344CB8AC3E}">
        <p14:creationId xmlns:p14="http://schemas.microsoft.com/office/powerpoint/2010/main" val="2017406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3">
            <a:extLst>
              <a:ext uri="{FF2B5EF4-FFF2-40B4-BE49-F238E27FC236}">
                <a16:creationId xmlns:a16="http://schemas.microsoft.com/office/drawing/2014/main" id="{8E40646A-B746-4C4D-AB11-190610933B9E}"/>
              </a:ext>
            </a:extLst>
          </p:cNvPr>
          <p:cNvGraphicFramePr>
            <a:graphicFrameLocks noGrp="1"/>
          </p:cNvGraphicFramePr>
          <p:nvPr>
            <p:ph idx="1"/>
            <p:extLst>
              <p:ext uri="{D42A27DB-BD31-4B8C-83A1-F6EECF244321}">
                <p14:modId xmlns:p14="http://schemas.microsoft.com/office/powerpoint/2010/main" val="1937340921"/>
              </p:ext>
            </p:extLst>
          </p:nvPr>
        </p:nvGraphicFramePr>
        <p:xfrm>
          <a:off x="686955" y="198234"/>
          <a:ext cx="11070936" cy="1710938"/>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60782">
                <a:tc>
                  <a:txBody>
                    <a:bodyPr/>
                    <a:lstStyle/>
                    <a:p>
                      <a:pPr algn="just"/>
                      <a:r>
                        <a:rPr lang="fr-FR" sz="2800" dirty="0"/>
                        <a:t>16. L’utilitarisme est une doctrine morale qui néglige le critère du bien-être.</a:t>
                      </a:r>
                    </a:p>
                  </a:txBody>
                  <a:tcPr/>
                </a:tc>
                <a:tc>
                  <a:txBody>
                    <a:bodyPr/>
                    <a:lstStyle/>
                    <a:p>
                      <a:pPr algn="ctr"/>
                      <a:r>
                        <a:rPr lang="fr-FR" sz="2800" dirty="0"/>
                        <a:t>VRAI         FAUX</a:t>
                      </a:r>
                    </a:p>
                  </a:txBody>
                  <a:tcPr/>
                </a:tc>
                <a:extLst>
                  <a:ext uri="{0D108BD9-81ED-4DB2-BD59-A6C34878D82A}">
                    <a16:rowId xmlns:a16="http://schemas.microsoft.com/office/drawing/2014/main" val="3353976627"/>
                  </a:ext>
                </a:extLst>
              </a:tr>
            </a:tbl>
          </a:graphicData>
        </a:graphic>
      </p:graphicFrame>
      <p:sp>
        <p:nvSpPr>
          <p:cNvPr id="3" name="Rectangle : coins arrondis 2">
            <a:extLst>
              <a:ext uri="{FF2B5EF4-FFF2-40B4-BE49-F238E27FC236}">
                <a16:creationId xmlns:a16="http://schemas.microsoft.com/office/drawing/2014/main" id="{2D5CDAD2-D269-46ED-B02A-4E144CFE31CD}"/>
              </a:ext>
            </a:extLst>
          </p:cNvPr>
          <p:cNvSpPr/>
          <p:nvPr/>
        </p:nvSpPr>
        <p:spPr>
          <a:xfrm>
            <a:off x="10317017" y="1306946"/>
            <a:ext cx="969819" cy="38792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934B712D-C6F0-2DC2-038A-134137FB0633}"/>
              </a:ext>
            </a:extLst>
          </p:cNvPr>
          <p:cNvSpPr txBox="1"/>
          <p:nvPr/>
        </p:nvSpPr>
        <p:spPr>
          <a:xfrm>
            <a:off x="686955" y="1981596"/>
            <a:ext cx="11004937" cy="1532727"/>
          </a:xfrm>
          <a:prstGeom prst="rect">
            <a:avLst/>
          </a:prstGeom>
          <a:noFill/>
        </p:spPr>
        <p:txBody>
          <a:bodyPr wrap="square" rtlCol="0">
            <a:spAutoFit/>
          </a:bodyPr>
          <a:lstStyle/>
          <a:p>
            <a:pPr marL="444500" indent="-444500" algn="just">
              <a:lnSpc>
                <a:spcPct val="90000"/>
              </a:lnSpc>
            </a:pPr>
            <a:r>
              <a:rPr lang="fr-FR" sz="2600" dirty="0"/>
              <a:t>16. FAUX. Le « bien-être » (la satisfaction, le bonheur) étant désigné par le concept d’ « utilité » dans l’utilitarisme, c’est donc précisément le contraire qui est vrai. L’utilitarisme en fait la valeur suprême à l’aune de laquelle juger de la conséquence des actions.</a:t>
            </a:r>
          </a:p>
        </p:txBody>
      </p:sp>
    </p:spTree>
    <p:extLst>
      <p:ext uri="{BB962C8B-B14F-4D97-AF65-F5344CB8AC3E}">
        <p14:creationId xmlns:p14="http://schemas.microsoft.com/office/powerpoint/2010/main" val="3588403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3">
            <a:extLst>
              <a:ext uri="{FF2B5EF4-FFF2-40B4-BE49-F238E27FC236}">
                <a16:creationId xmlns:a16="http://schemas.microsoft.com/office/drawing/2014/main" id="{8E40646A-B746-4C4D-AB11-190610933B9E}"/>
              </a:ext>
            </a:extLst>
          </p:cNvPr>
          <p:cNvGraphicFramePr>
            <a:graphicFrameLocks noGrp="1"/>
          </p:cNvGraphicFramePr>
          <p:nvPr>
            <p:ph idx="1"/>
            <p:extLst>
              <p:ext uri="{D42A27DB-BD31-4B8C-83A1-F6EECF244321}">
                <p14:modId xmlns:p14="http://schemas.microsoft.com/office/powerpoint/2010/main" val="1984531876"/>
              </p:ext>
            </p:extLst>
          </p:nvPr>
        </p:nvGraphicFramePr>
        <p:xfrm>
          <a:off x="686955" y="198234"/>
          <a:ext cx="11070936" cy="1710938"/>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60782">
                <a:tc>
                  <a:txBody>
                    <a:bodyPr/>
                    <a:lstStyle/>
                    <a:p>
                      <a:pPr algn="just"/>
                      <a:r>
                        <a:rPr lang="fr-FR" sz="2800" dirty="0"/>
                        <a:t>17. L’éthique des vertus a le mérite de fournir un guide précis pour l’action.</a:t>
                      </a:r>
                    </a:p>
                  </a:txBody>
                  <a:tcPr/>
                </a:tc>
                <a:tc>
                  <a:txBody>
                    <a:bodyPr/>
                    <a:lstStyle/>
                    <a:p>
                      <a:pPr marL="0" indent="0" algn="ctr"/>
                      <a:r>
                        <a:rPr lang="fr-FR" sz="2800" dirty="0"/>
                        <a:t>VRAI         FAUX</a:t>
                      </a:r>
                    </a:p>
                  </a:txBody>
                  <a:tcPr/>
                </a:tc>
                <a:extLst>
                  <a:ext uri="{0D108BD9-81ED-4DB2-BD59-A6C34878D82A}">
                    <a16:rowId xmlns:a16="http://schemas.microsoft.com/office/drawing/2014/main" val="3390694312"/>
                  </a:ext>
                </a:extLst>
              </a:tr>
            </a:tbl>
          </a:graphicData>
        </a:graphic>
      </p:graphicFrame>
      <p:sp>
        <p:nvSpPr>
          <p:cNvPr id="3" name="Rectangle : coins arrondis 2">
            <a:extLst>
              <a:ext uri="{FF2B5EF4-FFF2-40B4-BE49-F238E27FC236}">
                <a16:creationId xmlns:a16="http://schemas.microsoft.com/office/drawing/2014/main" id="{2D5CDAD2-D269-46ED-B02A-4E144CFE31CD}"/>
              </a:ext>
            </a:extLst>
          </p:cNvPr>
          <p:cNvSpPr/>
          <p:nvPr/>
        </p:nvSpPr>
        <p:spPr>
          <a:xfrm>
            <a:off x="10317017" y="1342458"/>
            <a:ext cx="969819" cy="38792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DA605B4E-F5BA-14CD-0ED8-5A9C8EF34817}"/>
              </a:ext>
            </a:extLst>
          </p:cNvPr>
          <p:cNvSpPr txBox="1"/>
          <p:nvPr/>
        </p:nvSpPr>
        <p:spPr>
          <a:xfrm>
            <a:off x="686955" y="1981596"/>
            <a:ext cx="11004937" cy="2973122"/>
          </a:xfrm>
          <a:prstGeom prst="rect">
            <a:avLst/>
          </a:prstGeom>
          <a:noFill/>
        </p:spPr>
        <p:txBody>
          <a:bodyPr wrap="square" rtlCol="0">
            <a:spAutoFit/>
          </a:bodyPr>
          <a:lstStyle/>
          <a:p>
            <a:pPr marL="444500" indent="-444500" algn="just">
              <a:lnSpc>
                <a:spcPct val="90000"/>
              </a:lnSpc>
            </a:pPr>
            <a:r>
              <a:rPr lang="fr-FR" sz="2600" dirty="0"/>
              <a:t>17. FAUX. L’éthique des vertus peut bien entendu guider l’action face à des problèmes moraux complexes, mais contrairement à d’autres approches (déontologisme et utilitarisme notamment), elle fournira plus difficilement un « guide précis ». La manière dont une vertu s’actualise dans une situation donnée ne prescrit pas toujours une action précise et peut être interprétée de manière variable.</a:t>
            </a:r>
          </a:p>
          <a:p>
            <a:pPr marL="444500" indent="-444500" algn="just">
              <a:lnSpc>
                <a:spcPct val="90000"/>
              </a:lnSpc>
            </a:pPr>
            <a:r>
              <a:rPr lang="fr-FR" sz="2600" dirty="0"/>
              <a:t>	Certains philosophes considèrent que c’est là une </a:t>
            </a:r>
            <a:r>
              <a:rPr lang="fr-FR" sz="2600" b="1" dirty="0"/>
              <a:t>faiblesse de l’éthique des vertus</a:t>
            </a:r>
            <a:r>
              <a:rPr lang="fr-FR" sz="2600" dirty="0"/>
              <a:t>.</a:t>
            </a:r>
          </a:p>
        </p:txBody>
      </p:sp>
    </p:spTree>
    <p:extLst>
      <p:ext uri="{BB962C8B-B14F-4D97-AF65-F5344CB8AC3E}">
        <p14:creationId xmlns:p14="http://schemas.microsoft.com/office/powerpoint/2010/main" val="2258613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3">
            <a:extLst>
              <a:ext uri="{FF2B5EF4-FFF2-40B4-BE49-F238E27FC236}">
                <a16:creationId xmlns:a16="http://schemas.microsoft.com/office/drawing/2014/main" id="{8E40646A-B746-4C4D-AB11-190610933B9E}"/>
              </a:ext>
            </a:extLst>
          </p:cNvPr>
          <p:cNvGraphicFramePr>
            <a:graphicFrameLocks noGrp="1"/>
          </p:cNvGraphicFramePr>
          <p:nvPr>
            <p:ph idx="1"/>
            <p:extLst>
              <p:ext uri="{D42A27DB-BD31-4B8C-83A1-F6EECF244321}">
                <p14:modId xmlns:p14="http://schemas.microsoft.com/office/powerpoint/2010/main" val="3150636716"/>
              </p:ext>
            </p:extLst>
          </p:nvPr>
        </p:nvGraphicFramePr>
        <p:xfrm>
          <a:off x="686955" y="198234"/>
          <a:ext cx="11070936" cy="1790384"/>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140228">
                <a:tc>
                  <a:txBody>
                    <a:bodyPr/>
                    <a:lstStyle/>
                    <a:p>
                      <a:pPr algn="just"/>
                      <a:r>
                        <a:rPr lang="fr-FR" sz="2800" dirty="0"/>
                        <a:t>18. L’utilitarisme est considéré comme une forme de de conséquentialisme.</a:t>
                      </a:r>
                    </a:p>
                  </a:txBody>
                  <a:tcPr/>
                </a:tc>
                <a:tc>
                  <a:txBody>
                    <a:bodyPr/>
                    <a:lstStyle/>
                    <a:p>
                      <a:pPr algn="ctr"/>
                      <a:r>
                        <a:rPr lang="fr-FR" sz="2800" dirty="0"/>
                        <a:t>VRAI         FAUX</a:t>
                      </a:r>
                    </a:p>
                  </a:txBody>
                  <a:tcPr/>
                </a:tc>
                <a:extLst>
                  <a:ext uri="{0D108BD9-81ED-4DB2-BD59-A6C34878D82A}">
                    <a16:rowId xmlns:a16="http://schemas.microsoft.com/office/drawing/2014/main" val="4226868751"/>
                  </a:ext>
                </a:extLst>
              </a:tr>
            </a:tbl>
          </a:graphicData>
        </a:graphic>
      </p:graphicFrame>
      <p:sp>
        <p:nvSpPr>
          <p:cNvPr id="7" name="Rectangle : coins arrondis 6">
            <a:extLst>
              <a:ext uri="{FF2B5EF4-FFF2-40B4-BE49-F238E27FC236}">
                <a16:creationId xmlns:a16="http://schemas.microsoft.com/office/drawing/2014/main" id="{706D1653-B2D3-4F5A-961B-0468B2794D71}"/>
              </a:ext>
            </a:extLst>
          </p:cNvPr>
          <p:cNvSpPr/>
          <p:nvPr/>
        </p:nvSpPr>
        <p:spPr>
          <a:xfrm>
            <a:off x="10284687" y="924654"/>
            <a:ext cx="969819" cy="387927"/>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36885251-A6C4-B04A-327B-7A598FDEF6B8}"/>
              </a:ext>
            </a:extLst>
          </p:cNvPr>
          <p:cNvSpPr txBox="1"/>
          <p:nvPr/>
        </p:nvSpPr>
        <p:spPr>
          <a:xfrm>
            <a:off x="686955" y="2128723"/>
            <a:ext cx="11004937" cy="1172629"/>
          </a:xfrm>
          <a:prstGeom prst="rect">
            <a:avLst/>
          </a:prstGeom>
          <a:noFill/>
        </p:spPr>
        <p:txBody>
          <a:bodyPr wrap="square" rtlCol="0">
            <a:spAutoFit/>
          </a:bodyPr>
          <a:lstStyle/>
          <a:p>
            <a:pPr marL="444500" indent="-444500" algn="just">
              <a:lnSpc>
                <a:spcPct val="90000"/>
              </a:lnSpc>
            </a:pPr>
            <a:r>
              <a:rPr lang="fr-FR" sz="2600" dirty="0"/>
              <a:t>18. VRAI. S’intéressant aux conséquences des actions, l’utilitarisme est typiquement un « </a:t>
            </a:r>
            <a:r>
              <a:rPr lang="fr-FR" sz="2600" b="1" dirty="0"/>
              <a:t>conséquentialisme »</a:t>
            </a:r>
            <a:r>
              <a:rPr lang="fr-FR" sz="2600" dirty="0"/>
              <a:t>, sans doute </a:t>
            </a:r>
            <a:r>
              <a:rPr lang="fr-FR" sz="2600" b="1" dirty="0"/>
              <a:t>la forme la plus connue et répandue de conséquentialisme moral</a:t>
            </a:r>
            <a:r>
              <a:rPr lang="fr-FR" sz="2600" dirty="0"/>
              <a:t>.</a:t>
            </a:r>
          </a:p>
        </p:txBody>
      </p:sp>
    </p:spTree>
    <p:extLst>
      <p:ext uri="{BB962C8B-B14F-4D97-AF65-F5344CB8AC3E}">
        <p14:creationId xmlns:p14="http://schemas.microsoft.com/office/powerpoint/2010/main" val="1760119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3">
            <a:extLst>
              <a:ext uri="{FF2B5EF4-FFF2-40B4-BE49-F238E27FC236}">
                <a16:creationId xmlns:a16="http://schemas.microsoft.com/office/drawing/2014/main" id="{8E40646A-B746-4C4D-AB11-190610933B9E}"/>
              </a:ext>
            </a:extLst>
          </p:cNvPr>
          <p:cNvGraphicFramePr>
            <a:graphicFrameLocks noGrp="1"/>
          </p:cNvGraphicFramePr>
          <p:nvPr>
            <p:ph idx="1"/>
            <p:extLst>
              <p:ext uri="{D42A27DB-BD31-4B8C-83A1-F6EECF244321}">
                <p14:modId xmlns:p14="http://schemas.microsoft.com/office/powerpoint/2010/main" val="3154493828"/>
              </p:ext>
            </p:extLst>
          </p:nvPr>
        </p:nvGraphicFramePr>
        <p:xfrm>
          <a:off x="686955" y="198234"/>
          <a:ext cx="11070936" cy="1620841"/>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970685">
                <a:tc>
                  <a:txBody>
                    <a:bodyPr/>
                    <a:lstStyle/>
                    <a:p>
                      <a:pPr algn="just"/>
                      <a:r>
                        <a:rPr lang="fr-FR" sz="2800" dirty="0"/>
                        <a:t>19. Dans une perspective libérale, on peut reprocher à l’éthique des vertus son paternalisme.</a:t>
                      </a:r>
                    </a:p>
                  </a:txBody>
                  <a:tcPr/>
                </a:tc>
                <a:tc>
                  <a:txBody>
                    <a:bodyPr/>
                    <a:lstStyle/>
                    <a:p>
                      <a:pPr marL="0" indent="0" algn="ctr"/>
                      <a:r>
                        <a:rPr lang="fr-FR" sz="2800" dirty="0"/>
                        <a:t>VRAI         FAUX</a:t>
                      </a:r>
                    </a:p>
                  </a:txBody>
                  <a:tcPr/>
                </a:tc>
                <a:extLst>
                  <a:ext uri="{0D108BD9-81ED-4DB2-BD59-A6C34878D82A}">
                    <a16:rowId xmlns:a16="http://schemas.microsoft.com/office/drawing/2014/main" val="2779120096"/>
                  </a:ext>
                </a:extLst>
              </a:tr>
            </a:tbl>
          </a:graphicData>
        </a:graphic>
      </p:graphicFrame>
      <p:sp>
        <p:nvSpPr>
          <p:cNvPr id="4" name="Rectangle : coins arrondis 3">
            <a:extLst>
              <a:ext uri="{FF2B5EF4-FFF2-40B4-BE49-F238E27FC236}">
                <a16:creationId xmlns:a16="http://schemas.microsoft.com/office/drawing/2014/main" id="{E5A98698-11BB-42A8-B8B3-02F48EBFDA94}"/>
              </a:ext>
            </a:extLst>
          </p:cNvPr>
          <p:cNvSpPr/>
          <p:nvPr/>
        </p:nvSpPr>
        <p:spPr>
          <a:xfrm>
            <a:off x="10357536" y="905140"/>
            <a:ext cx="969819" cy="387927"/>
          </a:xfrm>
          <a:prstGeom prst="round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B2F3B538-3A25-8AFB-7ABC-91F2030A5BD6}"/>
              </a:ext>
            </a:extLst>
          </p:cNvPr>
          <p:cNvSpPr txBox="1"/>
          <p:nvPr/>
        </p:nvSpPr>
        <p:spPr>
          <a:xfrm>
            <a:off x="686955" y="1886152"/>
            <a:ext cx="11004937" cy="4516493"/>
          </a:xfrm>
          <a:prstGeom prst="rect">
            <a:avLst/>
          </a:prstGeom>
          <a:noFill/>
        </p:spPr>
        <p:txBody>
          <a:bodyPr wrap="square" rtlCol="0">
            <a:spAutoFit/>
          </a:bodyPr>
          <a:lstStyle/>
          <a:p>
            <a:pPr marL="444500" indent="-444500" algn="just">
              <a:lnSpc>
                <a:spcPct val="85000"/>
              </a:lnSpc>
            </a:pPr>
            <a:r>
              <a:rPr lang="fr-FR" sz="2600" dirty="0"/>
              <a:t>19. VRAI. Sachant que le « </a:t>
            </a:r>
            <a:r>
              <a:rPr lang="fr-FR" sz="2600" b="1" dirty="0"/>
              <a:t>libéralisme politique </a:t>
            </a:r>
            <a:r>
              <a:rPr lang="fr-FR" sz="2600" dirty="0"/>
              <a:t>» prône le respect des </a:t>
            </a:r>
            <a:r>
              <a:rPr lang="fr-FR" sz="2600" b="1" dirty="0"/>
              <a:t>droits fondamentaux </a:t>
            </a:r>
            <a:r>
              <a:rPr lang="fr-FR" sz="2600" dirty="0"/>
              <a:t>mais également une certaine </a:t>
            </a:r>
            <a:r>
              <a:rPr lang="fr-FR" sz="2600" b="1" dirty="0"/>
              <a:t>neutralité de l’Etat à l’égard des conceptions du Bien </a:t>
            </a:r>
            <a:r>
              <a:rPr lang="fr-FR" sz="2600" dirty="0"/>
              <a:t>(des grands idéaux de vie), du point de vue libéral on peut concevoir une certaine méfiance à l’égard d’une éthique des vertus trop prescriptrice quant au genre de vie et au type de personne il faudrait être.</a:t>
            </a:r>
          </a:p>
          <a:p>
            <a:pPr marL="444500" indent="-444500" algn="just">
              <a:lnSpc>
                <a:spcPct val="85000"/>
              </a:lnSpc>
            </a:pPr>
            <a:r>
              <a:rPr lang="fr-FR" sz="2600" dirty="0"/>
              <a:t>	Précisons que dans la perspective d’une « </a:t>
            </a:r>
            <a:r>
              <a:rPr lang="fr-FR" sz="2600" b="1" dirty="0"/>
              <a:t>éthique minimaliste </a:t>
            </a:r>
            <a:r>
              <a:rPr lang="fr-FR" sz="2600" dirty="0"/>
              <a:t>» (qui entretient certaines affinités avec le libéralisme politique sans se confondre avec lui), il n’y a pas de devoirs à l’égard de soi-même mais seulement à l’égard des autres ; par conséquent, de ce point de vue, toute doctrine prescrivant un idéal de vie ou une forme de « </a:t>
            </a:r>
            <a:r>
              <a:rPr lang="fr-FR" sz="2600" b="1" dirty="0"/>
              <a:t>perfectionnisme moral </a:t>
            </a:r>
            <a:r>
              <a:rPr lang="fr-FR" sz="2600" dirty="0"/>
              <a:t>» (la croyance dans l’amélioration morale de la personne, pour se rapprocher d’un idéal de sagesse ou autre) pourrait être accusée de « </a:t>
            </a:r>
            <a:r>
              <a:rPr lang="fr-FR" sz="2600" b="1" dirty="0"/>
              <a:t>paternalisme</a:t>
            </a:r>
            <a:r>
              <a:rPr lang="fr-FR" sz="2600" dirty="0"/>
              <a:t> », soit la propension </a:t>
            </a:r>
            <a:r>
              <a:rPr lang="fr-FR" sz="2600"/>
              <a:t>à prescrire </a:t>
            </a:r>
            <a:r>
              <a:rPr lang="fr-FR" sz="2600" dirty="0"/>
              <a:t>aux autres le genre de vie qu’ils doivent mener.</a:t>
            </a:r>
          </a:p>
        </p:txBody>
      </p:sp>
    </p:spTree>
    <p:extLst>
      <p:ext uri="{BB962C8B-B14F-4D97-AF65-F5344CB8AC3E}">
        <p14:creationId xmlns:p14="http://schemas.microsoft.com/office/powerpoint/2010/main" val="323080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3">
            <a:extLst>
              <a:ext uri="{FF2B5EF4-FFF2-40B4-BE49-F238E27FC236}">
                <a16:creationId xmlns:a16="http://schemas.microsoft.com/office/drawing/2014/main" id="{8E40646A-B746-4C4D-AB11-190610933B9E}"/>
              </a:ext>
            </a:extLst>
          </p:cNvPr>
          <p:cNvGraphicFramePr>
            <a:graphicFrameLocks noGrp="1"/>
          </p:cNvGraphicFramePr>
          <p:nvPr>
            <p:ph idx="1"/>
            <p:extLst>
              <p:ext uri="{D42A27DB-BD31-4B8C-83A1-F6EECF244321}">
                <p14:modId xmlns:p14="http://schemas.microsoft.com/office/powerpoint/2010/main" val="3347311060"/>
              </p:ext>
            </p:extLst>
          </p:nvPr>
        </p:nvGraphicFramePr>
        <p:xfrm>
          <a:off x="686955" y="198234"/>
          <a:ext cx="11070936" cy="2021756"/>
        </p:xfrm>
        <a:graphic>
          <a:graphicData uri="http://schemas.openxmlformats.org/drawingml/2006/table">
            <a:tbl>
              <a:tblPr firstRow="1" bandRow="1">
                <a:tableStyleId>{5C22544A-7EE6-4342-B048-85BDC9FD1C3A}</a:tableStyleId>
              </a:tblPr>
              <a:tblGrid>
                <a:gridCol w="9122656">
                  <a:extLst>
                    <a:ext uri="{9D8B030D-6E8A-4147-A177-3AD203B41FA5}">
                      <a16:colId xmlns:a16="http://schemas.microsoft.com/office/drawing/2014/main" val="2146840881"/>
                    </a:ext>
                  </a:extLst>
                </a:gridCol>
                <a:gridCol w="1948280">
                  <a:extLst>
                    <a:ext uri="{9D8B030D-6E8A-4147-A177-3AD203B41FA5}">
                      <a16:colId xmlns:a16="http://schemas.microsoft.com/office/drawing/2014/main" val="2228847059"/>
                    </a:ext>
                  </a:extLst>
                </a:gridCol>
              </a:tblGrid>
              <a:tr h="650156">
                <a:tc>
                  <a:txBody>
                    <a:bodyPr/>
                    <a:lstStyle/>
                    <a:p>
                      <a:pPr algn="ctr"/>
                      <a:r>
                        <a:rPr lang="fr-FR" sz="3200" dirty="0"/>
                        <a:t>Questions</a:t>
                      </a:r>
                    </a:p>
                  </a:txBody>
                  <a:tcPr/>
                </a:tc>
                <a:tc>
                  <a:txBody>
                    <a:bodyPr/>
                    <a:lstStyle/>
                    <a:p>
                      <a:r>
                        <a:rPr lang="fr-FR" sz="3200" dirty="0"/>
                        <a:t>Réponses</a:t>
                      </a:r>
                    </a:p>
                  </a:txBody>
                  <a:tcPr/>
                </a:tc>
                <a:extLst>
                  <a:ext uri="{0D108BD9-81ED-4DB2-BD59-A6C34878D82A}">
                    <a16:rowId xmlns:a16="http://schemas.microsoft.com/office/drawing/2014/main" val="3242603238"/>
                  </a:ext>
                </a:extLst>
              </a:tr>
              <a:tr h="1060782">
                <a:tc>
                  <a:txBody>
                    <a:bodyPr/>
                    <a:lstStyle/>
                    <a:p>
                      <a:pPr algn="just"/>
                      <a:r>
                        <a:rPr lang="fr-FR" sz="2800" dirty="0"/>
                        <a:t>20. « Agis de sorte que tu traites autrui jamais simplement comme fin mais toujours aussi comme un  moyen » est une des formulations de l’impératif catégorique de Kant</a:t>
                      </a:r>
                    </a:p>
                  </a:txBody>
                  <a:tcPr/>
                </a:tc>
                <a:tc>
                  <a:txBody>
                    <a:bodyPr/>
                    <a:lstStyle/>
                    <a:p>
                      <a:pPr algn="ctr"/>
                      <a:r>
                        <a:rPr lang="fr-FR" sz="2800" dirty="0"/>
                        <a:t>VRAI         FAUX</a:t>
                      </a:r>
                    </a:p>
                  </a:txBody>
                  <a:tcPr/>
                </a:tc>
                <a:extLst>
                  <a:ext uri="{0D108BD9-81ED-4DB2-BD59-A6C34878D82A}">
                    <a16:rowId xmlns:a16="http://schemas.microsoft.com/office/drawing/2014/main" val="120988582"/>
                  </a:ext>
                </a:extLst>
              </a:tr>
            </a:tbl>
          </a:graphicData>
        </a:graphic>
      </p:graphicFrame>
      <p:sp>
        <p:nvSpPr>
          <p:cNvPr id="3" name="Rectangle : coins arrondis 2">
            <a:extLst>
              <a:ext uri="{FF2B5EF4-FFF2-40B4-BE49-F238E27FC236}">
                <a16:creationId xmlns:a16="http://schemas.microsoft.com/office/drawing/2014/main" id="{2D5CDAD2-D269-46ED-B02A-4E144CFE31CD}"/>
              </a:ext>
            </a:extLst>
          </p:cNvPr>
          <p:cNvSpPr/>
          <p:nvPr/>
        </p:nvSpPr>
        <p:spPr>
          <a:xfrm>
            <a:off x="10317017" y="1306946"/>
            <a:ext cx="969819" cy="387927"/>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7AE83113-CA20-1CE7-C056-DE1325BDD41C}"/>
              </a:ext>
            </a:extLst>
          </p:cNvPr>
          <p:cNvSpPr txBox="1"/>
          <p:nvPr/>
        </p:nvSpPr>
        <p:spPr>
          <a:xfrm>
            <a:off x="686955" y="2386176"/>
            <a:ext cx="11004937" cy="1172629"/>
          </a:xfrm>
          <a:prstGeom prst="rect">
            <a:avLst/>
          </a:prstGeom>
          <a:noFill/>
        </p:spPr>
        <p:txBody>
          <a:bodyPr wrap="square" rtlCol="0">
            <a:spAutoFit/>
          </a:bodyPr>
          <a:lstStyle/>
          <a:p>
            <a:pPr marL="444500" indent="-444500" algn="just">
              <a:lnSpc>
                <a:spcPct val="90000"/>
              </a:lnSpc>
            </a:pPr>
            <a:r>
              <a:rPr lang="fr-FR" sz="2600" dirty="0"/>
              <a:t>20. FAUX. On reconnaît là une formulation de l’impératif catégorique kantien… à ceci près que les termes « fin » et « moyen » ont été intervertis, ce qui en inverse radicalement le sens !</a:t>
            </a:r>
          </a:p>
        </p:txBody>
      </p:sp>
    </p:spTree>
    <p:extLst>
      <p:ext uri="{BB962C8B-B14F-4D97-AF65-F5344CB8AC3E}">
        <p14:creationId xmlns:p14="http://schemas.microsoft.com/office/powerpoint/2010/main" val="1003169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52F1FA-489D-4976-BBAC-D8BAA2A94F72}"/>
              </a:ext>
            </a:extLst>
          </p:cNvPr>
          <p:cNvSpPr>
            <a:spLocks noGrp="1"/>
          </p:cNvSpPr>
          <p:nvPr>
            <p:ph type="title"/>
          </p:nvPr>
        </p:nvSpPr>
        <p:spPr/>
        <p:txBody>
          <a:bodyPr/>
          <a:lstStyle/>
          <a:p>
            <a:pPr algn="ctr"/>
            <a:r>
              <a:rPr lang="fr-FR" dirty="0"/>
              <a:t>Débats</a:t>
            </a:r>
          </a:p>
        </p:txBody>
      </p:sp>
      <p:sp>
        <p:nvSpPr>
          <p:cNvPr id="4" name="Rectangle 3">
            <a:extLst>
              <a:ext uri="{FF2B5EF4-FFF2-40B4-BE49-F238E27FC236}">
                <a16:creationId xmlns:a16="http://schemas.microsoft.com/office/drawing/2014/main" id="{F603F237-CCC5-4F4D-9632-FAF8EDB63481}"/>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1">
            <a:extLst>
              <a:ext uri="{FF2B5EF4-FFF2-40B4-BE49-F238E27FC236}">
                <a16:creationId xmlns:a16="http://schemas.microsoft.com/office/drawing/2014/main" id="{D11BE6F2-DB66-4A84-A902-D44F85D752C9}"/>
              </a:ext>
            </a:extLst>
          </p:cNvPr>
          <p:cNvSpPr txBox="1">
            <a:spLocks/>
          </p:cNvSpPr>
          <p:nvPr/>
        </p:nvSpPr>
        <p:spPr>
          <a:xfrm>
            <a:off x="838200" y="2480252"/>
            <a:ext cx="10515600" cy="1325563"/>
          </a:xfrm>
          <a:prstGeom prst="rect">
            <a:avLst/>
          </a:prstGeom>
          <a:ln w="38100">
            <a:solidFill>
              <a:schemeClr val="bg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a:solidFill>
                  <a:schemeClr val="bg1"/>
                </a:solidFill>
              </a:rPr>
              <a:t>Débats</a:t>
            </a:r>
          </a:p>
        </p:txBody>
      </p:sp>
    </p:spTree>
    <p:extLst>
      <p:ext uri="{BB962C8B-B14F-4D97-AF65-F5344CB8AC3E}">
        <p14:creationId xmlns:p14="http://schemas.microsoft.com/office/powerpoint/2010/main" val="691818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3228C2-8A53-4F0C-AAFC-05CAA43FB44E}"/>
              </a:ext>
            </a:extLst>
          </p:cNvPr>
          <p:cNvSpPr>
            <a:spLocks noGrp="1"/>
          </p:cNvSpPr>
          <p:nvPr>
            <p:ph type="title"/>
          </p:nvPr>
        </p:nvSpPr>
        <p:spPr/>
        <p:txBody>
          <a:bodyPr/>
          <a:lstStyle/>
          <a:p>
            <a:pPr algn="ctr"/>
            <a:r>
              <a:rPr lang="fr-FR" dirty="0"/>
              <a:t>La pertinence de l’éthique des vertus</a:t>
            </a:r>
          </a:p>
        </p:txBody>
      </p:sp>
      <p:sp>
        <p:nvSpPr>
          <p:cNvPr id="3" name="Espace réservé du contenu 2">
            <a:extLst>
              <a:ext uri="{FF2B5EF4-FFF2-40B4-BE49-F238E27FC236}">
                <a16:creationId xmlns:a16="http://schemas.microsoft.com/office/drawing/2014/main" id="{AF17B13D-8101-4C23-8BA5-E09817B95250}"/>
              </a:ext>
            </a:extLst>
          </p:cNvPr>
          <p:cNvSpPr>
            <a:spLocks noGrp="1"/>
          </p:cNvSpPr>
          <p:nvPr>
            <p:ph idx="1"/>
          </p:nvPr>
        </p:nvSpPr>
        <p:spPr/>
        <p:txBody>
          <a:bodyPr/>
          <a:lstStyle/>
          <a:p>
            <a:r>
              <a:rPr lang="fr-FR" dirty="0"/>
              <a:t>Les gens ont-ils des dispositions stables justifiant la pertinence de l’éthique des vertus ?</a:t>
            </a:r>
          </a:p>
        </p:txBody>
      </p:sp>
    </p:spTree>
    <p:extLst>
      <p:ext uri="{BB962C8B-B14F-4D97-AF65-F5344CB8AC3E}">
        <p14:creationId xmlns:p14="http://schemas.microsoft.com/office/powerpoint/2010/main" val="2158874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F461AF-7FA1-4E22-BFE6-CDAE1434C740}"/>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C2B413A-EAB2-48C8-BBD6-89330D930577}"/>
              </a:ext>
            </a:extLst>
          </p:cNvPr>
          <p:cNvSpPr>
            <a:spLocks noGrp="1"/>
          </p:cNvSpPr>
          <p:nvPr>
            <p:ph type="title"/>
          </p:nvPr>
        </p:nvSpPr>
        <p:spPr>
          <a:xfrm>
            <a:off x="838200" y="2480252"/>
            <a:ext cx="10515600" cy="1325563"/>
          </a:xfrm>
          <a:ln w="38100">
            <a:solidFill>
              <a:schemeClr val="bg1"/>
            </a:solidFill>
          </a:ln>
        </p:spPr>
        <p:txBody>
          <a:bodyPr/>
          <a:lstStyle/>
          <a:p>
            <a:pPr algn="ctr"/>
            <a:r>
              <a:rPr lang="fr-FR" b="1" dirty="0">
                <a:solidFill>
                  <a:schemeClr val="bg1"/>
                </a:solidFill>
              </a:rPr>
              <a:t>Vos préférences éthiques</a:t>
            </a:r>
          </a:p>
        </p:txBody>
      </p:sp>
    </p:spTree>
    <p:extLst>
      <p:ext uri="{BB962C8B-B14F-4D97-AF65-F5344CB8AC3E}">
        <p14:creationId xmlns:p14="http://schemas.microsoft.com/office/powerpoint/2010/main" val="28347631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18904B-A6D4-43EC-823F-CE5EF9E8EBE7}"/>
              </a:ext>
            </a:extLst>
          </p:cNvPr>
          <p:cNvSpPr>
            <a:spLocks noGrp="1"/>
          </p:cNvSpPr>
          <p:nvPr>
            <p:ph type="title"/>
          </p:nvPr>
        </p:nvSpPr>
        <p:spPr/>
        <p:txBody>
          <a:bodyPr/>
          <a:lstStyle/>
          <a:p>
            <a:pPr algn="ctr"/>
            <a:r>
              <a:rPr lang="fr-FR" dirty="0"/>
              <a:t>Quelle est votre orientation éthique ?</a:t>
            </a:r>
          </a:p>
        </p:txBody>
      </p:sp>
      <p:sp>
        <p:nvSpPr>
          <p:cNvPr id="3" name="Espace réservé du contenu 2">
            <a:extLst>
              <a:ext uri="{FF2B5EF4-FFF2-40B4-BE49-F238E27FC236}">
                <a16:creationId xmlns:a16="http://schemas.microsoft.com/office/drawing/2014/main" id="{0E42FC96-C174-4B6C-8D3D-23A687E43299}"/>
              </a:ext>
            </a:extLst>
          </p:cNvPr>
          <p:cNvSpPr>
            <a:spLocks noGrp="1"/>
          </p:cNvSpPr>
          <p:nvPr>
            <p:ph idx="1"/>
          </p:nvPr>
        </p:nvSpPr>
        <p:spPr/>
        <p:txBody>
          <a:bodyPr/>
          <a:lstStyle/>
          <a:p>
            <a:pPr marL="514350" indent="-514350">
              <a:buFont typeface="+mj-lt"/>
              <a:buAutoNum type="arabicPeriod"/>
            </a:pPr>
            <a:r>
              <a:rPr lang="fr-FR" dirty="0"/>
              <a:t>Peu m’importe ce qui motive les gens ; je ne les juge que sur ce qu’ils font.</a:t>
            </a:r>
          </a:p>
          <a:p>
            <a:pPr marL="514350" indent="-514350">
              <a:buFont typeface="+mj-lt"/>
              <a:buAutoNum type="arabicPeriod"/>
            </a:pPr>
            <a:r>
              <a:rPr lang="fr-FR" dirty="0"/>
              <a:t>Quand je réfléchis à la bonne manière d’agir, je considère surtout les conséquences probables des différentes alternatives.</a:t>
            </a:r>
          </a:p>
          <a:p>
            <a:pPr marL="514350" indent="-514350">
              <a:buFont typeface="+mj-lt"/>
              <a:buAutoNum type="arabicPeriod"/>
            </a:pPr>
            <a:r>
              <a:rPr lang="fr-FR" dirty="0"/>
              <a:t>Si une personne essaie de faire le bien mais n’y parvient pas, elle a au moins le mérite moral d’avoir essayé.</a:t>
            </a:r>
          </a:p>
          <a:p>
            <a:pPr marL="514350" indent="-514350">
              <a:buFont typeface="+mj-lt"/>
              <a:buAutoNum type="arabicPeriod"/>
            </a:pPr>
            <a:r>
              <a:rPr lang="fr-FR" dirty="0"/>
              <a:t>La morale, c’est principalement respecter des devoirs moraux. Par exemple, le devoir de ne pas tuer d’autres humains.</a:t>
            </a:r>
          </a:p>
          <a:p>
            <a:endParaRPr lang="fr-FR" dirty="0"/>
          </a:p>
        </p:txBody>
      </p:sp>
    </p:spTree>
    <p:extLst>
      <p:ext uri="{BB962C8B-B14F-4D97-AF65-F5344CB8AC3E}">
        <p14:creationId xmlns:p14="http://schemas.microsoft.com/office/powerpoint/2010/main" val="34112245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B4A41A-3778-4FB8-A9EA-FA1CF9CE959D}"/>
              </a:ext>
            </a:extLst>
          </p:cNvPr>
          <p:cNvSpPr>
            <a:spLocks noGrp="1"/>
          </p:cNvSpPr>
          <p:nvPr>
            <p:ph type="title"/>
          </p:nvPr>
        </p:nvSpPr>
        <p:spPr/>
        <p:txBody>
          <a:bodyPr/>
          <a:lstStyle/>
          <a:p>
            <a:r>
              <a:rPr lang="fr-FR" dirty="0"/>
              <a:t>Sondage : quelle est votre pente spontanée ?</a:t>
            </a:r>
          </a:p>
        </p:txBody>
      </p:sp>
      <p:sp>
        <p:nvSpPr>
          <p:cNvPr id="3" name="Espace réservé du contenu 2">
            <a:extLst>
              <a:ext uri="{FF2B5EF4-FFF2-40B4-BE49-F238E27FC236}">
                <a16:creationId xmlns:a16="http://schemas.microsoft.com/office/drawing/2014/main" id="{0E4293C7-40F7-401C-B20F-1EF2B0E9DDDE}"/>
              </a:ext>
            </a:extLst>
          </p:cNvPr>
          <p:cNvSpPr>
            <a:spLocks noGrp="1"/>
          </p:cNvSpPr>
          <p:nvPr>
            <p:ph idx="1"/>
          </p:nvPr>
        </p:nvSpPr>
        <p:spPr/>
        <p:txBody>
          <a:bodyPr/>
          <a:lstStyle/>
          <a:p>
            <a:pPr marL="0" indent="0">
              <a:buNone/>
            </a:pPr>
            <a:r>
              <a:rPr lang="fr-FR" dirty="0"/>
              <a:t>Chacun note la réponse sur un bout de papier</a:t>
            </a:r>
          </a:p>
          <a:p>
            <a:pPr marL="0" indent="0">
              <a:buNone/>
            </a:pPr>
            <a:r>
              <a:rPr lang="fr-FR" dirty="0"/>
              <a:t>1 : éthique des vertus</a:t>
            </a:r>
          </a:p>
          <a:p>
            <a:pPr marL="0" indent="0">
              <a:buNone/>
            </a:pPr>
            <a:r>
              <a:rPr lang="fr-FR" dirty="0"/>
              <a:t>2 : déontologie kantienne</a:t>
            </a:r>
          </a:p>
          <a:p>
            <a:pPr marL="0" indent="0">
              <a:buNone/>
            </a:pPr>
            <a:r>
              <a:rPr lang="fr-FR" dirty="0"/>
              <a:t>3 : utilitarisme</a:t>
            </a:r>
          </a:p>
        </p:txBody>
      </p:sp>
    </p:spTree>
    <p:extLst>
      <p:ext uri="{BB962C8B-B14F-4D97-AF65-F5344CB8AC3E}">
        <p14:creationId xmlns:p14="http://schemas.microsoft.com/office/powerpoint/2010/main" val="30452768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BBBBB44617C9D41B212B2E264D58958" ma:contentTypeVersion="8" ma:contentTypeDescription="Crée un document." ma:contentTypeScope="" ma:versionID="db32244900aee1cf7ee86590eeea5cbe">
  <xsd:schema xmlns:xsd="http://www.w3.org/2001/XMLSchema" xmlns:xs="http://www.w3.org/2001/XMLSchema" xmlns:p="http://schemas.microsoft.com/office/2006/metadata/properties" xmlns:ns2="e44605a1-2ceb-48c5-9784-b5005a007fc4" targetNamespace="http://schemas.microsoft.com/office/2006/metadata/properties" ma:root="true" ma:fieldsID="f010270911b1ae6f862ea6ad5126f90c" ns2:_="">
    <xsd:import namespace="e44605a1-2ceb-48c5-9784-b5005a007f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4605a1-2ceb-48c5-9784-b5005a007f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0D6179-7986-4B3F-A7BC-47FB9081D7F1}"/>
</file>

<file path=customXml/itemProps2.xml><?xml version="1.0" encoding="utf-8"?>
<ds:datastoreItem xmlns:ds="http://schemas.openxmlformats.org/officeDocument/2006/customXml" ds:itemID="{E624546D-550C-4B36-8588-9685C236CD4A}"/>
</file>

<file path=customXml/itemProps3.xml><?xml version="1.0" encoding="utf-8"?>
<ds:datastoreItem xmlns:ds="http://schemas.openxmlformats.org/officeDocument/2006/customXml" ds:itemID="{5D64B887-3FD2-4BE3-B2A7-761FE50AB457}"/>
</file>

<file path=docProps/app.xml><?xml version="1.0" encoding="utf-8"?>
<Properties xmlns="http://schemas.openxmlformats.org/officeDocument/2006/extended-properties" xmlns:vt="http://schemas.openxmlformats.org/officeDocument/2006/docPropsVTypes">
  <TotalTime>5471</TotalTime>
  <Words>3119</Words>
  <Application>Microsoft Office PowerPoint</Application>
  <PresentationFormat>Grand écran</PresentationFormat>
  <Paragraphs>189</Paragraphs>
  <Slides>32</Slides>
  <Notes>0</Notes>
  <HiddenSlides>5</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32</vt:i4>
      </vt:variant>
    </vt:vector>
  </HeadingPairs>
  <TitlesOfParts>
    <vt:vector size="36" baseType="lpstr">
      <vt:lpstr>Arial</vt:lpstr>
      <vt:lpstr>Calibri</vt:lpstr>
      <vt:lpstr>Calibri Light</vt:lpstr>
      <vt:lpstr>Thème Office</vt:lpstr>
      <vt:lpstr>Activités de révision en Ethique générale</vt:lpstr>
      <vt:lpstr>Présentation PowerPoint</vt:lpstr>
      <vt:lpstr>Présentation PowerPoint</vt:lpstr>
      <vt:lpstr>Présentation PowerPoint</vt:lpstr>
      <vt:lpstr>Présentation PowerPoint</vt:lpstr>
      <vt:lpstr>Présentation PowerPoint</vt:lpstr>
      <vt:lpstr>Réponses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Débats</vt:lpstr>
      <vt:lpstr>La pertinence de l’éthique des vertus</vt:lpstr>
      <vt:lpstr>Vos préférences éthiques</vt:lpstr>
      <vt:lpstr>Quelle est votre orientation éthique ?</vt:lpstr>
      <vt:lpstr>Sondage : quelle est votre pente spontanée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Alexis Weinberg</dc:creator>
  <cp:lastModifiedBy>Alexis Weinberg</cp:lastModifiedBy>
  <cp:revision>87</cp:revision>
  <dcterms:created xsi:type="dcterms:W3CDTF">2023-11-17T11:05:10Z</dcterms:created>
  <dcterms:modified xsi:type="dcterms:W3CDTF">2023-12-01T09:09:22Z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0x0101004BBBBB44617C9D41B212B2E264D58958</vt:lpwstr>
  </property>
</Properties>
</file>